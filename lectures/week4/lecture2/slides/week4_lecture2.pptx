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sldIdLst>
    <p:sldId id="256" r:id="rId2"/>
    <p:sldId id="259" r:id="rId3"/>
    <p:sldId id="261" r:id="rId4"/>
    <p:sldId id="326" r:id="rId5"/>
    <p:sldId id="384" r:id="rId6"/>
    <p:sldId id="325" r:id="rId7"/>
    <p:sldId id="328" r:id="rId8"/>
    <p:sldId id="341" r:id="rId9"/>
    <p:sldId id="408" r:id="rId10"/>
    <p:sldId id="266" r:id="rId11"/>
    <p:sldId id="267" r:id="rId12"/>
    <p:sldId id="335" r:id="rId13"/>
    <p:sldId id="336" r:id="rId14"/>
    <p:sldId id="339" r:id="rId15"/>
    <p:sldId id="337" r:id="rId16"/>
    <p:sldId id="340" r:id="rId17"/>
    <p:sldId id="338" r:id="rId18"/>
    <p:sldId id="334" r:id="rId19"/>
    <p:sldId id="386" r:id="rId20"/>
    <p:sldId id="40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FF99CC"/>
    <a:srgbClr val="FF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704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5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F638-606D-A22E-8F9F-A4A6D858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4BAB1-A261-2102-CEA9-063F697A4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683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444445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444445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444445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444445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02611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1757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3836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171717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171717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171717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171717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17171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552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82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1763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13031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while loops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4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4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41628-1639-56F1-28F9-18ADBFAF951B}"/>
              </a:ext>
            </a:extLst>
          </p:cNvPr>
          <p:cNvSpPr txBox="1"/>
          <p:nvPr/>
        </p:nvSpPr>
        <p:spPr>
          <a:xfrm>
            <a:off x="335947" y="5102715"/>
            <a:ext cx="66193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2 Due 11:59 pm Friday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No labs released this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4 Released Friday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Tutorial (Online), Practical, Office Hour sessions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4.1</a:t>
            </a:r>
          </a:p>
          <a:p>
            <a:pPr lvl="1"/>
            <a:r>
              <a:rPr lang="en-US" dirty="0"/>
              <a:t>function review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while loops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4.2</a:t>
            </a:r>
          </a:p>
          <a:p>
            <a:pPr lvl="1"/>
            <a:r>
              <a:rPr lang="en-US" b="1" dirty="0"/>
              <a:t>more loops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4.3</a:t>
            </a:r>
          </a:p>
          <a:p>
            <a:pPr lvl="1"/>
            <a:r>
              <a:rPr lang="en-US" dirty="0"/>
              <a:t>Objects &amp; Strings: Operators and Methods</a:t>
            </a:r>
          </a:p>
        </p:txBody>
      </p:sp>
    </p:spTree>
    <p:extLst>
      <p:ext uri="{BB962C8B-B14F-4D97-AF65-F5344CB8AC3E}">
        <p14:creationId xmlns:p14="http://schemas.microsoft.com/office/powerpoint/2010/main" val="283246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040728" cy="4835479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while loop </a:t>
            </a:r>
            <a:r>
              <a:rPr lang="en-US" dirty="0"/>
              <a:t>keeps executing a piece of code as long as a particular condition is </a:t>
            </a:r>
            <a:r>
              <a:rPr lang="en-US" b="1" dirty="0">
                <a:solidFill>
                  <a:schemeClr val="accent6"/>
                </a:solidFill>
              </a:rPr>
              <a:t>True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There must be a colon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: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r>
              <a:rPr lang="en-US" dirty="0"/>
              <a:t> at the end of the while statement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The action to be performed must be indented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0ACCF-3AA6-4238-95F7-2DDF40B8029A}"/>
              </a:ext>
            </a:extLst>
          </p:cNvPr>
          <p:cNvSpPr txBox="1"/>
          <p:nvPr/>
        </p:nvSpPr>
        <p:spPr>
          <a:xfrm>
            <a:off x="7027397" y="1825624"/>
            <a:ext cx="462658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expression: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do something.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D4C98-2197-4026-BA18-2560D06128D3}"/>
              </a:ext>
            </a:extLst>
          </p:cNvPr>
          <p:cNvSpPr txBox="1"/>
          <p:nvPr/>
        </p:nvSpPr>
        <p:spPr>
          <a:xfrm>
            <a:off x="7087557" y="3678181"/>
            <a:ext cx="1290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Indent</a:t>
            </a:r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DF12F6F6-C5A3-4FB9-A620-AD248921680E}"/>
              </a:ext>
            </a:extLst>
          </p:cNvPr>
          <p:cNvSpPr/>
          <p:nvPr/>
        </p:nvSpPr>
        <p:spPr>
          <a:xfrm rot="5400000" flipH="1">
            <a:off x="6976593" y="2776088"/>
            <a:ext cx="1189481" cy="728846"/>
          </a:xfrm>
          <a:prstGeom prst="bentUpArrow">
            <a:avLst>
              <a:gd name="adj1" fmla="val 14745"/>
              <a:gd name="adj2" fmla="val 17675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Bent-Up 9">
            <a:extLst>
              <a:ext uri="{FF2B5EF4-FFF2-40B4-BE49-F238E27FC236}">
                <a16:creationId xmlns:a16="http://schemas.microsoft.com/office/drawing/2014/main" id="{B515CC84-8FCC-4E78-A2F3-73CAD7C4B5D5}"/>
              </a:ext>
            </a:extLst>
          </p:cNvPr>
          <p:cNvSpPr/>
          <p:nvPr/>
        </p:nvSpPr>
        <p:spPr>
          <a:xfrm rot="10800000" flipH="1">
            <a:off x="8488561" y="1245544"/>
            <a:ext cx="1189481" cy="728846"/>
          </a:xfrm>
          <a:prstGeom prst="bentUpArrow">
            <a:avLst>
              <a:gd name="adj1" fmla="val 14745"/>
              <a:gd name="adj2" fmla="val 17675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8C89FD-5DB5-42CA-AD5B-FC06D407329A}"/>
              </a:ext>
            </a:extLst>
          </p:cNvPr>
          <p:cNvSpPr txBox="1"/>
          <p:nvPr/>
        </p:nvSpPr>
        <p:spPr>
          <a:xfrm>
            <a:off x="6174936" y="554470"/>
            <a:ext cx="31227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Must evaluate to 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True or False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A27781-8569-4C2E-AFF9-BE665E4A71A2}"/>
              </a:ext>
            </a:extLst>
          </p:cNvPr>
          <p:cNvSpPr txBox="1"/>
          <p:nvPr/>
        </p:nvSpPr>
        <p:spPr>
          <a:xfrm>
            <a:off x="10407761" y="815999"/>
            <a:ext cx="1168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Colon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EB41D32-C683-4E88-9D52-722E9A1CFF44}"/>
              </a:ext>
            </a:extLst>
          </p:cNvPr>
          <p:cNvSpPr/>
          <p:nvPr/>
        </p:nvSpPr>
        <p:spPr>
          <a:xfrm rot="16200000" flipH="1">
            <a:off x="11056723" y="1503532"/>
            <a:ext cx="656148" cy="318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45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040728" cy="4835479"/>
          </a:xfrm>
        </p:spPr>
        <p:txBody>
          <a:bodyPr>
            <a:normAutofit/>
          </a:bodyPr>
          <a:lstStyle/>
          <a:p>
            <a:r>
              <a:rPr lang="en-US" dirty="0"/>
              <a:t>The condition that gets evaluated is just an boolean expression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In particular it can include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pPr lvl="1"/>
            <a:r>
              <a:rPr lang="en-US" dirty="0"/>
              <a:t>Something that evaluates to </a:t>
            </a:r>
            <a:r>
              <a:rPr lang="en-US" b="1" dirty="0">
                <a:solidFill>
                  <a:schemeClr val="accent6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/>
                </a:solidFill>
              </a:rPr>
              <a:t>False</a:t>
            </a:r>
            <a:r>
              <a:rPr lang="en-US" dirty="0">
                <a:solidFill>
                  <a:schemeClr val="accent2"/>
                </a:solidFill>
              </a:rPr>
              <a:t>. </a:t>
            </a:r>
          </a:p>
          <a:p>
            <a:pPr lvl="1"/>
            <a:r>
              <a:rPr lang="en-US" dirty="0"/>
              <a:t>logical operators 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b="1" dirty="0">
                <a:solidFill>
                  <a:schemeClr val="accent6"/>
                </a:solidFill>
              </a:rPr>
              <a:t>and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or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not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  <a:p>
            <a:pPr lvl="1"/>
            <a:r>
              <a:rPr lang="en-US" dirty="0"/>
              <a:t>comparison operators</a:t>
            </a:r>
          </a:p>
          <a:p>
            <a:pPr lvl="1"/>
            <a:r>
              <a:rPr lang="en-US" dirty="0"/>
              <a:t>function calls</a:t>
            </a:r>
          </a:p>
          <a:p>
            <a:r>
              <a:rPr lang="en-US" dirty="0">
                <a:solidFill>
                  <a:schemeClr val="accent2"/>
                </a:solidFill>
              </a:rPr>
              <a:t>...</a:t>
            </a:r>
            <a:r>
              <a:rPr lang="en-US" dirty="0"/>
              <a:t> really anything that evaluates to </a:t>
            </a:r>
            <a:r>
              <a:rPr lang="en-US" b="1" dirty="0">
                <a:solidFill>
                  <a:schemeClr val="accent6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/>
                </a:solidFill>
              </a:rPr>
              <a:t>False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8506115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506115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7879181" y="3337563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Condition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9480675" y="3555796"/>
            <a:ext cx="1271338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7531558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75A27F-F72C-78D9-CF2E-ACDF1B18730E}"/>
              </a:ext>
            </a:extLst>
          </p:cNvPr>
          <p:cNvSpPr txBox="1"/>
          <p:nvPr/>
        </p:nvSpPr>
        <p:spPr>
          <a:xfrm>
            <a:off x="9624648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6915B-F479-1086-486E-F2AD78ED33A0}"/>
              </a:ext>
            </a:extLst>
          </p:cNvPr>
          <p:cNvSpPr txBox="1"/>
          <p:nvPr/>
        </p:nvSpPr>
        <p:spPr>
          <a:xfrm>
            <a:off x="7135388" y="5037638"/>
            <a:ext cx="115288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Exit</a:t>
            </a:r>
          </a:p>
          <a:p>
            <a:pPr algn="ctr"/>
            <a:r>
              <a:rPr lang="en-US" sz="3200" b="1" dirty="0">
                <a:solidFill>
                  <a:srgbClr val="FFFFFF"/>
                </a:solidFill>
              </a:rPr>
              <a:t>Loop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10724348" y="2938847"/>
            <a:ext cx="12035" cy="64590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8554245" y="1336486"/>
            <a:ext cx="219776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731860" y="1336486"/>
            <a:ext cx="4523" cy="524998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9657550" y="1861484"/>
            <a:ext cx="2157665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Do Something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32F48A-27C8-D555-31FB-FE7A3C95787C}"/>
              </a:ext>
            </a:extLst>
          </p:cNvPr>
          <p:cNvSpPr txBox="1"/>
          <p:nvPr/>
        </p:nvSpPr>
        <p:spPr>
          <a:xfrm>
            <a:off x="8748896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D483F4-8124-6374-A63E-702491DA4D08}"/>
              </a:ext>
            </a:extLst>
          </p:cNvPr>
          <p:cNvSpPr txBox="1"/>
          <p:nvPr/>
        </p:nvSpPr>
        <p:spPr>
          <a:xfrm>
            <a:off x="6526749" y="2522636"/>
            <a:ext cx="141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</p:txBody>
      </p:sp>
    </p:spTree>
    <p:extLst>
      <p:ext uri="{BB962C8B-B14F-4D97-AF65-F5344CB8AC3E}">
        <p14:creationId xmlns:p14="http://schemas.microsoft.com/office/powerpoint/2010/main" val="3804647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8506115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506115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7879181" y="3337563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Condition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9480675" y="3555796"/>
            <a:ext cx="1271338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7531558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75A27F-F72C-78D9-CF2E-ACDF1B18730E}"/>
              </a:ext>
            </a:extLst>
          </p:cNvPr>
          <p:cNvSpPr txBox="1"/>
          <p:nvPr/>
        </p:nvSpPr>
        <p:spPr>
          <a:xfrm>
            <a:off x="9624648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10724348" y="2938847"/>
            <a:ext cx="12035" cy="64590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8554245" y="1336486"/>
            <a:ext cx="219776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731860" y="1336486"/>
            <a:ext cx="4523" cy="524998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9657550" y="1861484"/>
            <a:ext cx="2157665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Do Something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181E7C-8D44-D634-ED5E-6C6367A998A8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515617" y="449661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66250C-A170-F68B-2410-CF30EEBB1611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2515617" y="50409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6EAACC1-D07A-AC86-1533-609086D85434}"/>
              </a:ext>
            </a:extLst>
          </p:cNvPr>
          <p:cNvSpPr txBox="1"/>
          <p:nvPr/>
        </p:nvSpPr>
        <p:spPr>
          <a:xfrm>
            <a:off x="1888683" y="3341473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Condition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A19B97-6E5E-9B03-C7F8-70A9AC94D17C}"/>
              </a:ext>
            </a:extLst>
          </p:cNvPr>
          <p:cNvCxnSpPr>
            <a:cxnSpLocks/>
          </p:cNvCxnSpPr>
          <p:nvPr/>
        </p:nvCxnSpPr>
        <p:spPr>
          <a:xfrm flipH="1">
            <a:off x="3490177" y="3559706"/>
            <a:ext cx="1271338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D887D90E-166E-2DA2-1C36-9CE60E4C8A81}"/>
              </a:ext>
            </a:extLst>
          </p:cNvPr>
          <p:cNvSpPr/>
          <p:nvPr/>
        </p:nvSpPr>
        <p:spPr>
          <a:xfrm>
            <a:off x="1541060" y="262279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BC782C-3069-DECA-193A-000983D73DD6}"/>
              </a:ext>
            </a:extLst>
          </p:cNvPr>
          <p:cNvSpPr txBox="1"/>
          <p:nvPr/>
        </p:nvSpPr>
        <p:spPr>
          <a:xfrm>
            <a:off x="3618764" y="2941446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FBDECD-A779-F61D-3D87-D45069D36130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4745884" y="3522229"/>
            <a:ext cx="1" cy="96913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4A05C64-93D1-8E37-8CE3-D30AD7104E55}"/>
              </a:ext>
            </a:extLst>
          </p:cNvPr>
          <p:cNvSpPr txBox="1"/>
          <p:nvPr/>
        </p:nvSpPr>
        <p:spPr>
          <a:xfrm>
            <a:off x="1179694" y="531849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57D63E-DE66-C8D4-0F81-B0761B316FAC}"/>
              </a:ext>
            </a:extLst>
          </p:cNvPr>
          <p:cNvSpPr txBox="1"/>
          <p:nvPr/>
        </p:nvSpPr>
        <p:spPr>
          <a:xfrm>
            <a:off x="6050008" y="3257279"/>
            <a:ext cx="141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9AEDC4-4DC1-C241-FB47-0052DB297AA4}"/>
              </a:ext>
            </a:extLst>
          </p:cNvPr>
          <p:cNvSpPr txBox="1"/>
          <p:nvPr/>
        </p:nvSpPr>
        <p:spPr>
          <a:xfrm>
            <a:off x="804418" y="3257279"/>
            <a:ext cx="678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8748896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3A1695C-BD7E-1A5C-122F-0BF1F939859E}"/>
              </a:ext>
            </a:extLst>
          </p:cNvPr>
          <p:cNvCxnSpPr>
            <a:cxnSpLocks/>
          </p:cNvCxnSpPr>
          <p:nvPr/>
        </p:nvCxnSpPr>
        <p:spPr>
          <a:xfrm>
            <a:off x="4741361" y="5568731"/>
            <a:ext cx="4523" cy="524998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09214F5-E619-8A3A-A204-63B33DB4271B}"/>
              </a:ext>
            </a:extLst>
          </p:cNvPr>
          <p:cNvCxnSpPr>
            <a:cxnSpLocks/>
          </p:cNvCxnSpPr>
          <p:nvPr/>
        </p:nvCxnSpPr>
        <p:spPr>
          <a:xfrm flipH="1">
            <a:off x="2571562" y="6074246"/>
            <a:ext cx="219776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73C3E0E-EB10-991D-F505-5BD4131F089C}"/>
              </a:ext>
            </a:extLst>
          </p:cNvPr>
          <p:cNvSpPr/>
          <p:nvPr/>
        </p:nvSpPr>
        <p:spPr>
          <a:xfrm>
            <a:off x="3667052" y="4491368"/>
            <a:ext cx="2157665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Do Something</a:t>
            </a:r>
          </a:p>
        </p:txBody>
      </p:sp>
    </p:spTree>
    <p:extLst>
      <p:ext uri="{BB962C8B-B14F-4D97-AF65-F5344CB8AC3E}">
        <p14:creationId xmlns:p14="http://schemas.microsoft.com/office/powerpoint/2010/main" val="2101340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Refresher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040728" cy="4835479"/>
          </a:xfrm>
        </p:spPr>
        <p:txBody>
          <a:bodyPr>
            <a:normAutofit/>
          </a:bodyPr>
          <a:lstStyle/>
          <a:p>
            <a:r>
              <a:rPr lang="en-US" sz="3600" dirty="0"/>
              <a:t>How many printouts will the following </a:t>
            </a:r>
            <a:r>
              <a:rPr lang="en-US" sz="3600" b="1" dirty="0">
                <a:solidFill>
                  <a:schemeClr val="accent6"/>
                </a:solidFill>
              </a:rPr>
              <a:t>while</a:t>
            </a:r>
            <a:r>
              <a:rPr lang="en-US" sz="3600" dirty="0"/>
              <a:t> loop produce</a:t>
            </a:r>
            <a:r>
              <a:rPr lang="en-US" sz="3600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0ACCF-3AA6-4238-95F7-2DDF40B8029A}"/>
              </a:ext>
            </a:extLst>
          </p:cNvPr>
          <p:cNvSpPr txBox="1"/>
          <p:nvPr/>
        </p:nvSpPr>
        <p:spPr>
          <a:xfrm>
            <a:off x="1168017" y="3955214"/>
            <a:ext cx="3581430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4: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print(x)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x = x + 1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D38F76-BA6A-4107-8A26-C72290192DF0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</a:t>
            </a:r>
            <a:r>
              <a:rPr lang="en-US" sz="2600" b="1" dirty="0">
                <a:solidFill>
                  <a:schemeClr val="accent6"/>
                </a:solidFill>
              </a:rPr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790696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Refresher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837946" cy="4835479"/>
          </a:xfrm>
        </p:spPr>
        <p:txBody>
          <a:bodyPr>
            <a:normAutofit/>
          </a:bodyPr>
          <a:lstStyle/>
          <a:p>
            <a:r>
              <a:rPr lang="en-US" sz="3600" dirty="0"/>
              <a:t>Just like for </a:t>
            </a:r>
            <a:r>
              <a:rPr lang="en-US" sz="3600" b="1" dirty="0">
                <a:solidFill>
                  <a:schemeClr val="accent6"/>
                </a:solidFill>
              </a:rPr>
              <a:t>if</a:t>
            </a:r>
            <a:r>
              <a:rPr lang="en-US" sz="3600" dirty="0"/>
              <a:t>-statements</a:t>
            </a:r>
            <a:r>
              <a:rPr lang="en-US" sz="3600" dirty="0">
                <a:solidFill>
                  <a:schemeClr val="accent2"/>
                </a:solidFill>
              </a:rPr>
              <a:t>,</a:t>
            </a:r>
            <a:r>
              <a:rPr lang="en-US" sz="3600" dirty="0"/>
              <a:t> if you use </a:t>
            </a:r>
            <a:r>
              <a:rPr lang="en-US" sz="3600" b="1" dirty="0">
                <a:solidFill>
                  <a:schemeClr val="accent6"/>
                </a:solidFill>
              </a:rPr>
              <a:t>and</a:t>
            </a:r>
            <a:r>
              <a:rPr lang="en-US" sz="3600" dirty="0"/>
              <a:t> or </a:t>
            </a:r>
            <a:r>
              <a:rPr lang="en-US" sz="3600" b="1" dirty="0">
                <a:solidFill>
                  <a:schemeClr val="accent6"/>
                </a:solidFill>
              </a:rPr>
              <a:t>or </a:t>
            </a:r>
            <a:r>
              <a:rPr lang="en-US" sz="3600" dirty="0"/>
              <a:t>in a while</a:t>
            </a:r>
            <a:r>
              <a:rPr lang="en-US" sz="3600" dirty="0">
                <a:solidFill>
                  <a:schemeClr val="accent6"/>
                </a:solidFill>
              </a:rPr>
              <a:t>-</a:t>
            </a:r>
            <a:r>
              <a:rPr lang="en-US" sz="3600" dirty="0"/>
              <a:t>loop expression</a:t>
            </a:r>
            <a:r>
              <a:rPr lang="en-US" sz="3600" dirty="0">
                <a:solidFill>
                  <a:schemeClr val="accent2"/>
                </a:solidFill>
              </a:rPr>
              <a:t>,</a:t>
            </a:r>
            <a:r>
              <a:rPr lang="en-US" sz="3600" dirty="0"/>
              <a:t> it is subject to lazy evaluation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600" dirty="0"/>
              <a:t>Only if </a:t>
            </a:r>
            <a:r>
              <a:rPr lang="en-US" sz="3600" b="1" dirty="0">
                <a:solidFill>
                  <a:schemeClr val="accent6"/>
                </a:solidFill>
              </a:rPr>
              <a:t>x &lt; 4 </a:t>
            </a:r>
            <a:r>
              <a:rPr lang="en-US" sz="3600" dirty="0"/>
              <a:t>is </a:t>
            </a:r>
            <a:r>
              <a:rPr lang="en-US" sz="3600" b="1" dirty="0">
                <a:solidFill>
                  <a:schemeClr val="accent6"/>
                </a:solidFill>
              </a:rPr>
              <a:t>True</a:t>
            </a:r>
            <a:r>
              <a:rPr lang="en-US" sz="3600" dirty="0"/>
              <a:t> will </a:t>
            </a:r>
            <a:r>
              <a:rPr lang="en-US" sz="3600" b="1" dirty="0">
                <a:solidFill>
                  <a:schemeClr val="accent6"/>
                </a:solidFill>
              </a:rPr>
              <a:t>y &lt; 4 </a:t>
            </a:r>
            <a:r>
              <a:rPr lang="en-US" sz="3600" dirty="0"/>
              <a:t>be evaluated</a:t>
            </a:r>
            <a:r>
              <a:rPr lang="en-US" sz="3600" dirty="0">
                <a:solidFill>
                  <a:schemeClr val="accent2"/>
                </a:solidFill>
              </a:rPr>
              <a:t>. </a:t>
            </a:r>
            <a:r>
              <a:rPr lang="en-US" sz="3600" dirty="0">
                <a:solidFill>
                  <a:schemeClr val="accent6"/>
                </a:solidFill>
              </a:rPr>
              <a:t>#solazy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0ACCF-3AA6-4238-95F7-2DDF40B8029A}"/>
              </a:ext>
            </a:extLst>
          </p:cNvPr>
          <p:cNvSpPr txBox="1"/>
          <p:nvPr/>
        </p:nvSpPr>
        <p:spPr>
          <a:xfrm>
            <a:off x="1216143" y="5350877"/>
            <a:ext cx="593303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4 and y &lt; 4: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D38F76-BA6A-4107-8A26-C72290192DF0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</a:t>
            </a:r>
            <a:r>
              <a:rPr lang="en-US" sz="2600" b="1" dirty="0">
                <a:solidFill>
                  <a:schemeClr val="accent6"/>
                </a:solidFill>
              </a:rPr>
              <a:t>Lazy Evaluation</a:t>
            </a:r>
          </a:p>
        </p:txBody>
      </p:sp>
    </p:spTree>
    <p:extLst>
      <p:ext uri="{BB962C8B-B14F-4D97-AF65-F5344CB8AC3E}">
        <p14:creationId xmlns:p14="http://schemas.microsoft.com/office/powerpoint/2010/main" val="2889048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Random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62011" cy="4900029"/>
          </a:xfrm>
        </p:spPr>
        <p:txBody>
          <a:bodyPr>
            <a:normAutofit/>
          </a:bodyPr>
          <a:lstStyle/>
          <a:p>
            <a:r>
              <a:rPr lang="en-US" sz="3200" dirty="0"/>
              <a:t>This module implements pseudo</a:t>
            </a:r>
            <a:r>
              <a:rPr lang="en-US" sz="3200" dirty="0">
                <a:solidFill>
                  <a:schemeClr val="accent3"/>
                </a:solidFill>
              </a:rPr>
              <a:t>-</a:t>
            </a:r>
            <a:r>
              <a:rPr lang="en-US" sz="3200" dirty="0"/>
              <a:t>random number generators for various distributions</a:t>
            </a:r>
            <a:r>
              <a:rPr lang="en-US" sz="3200" dirty="0">
                <a:solidFill>
                  <a:schemeClr val="accent6"/>
                </a:solidFill>
              </a:rPr>
              <a:t>.</a:t>
            </a:r>
          </a:p>
          <a:p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D12892-252D-47E8-9C1B-32729A13BC0B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</a:t>
            </a:r>
            <a:r>
              <a:rPr lang="en-US" sz="2600" b="1" dirty="0">
                <a:solidFill>
                  <a:schemeClr val="accent6"/>
                </a:solidFill>
              </a:rPr>
              <a:t>Random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983D5-35D0-4FA4-A078-52AE59EA8EE6}"/>
              </a:ext>
            </a:extLst>
          </p:cNvPr>
          <p:cNvSpPr txBox="1"/>
          <p:nvPr/>
        </p:nvSpPr>
        <p:spPr>
          <a:xfrm>
            <a:off x="987055" y="3429000"/>
            <a:ext cx="51541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random</a:t>
            </a:r>
          </a:p>
          <a:p>
            <a:endParaRPr lang="en-US" sz="32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random.uniform()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random.random()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random.randint()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sz="32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834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2EEF2-7F5F-A4DD-B31F-831F27BE6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0F26B-83F7-DF21-27CB-0D5A00C1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1B931-37BC-A6FE-ABF5-404AC665C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657474" cy="4900029"/>
          </a:xfrm>
        </p:spPr>
        <p:txBody>
          <a:bodyPr>
            <a:normAutofit/>
          </a:bodyPr>
          <a:lstStyle/>
          <a:p>
            <a:r>
              <a:rPr lang="en-US" sz="3200" dirty="0"/>
              <a:t>Write a function that roles a 6-sided dice until a lucky number is rolled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B0EC03C-EFB7-9326-110B-3CB39040DD33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600" b="1" dirty="0">
                <a:solidFill>
                  <a:schemeClr val="accent6"/>
                </a:solidFill>
              </a:rPr>
              <a:t>4. Breakout Session 2</a:t>
            </a:r>
          </a:p>
        </p:txBody>
      </p:sp>
      <p:pic>
        <p:nvPicPr>
          <p:cNvPr id="2050" name="Picture 2" descr="Dice PNG, Dice Transparent Background - FreeIconsPNG">
            <a:extLst>
              <a:ext uri="{FF2B5EF4-FFF2-40B4-BE49-F238E27FC236}">
                <a16:creationId xmlns:a16="http://schemas.microsoft.com/office/drawing/2014/main" id="{5636AF83-8B6B-218D-AC73-48B2E07AE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414" y="3830484"/>
            <a:ext cx="4149969" cy="241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1310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657474" cy="4900029"/>
          </a:xfrm>
        </p:spPr>
        <p:txBody>
          <a:bodyPr>
            <a:normAutofit/>
          </a:bodyPr>
          <a:lstStyle/>
          <a:p>
            <a:r>
              <a:rPr lang="en-US" sz="3200" dirty="0"/>
              <a:t>Write some code to allow someone to play Rock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Paper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Scissors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Lizard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Spock repeatedly until they beat the computer </a:t>
            </a:r>
            <a:r>
              <a:rPr lang="en-US" sz="3200" dirty="0">
                <a:solidFill>
                  <a:schemeClr val="accent2"/>
                </a:solidFill>
              </a:rPr>
              <a:t>`</a:t>
            </a:r>
            <a:r>
              <a:rPr lang="en-US" sz="3200" dirty="0"/>
              <a:t>3</a:t>
            </a:r>
            <a:r>
              <a:rPr lang="en-US" sz="3200" dirty="0">
                <a:solidFill>
                  <a:schemeClr val="accent2"/>
                </a:solidFill>
              </a:rPr>
              <a:t>`</a:t>
            </a:r>
            <a:r>
              <a:rPr lang="en-US" sz="3200" dirty="0"/>
              <a:t> times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D12892-252D-47E8-9C1B-32729A13BC0B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5. </a:t>
            </a:r>
            <a:r>
              <a:rPr lang="en-US" sz="2600" b="1" dirty="0">
                <a:solidFill>
                  <a:schemeClr val="accent6"/>
                </a:solidFill>
              </a:rPr>
              <a:t>Breakout Session 1</a:t>
            </a:r>
          </a:p>
        </p:txBody>
      </p:sp>
      <p:pic>
        <p:nvPicPr>
          <p:cNvPr id="1026" name="Picture 2" descr="Spock (Character) - Comic Vine">
            <a:extLst>
              <a:ext uri="{FF2B5EF4-FFF2-40B4-BE49-F238E27FC236}">
                <a16:creationId xmlns:a16="http://schemas.microsoft.com/office/drawing/2014/main" id="{906D33B3-7CFB-2914-A234-0F3FDAC17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81191" y="4317165"/>
            <a:ext cx="1757501" cy="22229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omodo dragons">
            <a:extLst>
              <a:ext uri="{FF2B5EF4-FFF2-40B4-BE49-F238E27FC236}">
                <a16:creationId xmlns:a16="http://schemas.microsoft.com/office/drawing/2014/main" id="{833F8489-F331-406C-3953-9BC6B9723B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9" r="25321"/>
          <a:stretch/>
        </p:blipFill>
        <p:spPr bwMode="auto">
          <a:xfrm>
            <a:off x="3335982" y="4317165"/>
            <a:ext cx="2175641" cy="22253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241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Guessing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62011" cy="4900029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Let</a:t>
            </a:r>
            <a:r>
              <a:rPr lang="en-US" sz="3200" dirty="0">
                <a:solidFill>
                  <a:schemeClr val="accent1"/>
                </a:solidFill>
              </a:rPr>
              <a:t>’</a:t>
            </a:r>
            <a:r>
              <a:rPr lang="en-US" sz="3200" dirty="0"/>
              <a:t>s build a simple guessing game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  <a:r>
              <a:rPr lang="en-US" sz="3200" dirty="0"/>
              <a:t> </a:t>
            </a:r>
            <a:endParaRPr lang="en-US" sz="3200" dirty="0">
              <a:solidFill>
                <a:schemeClr val="accent1"/>
              </a:solidFill>
            </a:endParaRPr>
          </a:p>
          <a:p>
            <a:pPr lvl="1"/>
            <a:r>
              <a:rPr lang="en-US" sz="2800" dirty="0"/>
              <a:t>Get the computer to choose a random integer from 0 to 100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</a:p>
          <a:p>
            <a:pPr lvl="1"/>
            <a:r>
              <a:rPr lang="en-US" sz="2800" dirty="0"/>
              <a:t>Ask the user for a guess and allow the user to input a guess or </a:t>
            </a:r>
            <a:r>
              <a:rPr lang="en-US" sz="2800" dirty="0">
                <a:solidFill>
                  <a:schemeClr val="accent6"/>
                </a:solidFill>
              </a:rPr>
              <a:t>"</a:t>
            </a:r>
            <a:r>
              <a:rPr lang="en-US" sz="2800" dirty="0"/>
              <a:t>q</a:t>
            </a:r>
            <a:r>
              <a:rPr lang="en-US" sz="2800" dirty="0">
                <a:solidFill>
                  <a:schemeClr val="accent6"/>
                </a:solidFill>
              </a:rPr>
              <a:t>“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</a:p>
          <a:p>
            <a:pPr lvl="1"/>
            <a:r>
              <a:rPr lang="en-US" sz="2800" dirty="0"/>
              <a:t>If the user inputs </a:t>
            </a:r>
            <a:r>
              <a:rPr lang="en-US" sz="2800" dirty="0">
                <a:solidFill>
                  <a:schemeClr val="accent6"/>
                </a:solidFill>
              </a:rPr>
              <a:t>"</a:t>
            </a:r>
            <a:r>
              <a:rPr lang="en-US" sz="2800" dirty="0"/>
              <a:t>q</a:t>
            </a:r>
            <a:r>
              <a:rPr lang="en-US" sz="2800" dirty="0">
                <a:solidFill>
                  <a:schemeClr val="accent6"/>
                </a:solidFill>
              </a:rPr>
              <a:t>"</a:t>
            </a:r>
            <a:r>
              <a:rPr lang="en-US" sz="2800" dirty="0"/>
              <a:t> print a nice message and end the program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</a:p>
          <a:p>
            <a:pPr lvl="1"/>
            <a:r>
              <a:rPr lang="en-US" sz="2800" dirty="0"/>
              <a:t>If the user enters a guess</a:t>
            </a:r>
            <a:r>
              <a:rPr lang="en-US" sz="2800" dirty="0">
                <a:solidFill>
                  <a:schemeClr val="accent1"/>
                </a:solidFill>
              </a:rPr>
              <a:t>,</a:t>
            </a:r>
            <a:r>
              <a:rPr lang="en-US" sz="2800" dirty="0"/>
              <a:t> tell them if they should guess higher</a:t>
            </a:r>
            <a:r>
              <a:rPr lang="en-US" sz="2800" dirty="0">
                <a:solidFill>
                  <a:schemeClr val="accent1"/>
                </a:solidFill>
              </a:rPr>
              <a:t>,</a:t>
            </a:r>
            <a:r>
              <a:rPr lang="en-US" sz="2800" dirty="0"/>
              <a:t> lower</a:t>
            </a:r>
            <a:r>
              <a:rPr lang="en-US" sz="2800" dirty="0">
                <a:solidFill>
                  <a:schemeClr val="accent1"/>
                </a:solidFill>
              </a:rPr>
              <a:t>,</a:t>
            </a:r>
            <a:r>
              <a:rPr lang="en-US" sz="2800" dirty="0"/>
              <a:t> or if they got it right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</a:p>
          <a:p>
            <a:pPr lvl="1"/>
            <a:r>
              <a:rPr lang="en-US" sz="2800" dirty="0"/>
              <a:t>If they got it right</a:t>
            </a:r>
            <a:r>
              <a:rPr lang="en-US" sz="2800" dirty="0">
                <a:solidFill>
                  <a:schemeClr val="accent1"/>
                </a:solidFill>
              </a:rPr>
              <a:t>,</a:t>
            </a:r>
            <a:r>
              <a:rPr lang="en-US" sz="2800" dirty="0"/>
              <a:t> print a nice message and quit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</a:p>
        </p:txBody>
      </p:sp>
      <p:pic>
        <p:nvPicPr>
          <p:cNvPr id="3080" name="Picture 8" descr="Fantasmas comecocos png 3 » PNG Image">
            <a:extLst>
              <a:ext uri="{FF2B5EF4-FFF2-40B4-BE49-F238E27FC236}">
                <a16:creationId xmlns:a16="http://schemas.microsoft.com/office/drawing/2014/main" id="{5ACEBED3-EB92-414C-81E9-E52FA32B2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072" y="1825624"/>
            <a:ext cx="3395580" cy="339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7149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Guessing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9316453" cy="4900029"/>
          </a:xfrm>
        </p:spPr>
        <p:txBody>
          <a:bodyPr>
            <a:normAutofit/>
          </a:bodyPr>
          <a:lstStyle/>
          <a:p>
            <a:r>
              <a:rPr lang="en-US" sz="3200" dirty="0"/>
              <a:t>Get the computer to choose a random integer from 0 to 100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pPr lvl="1"/>
            <a:r>
              <a:rPr lang="en-US" sz="2800" dirty="0"/>
              <a:t>The computer selects 45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</a:p>
          <a:p>
            <a:pPr lvl="1"/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022C15AC-AF7B-460E-8033-14D8CB69B82B}"/>
              </a:ext>
            </a:extLst>
          </p:cNvPr>
          <p:cNvSpPr/>
          <p:nvPr/>
        </p:nvSpPr>
        <p:spPr>
          <a:xfrm>
            <a:off x="1427748" y="5570621"/>
            <a:ext cx="8518358" cy="86627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F36E5-475E-4F1E-8085-36D4D314CDDC}"/>
              </a:ext>
            </a:extLst>
          </p:cNvPr>
          <p:cNvSpPr txBox="1"/>
          <p:nvPr/>
        </p:nvSpPr>
        <p:spPr>
          <a:xfrm>
            <a:off x="772513" y="5588259"/>
            <a:ext cx="5389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4FC8C-0292-4EC9-A622-76089CA49134}"/>
              </a:ext>
            </a:extLst>
          </p:cNvPr>
          <p:cNvSpPr txBox="1"/>
          <p:nvPr/>
        </p:nvSpPr>
        <p:spPr>
          <a:xfrm>
            <a:off x="10062411" y="5564195"/>
            <a:ext cx="12474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33B50B0-CDBA-4289-A206-53669331BC72}"/>
              </a:ext>
            </a:extLst>
          </p:cNvPr>
          <p:cNvSpPr/>
          <p:nvPr/>
        </p:nvSpPr>
        <p:spPr>
          <a:xfrm>
            <a:off x="5807242" y="4914900"/>
            <a:ext cx="577516" cy="733926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7DA6F-ABB0-4FBD-998C-3A0D0F70597C}"/>
              </a:ext>
            </a:extLst>
          </p:cNvPr>
          <p:cNvSpPr txBox="1"/>
          <p:nvPr/>
        </p:nvSpPr>
        <p:spPr>
          <a:xfrm>
            <a:off x="5652746" y="4102767"/>
            <a:ext cx="893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74963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Guessing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9316453" cy="4900029"/>
          </a:xfrm>
        </p:spPr>
        <p:txBody>
          <a:bodyPr>
            <a:normAutofit/>
          </a:bodyPr>
          <a:lstStyle/>
          <a:p>
            <a:r>
              <a:rPr lang="en-US" sz="3200" dirty="0"/>
              <a:t>The user guesses 64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pPr lvl="1"/>
            <a:r>
              <a:rPr lang="en-US" sz="2800" dirty="0"/>
              <a:t>The computer says </a:t>
            </a:r>
            <a:r>
              <a:rPr lang="en-US" sz="2800" b="1" dirty="0">
                <a:solidFill>
                  <a:schemeClr val="accent6"/>
                </a:solidFill>
              </a:rPr>
              <a:t>LOWER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</a:p>
          <a:p>
            <a:pPr lvl="1"/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022C15AC-AF7B-460E-8033-14D8CB69B82B}"/>
              </a:ext>
            </a:extLst>
          </p:cNvPr>
          <p:cNvSpPr/>
          <p:nvPr/>
        </p:nvSpPr>
        <p:spPr>
          <a:xfrm>
            <a:off x="1427748" y="5570621"/>
            <a:ext cx="8518358" cy="86627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F36E5-475E-4F1E-8085-36D4D314CDDC}"/>
              </a:ext>
            </a:extLst>
          </p:cNvPr>
          <p:cNvSpPr txBox="1"/>
          <p:nvPr/>
        </p:nvSpPr>
        <p:spPr>
          <a:xfrm>
            <a:off x="772513" y="5588259"/>
            <a:ext cx="5389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4FC8C-0292-4EC9-A622-76089CA49134}"/>
              </a:ext>
            </a:extLst>
          </p:cNvPr>
          <p:cNvSpPr txBox="1"/>
          <p:nvPr/>
        </p:nvSpPr>
        <p:spPr>
          <a:xfrm>
            <a:off x="10062411" y="5564195"/>
            <a:ext cx="12474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33B50B0-CDBA-4289-A206-53669331BC72}"/>
              </a:ext>
            </a:extLst>
          </p:cNvPr>
          <p:cNvSpPr/>
          <p:nvPr/>
        </p:nvSpPr>
        <p:spPr>
          <a:xfrm>
            <a:off x="5807242" y="4914900"/>
            <a:ext cx="577516" cy="733926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7DA6F-ABB0-4FBD-998C-3A0D0F70597C}"/>
              </a:ext>
            </a:extLst>
          </p:cNvPr>
          <p:cNvSpPr txBox="1"/>
          <p:nvPr/>
        </p:nvSpPr>
        <p:spPr>
          <a:xfrm>
            <a:off x="5652746" y="4102767"/>
            <a:ext cx="893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45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1DDC466-6659-4A36-A754-88725CFDBD2A}"/>
              </a:ext>
            </a:extLst>
          </p:cNvPr>
          <p:cNvSpPr/>
          <p:nvPr/>
        </p:nvSpPr>
        <p:spPr>
          <a:xfrm>
            <a:off x="7680733" y="4914900"/>
            <a:ext cx="577516" cy="733926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95CD0A-AEF3-4DF9-B80C-46CAB58B0EBE}"/>
              </a:ext>
            </a:extLst>
          </p:cNvPr>
          <p:cNvSpPr txBox="1"/>
          <p:nvPr/>
        </p:nvSpPr>
        <p:spPr>
          <a:xfrm>
            <a:off x="7314504" y="3613918"/>
            <a:ext cx="13099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Guess</a:t>
            </a:r>
          </a:p>
          <a:p>
            <a:pPr algn="ctr"/>
            <a:r>
              <a:rPr lang="en-US" sz="4800" b="1" dirty="0">
                <a:solidFill>
                  <a:srgbClr val="FFFFFF"/>
                </a:solidFill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3339925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Guessing Game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022C15AC-AF7B-460E-8033-14D8CB69B82B}"/>
              </a:ext>
            </a:extLst>
          </p:cNvPr>
          <p:cNvSpPr/>
          <p:nvPr/>
        </p:nvSpPr>
        <p:spPr>
          <a:xfrm>
            <a:off x="1427748" y="5570621"/>
            <a:ext cx="8518358" cy="86627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F36E5-475E-4F1E-8085-36D4D314CDDC}"/>
              </a:ext>
            </a:extLst>
          </p:cNvPr>
          <p:cNvSpPr txBox="1"/>
          <p:nvPr/>
        </p:nvSpPr>
        <p:spPr>
          <a:xfrm>
            <a:off x="772513" y="5588259"/>
            <a:ext cx="5389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4FC8C-0292-4EC9-A622-76089CA49134}"/>
              </a:ext>
            </a:extLst>
          </p:cNvPr>
          <p:cNvSpPr txBox="1"/>
          <p:nvPr/>
        </p:nvSpPr>
        <p:spPr>
          <a:xfrm>
            <a:off x="10062411" y="5564195"/>
            <a:ext cx="893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64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33B50B0-CDBA-4289-A206-53669331BC72}"/>
              </a:ext>
            </a:extLst>
          </p:cNvPr>
          <p:cNvSpPr/>
          <p:nvPr/>
        </p:nvSpPr>
        <p:spPr>
          <a:xfrm>
            <a:off x="5807242" y="4914900"/>
            <a:ext cx="577516" cy="733926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7DA6F-ABB0-4FBD-998C-3A0D0F70597C}"/>
              </a:ext>
            </a:extLst>
          </p:cNvPr>
          <p:cNvSpPr txBox="1"/>
          <p:nvPr/>
        </p:nvSpPr>
        <p:spPr>
          <a:xfrm>
            <a:off x="5652746" y="4102767"/>
            <a:ext cx="893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994667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Guessing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9316453" cy="4900029"/>
          </a:xfrm>
        </p:spPr>
        <p:txBody>
          <a:bodyPr>
            <a:normAutofit/>
          </a:bodyPr>
          <a:lstStyle/>
          <a:p>
            <a:r>
              <a:rPr lang="en-US" sz="3200" dirty="0"/>
              <a:t>The user guesses 40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pPr lvl="1"/>
            <a:r>
              <a:rPr lang="en-US" sz="2800" dirty="0"/>
              <a:t>The computer says </a:t>
            </a:r>
            <a:r>
              <a:rPr lang="en-US" sz="2800" b="1" dirty="0">
                <a:solidFill>
                  <a:schemeClr val="accent6"/>
                </a:solidFill>
              </a:rPr>
              <a:t>HIGHER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</a:p>
          <a:p>
            <a:pPr lvl="1"/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022C15AC-AF7B-460E-8033-14D8CB69B82B}"/>
              </a:ext>
            </a:extLst>
          </p:cNvPr>
          <p:cNvSpPr/>
          <p:nvPr/>
        </p:nvSpPr>
        <p:spPr>
          <a:xfrm>
            <a:off x="1427748" y="5570621"/>
            <a:ext cx="8518358" cy="86627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F36E5-475E-4F1E-8085-36D4D314CDDC}"/>
              </a:ext>
            </a:extLst>
          </p:cNvPr>
          <p:cNvSpPr txBox="1"/>
          <p:nvPr/>
        </p:nvSpPr>
        <p:spPr>
          <a:xfrm>
            <a:off x="772513" y="5588259"/>
            <a:ext cx="5389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4FC8C-0292-4EC9-A622-76089CA49134}"/>
              </a:ext>
            </a:extLst>
          </p:cNvPr>
          <p:cNvSpPr txBox="1"/>
          <p:nvPr/>
        </p:nvSpPr>
        <p:spPr>
          <a:xfrm>
            <a:off x="10062411" y="5564195"/>
            <a:ext cx="893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64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33B50B0-CDBA-4289-A206-53669331BC72}"/>
              </a:ext>
            </a:extLst>
          </p:cNvPr>
          <p:cNvSpPr/>
          <p:nvPr/>
        </p:nvSpPr>
        <p:spPr>
          <a:xfrm>
            <a:off x="5807242" y="4914900"/>
            <a:ext cx="577516" cy="733926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7DA6F-ABB0-4FBD-998C-3A0D0F70597C}"/>
              </a:ext>
            </a:extLst>
          </p:cNvPr>
          <p:cNvSpPr txBox="1"/>
          <p:nvPr/>
        </p:nvSpPr>
        <p:spPr>
          <a:xfrm>
            <a:off x="5652746" y="4102767"/>
            <a:ext cx="893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45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80967259-EDFC-4AEC-86B9-263E0978450D}"/>
              </a:ext>
            </a:extLst>
          </p:cNvPr>
          <p:cNvSpPr/>
          <p:nvPr/>
        </p:nvSpPr>
        <p:spPr>
          <a:xfrm>
            <a:off x="4913464" y="4914900"/>
            <a:ext cx="577516" cy="733926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8612DF-7D67-4673-97CE-D63B0AD6F0EB}"/>
              </a:ext>
            </a:extLst>
          </p:cNvPr>
          <p:cNvSpPr txBox="1"/>
          <p:nvPr/>
        </p:nvSpPr>
        <p:spPr>
          <a:xfrm>
            <a:off x="4547235" y="3613918"/>
            <a:ext cx="13099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Guess</a:t>
            </a:r>
          </a:p>
          <a:p>
            <a:pPr algn="ctr"/>
            <a:r>
              <a:rPr lang="en-US" sz="4800" b="1" dirty="0">
                <a:solidFill>
                  <a:srgbClr val="FFFFFF"/>
                </a:solidFill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522241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Guessing Game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022C15AC-AF7B-460E-8033-14D8CB69B82B}"/>
              </a:ext>
            </a:extLst>
          </p:cNvPr>
          <p:cNvSpPr/>
          <p:nvPr/>
        </p:nvSpPr>
        <p:spPr>
          <a:xfrm>
            <a:off x="1427748" y="5570621"/>
            <a:ext cx="8518358" cy="86627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F36E5-475E-4F1E-8085-36D4D314CDDC}"/>
              </a:ext>
            </a:extLst>
          </p:cNvPr>
          <p:cNvSpPr txBox="1"/>
          <p:nvPr/>
        </p:nvSpPr>
        <p:spPr>
          <a:xfrm>
            <a:off x="439728" y="5581835"/>
            <a:ext cx="893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4FC8C-0292-4EC9-A622-76089CA49134}"/>
              </a:ext>
            </a:extLst>
          </p:cNvPr>
          <p:cNvSpPr txBox="1"/>
          <p:nvPr/>
        </p:nvSpPr>
        <p:spPr>
          <a:xfrm>
            <a:off x="10062411" y="5564195"/>
            <a:ext cx="893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64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4E85E84E-14DE-40EA-9247-23F52F7B9905}"/>
              </a:ext>
            </a:extLst>
          </p:cNvPr>
          <p:cNvSpPr/>
          <p:nvPr/>
        </p:nvSpPr>
        <p:spPr>
          <a:xfrm>
            <a:off x="5807242" y="4914900"/>
            <a:ext cx="577516" cy="733926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F8F260-554C-44A4-81BC-AF9C67EB4CCC}"/>
              </a:ext>
            </a:extLst>
          </p:cNvPr>
          <p:cNvSpPr txBox="1"/>
          <p:nvPr/>
        </p:nvSpPr>
        <p:spPr>
          <a:xfrm>
            <a:off x="5652746" y="4102767"/>
            <a:ext cx="893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472762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Guessing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9316453" cy="4900029"/>
          </a:xfrm>
        </p:spPr>
        <p:txBody>
          <a:bodyPr>
            <a:normAutofit/>
          </a:bodyPr>
          <a:lstStyle/>
          <a:p>
            <a:r>
              <a:rPr lang="en-US" sz="3200" dirty="0"/>
              <a:t>The user guesses 45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pPr lvl="1"/>
            <a:r>
              <a:rPr lang="en-US" sz="2800" dirty="0"/>
              <a:t>The computer says </a:t>
            </a:r>
            <a:r>
              <a:rPr lang="en-US" sz="2800" b="1" dirty="0">
                <a:solidFill>
                  <a:schemeClr val="accent6"/>
                </a:solidFill>
              </a:rPr>
              <a:t>YOU WIN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</a:p>
          <a:p>
            <a:pPr lvl="1"/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022C15AC-AF7B-460E-8033-14D8CB69B82B}"/>
              </a:ext>
            </a:extLst>
          </p:cNvPr>
          <p:cNvSpPr/>
          <p:nvPr/>
        </p:nvSpPr>
        <p:spPr>
          <a:xfrm>
            <a:off x="1427748" y="5570621"/>
            <a:ext cx="8518358" cy="86627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F36E5-475E-4F1E-8085-36D4D314CDDC}"/>
              </a:ext>
            </a:extLst>
          </p:cNvPr>
          <p:cNvSpPr txBox="1"/>
          <p:nvPr/>
        </p:nvSpPr>
        <p:spPr>
          <a:xfrm>
            <a:off x="439728" y="5581835"/>
            <a:ext cx="893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4FC8C-0292-4EC9-A622-76089CA49134}"/>
              </a:ext>
            </a:extLst>
          </p:cNvPr>
          <p:cNvSpPr txBox="1"/>
          <p:nvPr/>
        </p:nvSpPr>
        <p:spPr>
          <a:xfrm>
            <a:off x="10062411" y="5564195"/>
            <a:ext cx="893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64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33B50B0-CDBA-4289-A206-53669331BC72}"/>
              </a:ext>
            </a:extLst>
          </p:cNvPr>
          <p:cNvSpPr/>
          <p:nvPr/>
        </p:nvSpPr>
        <p:spPr>
          <a:xfrm>
            <a:off x="5807242" y="4914900"/>
            <a:ext cx="577516" cy="733926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6051AC-A239-4D47-B9D0-CBCB7190414D}"/>
              </a:ext>
            </a:extLst>
          </p:cNvPr>
          <p:cNvSpPr txBox="1"/>
          <p:nvPr/>
        </p:nvSpPr>
        <p:spPr>
          <a:xfrm>
            <a:off x="5437571" y="3613918"/>
            <a:ext cx="13099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Guess</a:t>
            </a:r>
          </a:p>
          <a:p>
            <a:pPr algn="ctr"/>
            <a:r>
              <a:rPr lang="en-US" sz="4800" b="1" dirty="0">
                <a:solidFill>
                  <a:srgbClr val="FFFFFF"/>
                </a:solidFill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417919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Guessing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62011" cy="4900029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Let</a:t>
            </a:r>
            <a:r>
              <a:rPr lang="en-US" sz="3200" dirty="0">
                <a:solidFill>
                  <a:schemeClr val="accent1"/>
                </a:solidFill>
              </a:rPr>
              <a:t>’</a:t>
            </a:r>
            <a:r>
              <a:rPr lang="en-US" sz="3200" dirty="0"/>
              <a:t>s build a simple guessing game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  <a:r>
              <a:rPr lang="en-US" sz="3200" dirty="0"/>
              <a:t> </a:t>
            </a:r>
            <a:endParaRPr lang="en-US" sz="3200" dirty="0">
              <a:solidFill>
                <a:schemeClr val="accent1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Get the computer to choose a random integer from 0 to 100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Ask the user for a guess and allow the user to input a guess or </a:t>
            </a:r>
            <a:r>
              <a:rPr lang="en-US" sz="2800" dirty="0">
                <a:solidFill>
                  <a:schemeClr val="accent6"/>
                </a:solidFill>
              </a:rPr>
              <a:t>"</a:t>
            </a:r>
            <a:r>
              <a:rPr lang="en-US" sz="2800" dirty="0"/>
              <a:t>q</a:t>
            </a:r>
            <a:r>
              <a:rPr lang="en-US" sz="2800" dirty="0">
                <a:solidFill>
                  <a:schemeClr val="accent6"/>
                </a:solidFill>
              </a:rPr>
              <a:t>“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If the user inputs </a:t>
            </a:r>
            <a:r>
              <a:rPr lang="en-US" sz="2800" dirty="0">
                <a:solidFill>
                  <a:schemeClr val="accent6"/>
                </a:solidFill>
              </a:rPr>
              <a:t>"</a:t>
            </a:r>
            <a:r>
              <a:rPr lang="en-US" sz="2800" dirty="0"/>
              <a:t>q</a:t>
            </a:r>
            <a:r>
              <a:rPr lang="en-US" sz="2800" dirty="0">
                <a:solidFill>
                  <a:schemeClr val="accent6"/>
                </a:solidFill>
              </a:rPr>
              <a:t>"</a:t>
            </a:r>
            <a:r>
              <a:rPr lang="en-US" sz="2800" dirty="0"/>
              <a:t> print a nice message and end the program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If the user enters a guess</a:t>
            </a:r>
            <a:r>
              <a:rPr lang="en-US" sz="2800" dirty="0">
                <a:solidFill>
                  <a:schemeClr val="accent1"/>
                </a:solidFill>
              </a:rPr>
              <a:t>,</a:t>
            </a:r>
            <a:r>
              <a:rPr lang="en-US" sz="2800" dirty="0"/>
              <a:t> tell them if they should guess higher</a:t>
            </a:r>
            <a:r>
              <a:rPr lang="en-US" sz="2800" dirty="0">
                <a:solidFill>
                  <a:schemeClr val="accent1"/>
                </a:solidFill>
              </a:rPr>
              <a:t>,</a:t>
            </a:r>
            <a:r>
              <a:rPr lang="en-US" sz="2800" dirty="0"/>
              <a:t> lower</a:t>
            </a:r>
            <a:r>
              <a:rPr lang="en-US" sz="2800" dirty="0">
                <a:solidFill>
                  <a:schemeClr val="accent1"/>
                </a:solidFill>
              </a:rPr>
              <a:t>,</a:t>
            </a:r>
            <a:r>
              <a:rPr lang="en-US" sz="2800" dirty="0"/>
              <a:t> or if they got it right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If they got it right</a:t>
            </a:r>
            <a:r>
              <a:rPr lang="en-US" sz="2800" dirty="0">
                <a:solidFill>
                  <a:schemeClr val="accent1"/>
                </a:solidFill>
              </a:rPr>
              <a:t>,</a:t>
            </a:r>
            <a:r>
              <a:rPr lang="en-US" sz="2800" dirty="0"/>
              <a:t> print a nice message and quit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D12892-252D-47E8-9C1B-32729A13BC0B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6. </a:t>
            </a:r>
            <a:r>
              <a:rPr lang="en-US" sz="2600" b="1" dirty="0">
                <a:solidFill>
                  <a:schemeClr val="accent6"/>
                </a:solidFill>
              </a:rPr>
              <a:t>A Simple Guessing Game</a:t>
            </a:r>
          </a:p>
        </p:txBody>
      </p:sp>
    </p:spTree>
    <p:extLst>
      <p:ext uri="{BB962C8B-B14F-4D97-AF65-F5344CB8AC3E}">
        <p14:creationId xmlns:p14="http://schemas.microsoft.com/office/powerpoint/2010/main" val="3911853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869" y="2586087"/>
            <a:ext cx="8032262" cy="1685825"/>
          </a:xfrm>
        </p:spPr>
        <p:txBody>
          <a:bodyPr>
            <a:noAutofit/>
          </a:bodyPr>
          <a:lstStyle/>
          <a:p>
            <a:pPr algn="ctr"/>
            <a:r>
              <a:rPr lang="en-US" sz="12000" b="1" dirty="0"/>
              <a:t>PRACTICE</a:t>
            </a:r>
            <a:r>
              <a:rPr lang="en-US" sz="12000" b="1" dirty="0">
                <a:solidFill>
                  <a:srgbClr val="CC99FF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19937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2703C-E2CE-5F19-5AF5-8BE0BBA4D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DC337-6F45-5D7F-1E52-75C3156724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while loops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8A762-A812-1623-2B7F-CCDAF9092D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4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4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48298-BA9E-99E6-338E-D95FA109CF1E}"/>
              </a:ext>
            </a:extLst>
          </p:cNvPr>
          <p:cNvSpPr txBox="1"/>
          <p:nvPr/>
        </p:nvSpPr>
        <p:spPr>
          <a:xfrm>
            <a:off x="335947" y="5102715"/>
            <a:ext cx="66193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2 Due 11:59 pm Friday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No labs released this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4 Released Friday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Tutorial (Online), Practical, Office Hour sessions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1796063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Theme">
  <a:themeElements>
    <a:clrScheme name="Custom 2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061FF"/>
      </a:accent1>
      <a:accent2>
        <a:srgbClr val="0061FF"/>
      </a:accent2>
      <a:accent3>
        <a:srgbClr val="0061FF"/>
      </a:accent3>
      <a:accent4>
        <a:srgbClr val="7B8994"/>
      </a:accent4>
      <a:accent5>
        <a:srgbClr val="7B8994"/>
      </a:accent5>
      <a:accent6>
        <a:srgbClr val="F7B41A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Theme" id="{3BEEB87C-8A6C-443F-995D-4A4893CCEBD8}" vid="{9B7A7CDB-8752-4A8C-8C1A-92E8A92114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APS106_Theme</Template>
  <TotalTime>33795</TotalTime>
  <Words>735</Words>
  <Application>Microsoft Office PowerPoint</Application>
  <PresentationFormat>Widescreen</PresentationFormat>
  <Paragraphs>155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Courier New</vt:lpstr>
      <vt:lpstr>Segoe UI</vt:lpstr>
      <vt:lpstr>Wingdings</vt:lpstr>
      <vt:lpstr>APS106_Theme</vt:lpstr>
      <vt:lpstr>more while loops.</vt:lpstr>
      <vt:lpstr>This Week’s Content</vt:lpstr>
      <vt:lpstr>While Loops</vt:lpstr>
      <vt:lpstr>While Loops</vt:lpstr>
      <vt:lpstr>PowerPoint Presentation</vt:lpstr>
      <vt:lpstr>Refresher</vt:lpstr>
      <vt:lpstr>Refresher</vt:lpstr>
      <vt:lpstr>Random Module</vt:lpstr>
      <vt:lpstr>Breakout Session 1</vt:lpstr>
      <vt:lpstr>Breakout Session 2</vt:lpstr>
      <vt:lpstr>Guessing Game</vt:lpstr>
      <vt:lpstr>Guessing Game</vt:lpstr>
      <vt:lpstr>Guessing Game</vt:lpstr>
      <vt:lpstr>Guessing Game</vt:lpstr>
      <vt:lpstr>Guessing Game</vt:lpstr>
      <vt:lpstr>Guessing Game</vt:lpstr>
      <vt:lpstr>Guessing Game</vt:lpstr>
      <vt:lpstr>Guessing Game</vt:lpstr>
      <vt:lpstr>PRACTICE!</vt:lpstr>
      <vt:lpstr>more while loops.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Sebastian Goodfellow</cp:lastModifiedBy>
  <cp:revision>120</cp:revision>
  <dcterms:created xsi:type="dcterms:W3CDTF">2021-11-03T00:49:37Z</dcterms:created>
  <dcterms:modified xsi:type="dcterms:W3CDTF">2026-01-27T21:17:34Z</dcterms:modified>
</cp:coreProperties>
</file>