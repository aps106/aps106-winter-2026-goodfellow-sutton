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3"/>
  </p:notesMasterIdLst>
  <p:sldIdLst>
    <p:sldId id="256" r:id="rId2"/>
    <p:sldId id="259" r:id="rId3"/>
    <p:sldId id="370" r:id="rId4"/>
    <p:sldId id="332" r:id="rId5"/>
    <p:sldId id="367" r:id="rId6"/>
    <p:sldId id="368" r:id="rId7"/>
    <p:sldId id="371" r:id="rId8"/>
    <p:sldId id="372" r:id="rId9"/>
    <p:sldId id="366" r:id="rId10"/>
    <p:sldId id="374" r:id="rId11"/>
    <p:sldId id="369" r:id="rId12"/>
    <p:sldId id="373" r:id="rId13"/>
    <p:sldId id="375" r:id="rId14"/>
    <p:sldId id="376" r:id="rId15"/>
    <p:sldId id="377" r:id="rId16"/>
    <p:sldId id="379" r:id="rId17"/>
    <p:sldId id="380" r:id="rId18"/>
    <p:sldId id="381" r:id="rId19"/>
    <p:sldId id="382" r:id="rId20"/>
    <p:sldId id="383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28" autoAdjust="0"/>
    <p:restoredTop sz="81740"/>
  </p:normalViewPr>
  <p:slideViewPr>
    <p:cSldViewPr snapToGrid="0">
      <p:cViewPr varScale="1">
        <p:scale>
          <a:sx n="98" d="100"/>
          <a:sy n="98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2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37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29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90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4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04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5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1353239"/>
            <a:ext cx="11391065" cy="893580"/>
          </a:xfrm>
        </p:spPr>
        <p:txBody>
          <a:bodyPr>
            <a:normAutofit/>
          </a:bodyPr>
          <a:lstStyle/>
          <a:p>
            <a:r>
              <a:rPr lang="en-US" dirty="0"/>
              <a:t>Objects</a:t>
            </a:r>
            <a:r>
              <a:rPr lang="en-US" dirty="0">
                <a:solidFill>
                  <a:schemeClr val="accent1"/>
                </a:solidFill>
              </a:rPr>
              <a:t> &amp; </a:t>
            </a:r>
            <a:r>
              <a:rPr lang="en-US" dirty="0"/>
              <a:t>Strings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Operators</a:t>
            </a:r>
            <a:r>
              <a:rPr lang="en-US" dirty="0">
                <a:solidFill>
                  <a:schemeClr val="accent1"/>
                </a:solidFill>
              </a:rPr>
              <a:t> &amp; </a:t>
            </a:r>
            <a:r>
              <a:rPr lang="en-US" dirty="0"/>
              <a:t>Methods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611182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4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4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FFEE97-E46B-F05F-9015-AFCD9E8960ED}"/>
              </a:ext>
            </a:extLst>
          </p:cNvPr>
          <p:cNvSpPr txBox="1">
            <a:spLocks/>
          </p:cNvSpPr>
          <p:nvPr/>
        </p:nvSpPr>
        <p:spPr>
          <a:xfrm>
            <a:off x="990600" y="1978024"/>
            <a:ext cx="10515600" cy="4835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4.1</a:t>
            </a:r>
          </a:p>
          <a:p>
            <a:pPr lvl="1"/>
            <a:r>
              <a:rPr lang="en-US" dirty="0"/>
              <a:t>function review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while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4.2</a:t>
            </a:r>
          </a:p>
          <a:p>
            <a:pPr lvl="1"/>
            <a:r>
              <a:rPr lang="en-US" dirty="0"/>
              <a:t>more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4.3</a:t>
            </a:r>
          </a:p>
          <a:p>
            <a:pPr lvl="1"/>
            <a:r>
              <a:rPr lang="en-US" b="1" dirty="0"/>
              <a:t>Objects &amp; Strings: Operators and Methods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FDB2-4860-7A4E-94BD-72DDCE3C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visit a hypothetical Turtle friend…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F3972B-EA03-A548-AB71-FAD6C02E7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83675" cy="4835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dirty="0">
                <a:solidFill>
                  <a:srgbClr val="00B050"/>
                </a:solidFill>
              </a:rPr>
              <a:t>import </a:t>
            </a:r>
            <a:r>
              <a:rPr lang="en-CA" sz="2800" b="1" dirty="0">
                <a:solidFill>
                  <a:srgbClr val="00B050"/>
                </a:solidFill>
              </a:rPr>
              <a:t>turtle</a:t>
            </a:r>
          </a:p>
          <a:p>
            <a:pPr marL="0" indent="0">
              <a:buNone/>
            </a:pPr>
            <a:r>
              <a:rPr lang="en-CA" sz="2800" dirty="0">
                <a:solidFill>
                  <a:srgbClr val="00B050"/>
                </a:solidFill>
              </a:rPr>
              <a:t>LeBron = </a:t>
            </a:r>
            <a:r>
              <a:rPr lang="en-CA" sz="2800" dirty="0" err="1">
                <a:solidFill>
                  <a:srgbClr val="00B050"/>
                </a:solidFill>
              </a:rPr>
              <a:t>turtle.Turtle</a:t>
            </a:r>
            <a:r>
              <a:rPr lang="en-CA" sz="2800" b="1" dirty="0">
                <a:solidFill>
                  <a:srgbClr val="00B050"/>
                </a:solidFill>
              </a:rPr>
              <a:t>()</a:t>
            </a:r>
          </a:p>
          <a:p>
            <a:pPr marL="0" indent="0">
              <a:buNone/>
            </a:pPr>
            <a:endParaRPr lang="en-CA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LeBron.right</a:t>
            </a:r>
            <a:r>
              <a:rPr lang="en-CA" dirty="0">
                <a:solidFill>
                  <a:srgbClr val="00B050"/>
                </a:solidFill>
              </a:rPr>
              <a:t>(90)</a:t>
            </a:r>
            <a:endParaRPr lang="en-CA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CA" sz="2800" dirty="0" err="1">
                <a:solidFill>
                  <a:srgbClr val="00B050"/>
                </a:solidFill>
              </a:rPr>
              <a:t>LeBron.forward</a:t>
            </a:r>
            <a:r>
              <a:rPr lang="en-CA" sz="2800" dirty="0">
                <a:solidFill>
                  <a:srgbClr val="00B050"/>
                </a:solidFill>
              </a:rPr>
              <a:t>(200)</a:t>
            </a:r>
          </a:p>
          <a:p>
            <a:pPr marL="0" indent="0">
              <a:buNone/>
            </a:pPr>
            <a:r>
              <a:rPr lang="en-CA" sz="2800" dirty="0" err="1">
                <a:solidFill>
                  <a:srgbClr val="00B050"/>
                </a:solidFill>
              </a:rPr>
              <a:t>LeBron.</a:t>
            </a:r>
            <a:r>
              <a:rPr lang="en-CA" dirty="0" err="1">
                <a:solidFill>
                  <a:srgbClr val="00B050"/>
                </a:solidFill>
              </a:rPr>
              <a:t>left</a:t>
            </a:r>
            <a:r>
              <a:rPr lang="en-CA" sz="2800" dirty="0">
                <a:solidFill>
                  <a:srgbClr val="00B050"/>
                </a:solidFill>
              </a:rPr>
              <a:t>(90)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LeBron.forward</a:t>
            </a:r>
            <a:r>
              <a:rPr lang="en-CA" dirty="0">
                <a:solidFill>
                  <a:srgbClr val="00B050"/>
                </a:solidFill>
              </a:rPr>
              <a:t>(100)</a:t>
            </a:r>
            <a:endParaRPr lang="en-CA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CA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turtle.done</a:t>
            </a:r>
            <a:r>
              <a:rPr lang="en-CA" dirty="0">
                <a:solidFill>
                  <a:srgbClr val="00B050"/>
                </a:solidFill>
              </a:rPr>
              <a:t>()</a:t>
            </a:r>
            <a:endParaRPr lang="en-CA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CA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5" name="Bent Up Arrow 4">
            <a:extLst>
              <a:ext uri="{FF2B5EF4-FFF2-40B4-BE49-F238E27FC236}">
                <a16:creationId xmlns:a16="http://schemas.microsoft.com/office/drawing/2014/main" id="{F84EFAF3-3CF8-D443-9604-4C56C55C455E}"/>
              </a:ext>
            </a:extLst>
          </p:cNvPr>
          <p:cNvSpPr/>
          <p:nvPr/>
        </p:nvSpPr>
        <p:spPr>
          <a:xfrm rot="5400000">
            <a:off x="6481649" y="2559616"/>
            <a:ext cx="3804557" cy="2336573"/>
          </a:xfrm>
          <a:prstGeom prst="bentUpArrow">
            <a:avLst>
              <a:gd name="adj1" fmla="val 3541"/>
              <a:gd name="adj2" fmla="val 6331"/>
              <a:gd name="adj3" fmla="val 86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638024-7193-437B-3D3B-10157D5CC3CD}"/>
              </a:ext>
            </a:extLst>
          </p:cNvPr>
          <p:cNvGrpSpPr/>
          <p:nvPr/>
        </p:nvGrpSpPr>
        <p:grpSpPr>
          <a:xfrm>
            <a:off x="5925476" y="1192726"/>
            <a:ext cx="2498271" cy="2071945"/>
            <a:chOff x="9069042" y="4058541"/>
            <a:chExt cx="2498271" cy="2071945"/>
          </a:xfrm>
        </p:grpSpPr>
        <p:pic>
          <p:nvPicPr>
            <p:cNvPr id="1026" name="Picture 2" descr="Cute turtle cartoon Royalty Free Vector Image - VectorStock">
              <a:extLst>
                <a:ext uri="{FF2B5EF4-FFF2-40B4-BE49-F238E27FC236}">
                  <a16:creationId xmlns:a16="http://schemas.microsoft.com/office/drawing/2014/main" id="{97F5018E-9BD5-EA48-82CF-26A00A8719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64"/>
            <a:stretch/>
          </p:blipFill>
          <p:spPr bwMode="auto">
            <a:xfrm>
              <a:off x="9552214" y="4402834"/>
              <a:ext cx="1119774" cy="1727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LeBron James (Smile) Big Head - Celebrity Cutouts">
              <a:extLst>
                <a:ext uri="{FF2B5EF4-FFF2-40B4-BE49-F238E27FC236}">
                  <a16:creationId xmlns:a16="http://schemas.microsoft.com/office/drawing/2014/main" id="{8C318A6B-C3D5-944E-BC91-5FBCEEB92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000" b="93167" l="10000" r="90000">
                          <a14:foregroundMark x1="38083" y1="82833" x2="38083" y2="82833"/>
                          <a14:foregroundMark x1="47833" y1="93333" x2="47833" y2="93333"/>
                          <a14:foregroundMark x1="45917" y1="7000" x2="45917" y2="7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05993">
              <a:off x="9069042" y="4058541"/>
              <a:ext cx="2498271" cy="1249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29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8 1.48148E-6 L -0.00612 0.4541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26 0.45903 L 0.1694 0.4590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Everything is an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31" y="1702532"/>
            <a:ext cx="10250088" cy="4101043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z="3200" spc="-10" dirty="0">
                <a:latin typeface="Segoe UI" panose="020B0502040204020203" pitchFamily="34" charset="0"/>
                <a:cs typeface="Segoe UI" panose="020B0502040204020203" pitchFamily="34" charset="0"/>
              </a:rPr>
              <a:t>Python keeps track of every value, variable, function, etc. as an object</a:t>
            </a:r>
          </a:p>
          <a:p>
            <a:pPr marL="12700" marR="767715">
              <a:lnSpc>
                <a:spcPct val="100000"/>
              </a:lnSpc>
            </a:pPr>
            <a:r>
              <a:rPr lang="en-CA" sz="3200" spc="-10" dirty="0">
                <a:latin typeface="Segoe UI" panose="020B0502040204020203" pitchFamily="34" charset="0"/>
                <a:cs typeface="Segoe UI" panose="020B0502040204020203" pitchFamily="34" charset="0"/>
              </a:rPr>
              <a:t>There is a function that you can call to confirm:</a:t>
            </a:r>
          </a:p>
          <a:p>
            <a:pPr marL="469900" marR="767715" lvl="1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7CAB33-0667-CB4B-9D7E-272492CE9BE2}"/>
              </a:ext>
            </a:extLst>
          </p:cNvPr>
          <p:cNvSpPr txBox="1">
            <a:spLocks/>
          </p:cNvSpPr>
          <p:nvPr/>
        </p:nvSpPr>
        <p:spPr>
          <a:xfrm>
            <a:off x="261257" y="4160007"/>
            <a:ext cx="6945115" cy="2492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isinstance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(4, int)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isinstance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(“Hello”, str)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True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endParaRPr lang="en-US" sz="2400" dirty="0">
              <a:solidFill>
                <a:srgbClr val="00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0ED460-83C2-F546-8DDB-1D40074DBF87}"/>
              </a:ext>
            </a:extLst>
          </p:cNvPr>
          <p:cNvSpPr txBox="1">
            <a:spLocks/>
          </p:cNvSpPr>
          <p:nvPr/>
        </p:nvSpPr>
        <p:spPr>
          <a:xfrm>
            <a:off x="6248400" y="4160007"/>
            <a:ext cx="6945115" cy="2492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isinstance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(4, object)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400" spc="-15" dirty="0" err="1">
                <a:solidFill>
                  <a:srgbClr val="00FF00"/>
                </a:solidFill>
                <a:latin typeface="Courier New"/>
                <a:cs typeface="Courier New"/>
              </a:rPr>
              <a:t>isinstance</a:t>
            </a: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(‘Hello”, object)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True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CA"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endParaRPr lang="en-US" sz="24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5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Everything is an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820" y="1806196"/>
            <a:ext cx="10820400" cy="1734005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r>
              <a:rPr lang="en-CA" sz="3200" spc="-10" dirty="0">
                <a:latin typeface="Segoe UI" panose="020B0502040204020203" pitchFamily="34" charset="0"/>
                <a:cs typeface="Segoe UI" panose="020B0502040204020203" pitchFamily="34" charset="0"/>
              </a:rPr>
              <a:t>Remember the id (or identity) function</a:t>
            </a:r>
          </a:p>
          <a:p>
            <a:pPr marL="469900" marR="767715" lvl="1">
              <a:lnSpc>
                <a:spcPct val="100000"/>
              </a:lnSpc>
            </a:pPr>
            <a:r>
              <a:rPr lang="en-CA" spc="-10" dirty="0">
                <a:latin typeface="Segoe UI" panose="020B0502040204020203" pitchFamily="34" charset="0"/>
                <a:cs typeface="Segoe UI" panose="020B0502040204020203" pitchFamily="34" charset="0"/>
              </a:rPr>
              <a:t>It returns each object’s location in memory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7CAB33-0667-CB4B-9D7E-272492CE9BE2}"/>
              </a:ext>
            </a:extLst>
          </p:cNvPr>
          <p:cNvSpPr txBox="1">
            <a:spLocks/>
          </p:cNvSpPr>
          <p:nvPr/>
        </p:nvSpPr>
        <p:spPr>
          <a:xfrm>
            <a:off x="468923" y="3491792"/>
            <a:ext cx="3935186" cy="2492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id(4)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4482837280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id(int)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4482678880</a:t>
            </a:r>
          </a:p>
          <a:p>
            <a:endParaRPr lang="en-US" sz="2400" dirty="0">
              <a:solidFill>
                <a:srgbClr val="00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0ED460-83C2-F546-8DDB-1D40074DBF87}"/>
              </a:ext>
            </a:extLst>
          </p:cNvPr>
          <p:cNvSpPr txBox="1">
            <a:spLocks/>
          </p:cNvSpPr>
          <p:nvPr/>
        </p:nvSpPr>
        <p:spPr>
          <a:xfrm>
            <a:off x="3618637" y="3515997"/>
            <a:ext cx="3162329" cy="2492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id(‘a’)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140432546199344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id(str)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4482716800</a:t>
            </a:r>
          </a:p>
          <a:p>
            <a:endParaRPr lang="en-US" sz="2400" dirty="0">
              <a:solidFill>
                <a:srgbClr val="00FF00"/>
              </a:solidFill>
            </a:endParaRPr>
          </a:p>
        </p:txBody>
      </p:sp>
      <p:pic>
        <p:nvPicPr>
          <p:cNvPr id="5122" name="Picture 2" descr="Python Objects Part I: This is an Object, That is an Object — Everything is  an Object! | by Brennan D Baraban | Medium">
            <a:extLst>
              <a:ext uri="{FF2B5EF4-FFF2-40B4-BE49-F238E27FC236}">
                <a16:creationId xmlns:a16="http://schemas.microsoft.com/office/drawing/2014/main" id="{47676985-674B-3F41-B817-4D79C22B1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513" y="3183152"/>
            <a:ext cx="4579564" cy="249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14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Objects have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20400" cy="4101043"/>
          </a:xfrm>
        </p:spPr>
        <p:txBody>
          <a:bodyPr>
            <a:normAutofit fontScale="92500" lnSpcReduction="20000"/>
          </a:bodyPr>
          <a:lstStyle/>
          <a:p>
            <a:pPr marL="12700" marR="767715">
              <a:lnSpc>
                <a:spcPct val="100000"/>
              </a:lnSpc>
            </a:pPr>
            <a:r>
              <a:rPr lang="en-CA" sz="3200" spc="-10" dirty="0">
                <a:latin typeface="Segoe UI" panose="020B0502040204020203" pitchFamily="34" charset="0"/>
                <a:cs typeface="Segoe UI" panose="020B0502040204020203" pitchFamily="34" charset="0"/>
              </a:rPr>
              <a:t>Each Python object has certain functions that can only be applied to that object</a:t>
            </a:r>
          </a:p>
          <a:p>
            <a:pPr marL="469900" marR="767715" lvl="1">
              <a:lnSpc>
                <a:spcPct val="100000"/>
              </a:lnSpc>
            </a:pPr>
            <a:r>
              <a:rPr lang="en-CA" sz="2800" spc="-10" dirty="0">
                <a:latin typeface="Segoe UI" panose="020B0502040204020203" pitchFamily="34" charset="0"/>
                <a:cs typeface="Segoe UI" panose="020B0502040204020203" pitchFamily="34" charset="0"/>
              </a:rPr>
              <a:t>These are called </a:t>
            </a:r>
            <a:r>
              <a:rPr lang="en-CA" sz="2800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methods</a:t>
            </a:r>
          </a:p>
          <a:p>
            <a:pPr marL="12700" marR="767715">
              <a:lnSpc>
                <a:spcPct val="100000"/>
              </a:lnSpc>
            </a:pPr>
            <a:r>
              <a:rPr lang="en-CA" sz="3200" spc="-10" dirty="0">
                <a:latin typeface="Segoe UI" panose="020B0502040204020203" pitchFamily="34" charset="0"/>
                <a:cs typeface="Segoe UI" panose="020B0502040204020203" pitchFamily="34" charset="0"/>
              </a:rPr>
              <a:t>The general form for calling a method is:</a:t>
            </a:r>
          </a:p>
          <a:p>
            <a:pPr marL="12700" marR="767715">
              <a:lnSpc>
                <a:spcPct val="100000"/>
              </a:lnSpc>
            </a:pPr>
            <a:endParaRPr lang="en-CA" sz="3200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CA" sz="3200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r>
              <a:rPr lang="en-CA" sz="3200" spc="-10" dirty="0">
                <a:latin typeface="Segoe UI" panose="020B0502040204020203" pitchFamily="34" charset="0"/>
                <a:cs typeface="Segoe UI" panose="020B0502040204020203" pitchFamily="34" charset="0"/>
              </a:rPr>
              <a:t>Since methods are applied to objects, we need to provide the object name with the “dot operator” (“.”) before the method name.  Look familiar?</a:t>
            </a:r>
          </a:p>
          <a:p>
            <a:pPr marL="469900" marR="767715" lvl="1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7CAB33-0667-CB4B-9D7E-272492CE9BE2}"/>
              </a:ext>
            </a:extLst>
          </p:cNvPr>
          <p:cNvSpPr txBox="1">
            <a:spLocks/>
          </p:cNvSpPr>
          <p:nvPr/>
        </p:nvSpPr>
        <p:spPr>
          <a:xfrm>
            <a:off x="2155372" y="3876145"/>
            <a:ext cx="6792686" cy="744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 err="1">
                <a:solidFill>
                  <a:srgbClr val="00B050"/>
                </a:solidFill>
                <a:latin typeface="Courier New"/>
                <a:cs typeface="Courier New"/>
              </a:rPr>
              <a:t>object_name</a:t>
            </a:r>
            <a:r>
              <a:rPr lang="en-CA" sz="2400" spc="-15" dirty="0" err="1">
                <a:solidFill>
                  <a:schemeClr val="accent1"/>
                </a:solidFill>
                <a:latin typeface="Courier New"/>
                <a:cs typeface="Courier New"/>
              </a:rPr>
              <a:t>.</a:t>
            </a:r>
            <a:r>
              <a:rPr lang="en-CA" sz="2400" spc="-15" dirty="0" err="1">
                <a:solidFill>
                  <a:schemeClr val="accent6"/>
                </a:solidFill>
                <a:latin typeface="Courier New"/>
                <a:cs typeface="Courier New"/>
              </a:rPr>
              <a:t>method_name</a:t>
            </a:r>
            <a:r>
              <a:rPr lang="en-CA" sz="2400" spc="-15" dirty="0">
                <a:solidFill>
                  <a:schemeClr val="accent1"/>
                </a:solidFill>
                <a:latin typeface="Courier New"/>
                <a:cs typeface="Courier New"/>
              </a:rPr>
              <a:t>(arguments)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CA" sz="2400" dirty="0">
              <a:solidFill>
                <a:schemeClr val="accent1"/>
              </a:solidFill>
              <a:latin typeface="Courier New"/>
              <a:cs typeface="Courier New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161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FDB2-4860-7A4E-94BD-72DDCE3C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revisit our </a:t>
            </a:r>
            <a:r>
              <a:rPr lang="en-US"/>
              <a:t>friend LeBron…</a:t>
            </a:r>
            <a:endParaRPr lang="en-US" dirty="0"/>
          </a:p>
        </p:txBody>
      </p:sp>
      <p:sp>
        <p:nvSpPr>
          <p:cNvPr id="5" name="Bent Up Arrow 4">
            <a:extLst>
              <a:ext uri="{FF2B5EF4-FFF2-40B4-BE49-F238E27FC236}">
                <a16:creationId xmlns:a16="http://schemas.microsoft.com/office/drawing/2014/main" id="{F84EFAF3-3CF8-D443-9604-4C56C55C455E}"/>
              </a:ext>
            </a:extLst>
          </p:cNvPr>
          <p:cNvSpPr/>
          <p:nvPr/>
        </p:nvSpPr>
        <p:spPr>
          <a:xfrm rot="5400000">
            <a:off x="6481649" y="2559616"/>
            <a:ext cx="3804557" cy="2336573"/>
          </a:xfrm>
          <a:prstGeom prst="bentUpArrow">
            <a:avLst>
              <a:gd name="adj1" fmla="val 3541"/>
              <a:gd name="adj2" fmla="val 6331"/>
              <a:gd name="adj3" fmla="val 86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9A705D-8961-5548-8860-5F97A6E6BBB2}"/>
              </a:ext>
            </a:extLst>
          </p:cNvPr>
          <p:cNvSpPr txBox="1">
            <a:spLocks/>
          </p:cNvSpPr>
          <p:nvPr/>
        </p:nvSpPr>
        <p:spPr>
          <a:xfrm>
            <a:off x="1427026" y="1825624"/>
            <a:ext cx="5257800" cy="4835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chemeClr val="accent6"/>
                </a:solidFill>
              </a:rPr>
              <a:t>import </a:t>
            </a:r>
            <a:r>
              <a:rPr lang="en-CA" b="1" dirty="0">
                <a:solidFill>
                  <a:schemeClr val="accent6"/>
                </a:solidFill>
              </a:rPr>
              <a:t>turtle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chemeClr val="accent6"/>
                </a:solidFill>
              </a:rPr>
              <a:t>t = </a:t>
            </a:r>
            <a:r>
              <a:rPr lang="en-CA" dirty="0" err="1">
                <a:solidFill>
                  <a:schemeClr val="accent6"/>
                </a:solidFill>
              </a:rPr>
              <a:t>turtle.Turtle</a:t>
            </a:r>
            <a:r>
              <a:rPr lang="en-CA" b="1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CA" b="1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rgbClr val="00B050"/>
                </a:solidFill>
              </a:rPr>
              <a:t>t.right</a:t>
            </a:r>
            <a:r>
              <a:rPr lang="en-CA" dirty="0">
                <a:solidFill>
                  <a:srgbClr val="00B050"/>
                </a:solidFill>
              </a:rPr>
              <a:t>(90)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rgbClr val="00B050"/>
                </a:solidFill>
              </a:rPr>
              <a:t>t.forward</a:t>
            </a:r>
            <a:r>
              <a:rPr lang="en-CA" dirty="0">
                <a:solidFill>
                  <a:srgbClr val="00B050"/>
                </a:solidFill>
              </a:rPr>
              <a:t>(200)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rgbClr val="00B050"/>
                </a:solidFill>
              </a:rPr>
              <a:t>t.left</a:t>
            </a:r>
            <a:r>
              <a:rPr lang="en-CA" dirty="0">
                <a:solidFill>
                  <a:srgbClr val="00B050"/>
                </a:solidFill>
              </a:rPr>
              <a:t>(90)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rgbClr val="00B050"/>
                </a:solidFill>
              </a:rPr>
              <a:t>t.forward</a:t>
            </a:r>
            <a:r>
              <a:rPr lang="en-CA" dirty="0">
                <a:solidFill>
                  <a:srgbClr val="00B050"/>
                </a:solidFill>
              </a:rPr>
              <a:t>(100)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CA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chemeClr val="accent6"/>
                </a:solidFill>
              </a:rPr>
              <a:t>turtle.done</a:t>
            </a:r>
            <a:r>
              <a:rPr lang="en-CA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CA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CA" b="1" dirty="0">
              <a:solidFill>
                <a:srgbClr val="00B050"/>
              </a:solidFill>
            </a:endParaRPr>
          </a:p>
        </p:txBody>
      </p:sp>
      <p:pic>
        <p:nvPicPr>
          <p:cNvPr id="4" name="Picture 2" descr="Cute turtle cartoon Royalty Free Vector Image - VectorStock">
            <a:extLst>
              <a:ext uri="{FF2B5EF4-FFF2-40B4-BE49-F238E27FC236}">
                <a16:creationId xmlns:a16="http://schemas.microsoft.com/office/drawing/2014/main" id="{F64DA34A-74AC-02F7-6836-2470DEF2E5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4"/>
          <a:stretch/>
        </p:blipFill>
        <p:spPr bwMode="auto">
          <a:xfrm>
            <a:off x="6408648" y="1537019"/>
            <a:ext cx="1119774" cy="172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12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FDB2-4860-7A4E-94BD-72DDCE3C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revisit our friend turtle…</a:t>
            </a:r>
          </a:p>
        </p:txBody>
      </p:sp>
      <p:sp>
        <p:nvSpPr>
          <p:cNvPr id="5" name="Bent Up Arrow 4">
            <a:extLst>
              <a:ext uri="{FF2B5EF4-FFF2-40B4-BE49-F238E27FC236}">
                <a16:creationId xmlns:a16="http://schemas.microsoft.com/office/drawing/2014/main" id="{F84EFAF3-3CF8-D443-9604-4C56C55C455E}"/>
              </a:ext>
            </a:extLst>
          </p:cNvPr>
          <p:cNvSpPr/>
          <p:nvPr/>
        </p:nvSpPr>
        <p:spPr>
          <a:xfrm rot="5400000">
            <a:off x="6481649" y="2559616"/>
            <a:ext cx="3804557" cy="2336573"/>
          </a:xfrm>
          <a:prstGeom prst="bentUpArrow">
            <a:avLst>
              <a:gd name="adj1" fmla="val 3541"/>
              <a:gd name="adj2" fmla="val 6331"/>
              <a:gd name="adj3" fmla="val 86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9A705D-8961-5548-8860-5F97A6E6BBB2}"/>
              </a:ext>
            </a:extLst>
          </p:cNvPr>
          <p:cNvSpPr txBox="1">
            <a:spLocks/>
          </p:cNvSpPr>
          <p:nvPr/>
        </p:nvSpPr>
        <p:spPr>
          <a:xfrm>
            <a:off x="1427026" y="1825624"/>
            <a:ext cx="5257800" cy="4835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chemeClr val="accent6"/>
                </a:solidFill>
              </a:rPr>
              <a:t>import </a:t>
            </a:r>
            <a:r>
              <a:rPr lang="en-CA" b="1" dirty="0">
                <a:solidFill>
                  <a:schemeClr val="accent6"/>
                </a:solidFill>
              </a:rPr>
              <a:t>turtle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>
                <a:solidFill>
                  <a:schemeClr val="accent6"/>
                </a:solidFill>
              </a:rPr>
              <a:t>t = </a:t>
            </a:r>
            <a:r>
              <a:rPr lang="en-CA" dirty="0" err="1">
                <a:solidFill>
                  <a:schemeClr val="accent6"/>
                </a:solidFill>
              </a:rPr>
              <a:t>turtle.Turtle</a:t>
            </a:r>
            <a:r>
              <a:rPr lang="en-CA" b="1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CA" dirty="0">
              <a:solidFill>
                <a:schemeClr val="accent6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rgbClr val="00B050"/>
                </a:solidFill>
              </a:rPr>
              <a:t>t.begin_fill</a:t>
            </a:r>
            <a:r>
              <a:rPr lang="en-CA" dirty="0">
                <a:solidFill>
                  <a:srgbClr val="00B050"/>
                </a:solidFill>
              </a:rPr>
              <a:t>()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t.color</a:t>
            </a:r>
            <a:r>
              <a:rPr lang="en-CA" dirty="0">
                <a:solidFill>
                  <a:srgbClr val="00B050"/>
                </a:solidFill>
              </a:rPr>
              <a:t>(‘red’)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t.right</a:t>
            </a:r>
            <a:r>
              <a:rPr lang="en-CA" dirty="0">
                <a:solidFill>
                  <a:srgbClr val="00B050"/>
                </a:solidFill>
              </a:rPr>
              <a:t>(90)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t.forward</a:t>
            </a:r>
            <a:r>
              <a:rPr lang="en-CA" dirty="0">
                <a:solidFill>
                  <a:srgbClr val="00B050"/>
                </a:solidFill>
              </a:rPr>
              <a:t>(200)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t.left</a:t>
            </a:r>
            <a:r>
              <a:rPr lang="en-CA" dirty="0">
                <a:solidFill>
                  <a:srgbClr val="00B050"/>
                </a:solidFill>
              </a:rPr>
              <a:t>(90)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t.forward</a:t>
            </a:r>
            <a:r>
              <a:rPr lang="en-CA" dirty="0">
                <a:solidFill>
                  <a:srgbClr val="00B050"/>
                </a:solidFill>
              </a:rPr>
              <a:t>(100)</a:t>
            </a:r>
          </a:p>
          <a:p>
            <a:pPr marL="0" indent="0">
              <a:buNone/>
            </a:pPr>
            <a:r>
              <a:rPr lang="en-CA" dirty="0" err="1">
                <a:solidFill>
                  <a:srgbClr val="00B050"/>
                </a:solidFill>
              </a:rPr>
              <a:t>t.end_fill</a:t>
            </a:r>
            <a:r>
              <a:rPr lang="en-CA" dirty="0">
                <a:solidFill>
                  <a:srgbClr val="00B050"/>
                </a:solidFill>
              </a:rPr>
              <a:t>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CA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 err="1">
                <a:solidFill>
                  <a:schemeClr val="accent6"/>
                </a:solidFill>
              </a:rPr>
              <a:t>turtle.done</a:t>
            </a:r>
            <a:r>
              <a:rPr lang="en-CA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CA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FA89D44A-56BD-2043-B5B7-0FFFC145728F}"/>
              </a:ext>
            </a:extLst>
          </p:cNvPr>
          <p:cNvSpPr/>
          <p:nvPr/>
        </p:nvSpPr>
        <p:spPr>
          <a:xfrm>
            <a:off x="7207237" y="1825624"/>
            <a:ext cx="2344977" cy="3804557"/>
          </a:xfrm>
          <a:prstGeom prst="rt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Cute turtle cartoon Royalty Free Vector Image - VectorStock">
            <a:extLst>
              <a:ext uri="{FF2B5EF4-FFF2-40B4-BE49-F238E27FC236}">
                <a16:creationId xmlns:a16="http://schemas.microsoft.com/office/drawing/2014/main" id="{60D47295-7559-D891-7787-FBE0F3F51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4"/>
          <a:stretch/>
        </p:blipFill>
        <p:spPr bwMode="auto">
          <a:xfrm>
            <a:off x="6408648" y="1537019"/>
            <a:ext cx="1119774" cy="172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01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id function to get object’s memory address</a:t>
            </a:r>
          </a:p>
          <a:p>
            <a:pPr lvl="1"/>
            <a:r>
              <a:rPr lang="en-CA" dirty="0" err="1"/>
              <a:t>isinstance</a:t>
            </a:r>
            <a:r>
              <a:rPr lang="en-CA" dirty="0"/>
              <a:t> function to determine object type</a:t>
            </a:r>
          </a:p>
          <a:p>
            <a:pPr lvl="1"/>
            <a:r>
              <a:rPr lang="en-CA" dirty="0"/>
              <a:t>Turtle LeBron drawing shapes!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Objects &amp; Methods</a:t>
            </a:r>
          </a:p>
        </p:txBody>
      </p:sp>
    </p:spTree>
    <p:extLst>
      <p:ext uri="{BB962C8B-B14F-4D97-AF65-F5344CB8AC3E}">
        <p14:creationId xmlns:p14="http://schemas.microsoft.com/office/powerpoint/2010/main" val="2668005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B260-9C6B-9A40-943A-BD3631D2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AF579-C444-6E48-A6A7-9920A15BB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15" y="1825624"/>
            <a:ext cx="7602415" cy="4835479"/>
          </a:xfrm>
        </p:spPr>
        <p:txBody>
          <a:bodyPr/>
          <a:lstStyle/>
          <a:p>
            <a:r>
              <a:rPr lang="en-US" dirty="0"/>
              <a:t>Python has a built-in Input/Output functions: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print</a:t>
            </a:r>
            <a:r>
              <a:rPr lang="en-US" dirty="0"/>
              <a:t> – for displaying text to the user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input</a:t>
            </a:r>
            <a:r>
              <a:rPr lang="en-US" dirty="0"/>
              <a:t> – for reading text from the user</a:t>
            </a:r>
          </a:p>
          <a:p>
            <a:pPr lvl="1"/>
            <a:endParaRPr lang="en-US" dirty="0"/>
          </a:p>
          <a:p>
            <a:r>
              <a:rPr lang="en-US" dirty="0"/>
              <a:t>These functions require a good understanding of strings and string formatting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9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822448"/>
            <a:ext cx="8129953" cy="4835479"/>
          </a:xfrm>
        </p:spPr>
        <p:txBody>
          <a:bodyPr/>
          <a:lstStyle/>
          <a:p>
            <a:r>
              <a:rPr lang="en-US" dirty="0"/>
              <a:t>The string (</a:t>
            </a:r>
            <a:r>
              <a:rPr lang="en-US" dirty="0">
                <a:solidFill>
                  <a:schemeClr val="accent6"/>
                </a:solidFill>
              </a:rPr>
              <a:t>str</a:t>
            </a:r>
            <a:r>
              <a:rPr lang="en-US" dirty="0"/>
              <a:t>) type was briefly introduced in previous weeks</a:t>
            </a:r>
          </a:p>
          <a:p>
            <a:r>
              <a:rPr lang="en-US" dirty="0"/>
              <a:t>Let’s take our string knowledge to the next level!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escape sequences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operations</a:t>
            </a:r>
          </a:p>
          <a:p>
            <a:pPr lvl="1"/>
            <a:r>
              <a:rPr lang="en-US" dirty="0"/>
              <a:t>type conversion</a:t>
            </a:r>
          </a:p>
          <a:p>
            <a:pPr lvl="1"/>
            <a:r>
              <a:rPr lang="en-US" dirty="0"/>
              <a:t>str indexing and slicing</a:t>
            </a:r>
          </a:p>
          <a:p>
            <a:pPr lvl="1"/>
            <a:r>
              <a:rPr lang="en-US" dirty="0"/>
              <a:t>str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721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00AF-5913-4F40-BC4F-12B78054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Escape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8F36-5AEB-F542-87C7-76A9AC46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951"/>
            <a:ext cx="10515600" cy="4835479"/>
          </a:xfrm>
        </p:spPr>
        <p:txBody>
          <a:bodyPr/>
          <a:lstStyle/>
          <a:p>
            <a:r>
              <a:rPr lang="en-US" dirty="0"/>
              <a:t>Special character called an escape character: </a:t>
            </a:r>
            <a:r>
              <a:rPr lang="en-US" dirty="0">
                <a:solidFill>
                  <a:schemeClr val="accent6"/>
                </a:solidFill>
              </a:rPr>
              <a:t>\</a:t>
            </a:r>
            <a:r>
              <a:rPr lang="en-US" dirty="0"/>
              <a:t> (backslash)</a:t>
            </a:r>
          </a:p>
          <a:p>
            <a:r>
              <a:rPr lang="en-US" dirty="0"/>
              <a:t>When used in a string, the character following the escape character is treated differently from normal.</a:t>
            </a:r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13F589BB-8C4F-8040-84DA-3917A8C6E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08458"/>
              </p:ext>
            </p:extLst>
          </p:nvPr>
        </p:nvGraphicFramePr>
        <p:xfrm>
          <a:off x="685800" y="3097479"/>
          <a:ext cx="11113477" cy="360045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63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431">
                  <a:extLst>
                    <a:ext uri="{9D8B030D-6E8A-4147-A177-3AD203B41FA5}">
                      <a16:colId xmlns:a16="http://schemas.microsoft.com/office/drawing/2014/main" val="4289725990"/>
                    </a:ext>
                  </a:extLst>
                </a:gridCol>
                <a:gridCol w="3499338">
                  <a:extLst>
                    <a:ext uri="{9D8B030D-6E8A-4147-A177-3AD203B41FA5}">
                      <a16:colId xmlns:a16="http://schemas.microsoft.com/office/drawing/2014/main" val="1740379032"/>
                    </a:ext>
                  </a:extLst>
                </a:gridCol>
                <a:gridCol w="2127739">
                  <a:extLst>
                    <a:ext uri="{9D8B030D-6E8A-4147-A177-3AD203B41FA5}">
                      <a16:colId xmlns:a16="http://schemas.microsoft.com/office/drawing/2014/main" val="244963577"/>
                    </a:ext>
                  </a:extLst>
                </a:gridCol>
              </a:tblGrid>
              <a:tr h="507559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Escape sequence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Example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Output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59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\n</a:t>
                      </a:r>
                      <a:endParaRPr lang="en-US"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newline</a:t>
                      </a:r>
                    </a:p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(ASCII - line feed)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“How\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nare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\</a:t>
                      </a:r>
                      <a:r>
                        <a:rPr lang="en-US" sz="1900" dirty="0" err="1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nyou</a:t>
                      </a: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?”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How</a:t>
                      </a:r>
                    </a:p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are</a:t>
                      </a:r>
                    </a:p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you?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972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\t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tab</a:t>
                      </a:r>
                    </a:p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(ASCII - horizontal tab)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‘3\t4\t5’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3    4    5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988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\\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backslash (\)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‘\\’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\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559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\’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single quote (‘)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‘don\’t’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don’t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989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\”</a:t>
                      </a:r>
                      <a:endParaRPr sz="19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double quote (”)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l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“He says, \”Hi\”.”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He says, “hi”.</a:t>
                      </a:r>
                      <a:endParaRPr sz="19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498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Working with the print function</a:t>
            </a:r>
          </a:p>
          <a:p>
            <a:pPr lvl="1"/>
            <a:r>
              <a:rPr lang="en-CA" dirty="0"/>
              <a:t>Escape sequences!</a:t>
            </a:r>
          </a:p>
          <a:p>
            <a:pPr lvl="2"/>
            <a:r>
              <a:rPr lang="en-CA" dirty="0"/>
              <a:t>New lines</a:t>
            </a:r>
          </a:p>
          <a:p>
            <a:pPr lvl="2"/>
            <a:r>
              <a:rPr lang="en-CA" dirty="0"/>
              <a:t>Tabs</a:t>
            </a:r>
          </a:p>
          <a:p>
            <a:pPr lvl="2"/>
            <a:r>
              <a:rPr lang="en-CA" dirty="0"/>
              <a:t>Quotes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Escape Sequences</a:t>
            </a:r>
          </a:p>
        </p:txBody>
      </p:sp>
    </p:spTree>
    <p:extLst>
      <p:ext uri="{BB962C8B-B14F-4D97-AF65-F5344CB8AC3E}">
        <p14:creationId xmlns:p14="http://schemas.microsoft.com/office/powerpoint/2010/main" val="3637388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00AF-5913-4F40-BC4F-12B78054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8F36-5AEB-F542-87C7-76A9AC46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951"/>
            <a:ext cx="10515600" cy="4835479"/>
          </a:xfrm>
        </p:spPr>
        <p:txBody>
          <a:bodyPr/>
          <a:lstStyle/>
          <a:p>
            <a:r>
              <a:rPr lang="en-US" dirty="0"/>
              <a:t>There are certain mathematical operators that can be applied on strings</a:t>
            </a:r>
          </a:p>
          <a:p>
            <a:pPr lvl="1"/>
            <a:r>
              <a:rPr lang="en-US" dirty="0"/>
              <a:t>The * and + obey standard precedence rules (i.e. * before +)</a:t>
            </a:r>
          </a:p>
          <a:p>
            <a:pPr lvl="1"/>
            <a:r>
              <a:rPr lang="en-US" dirty="0"/>
              <a:t>All other mathematical operators and operands result in a </a:t>
            </a:r>
            <a:r>
              <a:rPr lang="en-US" dirty="0" err="1"/>
              <a:t>TypeError</a:t>
            </a:r>
            <a:endParaRPr lang="en-US" dirty="0"/>
          </a:p>
        </p:txBody>
      </p:sp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13F589BB-8C4F-8040-84DA-3917A8C6E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85148"/>
              </p:ext>
            </p:extLst>
          </p:nvPr>
        </p:nvGraphicFramePr>
        <p:xfrm>
          <a:off x="539261" y="3727938"/>
          <a:ext cx="11113477" cy="208007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63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431">
                  <a:extLst>
                    <a:ext uri="{9D8B030D-6E8A-4147-A177-3AD203B41FA5}">
                      <a16:colId xmlns:a16="http://schemas.microsoft.com/office/drawing/2014/main" val="4289725990"/>
                    </a:ext>
                  </a:extLst>
                </a:gridCol>
                <a:gridCol w="3499338">
                  <a:extLst>
                    <a:ext uri="{9D8B030D-6E8A-4147-A177-3AD203B41FA5}">
                      <a16:colId xmlns:a16="http://schemas.microsoft.com/office/drawing/2014/main" val="1740379032"/>
                    </a:ext>
                  </a:extLst>
                </a:gridCol>
                <a:gridCol w="2127739">
                  <a:extLst>
                    <a:ext uri="{9D8B030D-6E8A-4147-A177-3AD203B41FA5}">
                      <a16:colId xmlns:a16="http://schemas.microsoft.com/office/drawing/2014/main" val="244963577"/>
                    </a:ext>
                  </a:extLst>
                </a:gridCol>
              </a:tblGrid>
              <a:tr h="507559"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Expression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Example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Output</a:t>
                      </a:r>
                      <a:endParaRPr sz="19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559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+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atenat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nt('ab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'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+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'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'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abc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972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* 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atenat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o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nt('a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'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*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5)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aaaaa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988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* 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atenat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o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</a:t>
                      </a:r>
                      <a:r>
                        <a:rPr sz="1800" spc="15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nt(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* 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'b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'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sz="18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026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Concatenation</a:t>
            </a:r>
          </a:p>
          <a:p>
            <a:pPr lvl="2"/>
            <a:r>
              <a:rPr lang="en-CA" dirty="0"/>
              <a:t>+ operator</a:t>
            </a:r>
          </a:p>
          <a:p>
            <a:pPr lvl="2"/>
            <a:r>
              <a:rPr lang="en-CA" dirty="0"/>
              <a:t>* operator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String Operators</a:t>
            </a:r>
          </a:p>
        </p:txBody>
      </p:sp>
    </p:spTree>
    <p:extLst>
      <p:ext uri="{BB962C8B-B14F-4D97-AF65-F5344CB8AC3E}">
        <p14:creationId xmlns:p14="http://schemas.microsoft.com/office/powerpoint/2010/main" val="432390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822448"/>
            <a:ext cx="8129953" cy="4835479"/>
          </a:xfrm>
        </p:spPr>
        <p:txBody>
          <a:bodyPr/>
          <a:lstStyle/>
          <a:p>
            <a:r>
              <a:rPr lang="en-US" dirty="0"/>
              <a:t>The string (</a:t>
            </a:r>
            <a:r>
              <a:rPr lang="en-US" dirty="0">
                <a:solidFill>
                  <a:schemeClr val="accent6"/>
                </a:solidFill>
              </a:rPr>
              <a:t>str</a:t>
            </a:r>
            <a:r>
              <a:rPr lang="en-US" dirty="0"/>
              <a:t>) type was briefly introduced in previous weeks</a:t>
            </a:r>
          </a:p>
          <a:p>
            <a:r>
              <a:rPr lang="en-US" dirty="0"/>
              <a:t>Let’s take our string knowledge to the next level!</a:t>
            </a:r>
          </a:p>
          <a:p>
            <a:pPr lvl="1"/>
            <a:r>
              <a:rPr lang="en-US" dirty="0"/>
              <a:t>escape sequences</a:t>
            </a:r>
          </a:p>
          <a:p>
            <a:pPr lvl="1"/>
            <a:r>
              <a:rPr lang="en-US" dirty="0"/>
              <a:t>str operations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type conversion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indexing and slicing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str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37BA7104-6152-0744-89F1-CF7778BFE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0197" y="3110460"/>
            <a:ext cx="457200" cy="457200"/>
          </a:xfrm>
          <a:prstGeom prst="rect">
            <a:avLst/>
          </a:prstGeom>
        </p:spPr>
      </p:pic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78A22A70-9FB8-E843-BD6E-FB5F463BA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2997" y="351926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0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2D4-60C8-4146-9DCE-54D7F33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A64E-602D-8145-B772-89F2F2BC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822448"/>
            <a:ext cx="8129953" cy="4835479"/>
          </a:xfrm>
        </p:spPr>
        <p:txBody>
          <a:bodyPr/>
          <a:lstStyle/>
          <a:p>
            <a:r>
              <a:rPr lang="en-US" dirty="0"/>
              <a:t>The built-in function </a:t>
            </a: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str</a:t>
            </a:r>
            <a:r>
              <a:rPr lang="en-US" dirty="0"/>
              <a:t> takes any value and returns a string representation of that value</a:t>
            </a:r>
          </a:p>
          <a:p>
            <a:r>
              <a:rPr lang="en-US" dirty="0"/>
              <a:t>Like our built-in functions </a:t>
            </a: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int </a:t>
            </a:r>
            <a:r>
              <a:rPr lang="en-US" dirty="0"/>
              <a:t>and </a:t>
            </a: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float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that can take a string and </a:t>
            </a:r>
            <a:r>
              <a:rPr lang="en-US" dirty="0">
                <a:solidFill>
                  <a:srgbClr val="FF0000"/>
                </a:solidFill>
              </a:rPr>
              <a:t>attempt</a:t>
            </a:r>
            <a:r>
              <a:rPr lang="en-US" dirty="0"/>
              <a:t> to return a number representation of the string</a:t>
            </a:r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0B13CB-9935-844B-A4D7-5474C855F47E}"/>
              </a:ext>
            </a:extLst>
          </p:cNvPr>
          <p:cNvSpPr txBox="1">
            <a:spLocks/>
          </p:cNvSpPr>
          <p:nvPr/>
        </p:nvSpPr>
        <p:spPr>
          <a:xfrm>
            <a:off x="448806" y="4165443"/>
            <a:ext cx="3764796" cy="2492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str(4)</a:t>
            </a:r>
            <a:b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‘4’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&gt;&gt;&gt; str(4482678880)</a:t>
            </a:r>
            <a:b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CA" sz="2400" spc="-15" dirty="0">
                <a:solidFill>
                  <a:srgbClr val="00FF00"/>
                </a:solidFill>
                <a:latin typeface="Courier New"/>
                <a:cs typeface="Courier New"/>
              </a:rPr>
              <a:t>‘</a:t>
            </a:r>
            <a:r>
              <a:rPr lang="en-CA" sz="2400" dirty="0">
                <a:solidFill>
                  <a:srgbClr val="00FF00"/>
                </a:solidFill>
                <a:latin typeface="Courier New"/>
                <a:cs typeface="Courier New"/>
              </a:rPr>
              <a:t>4482678880’</a:t>
            </a: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E6A3F42-A9FB-954E-8C84-D12ED82C058B}"/>
              </a:ext>
            </a:extLst>
          </p:cNvPr>
          <p:cNvSpPr txBox="1"/>
          <p:nvPr/>
        </p:nvSpPr>
        <p:spPr>
          <a:xfrm>
            <a:off x="4213602" y="4238156"/>
            <a:ext cx="3151641" cy="1646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30"/>
              </a:lnSpc>
            </a:pP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 in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t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('1234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5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') </a:t>
            </a:r>
            <a:endParaRPr lang="en-US" sz="2400" spc="-1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ts val="2130"/>
              </a:lnSpc>
            </a:pP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12345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400" dirty="0">
              <a:solidFill>
                <a:srgbClr val="00FF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 in</a:t>
            </a:r>
            <a:r>
              <a:rPr sz="2400" spc="-5" dirty="0">
                <a:solidFill>
                  <a:srgbClr val="00FF00"/>
                </a:solidFill>
                <a:latin typeface="Courier New"/>
                <a:cs typeface="Courier New"/>
              </a:rPr>
              <a:t>t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(-99.9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  <a:br>
              <a:rPr lang="en-US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-99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CB09493-58E6-2D49-B410-87C522282DFC}"/>
              </a:ext>
            </a:extLst>
          </p:cNvPr>
          <p:cNvSpPr txBox="1"/>
          <p:nvPr/>
        </p:nvSpPr>
        <p:spPr>
          <a:xfrm>
            <a:off x="7853351" y="4238157"/>
            <a:ext cx="4063157" cy="1646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30"/>
              </a:lnSpc>
            </a:pP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  <a:t>float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(‘</a:t>
            </a:r>
            <a: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  <a:t>-43.2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’)</a:t>
            </a:r>
            <a:b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  <a:t>-43.2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400" dirty="0">
              <a:solidFill>
                <a:srgbClr val="00FF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  <a:t>float</a:t>
            </a:r>
            <a:r>
              <a:rPr sz="2400" spc="-10" dirty="0">
                <a:solidFill>
                  <a:srgbClr val="00FF00"/>
                </a:solidFill>
                <a:latin typeface="Courier New"/>
                <a:cs typeface="Courier New"/>
              </a:rPr>
              <a:t>(</a:t>
            </a:r>
            <a: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  <a:t>’432’</a:t>
            </a:r>
            <a:r>
              <a:rPr sz="2400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  <a:br>
              <a:rPr lang="en-US" sz="2400" dirty="0">
                <a:solidFill>
                  <a:srgbClr val="00FF00"/>
                </a:solidFill>
                <a:latin typeface="Courier New"/>
                <a:cs typeface="Courier New"/>
              </a:rPr>
            </a:br>
            <a:r>
              <a:rPr lang="en-US" sz="2400" spc="-10" dirty="0">
                <a:solidFill>
                  <a:srgbClr val="00FF00"/>
                </a:solidFill>
                <a:latin typeface="Courier New"/>
                <a:cs typeface="Courier New"/>
              </a:rPr>
              <a:t>432.0</a:t>
            </a:r>
            <a:endParaRPr sz="24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59278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Type conversion</a:t>
            </a:r>
          </a:p>
          <a:p>
            <a:pPr lvl="2"/>
            <a:r>
              <a:rPr lang="en-CA" dirty="0"/>
              <a:t>int/float to string</a:t>
            </a:r>
          </a:p>
          <a:p>
            <a:pPr lvl="2"/>
            <a:r>
              <a:rPr lang="en-CA" dirty="0"/>
              <a:t>string to int/float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Type Conversions</a:t>
            </a:r>
          </a:p>
        </p:txBody>
      </p:sp>
    </p:spTree>
    <p:extLst>
      <p:ext uri="{BB962C8B-B14F-4D97-AF65-F5344CB8AC3E}">
        <p14:creationId xmlns:p14="http://schemas.microsoft.com/office/powerpoint/2010/main" val="3366856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3143-E0A9-244B-A70D-B8A4E0CD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Breakout Coding Session!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9C1E-7B80-F04D-8E5C-1E53E479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how many times they would like to see the string ”knock knock knock… Penny” repeated.  Then, print it!</a:t>
            </a:r>
          </a:p>
          <a:p>
            <a:r>
              <a:rPr lang="en-US" dirty="0"/>
              <a:t>Can you customize the name?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6FD46-2278-E34E-BB44-E9C61D20C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36" y="3411582"/>
            <a:ext cx="5784750" cy="3249521"/>
          </a:xfrm>
          <a:prstGeom prst="rect">
            <a:avLst/>
          </a:prstGeom>
        </p:spPr>
      </p:pic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0AF894F4-CC5B-1848-99AB-BDB0ECB12EBB}"/>
              </a:ext>
            </a:extLst>
          </p:cNvPr>
          <p:cNvSpPr/>
          <p:nvPr/>
        </p:nvSpPr>
        <p:spPr>
          <a:xfrm>
            <a:off x="7732889" y="2754082"/>
            <a:ext cx="4289777" cy="3794312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Python </a:t>
            </a:r>
            <a:r>
              <a:rPr lang="en-US" sz="2400" b="1" dirty="0">
                <a:solidFill>
                  <a:srgbClr val="FFFFFF"/>
                </a:solidFill>
              </a:rPr>
              <a:t>(PyCharm or </a:t>
            </a:r>
            <a:r>
              <a:rPr lang="en-US" sz="2400" b="1" dirty="0" err="1">
                <a:solidFill>
                  <a:srgbClr val="FFFFFF"/>
                </a:solidFill>
              </a:rPr>
              <a:t>Jupyter</a:t>
            </a:r>
            <a:r>
              <a:rPr lang="en-US" sz="2400" b="1" dirty="0">
                <a:solidFill>
                  <a:srgbClr val="FFFFFF"/>
                </a:solidFill>
              </a:rPr>
              <a:t>)</a:t>
            </a:r>
          </a:p>
          <a:p>
            <a:endParaRPr lang="en-US" sz="1000" b="1" dirty="0">
              <a:solidFill>
                <a:srgbClr val="FFFFFF"/>
              </a:solidFill>
            </a:endParaRPr>
          </a:p>
          <a:p>
            <a:endParaRPr lang="en-US" sz="1000" b="1" dirty="0">
              <a:solidFill>
                <a:srgbClr val="FFFFFF"/>
              </a:solidFill>
            </a:endParaRPr>
          </a:p>
          <a:p>
            <a:endParaRPr lang="en-US" sz="10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chemeClr val="accent6"/>
                </a:solidFill>
              </a:rPr>
              <a:t>Work with your table to solve this problem!</a:t>
            </a:r>
          </a:p>
          <a:p>
            <a:endParaRPr lang="en-US" sz="2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35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3143-E0A9-244B-A70D-B8A4E0CD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Consider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9C1E-7B80-F04D-8E5C-1E53E479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94995"/>
            <a:ext cx="11049000" cy="4835479"/>
          </a:xfrm>
        </p:spPr>
        <p:txBody>
          <a:bodyPr>
            <a:normAutofit/>
          </a:bodyPr>
          <a:lstStyle/>
          <a:p>
            <a:r>
              <a:rPr lang="en-US" dirty="0"/>
              <a:t>Ask the user how many times they would like to see the string ”knock knock knock… Penny” repeated, and print it!</a:t>
            </a:r>
          </a:p>
          <a:p>
            <a:r>
              <a:rPr lang="en-US" dirty="0"/>
              <a:t>Can you customize the name?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FF00"/>
                </a:solidFill>
              </a:rPr>
              <a:t>Hints for getting started</a:t>
            </a:r>
            <a:r>
              <a:rPr lang="en-US" dirty="0"/>
              <a:t>:</a:t>
            </a:r>
          </a:p>
          <a:p>
            <a:r>
              <a:rPr lang="en-US" dirty="0"/>
              <a:t>Ask the user for a number of times (think: input function)</a:t>
            </a:r>
          </a:p>
          <a:p>
            <a:pPr lvl="1"/>
            <a:r>
              <a:rPr lang="en-US" dirty="0"/>
              <a:t>Remember input function returns a string… </a:t>
            </a:r>
          </a:p>
          <a:p>
            <a:r>
              <a:rPr lang="en-US" dirty="0"/>
              <a:t>Repeated string (think: concatenation, * operator might be useful)</a:t>
            </a:r>
          </a:p>
          <a:p>
            <a:r>
              <a:rPr lang="en-US" dirty="0"/>
              <a:t>Make the output readable (think: escape characters)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A6D31-8F40-6640-8189-47BED1F89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778" y="2856088"/>
            <a:ext cx="2734272" cy="153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52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</a:t>
            </a:r>
            <a:r>
              <a:rPr lang="en-US" dirty="0">
                <a:solidFill>
                  <a:schemeClr val="accent1"/>
                </a:solidFill>
              </a:rPr>
              <a:t> &amp; </a:t>
            </a:r>
            <a:r>
              <a:rPr lang="en-US" dirty="0"/>
              <a:t>Strings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Operators</a:t>
            </a:r>
            <a:r>
              <a:rPr lang="en-US" dirty="0">
                <a:solidFill>
                  <a:schemeClr val="accent1"/>
                </a:solidFill>
              </a:rPr>
              <a:t> &amp; </a:t>
            </a:r>
            <a:r>
              <a:rPr lang="en-US" dirty="0"/>
              <a:t>Methods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4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>
                <a:solidFill>
                  <a:schemeClr val="accent1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4</a:t>
            </a:r>
            <a:r>
              <a:rPr lang="en-US"/>
              <a:t>.</a:t>
            </a:r>
            <a:r>
              <a:rPr lang="en-US">
                <a:solidFill>
                  <a:schemeClr val="accent6"/>
                </a:solidFill>
              </a:rPr>
              <a:t>3</a:t>
            </a:r>
            <a:r>
              <a:rPr lang="en-US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207010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21503</TotalTime>
  <Words>1064</Words>
  <Application>Microsoft Macintosh PowerPoint</Application>
  <PresentationFormat>Widescreen</PresentationFormat>
  <Paragraphs>222</Paragraphs>
  <Slides>21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</vt:lpstr>
      <vt:lpstr>Courier New</vt:lpstr>
      <vt:lpstr>Segoe UI</vt:lpstr>
      <vt:lpstr>Times New Roman</vt:lpstr>
      <vt:lpstr>Wingdings</vt:lpstr>
      <vt:lpstr>APS106_PPTX_Theme</vt:lpstr>
      <vt:lpstr>Objects &amp; Strings: Operators &amp; Methods.</vt:lpstr>
      <vt:lpstr>This Week’s Content</vt:lpstr>
      <vt:lpstr>Let’s visit a hypothetical Turtle friend…</vt:lpstr>
      <vt:lpstr>Everything is an Object!</vt:lpstr>
      <vt:lpstr>Everything is an Object!</vt:lpstr>
      <vt:lpstr>Objects have Methods</vt:lpstr>
      <vt:lpstr>Let’s revisit our friend LeBron…</vt:lpstr>
      <vt:lpstr>Let’s revisit our friend turtle…</vt:lpstr>
      <vt:lpstr>Let’s Code!</vt:lpstr>
      <vt:lpstr>RECAP: Input and Output</vt:lpstr>
      <vt:lpstr>Working with Strings</vt:lpstr>
      <vt:lpstr>Escape Sequences</vt:lpstr>
      <vt:lpstr>Let’s Code!</vt:lpstr>
      <vt:lpstr>String Operators</vt:lpstr>
      <vt:lpstr>Let’s Code!</vt:lpstr>
      <vt:lpstr>Working with Strings</vt:lpstr>
      <vt:lpstr>Type Conversion</vt:lpstr>
      <vt:lpstr>Let’s Code!</vt:lpstr>
      <vt:lpstr>Breakout Coding Session!</vt:lpstr>
      <vt:lpstr>Consider this…</vt:lpstr>
      <vt:lpstr>Objects &amp; Strings: Operators &amp; Methods.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Sutton, Christopher</cp:lastModifiedBy>
  <cp:revision>166</cp:revision>
  <dcterms:created xsi:type="dcterms:W3CDTF">2021-11-03T00:49:37Z</dcterms:created>
  <dcterms:modified xsi:type="dcterms:W3CDTF">2026-01-29T13:39:03Z</dcterms:modified>
</cp:coreProperties>
</file>