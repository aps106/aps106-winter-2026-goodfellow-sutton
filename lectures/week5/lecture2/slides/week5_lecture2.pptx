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5" r:id="rId1"/>
  </p:sldMasterIdLst>
  <p:notesMasterIdLst>
    <p:notesMasterId r:id="rId46"/>
  </p:notesMasterIdLst>
  <p:sldIdLst>
    <p:sldId id="256" r:id="rId2"/>
    <p:sldId id="576" r:id="rId3"/>
    <p:sldId id="326" r:id="rId4"/>
    <p:sldId id="328" r:id="rId5"/>
    <p:sldId id="329" r:id="rId6"/>
    <p:sldId id="331" r:id="rId7"/>
    <p:sldId id="332" r:id="rId8"/>
    <p:sldId id="333" r:id="rId9"/>
    <p:sldId id="335" r:id="rId10"/>
    <p:sldId id="581" r:id="rId11"/>
    <p:sldId id="582" r:id="rId12"/>
    <p:sldId id="580" r:id="rId13"/>
    <p:sldId id="578" r:id="rId14"/>
    <p:sldId id="579" r:id="rId15"/>
    <p:sldId id="583" r:id="rId16"/>
    <p:sldId id="336" r:id="rId17"/>
    <p:sldId id="337" r:id="rId18"/>
    <p:sldId id="338" r:id="rId19"/>
    <p:sldId id="573" r:id="rId20"/>
    <p:sldId id="324" r:id="rId21"/>
    <p:sldId id="361" r:id="rId22"/>
    <p:sldId id="574" r:id="rId23"/>
    <p:sldId id="498" r:id="rId24"/>
    <p:sldId id="493" r:id="rId25"/>
    <p:sldId id="563" r:id="rId26"/>
    <p:sldId id="496" r:id="rId27"/>
    <p:sldId id="502" r:id="rId28"/>
    <p:sldId id="529" r:id="rId29"/>
    <p:sldId id="541" r:id="rId30"/>
    <p:sldId id="564" r:id="rId31"/>
    <p:sldId id="542" r:id="rId32"/>
    <p:sldId id="503" r:id="rId33"/>
    <p:sldId id="544" r:id="rId34"/>
    <p:sldId id="546" r:id="rId35"/>
    <p:sldId id="545" r:id="rId36"/>
    <p:sldId id="356" r:id="rId37"/>
    <p:sldId id="411" r:id="rId38"/>
    <p:sldId id="570" r:id="rId39"/>
    <p:sldId id="547" r:id="rId40"/>
    <p:sldId id="548" r:id="rId41"/>
    <p:sldId id="571" r:id="rId42"/>
    <p:sldId id="291" r:id="rId43"/>
    <p:sldId id="575" r:id="rId44"/>
    <p:sldId id="572" r:id="rId4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122D9F3D-F7CA-43FE-9E2E-5C007936740A}">
          <p14:sldIdLst>
            <p14:sldId id="256"/>
            <p14:sldId id="576"/>
            <p14:sldId id="326"/>
            <p14:sldId id="328"/>
            <p14:sldId id="329"/>
            <p14:sldId id="331"/>
            <p14:sldId id="332"/>
            <p14:sldId id="333"/>
            <p14:sldId id="335"/>
            <p14:sldId id="581"/>
            <p14:sldId id="582"/>
            <p14:sldId id="580"/>
            <p14:sldId id="578"/>
            <p14:sldId id="579"/>
            <p14:sldId id="583"/>
            <p14:sldId id="336"/>
            <p14:sldId id="337"/>
            <p14:sldId id="338"/>
            <p14:sldId id="573"/>
            <p14:sldId id="324"/>
            <p14:sldId id="361"/>
            <p14:sldId id="574"/>
            <p14:sldId id="498"/>
            <p14:sldId id="493"/>
            <p14:sldId id="563"/>
            <p14:sldId id="496"/>
            <p14:sldId id="502"/>
            <p14:sldId id="529"/>
            <p14:sldId id="541"/>
            <p14:sldId id="564"/>
            <p14:sldId id="542"/>
            <p14:sldId id="503"/>
            <p14:sldId id="544"/>
            <p14:sldId id="546"/>
            <p14:sldId id="545"/>
            <p14:sldId id="356"/>
            <p14:sldId id="411"/>
            <p14:sldId id="570"/>
            <p14:sldId id="547"/>
            <p14:sldId id="548"/>
            <p14:sldId id="571"/>
            <p14:sldId id="291"/>
            <p14:sldId id="575"/>
            <p14:sldId id="572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00FF00"/>
    <a:srgbClr val="E00BE5"/>
    <a:srgbClr val="FF5050"/>
    <a:srgbClr val="444445"/>
    <a:srgbClr val="FFD6AD"/>
    <a:srgbClr val="26262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30752" autoAdjust="0"/>
    <p:restoredTop sz="78893"/>
  </p:normalViewPr>
  <p:slideViewPr>
    <p:cSldViewPr snapToGrid="0">
      <p:cViewPr varScale="1">
        <p:scale>
          <a:sx n="99" d="100"/>
          <a:sy n="99" d="100"/>
        </p:scale>
        <p:origin x="280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presProps" Target="presProps.xml"/><Relationship Id="rId50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notesMaster" Target="notesMasters/notesMaster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CA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88962-212E-354E-9F0A-BD91D5C0951B}" type="datetimeFigureOut">
              <a:rPr lang="en-CA" smtClean="0"/>
              <a:t>2026-02-04</a:t>
            </a:fld>
            <a:endParaRPr lang="en-CA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CA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D545578-F236-A04D-A3A4-886269DB9053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3820999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D545578-F236-A04D-A3A4-886269DB9053}" type="slidenum">
              <a:rPr lang="en-CA" smtClean="0"/>
              <a:t>2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17312194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D545578-F236-A04D-A3A4-886269DB9053}" type="slidenum">
              <a:rPr lang="en-CA" smtClean="0"/>
              <a:t>20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7104437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C874C1-937B-F927-E02D-C82BB62F8C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8A9675E-B70F-99F1-B8D5-585EC8F3C4E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AB44BAC-84C3-556A-3EB4-D466FEADC61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5066A05-3DE2-2271-98CF-EA89B188C1E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23D110-B33C-3E49-B5DC-7F1369944E63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405594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23D110-B33C-3E49-B5DC-7F1369944E63}" type="slidenum">
              <a:rPr lang="en-US" smtClean="0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549014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23D110-B33C-3E49-B5DC-7F1369944E63}" type="slidenum">
              <a:rPr lang="en-US" smtClean="0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823761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D1FA71-C4FA-E399-CEB6-B521264A1C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30D2BAF-E88D-05C1-9440-1433DBE6459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00249FD-831D-249C-8223-25704F0D3D9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AEBB0F0-C31C-BDD4-6464-994D61B4AB2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23D110-B33C-3E49-B5DC-7F1369944E63}" type="slidenum">
              <a:rPr lang="en-US" smtClean="0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727677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70E9A4-6E61-4AF5-9711-A3D31361135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35947" y="2409479"/>
            <a:ext cx="11391065" cy="893580"/>
          </a:xfrm>
        </p:spPr>
        <p:txBody>
          <a:bodyPr anchor="b">
            <a:normAutofit/>
          </a:bodyPr>
          <a:lstStyle>
            <a:lvl1pPr algn="l">
              <a:defRPr sz="480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CA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59B255B-D275-45F6-ACB5-BBD491BB4AD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35947" y="3848999"/>
            <a:ext cx="11391065" cy="1655762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2400">
                <a:solidFill>
                  <a:srgbClr val="FFFFFF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8989347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3_Title and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CBFABF-0FF7-46A7-A3E7-B6C1EFC20E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444445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D1B3E0-28C0-49B4-B789-CFB199546E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835479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444445"/>
                </a:solidFill>
              </a:defRPr>
            </a:lvl1pPr>
            <a:lvl2pPr>
              <a:defRPr>
                <a:solidFill>
                  <a:srgbClr val="444445"/>
                </a:solidFill>
              </a:defRPr>
            </a:lvl2pPr>
            <a:lvl3pPr>
              <a:defRPr>
                <a:solidFill>
                  <a:srgbClr val="444445"/>
                </a:solidFill>
              </a:defRPr>
            </a:lvl3pPr>
            <a:lvl4pPr>
              <a:defRPr>
                <a:solidFill>
                  <a:srgbClr val="444445"/>
                </a:solidFill>
              </a:defRPr>
            </a:lvl4pPr>
            <a:lvl5pPr>
              <a:defRPr>
                <a:solidFill>
                  <a:srgbClr val="444445"/>
                </a:solidFill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9795192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Title and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CBFABF-0FF7-46A7-A3E7-B6C1EFC20E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D1B3E0-28C0-49B4-B789-CFB199546E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835479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  <a:lvl2pPr>
              <a:defRPr>
                <a:solidFill>
                  <a:srgbClr val="FFFFFF"/>
                </a:solidFill>
              </a:defRPr>
            </a:lvl2pPr>
            <a:lvl3pPr>
              <a:defRPr>
                <a:solidFill>
                  <a:srgbClr val="FFFFFF"/>
                </a:solidFill>
              </a:defRPr>
            </a:lvl3pPr>
            <a:lvl4pPr>
              <a:defRPr>
                <a:solidFill>
                  <a:srgbClr val="FFFFFF"/>
                </a:solidFill>
              </a:defRPr>
            </a:lvl4pPr>
            <a:lvl5pPr>
              <a:defRPr>
                <a:solidFill>
                  <a:srgbClr val="FFFFFF"/>
                </a:solidFill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095697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2_Title and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CBFABF-0FF7-46A7-A3E7-B6C1EFC20E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D1B3E0-28C0-49B4-B789-CFB199546E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835479"/>
          </a:xfrm>
          <a:prstGeom prst="rect">
            <a:avLst/>
          </a:prstGeom>
        </p:spPr>
        <p:txBody>
          <a:bodyPr/>
          <a:lstStyle>
            <a:lvl1pPr>
              <a:buClr>
                <a:schemeClr val="tx1"/>
              </a:buClr>
              <a:defRPr>
                <a:solidFill>
                  <a:srgbClr val="FFFFFF"/>
                </a:solidFill>
              </a:defRPr>
            </a:lvl1pPr>
            <a:lvl2pPr>
              <a:buClr>
                <a:schemeClr val="tx1"/>
              </a:buClr>
              <a:defRPr>
                <a:solidFill>
                  <a:srgbClr val="FFFFFF"/>
                </a:solidFill>
              </a:defRPr>
            </a:lvl2pPr>
            <a:lvl3pPr>
              <a:buClr>
                <a:schemeClr val="tx1"/>
              </a:buClr>
              <a:defRPr>
                <a:solidFill>
                  <a:srgbClr val="FFFFFF"/>
                </a:solidFill>
              </a:defRPr>
            </a:lvl3pPr>
            <a:lvl4pPr>
              <a:buClr>
                <a:schemeClr val="tx1"/>
              </a:buClr>
              <a:defRPr>
                <a:solidFill>
                  <a:srgbClr val="FFFFFF"/>
                </a:solidFill>
              </a:defRPr>
            </a:lvl4pPr>
            <a:lvl5pPr>
              <a:buClr>
                <a:schemeClr val="tx1"/>
              </a:buClr>
              <a:defRPr>
                <a:solidFill>
                  <a:srgbClr val="FFFFFF"/>
                </a:solidFill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40172345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png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6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D40C5A8-72D0-4B08-8FDA-49B8D1F97D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27514"/>
            <a:ext cx="10515600" cy="65614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CA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8E5D9C3-E281-4B14-8306-28D6CE33EC5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4"/>
            <a:ext cx="10515600" cy="484215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23256857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6" r:id="rId1"/>
    <p:sldLayoutId id="2147483667" r:id="rId2"/>
    <p:sldLayoutId id="2147483668" r:id="rId3"/>
    <p:sldLayoutId id="2147483669" r:id="rId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Clr>
          <a:srgbClr val="007EE5"/>
        </a:buClr>
        <a:buFont typeface="Wingdings" panose="05000000000000000000" pitchFamily="2" charset="2"/>
        <a:buChar char="§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007EE5"/>
        </a:buClr>
        <a:buFont typeface="Wingdings" panose="05000000000000000000" pitchFamily="2" charset="2"/>
        <a:buChar char="§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007EE5"/>
        </a:buClr>
        <a:buFont typeface="Wingdings" panose="05000000000000000000" pitchFamily="2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007EE5"/>
        </a:buClr>
        <a:buFont typeface="Wingdings" panose="05000000000000000000" pitchFamily="2" charset="2"/>
        <a:buChar char="§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007EE5"/>
        </a:buClr>
        <a:buFont typeface="Wingdings" panose="05000000000000000000" pitchFamily="2" charset="2"/>
        <a:buChar char="§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4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3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sv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28.svg"/><Relationship Id="rId4" Type="http://schemas.openxmlformats.org/officeDocument/2006/relationships/image" Target="../media/image27.png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emf"/><Relationship Id="rId2" Type="http://schemas.openxmlformats.org/officeDocument/2006/relationships/hyperlink" Target="https://youtu.be/kM9Wuzj4k24" TargetMode="Externa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7F06F2-AC3E-484E-9926-59D4F59092C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introduction to Object Oriented Programming</a:t>
            </a:r>
            <a:r>
              <a:rPr lang="en-US" dirty="0">
                <a:solidFill>
                  <a:schemeClr val="accent1"/>
                </a:solidFill>
              </a:rPr>
              <a:t>,</a:t>
            </a:r>
            <a:r>
              <a:rPr lang="en-US" dirty="0"/>
              <a:t> </a:t>
            </a:r>
            <a:r>
              <a:rPr lang="en-US" dirty="0">
                <a:solidFill>
                  <a:schemeClr val="accent6"/>
                </a:solidFill>
              </a:rPr>
              <a:t>and</a:t>
            </a:r>
            <a:r>
              <a:rPr lang="en-US" dirty="0"/>
              <a:t> the file object</a:t>
            </a:r>
            <a:r>
              <a:rPr lang="en-US" dirty="0">
                <a:solidFill>
                  <a:schemeClr val="accent1"/>
                </a:solidFill>
              </a:rPr>
              <a:t>.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9B07687-F068-40FC-84A1-E7860490CAC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b="1" dirty="0"/>
              <a:t>Week </a:t>
            </a:r>
            <a:r>
              <a:rPr lang="en-US" b="1" dirty="0">
                <a:solidFill>
                  <a:schemeClr val="accent6"/>
                </a:solidFill>
              </a:rPr>
              <a:t>5</a:t>
            </a:r>
            <a:r>
              <a:rPr lang="en-US" b="1" dirty="0"/>
              <a:t> </a:t>
            </a:r>
            <a:r>
              <a:rPr lang="en-US" dirty="0">
                <a:solidFill>
                  <a:schemeClr val="accent2"/>
                </a:solidFill>
              </a:rPr>
              <a:t>|</a:t>
            </a:r>
            <a:r>
              <a:rPr lang="en-US" dirty="0"/>
              <a:t> Lecture </a:t>
            </a:r>
            <a:r>
              <a:rPr lang="en-US" dirty="0">
                <a:solidFill>
                  <a:schemeClr val="accent6"/>
                </a:solidFill>
              </a:rPr>
              <a:t>2 </a:t>
            </a:r>
            <a:r>
              <a:rPr lang="en-US" dirty="0">
                <a:solidFill>
                  <a:schemeClr val="accent1"/>
                </a:solidFill>
              </a:rPr>
              <a:t>(</a:t>
            </a:r>
            <a:r>
              <a:rPr lang="en-US" dirty="0">
                <a:solidFill>
                  <a:schemeClr val="accent6"/>
                </a:solidFill>
              </a:rPr>
              <a:t>5.2</a:t>
            </a:r>
            <a:r>
              <a:rPr lang="en-US" dirty="0">
                <a:solidFill>
                  <a:schemeClr val="accent1"/>
                </a:solidFill>
              </a:rPr>
              <a:t>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CD1F5C7-6C48-A411-11B2-E7C1249B7F84}"/>
              </a:ext>
            </a:extLst>
          </p:cNvPr>
          <p:cNvSpPr txBox="1"/>
          <p:nvPr/>
        </p:nvSpPr>
        <p:spPr>
          <a:xfrm>
            <a:off x="335947" y="4426565"/>
            <a:ext cx="969303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>
                <a:solidFill>
                  <a:srgbClr val="CC99FF"/>
                </a:solidFill>
              </a:rPr>
              <a:t>While waiting, download the </a:t>
            </a:r>
            <a:r>
              <a:rPr lang="en-US" sz="2000" b="1" dirty="0" err="1">
                <a:solidFill>
                  <a:srgbClr val="CC99FF"/>
                </a:solidFill>
              </a:rPr>
              <a:t>Jupyter</a:t>
            </a:r>
            <a:r>
              <a:rPr lang="en-US" sz="2000" b="1" dirty="0">
                <a:solidFill>
                  <a:srgbClr val="CC99FF"/>
                </a:solidFill>
              </a:rPr>
              <a:t> Notebook and text file for today’s lecture</a:t>
            </a:r>
          </a:p>
        </p:txBody>
      </p:sp>
    </p:spTree>
    <p:extLst>
      <p:ext uri="{BB962C8B-B14F-4D97-AF65-F5344CB8AC3E}">
        <p14:creationId xmlns:p14="http://schemas.microsoft.com/office/powerpoint/2010/main" val="328064325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69A57B-21DC-4557-9D2E-36BBF1E923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This Week</a:t>
            </a:r>
            <a:r>
              <a:rPr lang="en-US" b="1" dirty="0">
                <a:solidFill>
                  <a:schemeClr val="accent1"/>
                </a:solidFill>
              </a:rPr>
              <a:t>’</a:t>
            </a:r>
            <a:r>
              <a:rPr lang="en-US" b="1" dirty="0"/>
              <a:t>s Content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B50049-8F6C-4DF3-BA59-31343B218CF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5105" y="1903610"/>
            <a:ext cx="10227838" cy="3766793"/>
          </a:xfrm>
        </p:spPr>
        <p:txBody>
          <a:bodyPr>
            <a:normAutofit/>
          </a:bodyPr>
          <a:lstStyle/>
          <a:p>
            <a:r>
              <a:rPr lang="en-US" b="1" dirty="0"/>
              <a:t>Lecture </a:t>
            </a:r>
            <a:r>
              <a:rPr lang="en-US" b="1" dirty="0">
                <a:solidFill>
                  <a:schemeClr val="accent1"/>
                </a:solidFill>
              </a:rPr>
              <a:t>5.1</a:t>
            </a:r>
          </a:p>
          <a:p>
            <a:pPr lvl="1"/>
            <a:r>
              <a:rPr lang="en-US" dirty="0"/>
              <a:t>Strings: Conversions, Indexing, Slicing, and Immutability</a:t>
            </a:r>
          </a:p>
          <a:p>
            <a:r>
              <a:rPr lang="en-US" b="1" dirty="0"/>
              <a:t>Lecture </a:t>
            </a:r>
            <a:r>
              <a:rPr lang="en-US" b="1" dirty="0">
                <a:solidFill>
                  <a:schemeClr val="accent1"/>
                </a:solidFill>
              </a:rPr>
              <a:t>5.2 </a:t>
            </a:r>
          </a:p>
          <a:p>
            <a:pPr lvl="1"/>
            <a:r>
              <a:rPr lang="en-US" b="1" dirty="0"/>
              <a:t>Strings: </a:t>
            </a:r>
            <a:r>
              <a:rPr lang="en-US" b="1"/>
              <a:t>practice exercise</a:t>
            </a:r>
            <a:endParaRPr lang="en-US" b="1" dirty="0"/>
          </a:p>
          <a:p>
            <a:pPr lvl="1"/>
            <a:r>
              <a:rPr lang="en-US" b="1" dirty="0"/>
              <a:t>Introduction to Object-Oriented Programming and the File Object</a:t>
            </a:r>
          </a:p>
          <a:p>
            <a:r>
              <a:rPr lang="en-US" b="1" dirty="0"/>
              <a:t>Lecture </a:t>
            </a:r>
            <a:r>
              <a:rPr lang="en-US" b="1" dirty="0">
                <a:solidFill>
                  <a:schemeClr val="accent1"/>
                </a:solidFill>
              </a:rPr>
              <a:t>5.3</a:t>
            </a:r>
          </a:p>
          <a:p>
            <a:pPr lvl="1"/>
            <a:r>
              <a:rPr lang="en-US" b="1" dirty="0">
                <a:solidFill>
                  <a:schemeClr val="accent6"/>
                </a:solidFill>
              </a:rPr>
              <a:t>for </a:t>
            </a:r>
            <a:r>
              <a:rPr lang="en-US" b="1" dirty="0"/>
              <a:t>loops</a:t>
            </a:r>
          </a:p>
        </p:txBody>
      </p:sp>
    </p:spTree>
    <p:extLst>
      <p:ext uri="{BB962C8B-B14F-4D97-AF65-F5344CB8AC3E}">
        <p14:creationId xmlns:p14="http://schemas.microsoft.com/office/powerpoint/2010/main" val="181892988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6" descr="Mother with children walk at crosswalk Royalty Free Vector">
            <a:extLst>
              <a:ext uri="{FF2B5EF4-FFF2-40B4-BE49-F238E27FC236}">
                <a16:creationId xmlns:a16="http://schemas.microsoft.com/office/drawing/2014/main" id="{2ACAE3C1-347B-03FC-CF58-F741D4D42E6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380" r="12418" b="9223"/>
          <a:stretch/>
        </p:blipFill>
        <p:spPr bwMode="auto">
          <a:xfrm>
            <a:off x="7059562" y="593923"/>
            <a:ext cx="5115077" cy="60272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E9C16DF-EAC1-4B93-BDD5-1206879366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7575" y="727514"/>
            <a:ext cx="5146965" cy="656148"/>
          </a:xfrm>
        </p:spPr>
        <p:txBody>
          <a:bodyPr>
            <a:normAutofit/>
          </a:bodyPr>
          <a:lstStyle/>
          <a:p>
            <a:pPr algn="ctr"/>
            <a:r>
              <a:rPr lang="en-US" sz="3100" b="1" dirty="0"/>
              <a:t>Procedural Programming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48271CB5-17B5-4C9D-AD04-3CDE3C541C40}"/>
              </a:ext>
            </a:extLst>
          </p:cNvPr>
          <p:cNvSpPr/>
          <p:nvPr/>
        </p:nvSpPr>
        <p:spPr>
          <a:xfrm>
            <a:off x="563582" y="1582811"/>
            <a:ext cx="1805048" cy="884236"/>
          </a:xfrm>
          <a:prstGeom prst="roundRect">
            <a:avLst/>
          </a:prstGeom>
          <a:noFill/>
          <a:ln w="571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solidFill>
                  <a:srgbClr val="FFFFFF"/>
                </a:solidFill>
              </a:rPr>
              <a:t>Global Variable</a:t>
            </a:r>
          </a:p>
          <a:p>
            <a:pPr algn="ctr"/>
            <a:r>
              <a:rPr lang="en-US" sz="1600" dirty="0">
                <a:solidFill>
                  <a:srgbClr val="FFFFFF"/>
                </a:solidFill>
              </a:rPr>
              <a:t>Pedestrian 1</a:t>
            </a:r>
          </a:p>
          <a:p>
            <a:pPr algn="ctr"/>
            <a:r>
              <a:rPr lang="en-US" sz="1600" dirty="0">
                <a:solidFill>
                  <a:srgbClr val="FFFFFF"/>
                </a:solidFill>
              </a:rPr>
              <a:t> x, y Location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311AD231-67C2-4090-859F-A196D49328A0}"/>
              </a:ext>
            </a:extLst>
          </p:cNvPr>
          <p:cNvSpPr/>
          <p:nvPr/>
        </p:nvSpPr>
        <p:spPr>
          <a:xfrm>
            <a:off x="2580408" y="1582811"/>
            <a:ext cx="1805048" cy="884236"/>
          </a:xfrm>
          <a:prstGeom prst="roundRect">
            <a:avLst/>
          </a:prstGeom>
          <a:noFill/>
          <a:ln w="571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solidFill>
                  <a:srgbClr val="FFFFFF"/>
                </a:solidFill>
              </a:rPr>
              <a:t>Global Variable</a:t>
            </a:r>
          </a:p>
          <a:p>
            <a:pPr algn="ctr"/>
            <a:r>
              <a:rPr lang="en-US" sz="1600" dirty="0">
                <a:solidFill>
                  <a:srgbClr val="FFFFFF"/>
                </a:solidFill>
              </a:rPr>
              <a:t>Pedestrian 2</a:t>
            </a:r>
          </a:p>
          <a:p>
            <a:pPr algn="ctr"/>
            <a:r>
              <a:rPr lang="en-US" sz="1600" dirty="0">
                <a:solidFill>
                  <a:srgbClr val="FFFFFF"/>
                </a:solidFill>
              </a:rPr>
              <a:t> x, y Location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DF536016-8C8C-4655-B6A2-989E2E43A3EF}"/>
              </a:ext>
            </a:extLst>
          </p:cNvPr>
          <p:cNvSpPr/>
          <p:nvPr/>
        </p:nvSpPr>
        <p:spPr>
          <a:xfrm>
            <a:off x="4597234" y="1582811"/>
            <a:ext cx="1805048" cy="884236"/>
          </a:xfrm>
          <a:prstGeom prst="roundRect">
            <a:avLst/>
          </a:prstGeom>
          <a:noFill/>
          <a:ln w="571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solidFill>
                  <a:srgbClr val="FFFFFF"/>
                </a:solidFill>
              </a:rPr>
              <a:t>Global Variable</a:t>
            </a:r>
          </a:p>
          <a:p>
            <a:pPr algn="ctr"/>
            <a:r>
              <a:rPr lang="en-US" sz="1600" dirty="0">
                <a:solidFill>
                  <a:srgbClr val="FFFFFF"/>
                </a:solidFill>
              </a:rPr>
              <a:t>Pedestrian 3</a:t>
            </a:r>
          </a:p>
          <a:p>
            <a:pPr algn="ctr"/>
            <a:r>
              <a:rPr lang="en-US" sz="1600" dirty="0">
                <a:solidFill>
                  <a:srgbClr val="FFFFFF"/>
                </a:solidFill>
              </a:rPr>
              <a:t> x, y Location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A8603B06-48C1-4427-9A2B-82F9DAF8DE2A}"/>
              </a:ext>
            </a:extLst>
          </p:cNvPr>
          <p:cNvSpPr/>
          <p:nvPr/>
        </p:nvSpPr>
        <p:spPr>
          <a:xfrm>
            <a:off x="1572984" y="2675341"/>
            <a:ext cx="1805048" cy="884236"/>
          </a:xfrm>
          <a:prstGeom prst="roundRect">
            <a:avLst/>
          </a:prstGeom>
          <a:noFill/>
          <a:ln w="571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solidFill>
                  <a:srgbClr val="FFFFFF"/>
                </a:solidFill>
              </a:rPr>
              <a:t>Global Variable</a:t>
            </a:r>
          </a:p>
          <a:p>
            <a:pPr algn="ctr"/>
            <a:r>
              <a:rPr lang="en-US" sz="1600" dirty="0">
                <a:solidFill>
                  <a:srgbClr val="FFFFFF"/>
                </a:solidFill>
              </a:rPr>
              <a:t>Traffic Light 1 </a:t>
            </a:r>
          </a:p>
          <a:p>
            <a:pPr algn="ctr"/>
            <a:r>
              <a:rPr lang="en-US" sz="1600" dirty="0">
                <a:solidFill>
                  <a:srgbClr val="FFFFFF"/>
                </a:solidFill>
              </a:rPr>
              <a:t>Color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DF3C60E1-0345-4487-A4D3-A341A6596153}"/>
              </a:ext>
            </a:extLst>
          </p:cNvPr>
          <p:cNvSpPr/>
          <p:nvPr/>
        </p:nvSpPr>
        <p:spPr>
          <a:xfrm>
            <a:off x="3593273" y="2675341"/>
            <a:ext cx="1805048" cy="884236"/>
          </a:xfrm>
          <a:prstGeom prst="roundRect">
            <a:avLst/>
          </a:prstGeom>
          <a:noFill/>
          <a:ln w="571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solidFill>
                  <a:srgbClr val="FFFFFF"/>
                </a:solidFill>
              </a:rPr>
              <a:t>Global Variable</a:t>
            </a:r>
          </a:p>
          <a:p>
            <a:pPr algn="ctr"/>
            <a:r>
              <a:rPr lang="en-US" sz="1600" dirty="0">
                <a:solidFill>
                  <a:srgbClr val="FFFFFF"/>
                </a:solidFill>
              </a:rPr>
              <a:t>Car 1</a:t>
            </a:r>
          </a:p>
          <a:p>
            <a:pPr algn="ctr"/>
            <a:r>
              <a:rPr lang="en-US" sz="1600" dirty="0">
                <a:solidFill>
                  <a:srgbClr val="FFFFFF"/>
                </a:solidFill>
              </a:rPr>
              <a:t>x, y location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4EACFA74-CDA3-41F2-B352-4ECEC366B2DF}"/>
              </a:ext>
            </a:extLst>
          </p:cNvPr>
          <p:cNvSpPr txBox="1"/>
          <p:nvPr/>
        </p:nvSpPr>
        <p:spPr>
          <a:xfrm>
            <a:off x="8653992" y="593923"/>
            <a:ext cx="177170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b="1" dirty="0"/>
              <a:t>Real World</a:t>
            </a:r>
          </a:p>
        </p:txBody>
      </p:sp>
      <p:sp>
        <p:nvSpPr>
          <p:cNvPr id="55" name="Arrow: Down 54">
            <a:extLst>
              <a:ext uri="{FF2B5EF4-FFF2-40B4-BE49-F238E27FC236}">
                <a16:creationId xmlns:a16="http://schemas.microsoft.com/office/drawing/2014/main" id="{0454D01B-C5E0-4871-B907-0AEC55EF35EE}"/>
              </a:ext>
            </a:extLst>
          </p:cNvPr>
          <p:cNvSpPr/>
          <p:nvPr/>
        </p:nvSpPr>
        <p:spPr>
          <a:xfrm rot="3995189">
            <a:off x="7406304" y="263101"/>
            <a:ext cx="423081" cy="2372356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98A76CFF-3B57-416A-8503-E7C2A01809E4}"/>
              </a:ext>
            </a:extLst>
          </p:cNvPr>
          <p:cNvSpPr txBox="1"/>
          <p:nvPr/>
        </p:nvSpPr>
        <p:spPr>
          <a:xfrm>
            <a:off x="6986411" y="783811"/>
            <a:ext cx="86273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b="1" dirty="0"/>
              <a:t>Data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28D53E02-EEE0-40F2-86D1-06EBF1600F75}"/>
              </a:ext>
            </a:extLst>
          </p:cNvPr>
          <p:cNvSpPr txBox="1"/>
          <p:nvPr/>
        </p:nvSpPr>
        <p:spPr>
          <a:xfrm>
            <a:off x="969250" y="4325032"/>
            <a:ext cx="500361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b="1" dirty="0">
                <a:solidFill>
                  <a:srgbClr val="FFFFFF"/>
                </a:solidFill>
              </a:rPr>
              <a:t>Separation of </a:t>
            </a:r>
            <a:r>
              <a:rPr lang="en-US" sz="2400" b="1" dirty="0">
                <a:solidFill>
                  <a:schemeClr val="accent3"/>
                </a:solidFill>
              </a:rPr>
              <a:t>Data</a:t>
            </a:r>
            <a:r>
              <a:rPr lang="en-US" sz="2400" b="1" dirty="0">
                <a:solidFill>
                  <a:srgbClr val="FFFFFF"/>
                </a:solidFill>
              </a:rPr>
              <a:t> and </a:t>
            </a:r>
            <a:r>
              <a:rPr lang="en-US" sz="2400" b="1" dirty="0">
                <a:solidFill>
                  <a:schemeClr val="accent6"/>
                </a:solidFill>
              </a:rPr>
              <a:t>Functions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A8FF6E95-7403-4DE0-8948-6E36F2C7EA44}"/>
              </a:ext>
            </a:extLst>
          </p:cNvPr>
          <p:cNvSpPr txBox="1"/>
          <p:nvPr/>
        </p:nvSpPr>
        <p:spPr>
          <a:xfrm>
            <a:off x="54606" y="2557387"/>
            <a:ext cx="141897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x_ped1</a:t>
            </a:r>
            <a:r>
              <a:rPr lang="en-US" sz="16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3</a:t>
            </a:r>
          </a:p>
          <a:p>
            <a:r>
              <a:rPr lang="en-US" sz="1600" b="1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y_ped1</a:t>
            </a:r>
            <a:r>
              <a:rPr lang="en-US" sz="16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5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863E4B6-9A90-446A-BE18-79B624047611}"/>
              </a:ext>
            </a:extLst>
          </p:cNvPr>
          <p:cNvSpPr txBox="1"/>
          <p:nvPr/>
        </p:nvSpPr>
        <p:spPr>
          <a:xfrm>
            <a:off x="1081014" y="3649866"/>
            <a:ext cx="277672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traffic_light </a:t>
            </a:r>
            <a:r>
              <a:rPr lang="en-US" sz="16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 ‘red’</a:t>
            </a:r>
          </a:p>
        </p:txBody>
      </p:sp>
      <p:sp>
        <p:nvSpPr>
          <p:cNvPr id="3" name="Rectangle: Rounded Corners 15">
            <a:extLst>
              <a:ext uri="{FF2B5EF4-FFF2-40B4-BE49-F238E27FC236}">
                <a16:creationId xmlns:a16="http://schemas.microsoft.com/office/drawing/2014/main" id="{6C60ECE2-E131-90E6-9527-15BDF76F54A9}"/>
              </a:ext>
            </a:extLst>
          </p:cNvPr>
          <p:cNvSpPr/>
          <p:nvPr/>
        </p:nvSpPr>
        <p:spPr>
          <a:xfrm>
            <a:off x="184696" y="5552153"/>
            <a:ext cx="1805048" cy="884236"/>
          </a:xfrm>
          <a:prstGeom prst="roundRect">
            <a:avLst/>
          </a:prstGeom>
          <a:noFill/>
          <a:ln w="57150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solidFill>
                  <a:srgbClr val="FFFFFF"/>
                </a:solidFill>
              </a:rPr>
              <a:t>Function</a:t>
            </a:r>
          </a:p>
          <a:p>
            <a:pPr algn="ctr"/>
            <a:r>
              <a:rPr lang="en-US" sz="1600" dirty="0" err="1">
                <a:solidFill>
                  <a:srgbClr val="FFFF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okToCross</a:t>
            </a:r>
            <a:endParaRPr lang="en-US" sz="1600" dirty="0">
              <a:solidFill>
                <a:srgbClr val="FFFFFF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Rectangle: Rounded Corners 16">
            <a:extLst>
              <a:ext uri="{FF2B5EF4-FFF2-40B4-BE49-F238E27FC236}">
                <a16:creationId xmlns:a16="http://schemas.microsoft.com/office/drawing/2014/main" id="{62470BE2-B31D-8EED-C8BB-306E96109228}"/>
              </a:ext>
            </a:extLst>
          </p:cNvPr>
          <p:cNvSpPr/>
          <p:nvPr/>
        </p:nvSpPr>
        <p:spPr>
          <a:xfrm>
            <a:off x="2309254" y="5552153"/>
            <a:ext cx="2287980" cy="884236"/>
          </a:xfrm>
          <a:prstGeom prst="roundRect">
            <a:avLst/>
          </a:prstGeom>
          <a:noFill/>
          <a:ln w="57150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solidFill>
                  <a:srgbClr val="FFFFFF"/>
                </a:solidFill>
              </a:rPr>
              <a:t>Function</a:t>
            </a:r>
          </a:p>
          <a:p>
            <a:pPr algn="ctr"/>
            <a:r>
              <a:rPr lang="en-US" sz="1600" dirty="0" err="1">
                <a:solidFill>
                  <a:srgbClr val="FFFF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AdvancePosition</a:t>
            </a:r>
            <a:endParaRPr lang="en-US" sz="1600" dirty="0">
              <a:solidFill>
                <a:srgbClr val="FFFFFF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6" name="Rectangle: Rounded Corners 17">
            <a:extLst>
              <a:ext uri="{FF2B5EF4-FFF2-40B4-BE49-F238E27FC236}">
                <a16:creationId xmlns:a16="http://schemas.microsoft.com/office/drawing/2014/main" id="{A823FB23-4FF8-8C4C-303A-17C33F56E951}"/>
              </a:ext>
            </a:extLst>
          </p:cNvPr>
          <p:cNvSpPr/>
          <p:nvPr/>
        </p:nvSpPr>
        <p:spPr>
          <a:xfrm>
            <a:off x="4703437" y="5552153"/>
            <a:ext cx="2249923" cy="884236"/>
          </a:xfrm>
          <a:prstGeom prst="roundRect">
            <a:avLst/>
          </a:prstGeom>
          <a:noFill/>
          <a:ln w="57150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solidFill>
                  <a:srgbClr val="FFFFFF"/>
                </a:solidFill>
              </a:rPr>
              <a:t>Function</a:t>
            </a:r>
          </a:p>
          <a:p>
            <a:pPr algn="ctr"/>
            <a:r>
              <a:rPr lang="en-US" sz="1600" dirty="0" err="1">
                <a:solidFill>
                  <a:srgbClr val="FFFF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isInIntersection</a:t>
            </a:r>
            <a:endParaRPr lang="en-US" sz="1600" dirty="0">
              <a:solidFill>
                <a:srgbClr val="FFFFFF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4738380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5CC48D17-47FC-4AFC-A1DF-EE18D74C0681}"/>
              </a:ext>
            </a:extLst>
          </p:cNvPr>
          <p:cNvCxnSpPr>
            <a:cxnSpLocks/>
            <a:endCxn id="16" idx="0"/>
          </p:cNvCxnSpPr>
          <p:nvPr/>
        </p:nvCxnSpPr>
        <p:spPr>
          <a:xfrm flipH="1">
            <a:off x="1087220" y="2467047"/>
            <a:ext cx="378886" cy="3085106"/>
          </a:xfrm>
          <a:prstGeom prst="straightConnector1">
            <a:avLst/>
          </a:prstGeom>
          <a:ln w="38100">
            <a:solidFill>
              <a:srgbClr val="00FF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3F96ACC4-6344-43D7-A5EF-2CBAA47F501A}"/>
              </a:ext>
            </a:extLst>
          </p:cNvPr>
          <p:cNvCxnSpPr>
            <a:cxnSpLocks/>
            <a:endCxn id="16" idx="0"/>
          </p:cNvCxnSpPr>
          <p:nvPr/>
        </p:nvCxnSpPr>
        <p:spPr>
          <a:xfrm flipH="1">
            <a:off x="1087220" y="2467047"/>
            <a:ext cx="4412538" cy="3085106"/>
          </a:xfrm>
          <a:prstGeom prst="straightConnector1">
            <a:avLst/>
          </a:prstGeom>
          <a:ln w="38100">
            <a:solidFill>
              <a:srgbClr val="00FF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54CC06FA-46B2-4234-AD26-9C1A549172A8}"/>
              </a:ext>
            </a:extLst>
          </p:cNvPr>
          <p:cNvCxnSpPr>
            <a:cxnSpLocks/>
            <a:stCxn id="17" idx="0"/>
            <a:endCxn id="8" idx="2"/>
          </p:cNvCxnSpPr>
          <p:nvPr/>
        </p:nvCxnSpPr>
        <p:spPr>
          <a:xfrm flipH="1" flipV="1">
            <a:off x="1466106" y="2467047"/>
            <a:ext cx="1987138" cy="3085106"/>
          </a:xfrm>
          <a:prstGeom prst="straightConnector1">
            <a:avLst/>
          </a:prstGeom>
          <a:ln w="38100">
            <a:solidFill>
              <a:srgbClr val="FF5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EF5028B6-EA06-4E82-8FE0-FD396200BDC0}"/>
              </a:ext>
            </a:extLst>
          </p:cNvPr>
          <p:cNvCxnSpPr>
            <a:cxnSpLocks/>
            <a:stCxn id="17" idx="0"/>
            <a:endCxn id="12" idx="2"/>
          </p:cNvCxnSpPr>
          <p:nvPr/>
        </p:nvCxnSpPr>
        <p:spPr>
          <a:xfrm flipV="1">
            <a:off x="3453244" y="2467047"/>
            <a:ext cx="29688" cy="3085106"/>
          </a:xfrm>
          <a:prstGeom prst="straightConnector1">
            <a:avLst/>
          </a:prstGeom>
          <a:ln w="38100">
            <a:solidFill>
              <a:srgbClr val="FF5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826376EF-0655-41B9-8C69-549DFB7096CE}"/>
              </a:ext>
            </a:extLst>
          </p:cNvPr>
          <p:cNvCxnSpPr>
            <a:cxnSpLocks/>
            <a:stCxn id="17" idx="0"/>
            <a:endCxn id="13" idx="2"/>
          </p:cNvCxnSpPr>
          <p:nvPr/>
        </p:nvCxnSpPr>
        <p:spPr>
          <a:xfrm flipV="1">
            <a:off x="3453244" y="2467047"/>
            <a:ext cx="2046514" cy="3085106"/>
          </a:xfrm>
          <a:prstGeom prst="straightConnector1">
            <a:avLst/>
          </a:prstGeom>
          <a:ln w="38100">
            <a:solidFill>
              <a:srgbClr val="FF5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B352344C-048E-4BC9-BD01-F51FE6BA8B77}"/>
              </a:ext>
            </a:extLst>
          </p:cNvPr>
          <p:cNvCxnSpPr>
            <a:cxnSpLocks/>
            <a:stCxn id="14" idx="2"/>
            <a:endCxn id="16" idx="0"/>
          </p:cNvCxnSpPr>
          <p:nvPr/>
        </p:nvCxnSpPr>
        <p:spPr>
          <a:xfrm flipH="1">
            <a:off x="1087220" y="3559577"/>
            <a:ext cx="1388288" cy="1992576"/>
          </a:xfrm>
          <a:prstGeom prst="straightConnector1">
            <a:avLst/>
          </a:prstGeom>
          <a:ln w="38100">
            <a:solidFill>
              <a:srgbClr val="00FF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BBA11B7C-8854-4FB8-9DEC-C664443BE768}"/>
              </a:ext>
            </a:extLst>
          </p:cNvPr>
          <p:cNvCxnSpPr>
            <a:cxnSpLocks/>
            <a:endCxn id="16" idx="0"/>
          </p:cNvCxnSpPr>
          <p:nvPr/>
        </p:nvCxnSpPr>
        <p:spPr>
          <a:xfrm flipH="1">
            <a:off x="1087220" y="2467047"/>
            <a:ext cx="2395712" cy="3085106"/>
          </a:xfrm>
          <a:prstGeom prst="straightConnector1">
            <a:avLst/>
          </a:prstGeom>
          <a:ln w="38100">
            <a:solidFill>
              <a:srgbClr val="00FF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BE9C16DF-EAC1-4B93-BDD5-1206879366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7575" y="727514"/>
            <a:ext cx="5146965" cy="656148"/>
          </a:xfrm>
        </p:spPr>
        <p:txBody>
          <a:bodyPr>
            <a:normAutofit/>
          </a:bodyPr>
          <a:lstStyle/>
          <a:p>
            <a:pPr algn="ctr"/>
            <a:r>
              <a:rPr lang="en-US" sz="3100" b="1" dirty="0"/>
              <a:t>Procedural Programming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48271CB5-17B5-4C9D-AD04-3CDE3C541C40}"/>
              </a:ext>
            </a:extLst>
          </p:cNvPr>
          <p:cNvSpPr/>
          <p:nvPr/>
        </p:nvSpPr>
        <p:spPr>
          <a:xfrm>
            <a:off x="563582" y="1582811"/>
            <a:ext cx="1805048" cy="884236"/>
          </a:xfrm>
          <a:prstGeom prst="roundRect">
            <a:avLst/>
          </a:prstGeom>
          <a:noFill/>
          <a:ln w="571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solidFill>
                  <a:srgbClr val="FFFFFF"/>
                </a:solidFill>
              </a:rPr>
              <a:t>Global Variable</a:t>
            </a:r>
          </a:p>
          <a:p>
            <a:pPr algn="ctr"/>
            <a:r>
              <a:rPr lang="en-US" sz="1600" dirty="0">
                <a:solidFill>
                  <a:srgbClr val="FFFFFF"/>
                </a:solidFill>
              </a:rPr>
              <a:t>Pedestrian 1</a:t>
            </a:r>
          </a:p>
          <a:p>
            <a:pPr algn="ctr"/>
            <a:r>
              <a:rPr lang="en-US" sz="1600" dirty="0">
                <a:solidFill>
                  <a:srgbClr val="FFFFFF"/>
                </a:solidFill>
              </a:rPr>
              <a:t> x, y Location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311AD231-67C2-4090-859F-A196D49328A0}"/>
              </a:ext>
            </a:extLst>
          </p:cNvPr>
          <p:cNvSpPr/>
          <p:nvPr/>
        </p:nvSpPr>
        <p:spPr>
          <a:xfrm>
            <a:off x="2580408" y="1582811"/>
            <a:ext cx="1805048" cy="884236"/>
          </a:xfrm>
          <a:prstGeom prst="roundRect">
            <a:avLst/>
          </a:prstGeom>
          <a:noFill/>
          <a:ln w="571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solidFill>
                  <a:srgbClr val="FFFFFF"/>
                </a:solidFill>
              </a:rPr>
              <a:t>Global Variable</a:t>
            </a:r>
          </a:p>
          <a:p>
            <a:pPr algn="ctr"/>
            <a:r>
              <a:rPr lang="en-US" sz="1600" dirty="0">
                <a:solidFill>
                  <a:srgbClr val="FFFFFF"/>
                </a:solidFill>
              </a:rPr>
              <a:t>Pedestrian 2</a:t>
            </a:r>
          </a:p>
          <a:p>
            <a:pPr algn="ctr"/>
            <a:r>
              <a:rPr lang="en-US" sz="1600" dirty="0">
                <a:solidFill>
                  <a:srgbClr val="FFFFFF"/>
                </a:solidFill>
              </a:rPr>
              <a:t> x, y Location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DF536016-8C8C-4655-B6A2-989E2E43A3EF}"/>
              </a:ext>
            </a:extLst>
          </p:cNvPr>
          <p:cNvSpPr/>
          <p:nvPr/>
        </p:nvSpPr>
        <p:spPr>
          <a:xfrm>
            <a:off x="4597234" y="1582811"/>
            <a:ext cx="1805048" cy="884236"/>
          </a:xfrm>
          <a:prstGeom prst="roundRect">
            <a:avLst/>
          </a:prstGeom>
          <a:noFill/>
          <a:ln w="571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solidFill>
                  <a:srgbClr val="FFFFFF"/>
                </a:solidFill>
              </a:rPr>
              <a:t>Global Variable</a:t>
            </a:r>
          </a:p>
          <a:p>
            <a:pPr algn="ctr"/>
            <a:r>
              <a:rPr lang="en-US" sz="1600" dirty="0">
                <a:solidFill>
                  <a:srgbClr val="FFFFFF"/>
                </a:solidFill>
              </a:rPr>
              <a:t>Pedestrian 3</a:t>
            </a:r>
          </a:p>
          <a:p>
            <a:pPr algn="ctr"/>
            <a:r>
              <a:rPr lang="en-US" sz="1600" dirty="0">
                <a:solidFill>
                  <a:srgbClr val="FFFFFF"/>
                </a:solidFill>
              </a:rPr>
              <a:t> x, y Location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A8603B06-48C1-4427-9A2B-82F9DAF8DE2A}"/>
              </a:ext>
            </a:extLst>
          </p:cNvPr>
          <p:cNvSpPr/>
          <p:nvPr/>
        </p:nvSpPr>
        <p:spPr>
          <a:xfrm>
            <a:off x="1572984" y="2675341"/>
            <a:ext cx="1805048" cy="884236"/>
          </a:xfrm>
          <a:prstGeom prst="roundRect">
            <a:avLst/>
          </a:prstGeom>
          <a:noFill/>
          <a:ln w="571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solidFill>
                  <a:srgbClr val="FFFFFF"/>
                </a:solidFill>
              </a:rPr>
              <a:t>Global Variable</a:t>
            </a:r>
          </a:p>
          <a:p>
            <a:pPr algn="ctr"/>
            <a:r>
              <a:rPr lang="en-US" sz="1600" dirty="0">
                <a:solidFill>
                  <a:srgbClr val="FFFFFF"/>
                </a:solidFill>
              </a:rPr>
              <a:t>Traffic Light 1 </a:t>
            </a:r>
          </a:p>
          <a:p>
            <a:pPr algn="ctr"/>
            <a:r>
              <a:rPr lang="en-US" sz="1600" dirty="0">
                <a:solidFill>
                  <a:srgbClr val="FFFFFF"/>
                </a:solidFill>
              </a:rPr>
              <a:t>Color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DF3C60E1-0345-4487-A4D3-A341A6596153}"/>
              </a:ext>
            </a:extLst>
          </p:cNvPr>
          <p:cNvSpPr/>
          <p:nvPr/>
        </p:nvSpPr>
        <p:spPr>
          <a:xfrm>
            <a:off x="3593273" y="2675341"/>
            <a:ext cx="1805048" cy="884236"/>
          </a:xfrm>
          <a:prstGeom prst="roundRect">
            <a:avLst/>
          </a:prstGeom>
          <a:noFill/>
          <a:ln w="571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solidFill>
                  <a:srgbClr val="FFFFFF"/>
                </a:solidFill>
              </a:rPr>
              <a:t>Global Variable</a:t>
            </a:r>
          </a:p>
          <a:p>
            <a:pPr algn="ctr"/>
            <a:r>
              <a:rPr lang="en-US" sz="1600" dirty="0">
                <a:solidFill>
                  <a:srgbClr val="FFFFFF"/>
                </a:solidFill>
              </a:rPr>
              <a:t>Car 1</a:t>
            </a:r>
          </a:p>
          <a:p>
            <a:pPr algn="ctr"/>
            <a:r>
              <a:rPr lang="en-US" sz="1600" dirty="0">
                <a:solidFill>
                  <a:srgbClr val="FFFFFF"/>
                </a:solidFill>
              </a:rPr>
              <a:t>x, y location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A166092B-1B9C-43A4-AD04-F12DF72A56FE}"/>
              </a:ext>
            </a:extLst>
          </p:cNvPr>
          <p:cNvSpPr/>
          <p:nvPr/>
        </p:nvSpPr>
        <p:spPr>
          <a:xfrm>
            <a:off x="184696" y="5552153"/>
            <a:ext cx="1805048" cy="884236"/>
          </a:xfrm>
          <a:prstGeom prst="roundRect">
            <a:avLst/>
          </a:prstGeom>
          <a:noFill/>
          <a:ln w="57150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solidFill>
                  <a:srgbClr val="FFFFFF"/>
                </a:solidFill>
              </a:rPr>
              <a:t>Function</a:t>
            </a:r>
          </a:p>
          <a:p>
            <a:pPr algn="ctr"/>
            <a:r>
              <a:rPr lang="en-US" sz="1600" dirty="0" err="1">
                <a:solidFill>
                  <a:srgbClr val="FFFF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okToCross</a:t>
            </a:r>
            <a:endParaRPr lang="en-US" sz="1600" dirty="0">
              <a:solidFill>
                <a:srgbClr val="FFFFFF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2D9D40AD-0319-4BA0-8601-10F47338F624}"/>
              </a:ext>
            </a:extLst>
          </p:cNvPr>
          <p:cNvSpPr/>
          <p:nvPr/>
        </p:nvSpPr>
        <p:spPr>
          <a:xfrm>
            <a:off x="2309254" y="5552153"/>
            <a:ext cx="2287980" cy="884236"/>
          </a:xfrm>
          <a:prstGeom prst="roundRect">
            <a:avLst/>
          </a:prstGeom>
          <a:noFill/>
          <a:ln w="57150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solidFill>
                  <a:srgbClr val="FFFFFF"/>
                </a:solidFill>
              </a:rPr>
              <a:t>Function</a:t>
            </a:r>
          </a:p>
          <a:p>
            <a:pPr algn="ctr"/>
            <a:r>
              <a:rPr lang="en-US" sz="1600" dirty="0" err="1">
                <a:solidFill>
                  <a:srgbClr val="FFFF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AdvancePosition</a:t>
            </a:r>
            <a:endParaRPr lang="en-US" sz="1600" dirty="0">
              <a:solidFill>
                <a:srgbClr val="FFFFFF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7F472B88-1959-4F32-9595-CC7431CF4877}"/>
              </a:ext>
            </a:extLst>
          </p:cNvPr>
          <p:cNvSpPr/>
          <p:nvPr/>
        </p:nvSpPr>
        <p:spPr>
          <a:xfrm>
            <a:off x="4703437" y="5552153"/>
            <a:ext cx="2249923" cy="884236"/>
          </a:xfrm>
          <a:prstGeom prst="roundRect">
            <a:avLst/>
          </a:prstGeom>
          <a:noFill/>
          <a:ln w="57150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solidFill>
                  <a:srgbClr val="FFFFFF"/>
                </a:solidFill>
              </a:rPr>
              <a:t>Function</a:t>
            </a:r>
          </a:p>
          <a:p>
            <a:pPr algn="ctr"/>
            <a:r>
              <a:rPr lang="en-US" sz="1600" dirty="0" err="1">
                <a:solidFill>
                  <a:srgbClr val="FFFF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isInIntersection</a:t>
            </a:r>
            <a:endParaRPr lang="en-US" sz="1600" dirty="0">
              <a:solidFill>
                <a:srgbClr val="FFFFFF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pic>
        <p:nvPicPr>
          <p:cNvPr id="27" name="Picture 6" descr="Mother with children walk at crosswalk Royalty Free Vector">
            <a:extLst>
              <a:ext uri="{FF2B5EF4-FFF2-40B4-BE49-F238E27FC236}">
                <a16:creationId xmlns:a16="http://schemas.microsoft.com/office/drawing/2014/main" id="{169141F7-340D-4C3B-A84D-F3ADE9D495F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380" r="12418" b="9223"/>
          <a:stretch/>
        </p:blipFill>
        <p:spPr bwMode="auto">
          <a:xfrm>
            <a:off x="7059562" y="593923"/>
            <a:ext cx="5115077" cy="60272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8" name="TextBox 27">
            <a:extLst>
              <a:ext uri="{FF2B5EF4-FFF2-40B4-BE49-F238E27FC236}">
                <a16:creationId xmlns:a16="http://schemas.microsoft.com/office/drawing/2014/main" id="{E6ED3751-3474-4DAE-A378-42459C1C7CD1}"/>
              </a:ext>
            </a:extLst>
          </p:cNvPr>
          <p:cNvSpPr txBox="1"/>
          <p:nvPr/>
        </p:nvSpPr>
        <p:spPr>
          <a:xfrm>
            <a:off x="8653992" y="593923"/>
            <a:ext cx="177170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b="1" dirty="0"/>
              <a:t>Real World</a:t>
            </a:r>
          </a:p>
        </p:txBody>
      </p:sp>
      <p:sp>
        <p:nvSpPr>
          <p:cNvPr id="30" name="Arrow: Down 29">
            <a:extLst>
              <a:ext uri="{FF2B5EF4-FFF2-40B4-BE49-F238E27FC236}">
                <a16:creationId xmlns:a16="http://schemas.microsoft.com/office/drawing/2014/main" id="{1C0B46A9-832E-4D50-A97C-AC9492805ECB}"/>
              </a:ext>
            </a:extLst>
          </p:cNvPr>
          <p:cNvSpPr/>
          <p:nvPr/>
        </p:nvSpPr>
        <p:spPr>
          <a:xfrm rot="3995189">
            <a:off x="7406304" y="263101"/>
            <a:ext cx="423081" cy="2372356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BAD09675-12CF-4398-A2B3-37A9A2E8F9C2}"/>
              </a:ext>
            </a:extLst>
          </p:cNvPr>
          <p:cNvSpPr txBox="1"/>
          <p:nvPr/>
        </p:nvSpPr>
        <p:spPr>
          <a:xfrm>
            <a:off x="6986411" y="783811"/>
            <a:ext cx="86273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b="1" dirty="0"/>
              <a:t>Data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55517AC-8245-40B4-B14B-42C10D65F167}"/>
              </a:ext>
            </a:extLst>
          </p:cNvPr>
          <p:cNvSpPr txBox="1"/>
          <p:nvPr/>
        </p:nvSpPr>
        <p:spPr>
          <a:xfrm>
            <a:off x="489027" y="3824934"/>
            <a:ext cx="7617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00FF00"/>
                </a:solidFill>
              </a:rPr>
              <a:t>input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CE441D5E-9EA4-46A5-95D2-FF33F17F9AED}"/>
              </a:ext>
            </a:extLst>
          </p:cNvPr>
          <p:cNvSpPr txBox="1"/>
          <p:nvPr/>
        </p:nvSpPr>
        <p:spPr>
          <a:xfrm>
            <a:off x="4020962" y="4577501"/>
            <a:ext cx="9268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FF5050"/>
                </a:solidFill>
              </a:rPr>
              <a:t>output</a:t>
            </a:r>
          </a:p>
        </p:txBody>
      </p:sp>
    </p:spTree>
    <p:extLst>
      <p:ext uri="{BB962C8B-B14F-4D97-AF65-F5344CB8AC3E}">
        <p14:creationId xmlns:p14="http://schemas.microsoft.com/office/powerpoint/2010/main" val="53400869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6" descr="Mother with children walk at crosswalk Royalty Free Vector">
            <a:extLst>
              <a:ext uri="{FF2B5EF4-FFF2-40B4-BE49-F238E27FC236}">
                <a16:creationId xmlns:a16="http://schemas.microsoft.com/office/drawing/2014/main" id="{D91996B0-728E-638F-56AE-C4FFC971F30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380" r="12418" b="9223"/>
          <a:stretch/>
        </p:blipFill>
        <p:spPr bwMode="auto">
          <a:xfrm>
            <a:off x="7059562" y="593923"/>
            <a:ext cx="5115077" cy="60272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48271CB5-17B5-4C9D-AD04-3CDE3C541C40}"/>
              </a:ext>
            </a:extLst>
          </p:cNvPr>
          <p:cNvSpPr/>
          <p:nvPr/>
        </p:nvSpPr>
        <p:spPr>
          <a:xfrm>
            <a:off x="482409" y="2728951"/>
            <a:ext cx="2657290" cy="1302443"/>
          </a:xfrm>
          <a:prstGeom prst="roundRect">
            <a:avLst/>
          </a:prstGeom>
          <a:noFill/>
          <a:ln w="571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solidFill>
                  <a:srgbClr val="FFFFFF"/>
                </a:solidFill>
              </a:rPr>
              <a:t>Car Object</a:t>
            </a:r>
          </a:p>
          <a:p>
            <a:pPr algn="ctr"/>
            <a:r>
              <a:rPr lang="en-US" sz="1600" dirty="0">
                <a:solidFill>
                  <a:schemeClr val="accent1"/>
                </a:solidFill>
              </a:rPr>
              <a:t>x, y Location</a:t>
            </a:r>
          </a:p>
          <a:p>
            <a:pPr algn="ctr"/>
            <a:r>
              <a:rPr lang="en-US" sz="1600" dirty="0">
                <a:solidFill>
                  <a:schemeClr val="accent6"/>
                </a:solidFill>
              </a:rPr>
              <a:t>Pedestrian in Intersection</a:t>
            </a:r>
          </a:p>
          <a:p>
            <a:pPr algn="ctr"/>
            <a:r>
              <a:rPr lang="en-US" sz="1600" dirty="0">
                <a:solidFill>
                  <a:schemeClr val="accent6"/>
                </a:solidFill>
              </a:rPr>
              <a:t>Advance Position</a:t>
            </a:r>
          </a:p>
        </p:txBody>
      </p:sp>
      <p:sp>
        <p:nvSpPr>
          <p:cNvPr id="19" name="Title 1">
            <a:extLst>
              <a:ext uri="{FF2B5EF4-FFF2-40B4-BE49-F238E27FC236}">
                <a16:creationId xmlns:a16="http://schemas.microsoft.com/office/drawing/2014/main" id="{C8E359DE-2859-4B17-8BB2-DEDE363D1550}"/>
              </a:ext>
            </a:extLst>
          </p:cNvPr>
          <p:cNvSpPr txBox="1">
            <a:spLocks/>
          </p:cNvSpPr>
          <p:nvPr/>
        </p:nvSpPr>
        <p:spPr>
          <a:xfrm>
            <a:off x="663351" y="727514"/>
            <a:ext cx="5859844" cy="65614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rgbClr val="FFFFFF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3100" b="1" dirty="0"/>
              <a:t>Object</a:t>
            </a:r>
            <a:r>
              <a:rPr lang="en-US" sz="3100" b="1" dirty="0">
                <a:solidFill>
                  <a:schemeClr val="accent2"/>
                </a:solidFill>
              </a:rPr>
              <a:t>-</a:t>
            </a:r>
            <a:r>
              <a:rPr lang="en-US" sz="3100" b="1" dirty="0"/>
              <a:t>Oriented Programming</a:t>
            </a: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DE5E9D34-66DD-42AD-99FA-D0981DA6B10F}"/>
              </a:ext>
            </a:extLst>
          </p:cNvPr>
          <p:cNvSpPr/>
          <p:nvPr/>
        </p:nvSpPr>
        <p:spPr>
          <a:xfrm>
            <a:off x="4031964" y="3222388"/>
            <a:ext cx="2657290" cy="1159268"/>
          </a:xfrm>
          <a:prstGeom prst="roundRect">
            <a:avLst/>
          </a:prstGeom>
          <a:noFill/>
          <a:ln w="571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solidFill>
                  <a:srgbClr val="FFFFFF"/>
                </a:solidFill>
              </a:rPr>
              <a:t>Traffic Light Object</a:t>
            </a:r>
          </a:p>
          <a:p>
            <a:pPr algn="ctr"/>
            <a:r>
              <a:rPr lang="en-US" sz="1600" dirty="0">
                <a:solidFill>
                  <a:schemeClr val="accent1"/>
                </a:solidFill>
              </a:rPr>
              <a:t>Color</a:t>
            </a:r>
          </a:p>
          <a:p>
            <a:pPr algn="ctr"/>
            <a:r>
              <a:rPr lang="en-US" sz="1600" dirty="0">
                <a:solidFill>
                  <a:schemeClr val="accent6"/>
                </a:solidFill>
              </a:rPr>
              <a:t>Change Color</a:t>
            </a: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A9254CE6-5376-45E9-A055-7D290E4E73A6}"/>
              </a:ext>
            </a:extLst>
          </p:cNvPr>
          <p:cNvSpPr/>
          <p:nvPr/>
        </p:nvSpPr>
        <p:spPr>
          <a:xfrm>
            <a:off x="3295320" y="4861547"/>
            <a:ext cx="2657290" cy="1159268"/>
          </a:xfrm>
          <a:prstGeom prst="roundRect">
            <a:avLst/>
          </a:prstGeom>
          <a:noFill/>
          <a:ln w="571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solidFill>
                  <a:srgbClr val="FFFFFF"/>
                </a:solidFill>
              </a:rPr>
              <a:t>Pedestrian Object</a:t>
            </a:r>
          </a:p>
          <a:p>
            <a:pPr algn="ctr"/>
            <a:r>
              <a:rPr lang="en-US" sz="1600" dirty="0">
                <a:solidFill>
                  <a:schemeClr val="accent1"/>
                </a:solidFill>
              </a:rPr>
              <a:t>x, y Location</a:t>
            </a:r>
          </a:p>
          <a:p>
            <a:pPr algn="ctr"/>
            <a:r>
              <a:rPr lang="en-US" sz="1600" dirty="0">
                <a:solidFill>
                  <a:schemeClr val="accent6"/>
                </a:solidFill>
              </a:rPr>
              <a:t>Ok to Cross</a:t>
            </a:r>
          </a:p>
          <a:p>
            <a:pPr algn="ctr"/>
            <a:r>
              <a:rPr lang="en-US" sz="1600" dirty="0">
                <a:solidFill>
                  <a:schemeClr val="accent6"/>
                </a:solidFill>
              </a:rPr>
              <a:t>Advance Position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AF36FE8F-3C6B-4AF9-BAC5-0EEEE08B94E7}"/>
              </a:ext>
            </a:extLst>
          </p:cNvPr>
          <p:cNvSpPr txBox="1"/>
          <p:nvPr/>
        </p:nvSpPr>
        <p:spPr>
          <a:xfrm>
            <a:off x="8653992" y="593923"/>
            <a:ext cx="177170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b="1" dirty="0"/>
              <a:t>Real World</a:t>
            </a:r>
          </a:p>
        </p:txBody>
      </p:sp>
      <p:sp>
        <p:nvSpPr>
          <p:cNvPr id="29" name="Arrow: Down 28">
            <a:extLst>
              <a:ext uri="{FF2B5EF4-FFF2-40B4-BE49-F238E27FC236}">
                <a16:creationId xmlns:a16="http://schemas.microsoft.com/office/drawing/2014/main" id="{27F3CE67-C35B-4958-A00F-146F9AE716B3}"/>
              </a:ext>
            </a:extLst>
          </p:cNvPr>
          <p:cNvSpPr/>
          <p:nvPr/>
        </p:nvSpPr>
        <p:spPr>
          <a:xfrm rot="3371865">
            <a:off x="7549109" y="514339"/>
            <a:ext cx="423081" cy="2295432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07E0B83C-B106-47BF-A47F-1B668E4AABAE}"/>
              </a:ext>
            </a:extLst>
          </p:cNvPr>
          <p:cNvSpPr txBox="1"/>
          <p:nvPr/>
        </p:nvSpPr>
        <p:spPr>
          <a:xfrm>
            <a:off x="7083200" y="1018827"/>
            <a:ext cx="86273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b="1" dirty="0"/>
              <a:t>Data</a:t>
            </a:r>
          </a:p>
        </p:txBody>
      </p:sp>
      <p:sp>
        <p:nvSpPr>
          <p:cNvPr id="6" name="Arrow: Left-Right 5">
            <a:extLst>
              <a:ext uri="{FF2B5EF4-FFF2-40B4-BE49-F238E27FC236}">
                <a16:creationId xmlns:a16="http://schemas.microsoft.com/office/drawing/2014/main" id="{2383E88F-E4FB-4324-8B2F-201FB593CA02}"/>
              </a:ext>
            </a:extLst>
          </p:cNvPr>
          <p:cNvSpPr/>
          <p:nvPr/>
        </p:nvSpPr>
        <p:spPr>
          <a:xfrm>
            <a:off x="3338133" y="3509846"/>
            <a:ext cx="493149" cy="241741"/>
          </a:xfrm>
          <a:prstGeom prst="leftRightArrow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Arrow: Left-Right 33">
            <a:extLst>
              <a:ext uri="{FF2B5EF4-FFF2-40B4-BE49-F238E27FC236}">
                <a16:creationId xmlns:a16="http://schemas.microsoft.com/office/drawing/2014/main" id="{1FDF67FD-5C7A-4273-84A1-88A031A5497D}"/>
              </a:ext>
            </a:extLst>
          </p:cNvPr>
          <p:cNvSpPr/>
          <p:nvPr/>
        </p:nvSpPr>
        <p:spPr>
          <a:xfrm rot="5400000">
            <a:off x="4843384" y="4502924"/>
            <a:ext cx="316073" cy="241717"/>
          </a:xfrm>
          <a:prstGeom prst="leftRightArrow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Arrow: Left-Right 33">
            <a:extLst>
              <a:ext uri="{FF2B5EF4-FFF2-40B4-BE49-F238E27FC236}">
                <a16:creationId xmlns:a16="http://schemas.microsoft.com/office/drawing/2014/main" id="{C309A414-3185-A63A-EF75-39BC5E03BEF4}"/>
              </a:ext>
            </a:extLst>
          </p:cNvPr>
          <p:cNvSpPr/>
          <p:nvPr/>
        </p:nvSpPr>
        <p:spPr>
          <a:xfrm rot="2548584">
            <a:off x="2630188" y="4338213"/>
            <a:ext cx="790198" cy="290045"/>
          </a:xfrm>
          <a:prstGeom prst="leftRightArrow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FBD5CF0-D62C-3611-86F9-E96154E1CBC1}"/>
              </a:ext>
            </a:extLst>
          </p:cNvPr>
          <p:cNvSpPr txBox="1"/>
          <p:nvPr/>
        </p:nvSpPr>
        <p:spPr>
          <a:xfrm>
            <a:off x="675273" y="1447740"/>
            <a:ext cx="5127873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>
                <a:solidFill>
                  <a:srgbClr val="FFFFFF"/>
                </a:solidFill>
              </a:rPr>
              <a:t>Object-oriented programming bundle the pedestrian’s </a:t>
            </a:r>
            <a:r>
              <a:rPr lang="en-US" b="1" dirty="0">
                <a:solidFill>
                  <a:schemeClr val="accent3"/>
                </a:solidFill>
              </a:rPr>
              <a:t>Data</a:t>
            </a:r>
            <a:r>
              <a:rPr lang="en-US" b="1" dirty="0"/>
              <a:t> </a:t>
            </a:r>
            <a:r>
              <a:rPr lang="en-US" b="1" dirty="0">
                <a:solidFill>
                  <a:srgbClr val="FFFFFF"/>
                </a:solidFill>
              </a:rPr>
              <a:t>together with these </a:t>
            </a:r>
            <a:r>
              <a:rPr lang="en-US" b="1" dirty="0">
                <a:solidFill>
                  <a:schemeClr val="accent6"/>
                </a:solidFill>
              </a:rPr>
              <a:t>Functions</a:t>
            </a:r>
            <a:r>
              <a:rPr lang="en-US" b="1" dirty="0"/>
              <a:t> </a:t>
            </a:r>
            <a:r>
              <a:rPr lang="en-US" b="1" dirty="0">
                <a:solidFill>
                  <a:srgbClr val="FFFFFF"/>
                </a:solidFill>
              </a:rPr>
              <a:t>into a single object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9718A7F-D026-D2E7-7BC5-53BCE0C54DE1}"/>
              </a:ext>
            </a:extLst>
          </p:cNvPr>
          <p:cNvSpPr txBox="1"/>
          <p:nvPr/>
        </p:nvSpPr>
        <p:spPr>
          <a:xfrm>
            <a:off x="190291" y="4890363"/>
            <a:ext cx="6097836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>
                <a:solidFill>
                  <a:srgbClr val="FFFFFF"/>
                </a:solidFill>
                <a:effectLst/>
                <a:latin typeface="Helvetica Neue" panose="02000503000000020004" pitchFamily="2" charset="0"/>
              </a:rPr>
              <a:t>Object: Pedestrian</a:t>
            </a:r>
            <a:endParaRPr lang="en-US" dirty="0">
              <a:solidFill>
                <a:srgbClr val="FFFFFF"/>
              </a:solidFill>
              <a:effectLst/>
              <a:latin typeface="Helvetica Neue" panose="02000503000000020004" pitchFamily="2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accent3"/>
                </a:solidFill>
              </a:rPr>
              <a:t> Data</a:t>
            </a:r>
            <a:r>
              <a:rPr lang="en-US" dirty="0">
                <a:solidFill>
                  <a:schemeClr val="accent2"/>
                </a:solidFill>
                <a:effectLst/>
                <a:latin typeface="Helvetica Neue" panose="02000503000000020004" pitchFamily="2" charset="0"/>
              </a:rPr>
              <a:t>: position, status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FFC000"/>
                </a:solidFill>
                <a:effectLst/>
                <a:latin typeface="Helvetica Neue" panose="02000503000000020004" pitchFamily="2" charset="0"/>
              </a:rPr>
              <a:t>Methods: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 err="1">
                <a:solidFill>
                  <a:srgbClr val="FFC000"/>
                </a:solidFill>
                <a:effectLst/>
                <a:latin typeface="Helvetica Neue" panose="02000503000000020004" pitchFamily="2" charset="0"/>
              </a:rPr>
              <a:t>okToCross</a:t>
            </a:r>
            <a:r>
              <a:rPr lang="en-US" dirty="0">
                <a:solidFill>
                  <a:srgbClr val="FFC000"/>
                </a:solidFill>
                <a:effectLst/>
                <a:latin typeface="Helvetica Neue" panose="02000503000000020004" pitchFamily="2" charset="0"/>
              </a:rPr>
              <a:t>()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 err="1">
                <a:solidFill>
                  <a:srgbClr val="FFC000"/>
                </a:solidFill>
                <a:effectLst/>
                <a:latin typeface="Helvetica Neue" panose="02000503000000020004" pitchFamily="2" charset="0"/>
              </a:rPr>
              <a:t>advancePosition</a:t>
            </a:r>
            <a:r>
              <a:rPr lang="en-US" dirty="0">
                <a:solidFill>
                  <a:srgbClr val="FFC000"/>
                </a:solidFill>
                <a:effectLst/>
                <a:latin typeface="Helvetica Neue" panose="02000503000000020004" pitchFamily="2" charset="0"/>
              </a:rPr>
              <a:t>()</a:t>
            </a:r>
          </a:p>
        </p:txBody>
      </p:sp>
    </p:spTree>
    <p:extLst>
      <p:ext uri="{BB962C8B-B14F-4D97-AF65-F5344CB8AC3E}">
        <p14:creationId xmlns:p14="http://schemas.microsoft.com/office/powerpoint/2010/main" val="266836880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B26662-8226-4558-9E14-0F2DC74919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Object</a:t>
            </a:r>
            <a:r>
              <a:rPr lang="en-US" b="1" dirty="0">
                <a:solidFill>
                  <a:schemeClr val="accent2"/>
                </a:solidFill>
              </a:rPr>
              <a:t>-</a:t>
            </a:r>
            <a:r>
              <a:rPr lang="en-US" b="1" dirty="0"/>
              <a:t>Oriented Programming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569A56-A721-4A35-B0F5-BABF32CBFC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216487" cy="4835479"/>
          </a:xfrm>
        </p:spPr>
        <p:txBody>
          <a:bodyPr>
            <a:normAutofit/>
          </a:bodyPr>
          <a:lstStyle/>
          <a:p>
            <a:r>
              <a:rPr lang="en-US" dirty="0"/>
              <a:t>Often</a:t>
            </a:r>
            <a:r>
              <a:rPr lang="en-US" dirty="0">
                <a:solidFill>
                  <a:schemeClr val="accent1"/>
                </a:solidFill>
              </a:rPr>
              <a:t>,</a:t>
            </a:r>
            <a:r>
              <a:rPr lang="en-US" dirty="0"/>
              <a:t> an object definition corresponds to some object or concept in the real world</a:t>
            </a:r>
            <a:r>
              <a:rPr lang="en-US" dirty="0">
                <a:solidFill>
                  <a:schemeClr val="accent2"/>
                </a:solidFill>
              </a:rPr>
              <a:t>.</a:t>
            </a:r>
          </a:p>
          <a:p>
            <a:r>
              <a:rPr lang="en-US" dirty="0"/>
              <a:t>The functions that operate on that object correspond to the ways real</a:t>
            </a:r>
            <a:r>
              <a:rPr lang="en-US" dirty="0">
                <a:solidFill>
                  <a:schemeClr val="accent2"/>
                </a:solidFill>
              </a:rPr>
              <a:t>-­</a:t>
            </a:r>
            <a:r>
              <a:rPr lang="en-US" dirty="0"/>
              <a:t>world objects interact</a:t>
            </a:r>
            <a:r>
              <a:rPr lang="en-US" dirty="0">
                <a:solidFill>
                  <a:schemeClr val="accent2"/>
                </a:solidFill>
              </a:rPr>
              <a:t>.</a:t>
            </a:r>
          </a:p>
          <a:p>
            <a:endParaRPr lang="en-US" sz="2400" dirty="0"/>
          </a:p>
          <a:p>
            <a:r>
              <a:rPr lang="en-US" sz="2400" dirty="0"/>
              <a:t>Models </a:t>
            </a:r>
            <a:r>
              <a:rPr lang="en-CA" sz="2400" dirty="0"/>
              <a:t>our real-life thinking </a:t>
            </a:r>
          </a:p>
          <a:p>
            <a:pPr lvl="1"/>
            <a:r>
              <a:rPr lang="en-CA" dirty="0"/>
              <a:t>Sandwich – </a:t>
            </a:r>
            <a:r>
              <a:rPr lang="en-CA" dirty="0">
                <a:solidFill>
                  <a:srgbClr val="00B0F0"/>
                </a:solidFill>
              </a:rPr>
              <a:t>ingredients,  freshness, </a:t>
            </a:r>
            <a:r>
              <a:rPr lang="en-CA" dirty="0"/>
              <a:t>etc. </a:t>
            </a:r>
          </a:p>
          <a:p>
            <a:pPr lvl="1"/>
            <a:r>
              <a:rPr lang="en-CA" dirty="0"/>
              <a:t>Car – </a:t>
            </a:r>
            <a:r>
              <a:rPr lang="en-CA" dirty="0">
                <a:solidFill>
                  <a:srgbClr val="00B0F0"/>
                </a:solidFill>
              </a:rPr>
              <a:t>model, year, fuel level, </a:t>
            </a:r>
            <a:r>
              <a:rPr lang="en-CA" dirty="0">
                <a:solidFill>
                  <a:schemeClr val="accent6"/>
                </a:solidFill>
              </a:rPr>
              <a:t>forward, reverse </a:t>
            </a:r>
            <a:r>
              <a:rPr lang="en-CA" dirty="0"/>
              <a:t>etc. </a:t>
            </a:r>
          </a:p>
          <a:p>
            <a:pPr lvl="1"/>
            <a:r>
              <a:rPr lang="en-CA" dirty="0"/>
              <a:t>Cat – </a:t>
            </a:r>
            <a:r>
              <a:rPr lang="en-CA" dirty="0">
                <a:solidFill>
                  <a:srgbClr val="00B0F0"/>
                </a:solidFill>
              </a:rPr>
              <a:t>weight, name, colour, </a:t>
            </a:r>
            <a:r>
              <a:rPr lang="en-CA" dirty="0">
                <a:solidFill>
                  <a:schemeClr val="accent6"/>
                </a:solidFill>
              </a:rPr>
              <a:t>scratch, meow, sleep,</a:t>
            </a:r>
            <a:r>
              <a:rPr lang="en-CA" dirty="0"/>
              <a:t> etc.</a:t>
            </a:r>
          </a:p>
          <a:p>
            <a:pPr lvl="1"/>
            <a:r>
              <a:rPr lang="en-US" dirty="0"/>
              <a:t>Turtle Object – </a:t>
            </a:r>
            <a:r>
              <a:rPr lang="en-US" dirty="0" err="1">
                <a:solidFill>
                  <a:srgbClr val="00B0F0"/>
                </a:solidFill>
              </a:rPr>
              <a:t>x_position</a:t>
            </a:r>
            <a:r>
              <a:rPr lang="en-US" dirty="0">
                <a:solidFill>
                  <a:srgbClr val="00B0F0"/>
                </a:solidFill>
              </a:rPr>
              <a:t>, </a:t>
            </a:r>
            <a:r>
              <a:rPr lang="en-US" dirty="0" err="1">
                <a:solidFill>
                  <a:srgbClr val="00B0F0"/>
                </a:solidFill>
              </a:rPr>
              <a:t>y_position</a:t>
            </a:r>
            <a:r>
              <a:rPr lang="en-US" dirty="0">
                <a:solidFill>
                  <a:srgbClr val="00B0F0"/>
                </a:solidFill>
              </a:rPr>
              <a:t>,</a:t>
            </a:r>
            <a:r>
              <a:rPr lang="en-US" dirty="0"/>
              <a:t> </a:t>
            </a:r>
            <a:r>
              <a:rPr lang="en-US" dirty="0">
                <a:solidFill>
                  <a:schemeClr val="accent6"/>
                </a:solidFill>
              </a:rPr>
              <a:t>forward, up, left</a:t>
            </a:r>
            <a:r>
              <a:rPr lang="en-US" dirty="0"/>
              <a:t>, etc.</a:t>
            </a:r>
            <a:endParaRPr lang="en-US" dirty="0">
              <a:solidFill>
                <a:schemeClr val="accent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857841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3C12C87E-58E9-4624-8985-A62E8C7BA528}"/>
              </a:ext>
            </a:extLst>
          </p:cNvPr>
          <p:cNvSpPr txBox="1"/>
          <p:nvPr/>
        </p:nvSpPr>
        <p:spPr>
          <a:xfrm>
            <a:off x="7313657" y="2250572"/>
            <a:ext cx="292099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rgbClr val="FFFFFF"/>
                </a:solidFill>
              </a:rPr>
              <a:t>Object</a:t>
            </a:r>
            <a:r>
              <a:rPr lang="en-US" sz="2800" b="1" dirty="0">
                <a:solidFill>
                  <a:schemeClr val="accent1"/>
                </a:solidFill>
              </a:rPr>
              <a:t>-</a:t>
            </a:r>
            <a:r>
              <a:rPr lang="en-US" sz="2800" b="1" dirty="0">
                <a:solidFill>
                  <a:srgbClr val="FFFFFF"/>
                </a:solidFill>
              </a:rPr>
              <a:t>Oriented</a:t>
            </a:r>
            <a:endParaRPr lang="en-US" sz="2800" b="1" dirty="0">
              <a:solidFill>
                <a:schemeClr val="accent6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DC52E65-141C-4542-8B87-484193F9CEB5}"/>
              </a:ext>
            </a:extLst>
          </p:cNvPr>
          <p:cNvSpPr txBox="1"/>
          <p:nvPr/>
        </p:nvSpPr>
        <p:spPr>
          <a:xfrm>
            <a:off x="343817" y="3041097"/>
            <a:ext cx="6044104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err="1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alex_x</a:t>
            </a:r>
            <a:r>
              <a:rPr lang="en-US" sz="24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0</a:t>
            </a:r>
          </a:p>
          <a:p>
            <a:r>
              <a:rPr lang="en-US" sz="2400" b="1" dirty="0" err="1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alex_y</a:t>
            </a:r>
            <a:r>
              <a:rPr lang="en-US" sz="24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0</a:t>
            </a:r>
          </a:p>
          <a:p>
            <a:endParaRPr lang="en-US" sz="2400" b="1" dirty="0">
              <a:solidFill>
                <a:srgbClr val="00FF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400" b="1" dirty="0" err="1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alex_y</a:t>
            </a:r>
            <a:r>
              <a:rPr lang="en-US" sz="24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sz="2400" b="1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up(</a:t>
            </a:r>
            <a:r>
              <a:rPr lang="en-US" sz="2400" b="1" dirty="0" err="1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alex_y</a:t>
            </a:r>
            <a:r>
              <a:rPr lang="en-US" sz="2400" b="1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r>
              <a:rPr lang="en-US" sz="2400" b="1" dirty="0" err="1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alex_x</a:t>
            </a:r>
            <a:r>
              <a:rPr lang="en-US" sz="24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sz="2400" b="1" dirty="0" err="1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alex_y</a:t>
            </a:r>
            <a:r>
              <a:rPr lang="en-US" sz="24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sz="2400" b="1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goto(</a:t>
            </a:r>
            <a:r>
              <a:rPr lang="en-US" sz="24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-150, 100</a:t>
            </a:r>
            <a:r>
              <a:rPr lang="en-US" sz="2400" b="1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r>
              <a:rPr lang="en-US" sz="2400" b="1" dirty="0" err="1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alex_x</a:t>
            </a:r>
            <a:r>
              <a:rPr lang="en-US" sz="24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sz="2400" b="1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right(</a:t>
            </a:r>
            <a:r>
              <a:rPr lang="en-US" sz="2400" b="1" dirty="0" err="1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alex_x</a:t>
            </a:r>
            <a:r>
              <a:rPr lang="en-US" sz="2400" b="1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endParaRPr lang="en-US" sz="2400" b="1" dirty="0">
              <a:solidFill>
                <a:schemeClr val="accent6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4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print(</a:t>
            </a:r>
            <a:r>
              <a:rPr lang="en-US" sz="2400" b="1" dirty="0" err="1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alex_x</a:t>
            </a:r>
            <a:r>
              <a:rPr lang="en-US" sz="24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b="1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400" b="1" dirty="0" err="1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alex_y</a:t>
            </a:r>
            <a:r>
              <a:rPr lang="en-US" sz="24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EB26662-8226-4558-9E14-0F2DC74919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Object</a:t>
            </a:r>
            <a:r>
              <a:rPr lang="en-US" b="1" dirty="0">
                <a:solidFill>
                  <a:schemeClr val="accent2"/>
                </a:solidFill>
              </a:rPr>
              <a:t>-</a:t>
            </a:r>
            <a:r>
              <a:rPr lang="en-US" b="1" dirty="0"/>
              <a:t>Oriented Programming</a:t>
            </a:r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AEA1C7D-266C-4AA9-9895-3D314D41A9B1}"/>
              </a:ext>
            </a:extLst>
          </p:cNvPr>
          <p:cNvSpPr txBox="1"/>
          <p:nvPr/>
        </p:nvSpPr>
        <p:spPr>
          <a:xfrm>
            <a:off x="7313657" y="3046544"/>
            <a:ext cx="4055919" cy="30469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alex = Turtle(</a:t>
            </a:r>
            <a:r>
              <a:rPr lang="en-US" sz="2400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</a:t>
            </a:r>
            <a:r>
              <a:rPr lang="en-US" sz="24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sz="2400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</a:t>
            </a:r>
            <a:r>
              <a:rPr lang="en-US" sz="24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endParaRPr lang="en-US" sz="2400" b="1" dirty="0">
              <a:solidFill>
                <a:srgbClr val="00FF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sz="2400" b="1" dirty="0">
              <a:solidFill>
                <a:srgbClr val="00FF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400" b="1" dirty="0" err="1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alex.</a:t>
            </a:r>
            <a:r>
              <a:rPr lang="en-US" sz="2400" b="1" dirty="0" err="1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up</a:t>
            </a:r>
            <a:r>
              <a:rPr lang="en-US" sz="2400" b="1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           </a:t>
            </a:r>
          </a:p>
          <a:p>
            <a:r>
              <a:rPr lang="en-US" sz="24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alex.</a:t>
            </a:r>
            <a:r>
              <a:rPr lang="en-US" sz="2400" b="1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goto(</a:t>
            </a:r>
            <a:r>
              <a:rPr lang="en-US" sz="24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-150, 100</a:t>
            </a:r>
            <a:r>
              <a:rPr lang="en-US" sz="2400" b="1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r>
              <a:rPr lang="en-US" sz="24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alex.</a:t>
            </a:r>
            <a:r>
              <a:rPr lang="en-US" sz="2400" b="1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right()</a:t>
            </a:r>
          </a:p>
          <a:p>
            <a:endParaRPr lang="en-US" sz="2400" b="1" dirty="0">
              <a:solidFill>
                <a:schemeClr val="accent6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4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print(alex.</a:t>
            </a:r>
            <a:r>
              <a:rPr lang="en-US" sz="2400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x</a:t>
            </a:r>
            <a:r>
              <a:rPr lang="en-US" sz="24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b="1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4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alex.</a:t>
            </a:r>
            <a:r>
              <a:rPr lang="en-US" sz="2400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y</a:t>
            </a:r>
            <a:r>
              <a:rPr lang="en-US" sz="24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CBA170A-0181-48B6-BBA3-18BA8D6E820E}"/>
              </a:ext>
            </a:extLst>
          </p:cNvPr>
          <p:cNvSpPr txBox="1"/>
          <p:nvPr/>
        </p:nvSpPr>
        <p:spPr>
          <a:xfrm>
            <a:off x="343817" y="2250572"/>
            <a:ext cx="201388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rgbClr val="FFFFFF"/>
                </a:solidFill>
              </a:rPr>
              <a:t>Procedural</a:t>
            </a:r>
            <a:endParaRPr lang="en-US" sz="2800" b="1" dirty="0">
              <a:solidFill>
                <a:schemeClr val="accent6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EA034C4-4D22-4BD1-BCEB-FDF7F0DB3216}"/>
              </a:ext>
            </a:extLst>
          </p:cNvPr>
          <p:cNvSpPr txBox="1"/>
          <p:nvPr/>
        </p:nvSpPr>
        <p:spPr>
          <a:xfrm>
            <a:off x="9288380" y="822163"/>
            <a:ext cx="242140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3600" b="1" dirty="0">
                <a:solidFill>
                  <a:schemeClr val="accent2"/>
                </a:solidFill>
              </a:rPr>
              <a:t>Data</a:t>
            </a:r>
          </a:p>
          <a:p>
            <a:pPr algn="r"/>
            <a:r>
              <a:rPr lang="en-US" sz="3600" b="1" dirty="0">
                <a:solidFill>
                  <a:schemeClr val="accent6"/>
                </a:solidFill>
              </a:rPr>
              <a:t>Functions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541E211-BE94-4FBB-8180-A5E4F1ACEE48}"/>
              </a:ext>
            </a:extLst>
          </p:cNvPr>
          <p:cNvSpPr txBox="1"/>
          <p:nvPr/>
        </p:nvSpPr>
        <p:spPr>
          <a:xfrm>
            <a:off x="2888775" y="1619630"/>
            <a:ext cx="3355406" cy="23083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def </a:t>
            </a:r>
            <a:r>
              <a:rPr lang="en-US" b="1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up(</a:t>
            </a:r>
            <a:r>
              <a:rPr lang="en-US" b="1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y</a:t>
            </a:r>
            <a:r>
              <a:rPr lang="en-US" b="1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):</a:t>
            </a:r>
          </a:p>
          <a:p>
            <a:r>
              <a:rPr lang="en-US" b="1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return</a:t>
            </a:r>
            <a:r>
              <a:rPr lang="en-US" b="1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b="1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y</a:t>
            </a:r>
            <a:r>
              <a:rPr lang="en-US" b="1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+ 1</a:t>
            </a:r>
          </a:p>
          <a:p>
            <a:endParaRPr lang="en-US" b="1" dirty="0">
              <a:solidFill>
                <a:schemeClr val="accent6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def </a:t>
            </a:r>
            <a:r>
              <a:rPr lang="en-US" b="1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goto(</a:t>
            </a:r>
            <a:r>
              <a:rPr lang="en-US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x_new</a:t>
            </a:r>
            <a:r>
              <a:rPr lang="en-US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b="1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y_new</a:t>
            </a:r>
            <a:r>
              <a:rPr lang="en-US" b="1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):</a:t>
            </a:r>
          </a:p>
          <a:p>
            <a:r>
              <a:rPr lang="en-US" b="1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return</a:t>
            </a:r>
            <a:r>
              <a:rPr lang="en-US" b="1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x_new</a:t>
            </a:r>
            <a:r>
              <a:rPr lang="en-US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b="1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y_new</a:t>
            </a:r>
          </a:p>
          <a:p>
            <a:endParaRPr lang="en-US" b="1" dirty="0">
              <a:solidFill>
                <a:schemeClr val="accent6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def </a:t>
            </a:r>
            <a:r>
              <a:rPr lang="en-US" b="1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right(</a:t>
            </a:r>
            <a:r>
              <a:rPr lang="en-US" b="1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x</a:t>
            </a:r>
            <a:r>
              <a:rPr lang="en-US" b="1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):</a:t>
            </a:r>
          </a:p>
          <a:p>
            <a:r>
              <a:rPr lang="en-US" b="1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return</a:t>
            </a:r>
            <a:r>
              <a:rPr lang="en-US" b="1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b="1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x</a:t>
            </a:r>
            <a:r>
              <a:rPr lang="en-US" b="1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+ 1</a:t>
            </a:r>
          </a:p>
        </p:txBody>
      </p:sp>
    </p:spTree>
    <p:extLst>
      <p:ext uri="{BB962C8B-B14F-4D97-AF65-F5344CB8AC3E}">
        <p14:creationId xmlns:p14="http://schemas.microsoft.com/office/powerpoint/2010/main" val="18313447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6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F87CC1-D7F1-42A0-8819-3480C348AD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Objects in Python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956654-C654-4B34-A855-B185C5D635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3897573" cy="4835479"/>
          </a:xfrm>
        </p:spPr>
        <p:txBody>
          <a:bodyPr>
            <a:normAutofit/>
          </a:bodyPr>
          <a:lstStyle/>
          <a:p>
            <a:r>
              <a:rPr lang="en-US" sz="3200" b="1" dirty="0">
                <a:solidFill>
                  <a:schemeClr val="accent6"/>
                </a:solidFill>
              </a:rPr>
              <a:t>Everything in Python is an object</a:t>
            </a:r>
            <a:r>
              <a:rPr lang="en-US" sz="3200" b="1" dirty="0">
                <a:solidFill>
                  <a:schemeClr val="accent2"/>
                </a:solidFill>
              </a:rPr>
              <a:t>.</a:t>
            </a:r>
            <a:r>
              <a:rPr lang="en-US" sz="3200" b="1" dirty="0"/>
              <a:t> </a:t>
            </a:r>
          </a:p>
          <a:p>
            <a:r>
              <a:rPr lang="en-US" sz="3200" dirty="0"/>
              <a:t>Every value</a:t>
            </a:r>
            <a:r>
              <a:rPr lang="en-US" sz="3200" dirty="0">
                <a:solidFill>
                  <a:schemeClr val="accent1"/>
                </a:solidFill>
              </a:rPr>
              <a:t>,</a:t>
            </a:r>
            <a:r>
              <a:rPr lang="en-US" sz="3200" dirty="0"/>
              <a:t> variable</a:t>
            </a:r>
            <a:r>
              <a:rPr lang="en-US" sz="3200" dirty="0">
                <a:solidFill>
                  <a:schemeClr val="accent1"/>
                </a:solidFill>
              </a:rPr>
              <a:t>,</a:t>
            </a:r>
            <a:r>
              <a:rPr lang="en-US" sz="3200" dirty="0"/>
              <a:t> function</a:t>
            </a:r>
            <a:r>
              <a:rPr lang="en-US" sz="3200" dirty="0">
                <a:solidFill>
                  <a:schemeClr val="accent1"/>
                </a:solidFill>
              </a:rPr>
              <a:t>,</a:t>
            </a:r>
            <a:r>
              <a:rPr lang="en-US" sz="3200" dirty="0"/>
              <a:t> etc</a:t>
            </a:r>
            <a:r>
              <a:rPr lang="en-US" sz="3200" dirty="0">
                <a:solidFill>
                  <a:schemeClr val="accent6"/>
                </a:solidFill>
              </a:rPr>
              <a:t>.</a:t>
            </a:r>
            <a:r>
              <a:rPr lang="en-US" sz="3200" dirty="0">
                <a:solidFill>
                  <a:schemeClr val="accent1"/>
                </a:solidFill>
              </a:rPr>
              <a:t>,</a:t>
            </a:r>
            <a:r>
              <a:rPr lang="en-US" sz="3200" dirty="0"/>
              <a:t> is an object</a:t>
            </a:r>
            <a:r>
              <a:rPr lang="en-US" sz="3200" dirty="0">
                <a:solidFill>
                  <a:schemeClr val="accent1"/>
                </a:solidFill>
              </a:rPr>
              <a:t>.</a:t>
            </a:r>
            <a:r>
              <a:rPr lang="en-US" sz="3200" dirty="0"/>
              <a:t> </a:t>
            </a:r>
          </a:p>
          <a:p>
            <a:r>
              <a:rPr lang="en-US" sz="3200" dirty="0"/>
              <a:t>Every time we create a variable we are making a new object</a:t>
            </a:r>
            <a:r>
              <a:rPr lang="en-US" sz="3200" dirty="0">
                <a:solidFill>
                  <a:schemeClr val="accent1"/>
                </a:solidFill>
              </a:rPr>
              <a:t>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EBCA561-1B0A-403D-89AC-AAC2B8685927}"/>
              </a:ext>
            </a:extLst>
          </p:cNvPr>
          <p:cNvSpPr txBox="1"/>
          <p:nvPr/>
        </p:nvSpPr>
        <p:spPr>
          <a:xfrm>
            <a:off x="4735773" y="1825624"/>
            <a:ext cx="7419837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b="1" dirty="0">
                <a:solidFill>
                  <a:srgbClr val="E00BE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&gt;&gt;&gt;</a:t>
            </a:r>
            <a:r>
              <a:rPr lang="en-US" sz="30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isinstance(</a:t>
            </a:r>
            <a:r>
              <a:rPr lang="en-US" sz="3000" b="1" dirty="0">
                <a:solidFill>
                  <a:srgbClr val="E00BE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4</a:t>
            </a:r>
            <a:r>
              <a:rPr lang="en-US" sz="30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 object)</a:t>
            </a:r>
          </a:p>
          <a:p>
            <a:r>
              <a:rPr lang="en-US" sz="30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True</a:t>
            </a:r>
          </a:p>
          <a:p>
            <a:endParaRPr lang="en-US" sz="3000" b="1" dirty="0">
              <a:solidFill>
                <a:srgbClr val="00FF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3000" b="1" dirty="0">
                <a:solidFill>
                  <a:srgbClr val="E00BE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&gt;&gt;&gt;</a:t>
            </a:r>
            <a:r>
              <a:rPr lang="en-US" sz="30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isinstance(</a:t>
            </a:r>
            <a:r>
              <a:rPr lang="en-US" sz="3000" b="1" dirty="0">
                <a:solidFill>
                  <a:srgbClr val="E00BE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max</a:t>
            </a:r>
            <a:r>
              <a:rPr lang="en-US" sz="30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 object)</a:t>
            </a:r>
          </a:p>
          <a:p>
            <a:r>
              <a:rPr lang="en-US" sz="30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True</a:t>
            </a:r>
          </a:p>
          <a:p>
            <a:endParaRPr lang="en-US" sz="3000" b="1" dirty="0">
              <a:solidFill>
                <a:srgbClr val="00FF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3000" b="1" dirty="0">
                <a:solidFill>
                  <a:srgbClr val="E00BE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&gt;&gt;&gt;</a:t>
            </a:r>
            <a:r>
              <a:rPr lang="en-US" sz="30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isinstance(</a:t>
            </a:r>
            <a:r>
              <a:rPr lang="en-US" sz="3000" b="1" dirty="0">
                <a:solidFill>
                  <a:srgbClr val="E00BE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“Hello”</a:t>
            </a:r>
            <a:r>
              <a:rPr lang="en-US" sz="30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 object)</a:t>
            </a:r>
          </a:p>
          <a:p>
            <a:r>
              <a:rPr lang="en-US" sz="30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True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D9B533A-8E7A-405F-A8D6-FC467895066E}"/>
              </a:ext>
            </a:extLst>
          </p:cNvPr>
          <p:cNvSpPr txBox="1"/>
          <p:nvPr/>
        </p:nvSpPr>
        <p:spPr>
          <a:xfrm>
            <a:off x="7560583" y="472833"/>
            <a:ext cx="3872150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>
                <a:solidFill>
                  <a:srgbClr val="FFFFFF"/>
                </a:solidFill>
              </a:rPr>
              <a:t>Is </a:t>
            </a:r>
            <a:r>
              <a:rPr lang="en-US" sz="3200" b="1" dirty="0">
                <a:solidFill>
                  <a:schemeClr val="accent2"/>
                </a:solidFill>
              </a:rPr>
              <a:t>this</a:t>
            </a:r>
            <a:r>
              <a:rPr lang="en-US" sz="3200" dirty="0">
                <a:solidFill>
                  <a:srgbClr val="FFFFFF"/>
                </a:solidFill>
              </a:rPr>
              <a:t> an instance </a:t>
            </a:r>
          </a:p>
          <a:p>
            <a:r>
              <a:rPr lang="en-US" sz="3200" dirty="0">
                <a:solidFill>
                  <a:srgbClr val="FFFFFF"/>
                </a:solidFill>
              </a:rPr>
              <a:t>             of </a:t>
            </a:r>
            <a:r>
              <a:rPr lang="en-US" sz="3200" b="1" dirty="0">
                <a:solidFill>
                  <a:schemeClr val="accent6"/>
                </a:solidFill>
              </a:rPr>
              <a:t>this </a:t>
            </a:r>
            <a:r>
              <a:rPr lang="en-US" sz="3200" dirty="0">
                <a:solidFill>
                  <a:srgbClr val="FFFFFF"/>
                </a:solidFill>
              </a:rPr>
              <a:t>class</a:t>
            </a:r>
            <a:r>
              <a:rPr lang="en-US" sz="3200" dirty="0">
                <a:solidFill>
                  <a:schemeClr val="accent2"/>
                </a:solidFill>
              </a:rPr>
              <a:t>.</a:t>
            </a:r>
          </a:p>
        </p:txBody>
      </p:sp>
      <p:sp>
        <p:nvSpPr>
          <p:cNvPr id="6" name="Arrow: Down 5">
            <a:extLst>
              <a:ext uri="{FF2B5EF4-FFF2-40B4-BE49-F238E27FC236}">
                <a16:creationId xmlns:a16="http://schemas.microsoft.com/office/drawing/2014/main" id="{356B3C0E-ED5D-4BCE-9F74-0D095CADE14D}"/>
              </a:ext>
            </a:extLst>
          </p:cNvPr>
          <p:cNvSpPr/>
          <p:nvPr/>
        </p:nvSpPr>
        <p:spPr>
          <a:xfrm>
            <a:off x="8216528" y="1050878"/>
            <a:ext cx="354842" cy="877928"/>
          </a:xfrm>
          <a:prstGeom prst="downArrow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Arrow: Down 6">
            <a:extLst>
              <a:ext uri="{FF2B5EF4-FFF2-40B4-BE49-F238E27FC236}">
                <a16:creationId xmlns:a16="http://schemas.microsoft.com/office/drawing/2014/main" id="{E1DB3C0D-9EB1-4FBE-A0A0-BE78B218E2E6}"/>
              </a:ext>
            </a:extLst>
          </p:cNvPr>
          <p:cNvSpPr/>
          <p:nvPr/>
        </p:nvSpPr>
        <p:spPr>
          <a:xfrm>
            <a:off x="9761180" y="1548199"/>
            <a:ext cx="354842" cy="380608"/>
          </a:xfrm>
          <a:prstGeom prst="downArrow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028011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68CAC0-75B6-4840-A8D8-E290AD6D01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Classes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B72230-213B-4739-9CB7-F95D1CD184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4853152" cy="4835479"/>
          </a:xfrm>
        </p:spPr>
        <p:txBody>
          <a:bodyPr>
            <a:normAutofit fontScale="92500" lnSpcReduction="20000"/>
          </a:bodyPr>
          <a:lstStyle/>
          <a:p>
            <a:r>
              <a:rPr lang="en-US" sz="3200" dirty="0"/>
              <a:t>A template or blueprint for object types</a:t>
            </a:r>
          </a:p>
          <a:p>
            <a:r>
              <a:rPr lang="en-US" sz="3200" dirty="0"/>
              <a:t>An instance of a class refers to one object whose type is defined as the class</a:t>
            </a:r>
            <a:r>
              <a:rPr lang="en-US" sz="3200" dirty="0">
                <a:solidFill>
                  <a:schemeClr val="accent2"/>
                </a:solidFill>
              </a:rPr>
              <a:t>.</a:t>
            </a:r>
          </a:p>
          <a:p>
            <a:r>
              <a:rPr lang="en-US" sz="3200" dirty="0"/>
              <a:t>The words </a:t>
            </a:r>
            <a:r>
              <a:rPr lang="en-US" sz="3200" dirty="0">
                <a:solidFill>
                  <a:schemeClr val="accent6"/>
                </a:solidFill>
              </a:rPr>
              <a:t>"</a:t>
            </a:r>
            <a:r>
              <a:rPr lang="en-US" sz="3200" dirty="0"/>
              <a:t>instance</a:t>
            </a:r>
            <a:r>
              <a:rPr lang="en-US" sz="3200" dirty="0">
                <a:solidFill>
                  <a:schemeClr val="accent6"/>
                </a:solidFill>
              </a:rPr>
              <a:t>"</a:t>
            </a:r>
            <a:r>
              <a:rPr lang="en-US" sz="3200" dirty="0"/>
              <a:t> and </a:t>
            </a:r>
            <a:r>
              <a:rPr lang="en-US" sz="3200" dirty="0">
                <a:solidFill>
                  <a:schemeClr val="accent6"/>
                </a:solidFill>
              </a:rPr>
              <a:t>"</a:t>
            </a:r>
            <a:r>
              <a:rPr lang="en-US" sz="3200" dirty="0"/>
              <a:t>object</a:t>
            </a:r>
            <a:r>
              <a:rPr lang="en-US" sz="3200" dirty="0">
                <a:solidFill>
                  <a:schemeClr val="accent6"/>
                </a:solidFill>
              </a:rPr>
              <a:t>"</a:t>
            </a:r>
            <a:r>
              <a:rPr lang="en-US" sz="3200" dirty="0"/>
              <a:t> are used interchangeably</a:t>
            </a:r>
            <a:r>
              <a:rPr lang="en-US" sz="3200" dirty="0">
                <a:solidFill>
                  <a:schemeClr val="accent2"/>
                </a:solidFill>
              </a:rPr>
              <a:t>.</a:t>
            </a:r>
          </a:p>
          <a:p>
            <a:r>
              <a:rPr lang="en-US" sz="3200" dirty="0"/>
              <a:t>A </a:t>
            </a:r>
            <a:r>
              <a:rPr lang="en-US" sz="3200" dirty="0">
                <a:solidFill>
                  <a:schemeClr val="accent6"/>
                </a:solidFill>
              </a:rPr>
              <a:t>Class</a:t>
            </a:r>
            <a:r>
              <a:rPr lang="en-US" sz="3200" dirty="0"/>
              <a:t> is made up of attributes </a:t>
            </a:r>
            <a:r>
              <a:rPr lang="en-US" sz="3200" dirty="0">
                <a:solidFill>
                  <a:schemeClr val="accent6"/>
                </a:solidFill>
              </a:rPr>
              <a:t>(</a:t>
            </a:r>
            <a:r>
              <a:rPr lang="en-US" sz="3200" b="1" dirty="0">
                <a:solidFill>
                  <a:schemeClr val="accent2"/>
                </a:solidFill>
              </a:rPr>
              <a:t>data</a:t>
            </a:r>
            <a:r>
              <a:rPr lang="en-US" sz="3200" dirty="0">
                <a:solidFill>
                  <a:schemeClr val="accent6"/>
                </a:solidFill>
              </a:rPr>
              <a:t>)</a:t>
            </a:r>
            <a:r>
              <a:rPr lang="en-US" sz="3200" dirty="0">
                <a:solidFill>
                  <a:schemeClr val="accent2"/>
                </a:solidFill>
              </a:rPr>
              <a:t> </a:t>
            </a:r>
            <a:r>
              <a:rPr lang="en-US" sz="3200" dirty="0"/>
              <a:t>and methods</a:t>
            </a:r>
            <a:r>
              <a:rPr lang="en-US" sz="3200" dirty="0">
                <a:solidFill>
                  <a:schemeClr val="accent2"/>
                </a:solidFill>
              </a:rPr>
              <a:t> </a:t>
            </a:r>
            <a:r>
              <a:rPr lang="en-US" sz="3200" dirty="0">
                <a:solidFill>
                  <a:schemeClr val="accent6"/>
                </a:solidFill>
              </a:rPr>
              <a:t>(</a:t>
            </a:r>
            <a:r>
              <a:rPr lang="en-US" sz="3200" b="1" dirty="0">
                <a:solidFill>
                  <a:schemeClr val="accent2"/>
                </a:solidFill>
              </a:rPr>
              <a:t>functions</a:t>
            </a:r>
            <a:r>
              <a:rPr lang="en-US" sz="3200" dirty="0">
                <a:solidFill>
                  <a:schemeClr val="accent6"/>
                </a:solidFill>
              </a:rPr>
              <a:t>)</a:t>
            </a:r>
            <a:r>
              <a:rPr lang="en-US" sz="3200" dirty="0">
                <a:solidFill>
                  <a:schemeClr val="accent2"/>
                </a:solidFill>
              </a:rPr>
              <a:t>.</a:t>
            </a:r>
          </a:p>
          <a:p>
            <a:pPr marL="0" indent="0">
              <a:buNone/>
            </a:pPr>
            <a:endParaRPr lang="en-US" sz="3200" dirty="0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C45ADAEC-08FE-4F9D-8441-6CFD19CCCBA8}"/>
              </a:ext>
            </a:extLst>
          </p:cNvPr>
          <p:cNvSpPr/>
          <p:nvPr/>
        </p:nvSpPr>
        <p:spPr>
          <a:xfrm>
            <a:off x="8568559" y="803077"/>
            <a:ext cx="3153103" cy="770036"/>
          </a:xfrm>
          <a:prstGeom prst="roundRect">
            <a:avLst/>
          </a:prstGeom>
          <a:noFill/>
          <a:ln w="5715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rgbClr val="FFFFFF"/>
                </a:solidFill>
              </a:rPr>
              <a:t>Class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C37995B0-58AE-4142-8AEC-6C75C6E1E57E}"/>
              </a:ext>
            </a:extLst>
          </p:cNvPr>
          <p:cNvSpPr/>
          <p:nvPr/>
        </p:nvSpPr>
        <p:spPr>
          <a:xfrm>
            <a:off x="8568558" y="1861993"/>
            <a:ext cx="3153103" cy="2039971"/>
          </a:xfrm>
          <a:prstGeom prst="roundRect">
            <a:avLst/>
          </a:prstGeom>
          <a:noFill/>
          <a:ln w="57150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rgbClr val="FFFFFF"/>
                </a:solidFill>
              </a:rPr>
              <a:t>Attributes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08014D6F-7960-4D7F-B0FF-48AF8C3DF70A}"/>
              </a:ext>
            </a:extLst>
          </p:cNvPr>
          <p:cNvSpPr/>
          <p:nvPr/>
        </p:nvSpPr>
        <p:spPr>
          <a:xfrm>
            <a:off x="8568558" y="4190844"/>
            <a:ext cx="3153103" cy="2260255"/>
          </a:xfrm>
          <a:prstGeom prst="roundRect">
            <a:avLst/>
          </a:prstGeom>
          <a:noFill/>
          <a:ln w="5715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rgbClr val="FFFFFF"/>
                </a:solidFill>
              </a:rPr>
              <a:t>Methods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3F24DF9-86FB-4920-B349-335058981718}"/>
              </a:ext>
            </a:extLst>
          </p:cNvPr>
          <p:cNvSpPr txBox="1"/>
          <p:nvPr/>
        </p:nvSpPr>
        <p:spPr>
          <a:xfrm>
            <a:off x="5701108" y="4997669"/>
            <a:ext cx="181812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2800" b="1" dirty="0">
                <a:solidFill>
                  <a:srgbClr val="FFFFFF"/>
                </a:solidFill>
              </a:rPr>
              <a:t>Functions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CF3AD253-F30E-41A5-90B8-1F2E58E9169A}"/>
              </a:ext>
            </a:extLst>
          </p:cNvPr>
          <p:cNvCxnSpPr/>
          <p:nvPr/>
        </p:nvCxnSpPr>
        <p:spPr>
          <a:xfrm>
            <a:off x="7630506" y="5352392"/>
            <a:ext cx="717331" cy="0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937597EA-4B96-4938-8BC8-B2AB2986B68A}"/>
              </a:ext>
            </a:extLst>
          </p:cNvPr>
          <p:cNvCxnSpPr/>
          <p:nvPr/>
        </p:nvCxnSpPr>
        <p:spPr>
          <a:xfrm>
            <a:off x="7630505" y="2927119"/>
            <a:ext cx="717331" cy="0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36C0CD4A-A4AE-405E-9A81-932093C55D33}"/>
              </a:ext>
            </a:extLst>
          </p:cNvPr>
          <p:cNvSpPr txBox="1"/>
          <p:nvPr/>
        </p:nvSpPr>
        <p:spPr>
          <a:xfrm>
            <a:off x="6539651" y="2579798"/>
            <a:ext cx="97654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2800" b="1" dirty="0">
                <a:solidFill>
                  <a:srgbClr val="FFFFFF"/>
                </a:solidFill>
              </a:rPr>
              <a:t>Data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E7D9A07-5658-446E-8B1E-5EFC2E19E3EF}"/>
              </a:ext>
            </a:extLst>
          </p:cNvPr>
          <p:cNvSpPr txBox="1"/>
          <p:nvPr/>
        </p:nvSpPr>
        <p:spPr>
          <a:xfrm>
            <a:off x="5089241" y="5608908"/>
            <a:ext cx="2954655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str.upper</a:t>
            </a:r>
            <a:r>
              <a:rPr lang="en-US" sz="20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(‘hello’)</a:t>
            </a:r>
            <a:endParaRPr lang="en-US" sz="2000" b="1" dirty="0">
              <a:solidFill>
                <a:srgbClr val="00FF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0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‘</a:t>
            </a:r>
            <a:r>
              <a:rPr lang="en-US" sz="2000" b="1" dirty="0" err="1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hello’.upper</a:t>
            </a:r>
            <a:r>
              <a:rPr lang="en-US" sz="20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</a:p>
        </p:txBody>
      </p:sp>
    </p:spTree>
    <p:extLst>
      <p:ext uri="{BB962C8B-B14F-4D97-AF65-F5344CB8AC3E}">
        <p14:creationId xmlns:p14="http://schemas.microsoft.com/office/powerpoint/2010/main" val="339687616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EF01F8-3749-1B3A-8661-C53094D4EA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1EE55221-F77C-BEF5-3F76-25F6A70256B1}"/>
              </a:ext>
            </a:extLst>
          </p:cNvPr>
          <p:cNvSpPr/>
          <p:nvPr/>
        </p:nvSpPr>
        <p:spPr>
          <a:xfrm>
            <a:off x="8568559" y="803077"/>
            <a:ext cx="3153103" cy="770036"/>
          </a:xfrm>
          <a:prstGeom prst="roundRect">
            <a:avLst/>
          </a:prstGeom>
          <a:noFill/>
          <a:ln w="5715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rgbClr val="FFFFFF"/>
                </a:solidFill>
              </a:rPr>
              <a:t>Car</a:t>
            </a:r>
          </a:p>
        </p:txBody>
      </p:sp>
      <p:sp>
        <p:nvSpPr>
          <p:cNvPr id="5" name="Rectangle: Rounded Corners 5">
            <a:extLst>
              <a:ext uri="{FF2B5EF4-FFF2-40B4-BE49-F238E27FC236}">
                <a16:creationId xmlns:a16="http://schemas.microsoft.com/office/drawing/2014/main" id="{104A7E59-4DEF-A811-4F6E-52248AC9C9F1}"/>
              </a:ext>
            </a:extLst>
          </p:cNvPr>
          <p:cNvSpPr/>
          <p:nvPr/>
        </p:nvSpPr>
        <p:spPr>
          <a:xfrm>
            <a:off x="8568558" y="1861993"/>
            <a:ext cx="3153103" cy="2039971"/>
          </a:xfrm>
          <a:prstGeom prst="roundRect">
            <a:avLst/>
          </a:prstGeom>
          <a:noFill/>
          <a:ln w="57150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rgbClr val="FFFFFF"/>
                </a:solidFill>
              </a:rPr>
              <a:t>model</a:t>
            </a:r>
          </a:p>
          <a:p>
            <a:pPr algn="ctr"/>
            <a:r>
              <a:rPr lang="en-US" sz="2800" b="1" dirty="0">
                <a:solidFill>
                  <a:srgbClr val="FFFFFF"/>
                </a:solidFill>
              </a:rPr>
              <a:t>company</a:t>
            </a:r>
          </a:p>
          <a:p>
            <a:pPr algn="ctr"/>
            <a:r>
              <a:rPr lang="en-US" sz="2800" b="1" dirty="0">
                <a:solidFill>
                  <a:srgbClr val="FFFFFF"/>
                </a:solidFill>
              </a:rPr>
              <a:t>year</a:t>
            </a:r>
          </a:p>
          <a:p>
            <a:pPr algn="ctr"/>
            <a:r>
              <a:rPr lang="en-US" sz="2800" b="1" dirty="0">
                <a:solidFill>
                  <a:srgbClr val="FFFFFF"/>
                </a:solidFill>
              </a:rPr>
              <a:t>color</a:t>
            </a:r>
          </a:p>
        </p:txBody>
      </p:sp>
      <p:sp>
        <p:nvSpPr>
          <p:cNvPr id="6" name="Rectangle: Rounded Corners 6">
            <a:extLst>
              <a:ext uri="{FF2B5EF4-FFF2-40B4-BE49-F238E27FC236}">
                <a16:creationId xmlns:a16="http://schemas.microsoft.com/office/drawing/2014/main" id="{33E0433D-14A8-7FCD-560A-26CEDB54B149}"/>
              </a:ext>
            </a:extLst>
          </p:cNvPr>
          <p:cNvSpPr/>
          <p:nvPr/>
        </p:nvSpPr>
        <p:spPr>
          <a:xfrm>
            <a:off x="8568558" y="4190844"/>
            <a:ext cx="3153103" cy="2260255"/>
          </a:xfrm>
          <a:prstGeom prst="roundRect">
            <a:avLst/>
          </a:prstGeom>
          <a:noFill/>
          <a:ln w="5715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rgbClr val="FFFFFF"/>
                </a:solidFill>
              </a:rPr>
              <a:t>brake</a:t>
            </a:r>
          </a:p>
          <a:p>
            <a:pPr algn="ctr"/>
            <a:r>
              <a:rPr lang="en-US" sz="2800" b="1" dirty="0">
                <a:solidFill>
                  <a:srgbClr val="FFFFFF"/>
                </a:solidFill>
              </a:rPr>
              <a:t>accelerate</a:t>
            </a:r>
          </a:p>
          <a:p>
            <a:pPr algn="ctr"/>
            <a:r>
              <a:rPr lang="en-US" sz="2800" b="1" dirty="0">
                <a:solidFill>
                  <a:srgbClr val="FFFFFF"/>
                </a:solidFill>
              </a:rPr>
              <a:t>open trunk</a:t>
            </a:r>
          </a:p>
        </p:txBody>
      </p:sp>
      <p:sp>
        <p:nvSpPr>
          <p:cNvPr id="7" name="AutoShape 2" descr="Generated image">
            <a:extLst>
              <a:ext uri="{FF2B5EF4-FFF2-40B4-BE49-F238E27FC236}">
                <a16:creationId xmlns:a16="http://schemas.microsoft.com/office/drawing/2014/main" id="{DBD20D3F-6DE1-1CE8-0E95-9D421DA436B8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8BA42B34-E337-B00A-E532-9743D134F9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0338" y="1573113"/>
            <a:ext cx="7453866" cy="4551005"/>
          </a:xfrm>
          <a:prstGeom prst="rect">
            <a:avLst/>
          </a:prstGeom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DD5C560E-D768-3CF6-D18E-C99473697B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8120" y="588264"/>
            <a:ext cx="10515600" cy="656148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Classes: blueprints</a:t>
            </a:r>
          </a:p>
        </p:txBody>
      </p:sp>
    </p:spTree>
    <p:extLst>
      <p:ext uri="{BB962C8B-B14F-4D97-AF65-F5344CB8AC3E}">
        <p14:creationId xmlns:p14="http://schemas.microsoft.com/office/powerpoint/2010/main" val="95541513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D5292E-FD46-AD2D-21E0-AF65C94767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23B10D9D-94AA-5796-98FD-CFD4C09CD8CD}"/>
              </a:ext>
            </a:extLst>
          </p:cNvPr>
          <p:cNvSpPr/>
          <p:nvPr/>
        </p:nvSpPr>
        <p:spPr>
          <a:xfrm>
            <a:off x="8568559" y="803077"/>
            <a:ext cx="3153103" cy="770036"/>
          </a:xfrm>
          <a:prstGeom prst="roundRect">
            <a:avLst/>
          </a:prstGeom>
          <a:noFill/>
          <a:ln w="5715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rgbClr val="FFFFFF"/>
                </a:solidFill>
              </a:rPr>
              <a:t>Car</a:t>
            </a:r>
          </a:p>
        </p:txBody>
      </p:sp>
      <p:sp>
        <p:nvSpPr>
          <p:cNvPr id="5" name="Rectangle: Rounded Corners 5">
            <a:extLst>
              <a:ext uri="{FF2B5EF4-FFF2-40B4-BE49-F238E27FC236}">
                <a16:creationId xmlns:a16="http://schemas.microsoft.com/office/drawing/2014/main" id="{4A47A53A-9302-829C-C45C-E03ABD822219}"/>
              </a:ext>
            </a:extLst>
          </p:cNvPr>
          <p:cNvSpPr/>
          <p:nvPr/>
        </p:nvSpPr>
        <p:spPr>
          <a:xfrm>
            <a:off x="8568558" y="1861993"/>
            <a:ext cx="3153103" cy="2039971"/>
          </a:xfrm>
          <a:prstGeom prst="roundRect">
            <a:avLst/>
          </a:prstGeom>
          <a:noFill/>
          <a:ln w="57150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rgbClr val="FFFFFF"/>
                </a:solidFill>
              </a:rPr>
              <a:t>model</a:t>
            </a:r>
          </a:p>
          <a:p>
            <a:pPr algn="ctr"/>
            <a:r>
              <a:rPr lang="en-US" sz="2800" b="1" dirty="0">
                <a:solidFill>
                  <a:srgbClr val="FFFFFF"/>
                </a:solidFill>
              </a:rPr>
              <a:t>company</a:t>
            </a:r>
          </a:p>
          <a:p>
            <a:pPr algn="ctr"/>
            <a:r>
              <a:rPr lang="en-US" sz="2800" b="1" dirty="0">
                <a:solidFill>
                  <a:srgbClr val="FFFFFF"/>
                </a:solidFill>
              </a:rPr>
              <a:t>year</a:t>
            </a:r>
          </a:p>
          <a:p>
            <a:pPr algn="ctr"/>
            <a:r>
              <a:rPr lang="en-US" sz="2800" b="1" dirty="0">
                <a:solidFill>
                  <a:srgbClr val="FFFFFF"/>
                </a:solidFill>
              </a:rPr>
              <a:t>color</a:t>
            </a:r>
          </a:p>
        </p:txBody>
      </p:sp>
      <p:sp>
        <p:nvSpPr>
          <p:cNvPr id="6" name="Rectangle: Rounded Corners 6">
            <a:extLst>
              <a:ext uri="{FF2B5EF4-FFF2-40B4-BE49-F238E27FC236}">
                <a16:creationId xmlns:a16="http://schemas.microsoft.com/office/drawing/2014/main" id="{4650A4E5-2466-C455-88BA-8957CE304FE0}"/>
              </a:ext>
            </a:extLst>
          </p:cNvPr>
          <p:cNvSpPr/>
          <p:nvPr/>
        </p:nvSpPr>
        <p:spPr>
          <a:xfrm>
            <a:off x="8568558" y="4190844"/>
            <a:ext cx="3153103" cy="2260255"/>
          </a:xfrm>
          <a:prstGeom prst="roundRect">
            <a:avLst/>
          </a:prstGeom>
          <a:noFill/>
          <a:ln w="5715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rgbClr val="FFFFFF"/>
                </a:solidFill>
              </a:rPr>
              <a:t>brake</a:t>
            </a:r>
          </a:p>
          <a:p>
            <a:pPr algn="ctr"/>
            <a:r>
              <a:rPr lang="en-US" sz="2800" b="1" dirty="0">
                <a:solidFill>
                  <a:srgbClr val="FFFFFF"/>
                </a:solidFill>
              </a:rPr>
              <a:t>accelerate</a:t>
            </a:r>
          </a:p>
          <a:p>
            <a:pPr algn="ctr"/>
            <a:r>
              <a:rPr lang="en-US" sz="2800" b="1" dirty="0">
                <a:solidFill>
                  <a:srgbClr val="FFFFFF"/>
                </a:solidFill>
              </a:rPr>
              <a:t>open trunk</a:t>
            </a:r>
          </a:p>
        </p:txBody>
      </p:sp>
      <p:sp>
        <p:nvSpPr>
          <p:cNvPr id="7" name="AutoShape 2" descr="Generated image">
            <a:extLst>
              <a:ext uri="{FF2B5EF4-FFF2-40B4-BE49-F238E27FC236}">
                <a16:creationId xmlns:a16="http://schemas.microsoft.com/office/drawing/2014/main" id="{410A706C-74D6-9B1D-5E10-CCD46972F852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100373C-284A-1057-CB20-7139B57B5BA1}"/>
              </a:ext>
            </a:extLst>
          </p:cNvPr>
          <p:cNvSpPr txBox="1"/>
          <p:nvPr/>
        </p:nvSpPr>
        <p:spPr>
          <a:xfrm>
            <a:off x="701040" y="573583"/>
            <a:ext cx="819912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dirty="0">
                <a:solidFill>
                  <a:srgbClr val="FFFFFF"/>
                </a:solidFill>
              </a:rPr>
              <a:t>model</a:t>
            </a:r>
            <a:r>
              <a:rPr lang="en-US" sz="1800" b="1" dirty="0">
                <a:solidFill>
                  <a:schemeClr val="accent2"/>
                </a:solidFill>
              </a:rPr>
              <a:t>:</a:t>
            </a:r>
            <a:r>
              <a:rPr lang="en-US" sz="1800" b="1" dirty="0">
                <a:solidFill>
                  <a:srgbClr val="FFFFFF"/>
                </a:solidFill>
              </a:rPr>
              <a:t> </a:t>
            </a:r>
            <a:r>
              <a:rPr lang="en-US" b="1" dirty="0">
                <a:solidFill>
                  <a:srgbClr val="FFFFFF"/>
                </a:solidFill>
              </a:rPr>
              <a:t>Corolla </a:t>
            </a:r>
            <a:endParaRPr lang="en-US" sz="1800" b="1" dirty="0">
              <a:solidFill>
                <a:srgbClr val="FFFFFF"/>
              </a:solidFill>
            </a:endParaRPr>
          </a:p>
          <a:p>
            <a:r>
              <a:rPr lang="en-US" sz="1800" b="1" dirty="0">
                <a:solidFill>
                  <a:srgbClr val="FFFFFF"/>
                </a:solidFill>
              </a:rPr>
              <a:t>year</a:t>
            </a:r>
            <a:r>
              <a:rPr lang="en-US" sz="1800" b="1" dirty="0">
                <a:solidFill>
                  <a:schemeClr val="accent2"/>
                </a:solidFill>
              </a:rPr>
              <a:t>:</a:t>
            </a:r>
            <a:r>
              <a:rPr lang="en-US" sz="1800" b="1" dirty="0">
                <a:solidFill>
                  <a:srgbClr val="FFFFFF"/>
                </a:solidFill>
              </a:rPr>
              <a:t> 2024</a:t>
            </a:r>
          </a:p>
          <a:p>
            <a:r>
              <a:rPr lang="en-US" b="1" dirty="0">
                <a:solidFill>
                  <a:srgbClr val="FFFFFF"/>
                </a:solidFill>
              </a:rPr>
              <a:t>tires: None</a:t>
            </a:r>
            <a:endParaRPr lang="en-US" sz="1800" b="1" dirty="0">
              <a:solidFill>
                <a:srgbClr val="FFFFFF"/>
              </a:solidFill>
            </a:endParaRPr>
          </a:p>
          <a:p>
            <a:r>
              <a:rPr lang="en-US" sz="1800" b="1" dirty="0">
                <a:solidFill>
                  <a:srgbClr val="FFFFFF"/>
                </a:solidFill>
              </a:rPr>
              <a:t>color</a:t>
            </a:r>
            <a:r>
              <a:rPr lang="en-US" sz="1800" b="1" dirty="0">
                <a:solidFill>
                  <a:schemeClr val="accent2"/>
                </a:solidFill>
              </a:rPr>
              <a:t>:</a:t>
            </a:r>
            <a:r>
              <a:rPr lang="en-US" sz="1800" b="1" dirty="0">
                <a:solidFill>
                  <a:srgbClr val="FFFFFF"/>
                </a:solidFill>
              </a:rPr>
              <a:t> </a:t>
            </a:r>
            <a:r>
              <a:rPr lang="en-US" b="1" dirty="0">
                <a:solidFill>
                  <a:srgbClr val="FFFFFF"/>
                </a:solidFill>
              </a:rPr>
              <a:t>red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342E7686-76C9-1467-0A12-870EF9CFC2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4495" y="2306223"/>
            <a:ext cx="7550009" cy="39781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253116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FBD6D0-E3D9-A9BA-971B-520D11F7BF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215CB29C-3A68-24B2-0863-E59F68B2F7D9}"/>
              </a:ext>
            </a:extLst>
          </p:cNvPr>
          <p:cNvSpPr/>
          <p:nvPr/>
        </p:nvSpPr>
        <p:spPr>
          <a:xfrm>
            <a:off x="8568559" y="803077"/>
            <a:ext cx="3153103" cy="770036"/>
          </a:xfrm>
          <a:prstGeom prst="roundRect">
            <a:avLst/>
          </a:prstGeom>
          <a:noFill/>
          <a:ln w="5715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rgbClr val="FFFFFF"/>
                </a:solidFill>
              </a:rPr>
              <a:t>Car</a:t>
            </a:r>
          </a:p>
        </p:txBody>
      </p:sp>
      <p:sp>
        <p:nvSpPr>
          <p:cNvPr id="5" name="Rectangle: Rounded Corners 5">
            <a:extLst>
              <a:ext uri="{FF2B5EF4-FFF2-40B4-BE49-F238E27FC236}">
                <a16:creationId xmlns:a16="http://schemas.microsoft.com/office/drawing/2014/main" id="{BDE83A2C-95D6-B945-F34F-543C5B44EF88}"/>
              </a:ext>
            </a:extLst>
          </p:cNvPr>
          <p:cNvSpPr/>
          <p:nvPr/>
        </p:nvSpPr>
        <p:spPr>
          <a:xfrm>
            <a:off x="8568558" y="1861993"/>
            <a:ext cx="3153103" cy="2039971"/>
          </a:xfrm>
          <a:prstGeom prst="roundRect">
            <a:avLst/>
          </a:prstGeom>
          <a:noFill/>
          <a:ln w="57150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rgbClr val="FFFFFF"/>
                </a:solidFill>
              </a:rPr>
              <a:t>model</a:t>
            </a:r>
          </a:p>
          <a:p>
            <a:pPr algn="ctr"/>
            <a:r>
              <a:rPr lang="en-US" sz="2800" b="1" dirty="0">
                <a:solidFill>
                  <a:srgbClr val="FFFFFF"/>
                </a:solidFill>
              </a:rPr>
              <a:t>company</a:t>
            </a:r>
          </a:p>
          <a:p>
            <a:pPr algn="ctr"/>
            <a:r>
              <a:rPr lang="en-US" sz="2800" b="1" dirty="0">
                <a:solidFill>
                  <a:srgbClr val="FFFFFF"/>
                </a:solidFill>
              </a:rPr>
              <a:t>year</a:t>
            </a:r>
          </a:p>
          <a:p>
            <a:pPr algn="ctr"/>
            <a:r>
              <a:rPr lang="en-US" sz="2800" b="1" dirty="0">
                <a:solidFill>
                  <a:srgbClr val="FFFFFF"/>
                </a:solidFill>
              </a:rPr>
              <a:t>color</a:t>
            </a:r>
          </a:p>
        </p:txBody>
      </p:sp>
      <p:sp>
        <p:nvSpPr>
          <p:cNvPr id="6" name="Rectangle: Rounded Corners 6">
            <a:extLst>
              <a:ext uri="{FF2B5EF4-FFF2-40B4-BE49-F238E27FC236}">
                <a16:creationId xmlns:a16="http://schemas.microsoft.com/office/drawing/2014/main" id="{5143FFA9-998B-1E2D-8D5C-2C4F11693597}"/>
              </a:ext>
            </a:extLst>
          </p:cNvPr>
          <p:cNvSpPr/>
          <p:nvPr/>
        </p:nvSpPr>
        <p:spPr>
          <a:xfrm>
            <a:off x="8568558" y="4190844"/>
            <a:ext cx="3153103" cy="2260255"/>
          </a:xfrm>
          <a:prstGeom prst="roundRect">
            <a:avLst/>
          </a:prstGeom>
          <a:noFill/>
          <a:ln w="5715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rgbClr val="FFFFFF"/>
                </a:solidFill>
              </a:rPr>
              <a:t>brake</a:t>
            </a:r>
          </a:p>
          <a:p>
            <a:pPr algn="ctr"/>
            <a:r>
              <a:rPr lang="en-US" sz="2800" b="1" dirty="0">
                <a:solidFill>
                  <a:srgbClr val="FFFFFF"/>
                </a:solidFill>
              </a:rPr>
              <a:t>accelerate</a:t>
            </a:r>
          </a:p>
          <a:p>
            <a:pPr algn="ctr"/>
            <a:r>
              <a:rPr lang="en-US" sz="2800" b="1" dirty="0">
                <a:solidFill>
                  <a:srgbClr val="FFFFFF"/>
                </a:solidFill>
              </a:rPr>
              <a:t>open trunk</a:t>
            </a:r>
          </a:p>
        </p:txBody>
      </p:sp>
      <p:sp>
        <p:nvSpPr>
          <p:cNvPr id="7" name="AutoShape 2" descr="Generated image">
            <a:extLst>
              <a:ext uri="{FF2B5EF4-FFF2-40B4-BE49-F238E27FC236}">
                <a16:creationId xmlns:a16="http://schemas.microsoft.com/office/drawing/2014/main" id="{FAB3A0A1-2A3B-BF30-CA6D-F13D2524BC1C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AAEAB43-F1F2-5BD7-C581-E2E28B7F1CF7}"/>
              </a:ext>
            </a:extLst>
          </p:cNvPr>
          <p:cNvSpPr txBox="1"/>
          <p:nvPr/>
        </p:nvSpPr>
        <p:spPr>
          <a:xfrm>
            <a:off x="701040" y="573583"/>
            <a:ext cx="819912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dirty="0">
                <a:solidFill>
                  <a:srgbClr val="FFFFFF"/>
                </a:solidFill>
              </a:rPr>
              <a:t>model</a:t>
            </a:r>
            <a:r>
              <a:rPr lang="en-US" sz="1800" b="1" dirty="0">
                <a:solidFill>
                  <a:schemeClr val="accent2"/>
                </a:solidFill>
              </a:rPr>
              <a:t>:</a:t>
            </a:r>
            <a:r>
              <a:rPr lang="en-US" sz="1800" b="1" dirty="0">
                <a:solidFill>
                  <a:srgbClr val="FFFFFF"/>
                </a:solidFill>
              </a:rPr>
              <a:t> </a:t>
            </a:r>
            <a:r>
              <a:rPr lang="en-US" b="1" dirty="0">
                <a:solidFill>
                  <a:srgbClr val="FFFFFF"/>
                </a:solidFill>
              </a:rPr>
              <a:t>Corolla </a:t>
            </a:r>
            <a:endParaRPr lang="en-US" sz="1800" b="1" dirty="0">
              <a:solidFill>
                <a:srgbClr val="FFFFFF"/>
              </a:solidFill>
            </a:endParaRPr>
          </a:p>
          <a:p>
            <a:r>
              <a:rPr lang="en-US" sz="1800" b="1" dirty="0">
                <a:solidFill>
                  <a:srgbClr val="FFFFFF"/>
                </a:solidFill>
              </a:rPr>
              <a:t>year</a:t>
            </a:r>
            <a:r>
              <a:rPr lang="en-US" sz="1800" b="1" dirty="0">
                <a:solidFill>
                  <a:schemeClr val="accent2"/>
                </a:solidFill>
              </a:rPr>
              <a:t>:</a:t>
            </a:r>
            <a:r>
              <a:rPr lang="en-US" sz="1800" b="1" dirty="0">
                <a:solidFill>
                  <a:srgbClr val="FFFFFF"/>
                </a:solidFill>
              </a:rPr>
              <a:t> 2024</a:t>
            </a:r>
          </a:p>
          <a:p>
            <a:r>
              <a:rPr lang="en-US" b="1" dirty="0">
                <a:solidFill>
                  <a:srgbClr val="FFFFFF"/>
                </a:solidFill>
              </a:rPr>
              <a:t>tires: None</a:t>
            </a:r>
            <a:endParaRPr lang="en-US" sz="1800" b="1" dirty="0">
              <a:solidFill>
                <a:srgbClr val="FFFFFF"/>
              </a:solidFill>
            </a:endParaRPr>
          </a:p>
          <a:p>
            <a:r>
              <a:rPr lang="en-US" sz="1800" b="1" dirty="0">
                <a:solidFill>
                  <a:srgbClr val="FFFFFF"/>
                </a:solidFill>
              </a:rPr>
              <a:t>color</a:t>
            </a:r>
            <a:r>
              <a:rPr lang="en-US" sz="1800" b="1" dirty="0">
                <a:solidFill>
                  <a:schemeClr val="accent2"/>
                </a:solidFill>
              </a:rPr>
              <a:t>:</a:t>
            </a:r>
            <a:r>
              <a:rPr lang="en-US" sz="1800" b="1" dirty="0">
                <a:solidFill>
                  <a:srgbClr val="FFFFFF"/>
                </a:solidFill>
              </a:rPr>
              <a:t> </a:t>
            </a:r>
            <a:r>
              <a:rPr lang="en-US" b="1" dirty="0">
                <a:solidFill>
                  <a:srgbClr val="FFFFFF"/>
                </a:solidFill>
              </a:rPr>
              <a:t>grey</a:t>
            </a:r>
          </a:p>
          <a:p>
            <a:endParaRPr lang="en-US" sz="1800" b="1" dirty="0">
              <a:solidFill>
                <a:srgbClr val="FFFFFF"/>
              </a:solidFill>
            </a:endParaRP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F7694A3A-BBC3-D442-40AD-055F229083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0340" y="1922952"/>
            <a:ext cx="7796110" cy="45968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930253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4921BA-316C-6DC5-C28D-690179DD75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A38534D6-A20B-48CF-E579-14732D6BFCAE}"/>
              </a:ext>
            </a:extLst>
          </p:cNvPr>
          <p:cNvSpPr/>
          <p:nvPr/>
        </p:nvSpPr>
        <p:spPr>
          <a:xfrm>
            <a:off x="8568559" y="803077"/>
            <a:ext cx="3153103" cy="770036"/>
          </a:xfrm>
          <a:prstGeom prst="roundRect">
            <a:avLst/>
          </a:prstGeom>
          <a:noFill/>
          <a:ln w="5715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rgbClr val="FFFFFF"/>
                </a:solidFill>
              </a:rPr>
              <a:t>Car</a:t>
            </a:r>
          </a:p>
        </p:txBody>
      </p:sp>
      <p:sp>
        <p:nvSpPr>
          <p:cNvPr id="5" name="Rectangle: Rounded Corners 5">
            <a:extLst>
              <a:ext uri="{FF2B5EF4-FFF2-40B4-BE49-F238E27FC236}">
                <a16:creationId xmlns:a16="http://schemas.microsoft.com/office/drawing/2014/main" id="{5BC3AF80-F515-8F62-A7BE-ABD4A3ECE508}"/>
              </a:ext>
            </a:extLst>
          </p:cNvPr>
          <p:cNvSpPr/>
          <p:nvPr/>
        </p:nvSpPr>
        <p:spPr>
          <a:xfrm>
            <a:off x="8568558" y="1861993"/>
            <a:ext cx="3153103" cy="2039971"/>
          </a:xfrm>
          <a:prstGeom prst="roundRect">
            <a:avLst/>
          </a:prstGeom>
          <a:noFill/>
          <a:ln w="57150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rgbClr val="FFFFFF"/>
                </a:solidFill>
              </a:rPr>
              <a:t>model</a:t>
            </a:r>
          </a:p>
          <a:p>
            <a:pPr algn="ctr"/>
            <a:r>
              <a:rPr lang="en-US" sz="2800" b="1" dirty="0">
                <a:solidFill>
                  <a:srgbClr val="FFFFFF"/>
                </a:solidFill>
              </a:rPr>
              <a:t>company</a:t>
            </a:r>
          </a:p>
          <a:p>
            <a:pPr algn="ctr"/>
            <a:r>
              <a:rPr lang="en-US" sz="2800" b="1" dirty="0">
                <a:solidFill>
                  <a:srgbClr val="FFFFFF"/>
                </a:solidFill>
              </a:rPr>
              <a:t>year</a:t>
            </a:r>
          </a:p>
          <a:p>
            <a:pPr algn="ctr"/>
            <a:r>
              <a:rPr lang="en-US" sz="2800" b="1" dirty="0">
                <a:solidFill>
                  <a:srgbClr val="FFFFFF"/>
                </a:solidFill>
              </a:rPr>
              <a:t>color</a:t>
            </a:r>
          </a:p>
        </p:txBody>
      </p:sp>
      <p:sp>
        <p:nvSpPr>
          <p:cNvPr id="6" name="Rectangle: Rounded Corners 6">
            <a:extLst>
              <a:ext uri="{FF2B5EF4-FFF2-40B4-BE49-F238E27FC236}">
                <a16:creationId xmlns:a16="http://schemas.microsoft.com/office/drawing/2014/main" id="{5EBF5170-9F44-66BA-45D6-47D4A7439A9D}"/>
              </a:ext>
            </a:extLst>
          </p:cNvPr>
          <p:cNvSpPr/>
          <p:nvPr/>
        </p:nvSpPr>
        <p:spPr>
          <a:xfrm>
            <a:off x="8568558" y="4190844"/>
            <a:ext cx="3153103" cy="2260255"/>
          </a:xfrm>
          <a:prstGeom prst="roundRect">
            <a:avLst/>
          </a:prstGeom>
          <a:noFill/>
          <a:ln w="5715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rgbClr val="FFFFFF"/>
                </a:solidFill>
              </a:rPr>
              <a:t>brake</a:t>
            </a:r>
          </a:p>
          <a:p>
            <a:pPr algn="ctr"/>
            <a:r>
              <a:rPr lang="en-US" sz="2800" b="1" dirty="0">
                <a:solidFill>
                  <a:srgbClr val="FFFFFF"/>
                </a:solidFill>
              </a:rPr>
              <a:t>accelerate</a:t>
            </a:r>
          </a:p>
          <a:p>
            <a:pPr algn="ctr"/>
            <a:r>
              <a:rPr lang="en-US" sz="2800" b="1" dirty="0">
                <a:solidFill>
                  <a:srgbClr val="FFFFFF"/>
                </a:solidFill>
              </a:rPr>
              <a:t>open trunk</a:t>
            </a:r>
          </a:p>
        </p:txBody>
      </p:sp>
      <p:sp>
        <p:nvSpPr>
          <p:cNvPr id="7" name="AutoShape 2" descr="Generated image">
            <a:extLst>
              <a:ext uri="{FF2B5EF4-FFF2-40B4-BE49-F238E27FC236}">
                <a16:creationId xmlns:a16="http://schemas.microsoft.com/office/drawing/2014/main" id="{875346E0-B771-96CD-9295-4D95894D5F68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BE3CB1D-819A-887E-4306-2D24519E1021}"/>
              </a:ext>
            </a:extLst>
          </p:cNvPr>
          <p:cNvSpPr txBox="1"/>
          <p:nvPr/>
        </p:nvSpPr>
        <p:spPr>
          <a:xfrm>
            <a:off x="701040" y="573583"/>
            <a:ext cx="819912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dirty="0">
                <a:solidFill>
                  <a:srgbClr val="FFFFFF"/>
                </a:solidFill>
              </a:rPr>
              <a:t>model</a:t>
            </a:r>
            <a:r>
              <a:rPr lang="en-US" sz="1800" b="1" dirty="0">
                <a:solidFill>
                  <a:schemeClr val="accent2"/>
                </a:solidFill>
              </a:rPr>
              <a:t>:</a:t>
            </a:r>
            <a:r>
              <a:rPr lang="en-US" sz="1800" b="1" dirty="0">
                <a:solidFill>
                  <a:srgbClr val="FFFFFF"/>
                </a:solidFill>
              </a:rPr>
              <a:t> </a:t>
            </a:r>
            <a:r>
              <a:rPr lang="en-US" b="1" dirty="0">
                <a:solidFill>
                  <a:srgbClr val="FFFFFF"/>
                </a:solidFill>
              </a:rPr>
              <a:t>Corolla </a:t>
            </a:r>
            <a:endParaRPr lang="en-US" sz="1800" b="1" dirty="0">
              <a:solidFill>
                <a:srgbClr val="FFFFFF"/>
              </a:solidFill>
            </a:endParaRPr>
          </a:p>
          <a:p>
            <a:r>
              <a:rPr lang="en-US" sz="1800" b="1" dirty="0">
                <a:solidFill>
                  <a:srgbClr val="FFFFFF"/>
                </a:solidFill>
              </a:rPr>
              <a:t>year</a:t>
            </a:r>
            <a:r>
              <a:rPr lang="en-US" sz="1800" b="1" dirty="0">
                <a:solidFill>
                  <a:schemeClr val="accent2"/>
                </a:solidFill>
              </a:rPr>
              <a:t>:</a:t>
            </a:r>
            <a:r>
              <a:rPr lang="en-US" sz="1800" b="1" dirty="0">
                <a:solidFill>
                  <a:srgbClr val="FFFFFF"/>
                </a:solidFill>
              </a:rPr>
              <a:t> 2024</a:t>
            </a:r>
          </a:p>
          <a:p>
            <a:r>
              <a:rPr lang="en-US" b="1" dirty="0">
                <a:solidFill>
                  <a:srgbClr val="FFFFFF"/>
                </a:solidFill>
              </a:rPr>
              <a:t>tires: fancy</a:t>
            </a:r>
            <a:endParaRPr lang="en-US" sz="1800" b="1" dirty="0">
              <a:solidFill>
                <a:srgbClr val="FFFFFF"/>
              </a:solidFill>
            </a:endParaRPr>
          </a:p>
          <a:p>
            <a:r>
              <a:rPr lang="en-US" sz="1800" b="1" dirty="0">
                <a:solidFill>
                  <a:srgbClr val="FFFFFF"/>
                </a:solidFill>
              </a:rPr>
              <a:t>color</a:t>
            </a:r>
            <a:r>
              <a:rPr lang="en-US" sz="1800" b="1" dirty="0">
                <a:solidFill>
                  <a:schemeClr val="accent2"/>
                </a:solidFill>
              </a:rPr>
              <a:t>:</a:t>
            </a:r>
            <a:r>
              <a:rPr lang="en-US" sz="1800" b="1" dirty="0">
                <a:solidFill>
                  <a:srgbClr val="FFFFFF"/>
                </a:solidFill>
              </a:rPr>
              <a:t> </a:t>
            </a:r>
            <a:r>
              <a:rPr lang="en-US" b="1" dirty="0">
                <a:solidFill>
                  <a:srgbClr val="FFFFFF"/>
                </a:solidFill>
              </a:rPr>
              <a:t>grey</a:t>
            </a:r>
          </a:p>
          <a:p>
            <a:endParaRPr lang="en-US" sz="1800" b="1" dirty="0">
              <a:solidFill>
                <a:srgbClr val="FFFFFF"/>
              </a:solidFill>
            </a:endParaRP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84C0E589-F36B-1E6C-E6F3-08873D09E9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1040" y="1861994"/>
            <a:ext cx="7554708" cy="45891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297743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0239B7-7898-6D66-701D-C9F17C55FD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7B255305-D57D-E19A-576E-FD5E5845D2BA}"/>
              </a:ext>
            </a:extLst>
          </p:cNvPr>
          <p:cNvSpPr/>
          <p:nvPr/>
        </p:nvSpPr>
        <p:spPr>
          <a:xfrm>
            <a:off x="8568559" y="803077"/>
            <a:ext cx="3153103" cy="770036"/>
          </a:xfrm>
          <a:prstGeom prst="roundRect">
            <a:avLst/>
          </a:prstGeom>
          <a:noFill/>
          <a:ln w="5715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rgbClr val="FFFFFF"/>
                </a:solidFill>
              </a:rPr>
              <a:t>Car</a:t>
            </a:r>
          </a:p>
        </p:txBody>
      </p:sp>
      <p:sp>
        <p:nvSpPr>
          <p:cNvPr id="5" name="Rectangle: Rounded Corners 5">
            <a:extLst>
              <a:ext uri="{FF2B5EF4-FFF2-40B4-BE49-F238E27FC236}">
                <a16:creationId xmlns:a16="http://schemas.microsoft.com/office/drawing/2014/main" id="{A754DD54-EB08-7780-EA19-777DF9E58FB9}"/>
              </a:ext>
            </a:extLst>
          </p:cNvPr>
          <p:cNvSpPr/>
          <p:nvPr/>
        </p:nvSpPr>
        <p:spPr>
          <a:xfrm>
            <a:off x="8568558" y="1861993"/>
            <a:ext cx="3153103" cy="2039971"/>
          </a:xfrm>
          <a:prstGeom prst="roundRect">
            <a:avLst/>
          </a:prstGeom>
          <a:noFill/>
          <a:ln w="57150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rgbClr val="FFFFFF"/>
                </a:solidFill>
              </a:rPr>
              <a:t>model</a:t>
            </a:r>
          </a:p>
          <a:p>
            <a:pPr algn="ctr"/>
            <a:r>
              <a:rPr lang="en-US" sz="2800" b="1" dirty="0">
                <a:solidFill>
                  <a:srgbClr val="FFFFFF"/>
                </a:solidFill>
              </a:rPr>
              <a:t>company</a:t>
            </a:r>
          </a:p>
          <a:p>
            <a:pPr algn="ctr"/>
            <a:r>
              <a:rPr lang="en-US" sz="2800" b="1" dirty="0">
                <a:solidFill>
                  <a:srgbClr val="FFFFFF"/>
                </a:solidFill>
              </a:rPr>
              <a:t>year</a:t>
            </a:r>
          </a:p>
          <a:p>
            <a:pPr algn="ctr"/>
            <a:r>
              <a:rPr lang="en-US" sz="2800" b="1" dirty="0">
                <a:solidFill>
                  <a:srgbClr val="FFFFFF"/>
                </a:solidFill>
              </a:rPr>
              <a:t>color</a:t>
            </a:r>
          </a:p>
        </p:txBody>
      </p:sp>
      <p:sp>
        <p:nvSpPr>
          <p:cNvPr id="6" name="Rectangle: Rounded Corners 6">
            <a:extLst>
              <a:ext uri="{FF2B5EF4-FFF2-40B4-BE49-F238E27FC236}">
                <a16:creationId xmlns:a16="http://schemas.microsoft.com/office/drawing/2014/main" id="{6D6711B4-C5AE-5F09-0222-C910B7761634}"/>
              </a:ext>
            </a:extLst>
          </p:cNvPr>
          <p:cNvSpPr/>
          <p:nvPr/>
        </p:nvSpPr>
        <p:spPr>
          <a:xfrm>
            <a:off x="8568558" y="4190844"/>
            <a:ext cx="3153103" cy="2260255"/>
          </a:xfrm>
          <a:prstGeom prst="roundRect">
            <a:avLst/>
          </a:prstGeom>
          <a:noFill/>
          <a:ln w="5715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rgbClr val="FFFFFF"/>
                </a:solidFill>
              </a:rPr>
              <a:t>brake</a:t>
            </a:r>
          </a:p>
          <a:p>
            <a:pPr algn="ctr"/>
            <a:r>
              <a:rPr lang="en-US" sz="2800" b="1" dirty="0">
                <a:solidFill>
                  <a:srgbClr val="FFFFFF"/>
                </a:solidFill>
              </a:rPr>
              <a:t>accelerate</a:t>
            </a:r>
          </a:p>
          <a:p>
            <a:pPr algn="ctr"/>
            <a:r>
              <a:rPr lang="en-US" sz="2800" b="1" dirty="0">
                <a:solidFill>
                  <a:srgbClr val="FFFFFF"/>
                </a:solidFill>
              </a:rPr>
              <a:t>open trunk</a:t>
            </a:r>
          </a:p>
        </p:txBody>
      </p:sp>
      <p:sp>
        <p:nvSpPr>
          <p:cNvPr id="7" name="AutoShape 2" descr="Generated image">
            <a:extLst>
              <a:ext uri="{FF2B5EF4-FFF2-40B4-BE49-F238E27FC236}">
                <a16:creationId xmlns:a16="http://schemas.microsoft.com/office/drawing/2014/main" id="{BCEA0036-A376-75E7-8492-EC1C0EFC3881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DACFCE6-0883-F53B-0B1E-04F7CB2DBDE2}"/>
              </a:ext>
            </a:extLst>
          </p:cNvPr>
          <p:cNvSpPr txBox="1"/>
          <p:nvPr/>
        </p:nvSpPr>
        <p:spPr>
          <a:xfrm>
            <a:off x="701040" y="573583"/>
            <a:ext cx="819912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dirty="0">
                <a:solidFill>
                  <a:srgbClr val="FFFFFF"/>
                </a:solidFill>
              </a:rPr>
              <a:t>model</a:t>
            </a:r>
            <a:r>
              <a:rPr lang="en-US" sz="1800" b="1" dirty="0">
                <a:solidFill>
                  <a:schemeClr val="accent2"/>
                </a:solidFill>
              </a:rPr>
              <a:t>:</a:t>
            </a:r>
            <a:r>
              <a:rPr lang="en-US" sz="1800" b="1" dirty="0">
                <a:solidFill>
                  <a:srgbClr val="FFFFFF"/>
                </a:solidFill>
              </a:rPr>
              <a:t> </a:t>
            </a:r>
            <a:r>
              <a:rPr lang="en-US" b="1" dirty="0">
                <a:solidFill>
                  <a:srgbClr val="FFFFFF"/>
                </a:solidFill>
              </a:rPr>
              <a:t>Corolla </a:t>
            </a:r>
            <a:endParaRPr lang="en-US" sz="1800" b="1" dirty="0">
              <a:solidFill>
                <a:srgbClr val="FFFFFF"/>
              </a:solidFill>
            </a:endParaRPr>
          </a:p>
          <a:p>
            <a:r>
              <a:rPr lang="en-US" sz="1800" b="1" dirty="0">
                <a:solidFill>
                  <a:srgbClr val="FFFFFF"/>
                </a:solidFill>
              </a:rPr>
              <a:t>year</a:t>
            </a:r>
            <a:r>
              <a:rPr lang="en-US" sz="1800" b="1" dirty="0">
                <a:solidFill>
                  <a:schemeClr val="accent2"/>
                </a:solidFill>
              </a:rPr>
              <a:t>:</a:t>
            </a:r>
            <a:r>
              <a:rPr lang="en-US" sz="1800" b="1" dirty="0">
                <a:solidFill>
                  <a:srgbClr val="FFFFFF"/>
                </a:solidFill>
              </a:rPr>
              <a:t> 2024</a:t>
            </a:r>
          </a:p>
          <a:p>
            <a:r>
              <a:rPr lang="en-US" b="1" dirty="0">
                <a:solidFill>
                  <a:srgbClr val="FFFFFF"/>
                </a:solidFill>
              </a:rPr>
              <a:t>tires: monster</a:t>
            </a:r>
            <a:endParaRPr lang="en-US" sz="1800" b="1" dirty="0">
              <a:solidFill>
                <a:srgbClr val="FFFFFF"/>
              </a:solidFill>
            </a:endParaRPr>
          </a:p>
          <a:p>
            <a:r>
              <a:rPr lang="en-US" sz="1800" b="1" dirty="0">
                <a:solidFill>
                  <a:srgbClr val="FFFFFF"/>
                </a:solidFill>
              </a:rPr>
              <a:t>color</a:t>
            </a:r>
            <a:r>
              <a:rPr lang="en-US" sz="1800" b="1" dirty="0">
                <a:solidFill>
                  <a:schemeClr val="accent2"/>
                </a:solidFill>
              </a:rPr>
              <a:t>:</a:t>
            </a:r>
            <a:r>
              <a:rPr lang="en-US" sz="1800" b="1" dirty="0">
                <a:solidFill>
                  <a:srgbClr val="FFFFFF"/>
                </a:solidFill>
              </a:rPr>
              <a:t> </a:t>
            </a:r>
            <a:r>
              <a:rPr lang="en-US" b="1" dirty="0">
                <a:solidFill>
                  <a:srgbClr val="FFFFFF"/>
                </a:solidFill>
              </a:rPr>
              <a:t>grey</a:t>
            </a:r>
          </a:p>
          <a:p>
            <a:endParaRPr lang="en-US" sz="1800" b="1" dirty="0">
              <a:solidFill>
                <a:srgbClr val="FFFFFF"/>
              </a:solidFill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72C633AF-C2E0-FF32-5536-3FA64FA035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3586" y="1824204"/>
            <a:ext cx="7612040" cy="48509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566286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6CB294-F22F-47FD-9DED-428D84A67D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Rectangle: Rounded Corners 3">
            <a:extLst>
              <a:ext uri="{FF2B5EF4-FFF2-40B4-BE49-F238E27FC236}">
                <a16:creationId xmlns:a16="http://schemas.microsoft.com/office/drawing/2014/main" id="{7B0D46AD-C0EE-8B95-9554-ABEB9359E1F1}"/>
              </a:ext>
            </a:extLst>
          </p:cNvPr>
          <p:cNvSpPr/>
          <p:nvPr/>
        </p:nvSpPr>
        <p:spPr>
          <a:xfrm>
            <a:off x="8568559" y="803077"/>
            <a:ext cx="3153103" cy="770036"/>
          </a:xfrm>
          <a:prstGeom prst="roundRect">
            <a:avLst/>
          </a:prstGeom>
          <a:noFill/>
          <a:ln w="5715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rgbClr val="FFFFFF"/>
                </a:solidFill>
              </a:rPr>
              <a:t>Car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FBD077A8-D637-08E8-9C83-074A91E86F78}"/>
              </a:ext>
            </a:extLst>
          </p:cNvPr>
          <p:cNvSpPr/>
          <p:nvPr/>
        </p:nvSpPr>
        <p:spPr>
          <a:xfrm>
            <a:off x="8568558" y="1861993"/>
            <a:ext cx="3153103" cy="2039971"/>
          </a:xfrm>
          <a:prstGeom prst="roundRect">
            <a:avLst/>
          </a:prstGeom>
          <a:noFill/>
          <a:ln w="57150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rgbClr val="FFFFFF"/>
                </a:solidFill>
              </a:rPr>
              <a:t>model</a:t>
            </a:r>
          </a:p>
          <a:p>
            <a:pPr algn="ctr"/>
            <a:r>
              <a:rPr lang="en-US" sz="2800" b="1" dirty="0">
                <a:solidFill>
                  <a:srgbClr val="FFFFFF"/>
                </a:solidFill>
              </a:rPr>
              <a:t>company</a:t>
            </a:r>
          </a:p>
          <a:p>
            <a:pPr algn="ctr"/>
            <a:r>
              <a:rPr lang="en-US" sz="2800" b="1" dirty="0">
                <a:solidFill>
                  <a:srgbClr val="FFFFFF"/>
                </a:solidFill>
              </a:rPr>
              <a:t>year</a:t>
            </a:r>
          </a:p>
          <a:p>
            <a:pPr algn="ctr"/>
            <a:r>
              <a:rPr lang="en-US" sz="2800" b="1" dirty="0">
                <a:solidFill>
                  <a:srgbClr val="FFFFFF"/>
                </a:solidFill>
              </a:rPr>
              <a:t>color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8C33DCAD-2432-5D02-F2F4-F0F45CA1E37C}"/>
              </a:ext>
            </a:extLst>
          </p:cNvPr>
          <p:cNvSpPr/>
          <p:nvPr/>
        </p:nvSpPr>
        <p:spPr>
          <a:xfrm>
            <a:off x="8568558" y="4190844"/>
            <a:ext cx="3153103" cy="2260255"/>
          </a:xfrm>
          <a:prstGeom prst="roundRect">
            <a:avLst/>
          </a:prstGeom>
          <a:noFill/>
          <a:ln w="5715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rgbClr val="FFFFFF"/>
                </a:solidFill>
              </a:rPr>
              <a:t>brake</a:t>
            </a:r>
          </a:p>
          <a:p>
            <a:pPr algn="ctr"/>
            <a:r>
              <a:rPr lang="en-US" sz="2800" b="1" dirty="0">
                <a:solidFill>
                  <a:srgbClr val="FFFFFF"/>
                </a:solidFill>
              </a:rPr>
              <a:t>accelerate</a:t>
            </a:r>
          </a:p>
          <a:p>
            <a:pPr algn="ctr"/>
            <a:r>
              <a:rPr lang="en-US" sz="2800" b="1" dirty="0">
                <a:solidFill>
                  <a:srgbClr val="FFFFFF"/>
                </a:solidFill>
              </a:rPr>
              <a:t>open trunk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8647491-5A8A-6003-985D-28B0DC5DC762}"/>
              </a:ext>
            </a:extLst>
          </p:cNvPr>
          <p:cNvSpPr txBox="1"/>
          <p:nvPr/>
        </p:nvSpPr>
        <p:spPr>
          <a:xfrm>
            <a:off x="838200" y="604063"/>
            <a:ext cx="609600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dirty="0">
                <a:solidFill>
                  <a:srgbClr val="FFFFFF"/>
                </a:solidFill>
              </a:rPr>
              <a:t>model</a:t>
            </a:r>
            <a:r>
              <a:rPr lang="en-US" sz="1800" b="1" dirty="0">
                <a:solidFill>
                  <a:schemeClr val="accent2"/>
                </a:solidFill>
              </a:rPr>
              <a:t>:</a:t>
            </a:r>
            <a:r>
              <a:rPr lang="en-US" sz="1800" b="1" dirty="0">
                <a:solidFill>
                  <a:srgbClr val="FFFFFF"/>
                </a:solidFill>
              </a:rPr>
              <a:t> </a:t>
            </a:r>
            <a:r>
              <a:rPr lang="en-US" b="1" dirty="0">
                <a:solidFill>
                  <a:srgbClr val="FFFFFF"/>
                </a:solidFill>
              </a:rPr>
              <a:t>Sierra</a:t>
            </a:r>
            <a:endParaRPr lang="en-US" sz="1800" b="1" dirty="0">
              <a:solidFill>
                <a:srgbClr val="FFFFFF"/>
              </a:solidFill>
            </a:endParaRPr>
          </a:p>
          <a:p>
            <a:r>
              <a:rPr lang="en-US" sz="1800" b="1" dirty="0">
                <a:solidFill>
                  <a:srgbClr val="FFFFFF"/>
                </a:solidFill>
              </a:rPr>
              <a:t>year</a:t>
            </a:r>
            <a:r>
              <a:rPr lang="en-US" sz="1800" b="1" dirty="0">
                <a:solidFill>
                  <a:schemeClr val="accent2"/>
                </a:solidFill>
              </a:rPr>
              <a:t>:</a:t>
            </a:r>
            <a:r>
              <a:rPr lang="en-US" sz="1800" b="1" dirty="0">
                <a:solidFill>
                  <a:srgbClr val="FFFFFF"/>
                </a:solidFill>
              </a:rPr>
              <a:t> 2020</a:t>
            </a:r>
          </a:p>
          <a:p>
            <a:r>
              <a:rPr lang="en-US" b="1" dirty="0">
                <a:solidFill>
                  <a:srgbClr val="FFFFFF"/>
                </a:solidFill>
              </a:rPr>
              <a:t>tires: monster</a:t>
            </a:r>
            <a:endParaRPr lang="en-US" sz="1800" b="1" dirty="0">
              <a:solidFill>
                <a:srgbClr val="FFFFFF"/>
              </a:solidFill>
            </a:endParaRPr>
          </a:p>
          <a:p>
            <a:r>
              <a:rPr lang="en-US" sz="1800" b="1" dirty="0">
                <a:solidFill>
                  <a:srgbClr val="FFFFFF"/>
                </a:solidFill>
              </a:rPr>
              <a:t>color</a:t>
            </a:r>
            <a:r>
              <a:rPr lang="en-US" sz="1800" b="1" dirty="0">
                <a:solidFill>
                  <a:schemeClr val="accent2"/>
                </a:solidFill>
              </a:rPr>
              <a:t>:</a:t>
            </a:r>
            <a:r>
              <a:rPr lang="en-US" sz="1800" b="1" dirty="0">
                <a:solidFill>
                  <a:srgbClr val="FFFFFF"/>
                </a:solidFill>
              </a:rPr>
              <a:t> </a:t>
            </a:r>
            <a:r>
              <a:rPr lang="en-US" b="1" dirty="0">
                <a:solidFill>
                  <a:srgbClr val="FFFFFF"/>
                </a:solidFill>
              </a:rPr>
              <a:t>grey flame decals</a:t>
            </a:r>
          </a:p>
          <a:p>
            <a:endParaRPr lang="en-US" sz="1800" b="1" dirty="0">
              <a:solidFill>
                <a:srgbClr val="FFFFFF"/>
              </a:solidFill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75858013-32C4-CB88-DC1C-1A47391125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199" y="1756227"/>
            <a:ext cx="7640785" cy="5019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099974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68CAC0-75B6-4840-A8D8-E290AD6D01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Classes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C45ADAEC-08FE-4F9D-8441-6CFD19CCCBA8}"/>
              </a:ext>
            </a:extLst>
          </p:cNvPr>
          <p:cNvSpPr/>
          <p:nvPr/>
        </p:nvSpPr>
        <p:spPr>
          <a:xfrm>
            <a:off x="8568559" y="803077"/>
            <a:ext cx="3153103" cy="770036"/>
          </a:xfrm>
          <a:prstGeom prst="roundRect">
            <a:avLst/>
          </a:prstGeom>
          <a:noFill/>
          <a:ln w="5715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rgbClr val="FFFFFF"/>
                </a:solidFill>
              </a:rPr>
              <a:t>Car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C37995B0-58AE-4142-8AEC-6C75C6E1E57E}"/>
              </a:ext>
            </a:extLst>
          </p:cNvPr>
          <p:cNvSpPr/>
          <p:nvPr/>
        </p:nvSpPr>
        <p:spPr>
          <a:xfrm>
            <a:off x="8568558" y="1861993"/>
            <a:ext cx="3153103" cy="2039971"/>
          </a:xfrm>
          <a:prstGeom prst="roundRect">
            <a:avLst/>
          </a:prstGeom>
          <a:noFill/>
          <a:ln w="57150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rgbClr val="FFFFFF"/>
                </a:solidFill>
              </a:rPr>
              <a:t>model</a:t>
            </a:r>
          </a:p>
          <a:p>
            <a:pPr algn="ctr"/>
            <a:r>
              <a:rPr lang="en-US" sz="2800" b="1" dirty="0">
                <a:solidFill>
                  <a:srgbClr val="FFFFFF"/>
                </a:solidFill>
              </a:rPr>
              <a:t>company</a:t>
            </a:r>
          </a:p>
          <a:p>
            <a:pPr algn="ctr"/>
            <a:r>
              <a:rPr lang="en-US" sz="2800" b="1" dirty="0">
                <a:solidFill>
                  <a:srgbClr val="FFFFFF"/>
                </a:solidFill>
              </a:rPr>
              <a:t>year</a:t>
            </a:r>
          </a:p>
          <a:p>
            <a:pPr algn="ctr"/>
            <a:r>
              <a:rPr lang="en-US" sz="2800" b="1" dirty="0">
                <a:solidFill>
                  <a:srgbClr val="FFFFFF"/>
                </a:solidFill>
              </a:rPr>
              <a:t>color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08014D6F-7960-4D7F-B0FF-48AF8C3DF70A}"/>
              </a:ext>
            </a:extLst>
          </p:cNvPr>
          <p:cNvSpPr/>
          <p:nvPr/>
        </p:nvSpPr>
        <p:spPr>
          <a:xfrm>
            <a:off x="8568558" y="4190844"/>
            <a:ext cx="3153103" cy="2260255"/>
          </a:xfrm>
          <a:prstGeom prst="roundRect">
            <a:avLst/>
          </a:prstGeom>
          <a:noFill/>
          <a:ln w="5715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rgbClr val="FFFFFF"/>
                </a:solidFill>
              </a:rPr>
              <a:t>brake</a:t>
            </a:r>
          </a:p>
          <a:p>
            <a:pPr algn="ctr"/>
            <a:r>
              <a:rPr lang="en-US" sz="2800" b="1" dirty="0">
                <a:solidFill>
                  <a:srgbClr val="FFFFFF"/>
                </a:solidFill>
              </a:rPr>
              <a:t>accelerate</a:t>
            </a:r>
          </a:p>
          <a:p>
            <a:pPr algn="ctr"/>
            <a:r>
              <a:rPr lang="en-US" sz="2800" b="1" dirty="0">
                <a:solidFill>
                  <a:srgbClr val="FFFFFF"/>
                </a:solidFill>
              </a:rPr>
              <a:t>open trunk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7E61A21-D2D9-4066-BEFB-21DACD72A1C4}"/>
              </a:ext>
            </a:extLst>
          </p:cNvPr>
          <p:cNvSpPr txBox="1"/>
          <p:nvPr/>
        </p:nvSpPr>
        <p:spPr>
          <a:xfrm>
            <a:off x="103128" y="3981449"/>
            <a:ext cx="2650084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rgbClr val="FFFFFF"/>
                </a:solidFill>
              </a:rPr>
              <a:t>model</a:t>
            </a:r>
            <a:r>
              <a:rPr lang="en-US" sz="2400" b="1" dirty="0">
                <a:solidFill>
                  <a:schemeClr val="accent2"/>
                </a:solidFill>
              </a:rPr>
              <a:t>:</a:t>
            </a:r>
            <a:r>
              <a:rPr lang="en-US" sz="2400" b="1" dirty="0">
                <a:solidFill>
                  <a:srgbClr val="FFFFFF"/>
                </a:solidFill>
              </a:rPr>
              <a:t> Corolla</a:t>
            </a:r>
          </a:p>
          <a:p>
            <a:r>
              <a:rPr lang="en-US" sz="2400" b="1" dirty="0">
                <a:solidFill>
                  <a:srgbClr val="FFFFFF"/>
                </a:solidFill>
              </a:rPr>
              <a:t>company</a:t>
            </a:r>
            <a:r>
              <a:rPr lang="en-US" sz="2400" b="1" dirty="0">
                <a:solidFill>
                  <a:schemeClr val="accent2"/>
                </a:solidFill>
              </a:rPr>
              <a:t>:</a:t>
            </a:r>
            <a:r>
              <a:rPr lang="en-US" sz="2400" b="1" dirty="0">
                <a:solidFill>
                  <a:srgbClr val="FFFFFF"/>
                </a:solidFill>
              </a:rPr>
              <a:t> Toyota</a:t>
            </a:r>
          </a:p>
          <a:p>
            <a:r>
              <a:rPr lang="en-US" sz="2400" b="1" dirty="0">
                <a:solidFill>
                  <a:srgbClr val="FFFFFF"/>
                </a:solidFill>
              </a:rPr>
              <a:t>year</a:t>
            </a:r>
            <a:r>
              <a:rPr lang="en-US" sz="2400" b="1" dirty="0">
                <a:solidFill>
                  <a:schemeClr val="accent2"/>
                </a:solidFill>
              </a:rPr>
              <a:t>:</a:t>
            </a:r>
            <a:r>
              <a:rPr lang="en-US" sz="2400" b="1" dirty="0">
                <a:solidFill>
                  <a:srgbClr val="FFFFFF"/>
                </a:solidFill>
              </a:rPr>
              <a:t> 1980</a:t>
            </a:r>
          </a:p>
          <a:p>
            <a:r>
              <a:rPr lang="en-US" sz="2400" b="1" dirty="0">
                <a:solidFill>
                  <a:srgbClr val="FFFFFF"/>
                </a:solidFill>
              </a:rPr>
              <a:t>color</a:t>
            </a:r>
            <a:r>
              <a:rPr lang="en-US" sz="2400" b="1" dirty="0">
                <a:solidFill>
                  <a:schemeClr val="accent2"/>
                </a:solidFill>
              </a:rPr>
              <a:t>:</a:t>
            </a:r>
            <a:r>
              <a:rPr lang="en-US" sz="2400" b="1" dirty="0">
                <a:solidFill>
                  <a:srgbClr val="FFFFFF"/>
                </a:solidFill>
              </a:rPr>
              <a:t> red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ADA4471-B59D-4322-8953-2C60CC083C7A}"/>
              </a:ext>
            </a:extLst>
          </p:cNvPr>
          <p:cNvSpPr txBox="1"/>
          <p:nvPr/>
        </p:nvSpPr>
        <p:spPr>
          <a:xfrm>
            <a:off x="2902628" y="1339755"/>
            <a:ext cx="1954924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accent6"/>
                </a:solidFill>
              </a:rPr>
              <a:t>Instances </a:t>
            </a:r>
            <a:r>
              <a:rPr lang="en-US" sz="2000" dirty="0">
                <a:solidFill>
                  <a:schemeClr val="accent1"/>
                </a:solidFill>
              </a:rPr>
              <a:t>(</a:t>
            </a:r>
            <a:r>
              <a:rPr lang="en-US" sz="2000" dirty="0">
                <a:solidFill>
                  <a:schemeClr val="accent6"/>
                </a:solidFill>
              </a:rPr>
              <a:t>objects</a:t>
            </a:r>
            <a:r>
              <a:rPr lang="en-US" sz="2000" dirty="0">
                <a:solidFill>
                  <a:schemeClr val="accent1"/>
                </a:solidFill>
              </a:rPr>
              <a:t>)</a:t>
            </a:r>
            <a:r>
              <a:rPr lang="en-US" sz="2000" dirty="0">
                <a:solidFill>
                  <a:schemeClr val="accent6"/>
                </a:solidFill>
              </a:rPr>
              <a:t> of the </a:t>
            </a:r>
            <a:r>
              <a:rPr lang="en-US" sz="2000" b="1" dirty="0">
                <a:solidFill>
                  <a:srgbClr val="FFFFFF"/>
                </a:solidFill>
              </a:rPr>
              <a:t>Car</a:t>
            </a:r>
            <a:r>
              <a:rPr lang="en-US" sz="2000" dirty="0">
                <a:solidFill>
                  <a:schemeClr val="accent6"/>
                </a:solidFill>
              </a:rPr>
              <a:t> class</a:t>
            </a:r>
            <a:r>
              <a:rPr lang="en-US" sz="2000" dirty="0">
                <a:solidFill>
                  <a:schemeClr val="accent1"/>
                </a:solidFill>
              </a:rPr>
              <a:t>.</a:t>
            </a:r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522C33B0-6BFF-4306-AA90-544792DE922D}"/>
              </a:ext>
            </a:extLst>
          </p:cNvPr>
          <p:cNvCxnSpPr>
            <a:cxnSpLocks/>
          </p:cNvCxnSpPr>
          <p:nvPr/>
        </p:nvCxnSpPr>
        <p:spPr>
          <a:xfrm flipH="1">
            <a:off x="2325414" y="2230821"/>
            <a:ext cx="577214" cy="181303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20CF4741-13AD-4477-B006-AEBEED073583}"/>
              </a:ext>
            </a:extLst>
          </p:cNvPr>
          <p:cNvCxnSpPr>
            <a:cxnSpLocks/>
            <a:stCxn id="13" idx="2"/>
          </p:cNvCxnSpPr>
          <p:nvPr/>
        </p:nvCxnSpPr>
        <p:spPr>
          <a:xfrm>
            <a:off x="3880090" y="2355418"/>
            <a:ext cx="211062" cy="1349479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1F690D3D-29E8-4CD6-B67D-69AF5F895BEE}"/>
              </a:ext>
            </a:extLst>
          </p:cNvPr>
          <p:cNvCxnSpPr>
            <a:cxnSpLocks/>
          </p:cNvCxnSpPr>
          <p:nvPr/>
        </p:nvCxnSpPr>
        <p:spPr>
          <a:xfrm>
            <a:off x="4154214" y="1573113"/>
            <a:ext cx="1113599" cy="74384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056" name="Picture 8">
            <a:extLst>
              <a:ext uri="{FF2B5EF4-FFF2-40B4-BE49-F238E27FC236}">
                <a16:creationId xmlns:a16="http://schemas.microsoft.com/office/drawing/2014/main" id="{9579396F-B932-4BC6-B6F9-47A2C5CCF77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6701" y="2355418"/>
            <a:ext cx="2507096" cy="15696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60" name="Picture 12" descr="Blue Car Clip Art at Clker.com - vector clip art online, royalty free &amp;amp;  public domain">
            <a:extLst>
              <a:ext uri="{FF2B5EF4-FFF2-40B4-BE49-F238E27FC236}">
                <a16:creationId xmlns:a16="http://schemas.microsoft.com/office/drawing/2014/main" id="{7C41D54A-752A-4240-83EB-AD12C1784BC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66189" y="769300"/>
            <a:ext cx="2857500" cy="12287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64" name="Picture 16" descr="Vw Bulli Camping Bus - Free photo on Pixabay">
            <a:extLst>
              <a:ext uri="{FF2B5EF4-FFF2-40B4-BE49-F238E27FC236}">
                <a16:creationId xmlns:a16="http://schemas.microsoft.com/office/drawing/2014/main" id="{A6B57B64-A693-4C30-9454-2A02921745F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67193" y="3625682"/>
            <a:ext cx="2913341" cy="14141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0" name="TextBox 39">
            <a:extLst>
              <a:ext uri="{FF2B5EF4-FFF2-40B4-BE49-F238E27FC236}">
                <a16:creationId xmlns:a16="http://schemas.microsoft.com/office/drawing/2014/main" id="{278DFABA-DB9C-4E04-AF4E-E3D21148E276}"/>
              </a:ext>
            </a:extLst>
          </p:cNvPr>
          <p:cNvSpPr txBox="1"/>
          <p:nvPr/>
        </p:nvSpPr>
        <p:spPr>
          <a:xfrm>
            <a:off x="2967193" y="5039865"/>
            <a:ext cx="3394904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rgbClr val="FFFFFF"/>
                </a:solidFill>
              </a:rPr>
              <a:t>model</a:t>
            </a:r>
            <a:r>
              <a:rPr lang="en-US" sz="2400" b="1" dirty="0">
                <a:solidFill>
                  <a:schemeClr val="accent2"/>
                </a:solidFill>
              </a:rPr>
              <a:t>:</a:t>
            </a:r>
            <a:r>
              <a:rPr lang="en-US" sz="2400" b="1" dirty="0">
                <a:solidFill>
                  <a:srgbClr val="FFFFFF"/>
                </a:solidFill>
              </a:rPr>
              <a:t> Bus</a:t>
            </a:r>
          </a:p>
          <a:p>
            <a:r>
              <a:rPr lang="en-US" sz="2400" b="1" dirty="0">
                <a:solidFill>
                  <a:srgbClr val="FFFFFF"/>
                </a:solidFill>
              </a:rPr>
              <a:t>company</a:t>
            </a:r>
            <a:r>
              <a:rPr lang="en-US" sz="2400" b="1" dirty="0">
                <a:solidFill>
                  <a:schemeClr val="accent2"/>
                </a:solidFill>
              </a:rPr>
              <a:t>:</a:t>
            </a:r>
            <a:r>
              <a:rPr lang="en-US" sz="2400" b="1" dirty="0">
                <a:solidFill>
                  <a:srgbClr val="FFFFFF"/>
                </a:solidFill>
              </a:rPr>
              <a:t> Volkswagen</a:t>
            </a:r>
          </a:p>
          <a:p>
            <a:r>
              <a:rPr lang="en-US" sz="2400" b="1" dirty="0">
                <a:solidFill>
                  <a:srgbClr val="FFFFFF"/>
                </a:solidFill>
              </a:rPr>
              <a:t>year</a:t>
            </a:r>
            <a:r>
              <a:rPr lang="en-US" sz="2400" b="1" dirty="0">
                <a:solidFill>
                  <a:schemeClr val="accent2"/>
                </a:solidFill>
              </a:rPr>
              <a:t>:</a:t>
            </a:r>
            <a:r>
              <a:rPr lang="en-US" sz="2400" b="1" dirty="0">
                <a:solidFill>
                  <a:srgbClr val="FFFFFF"/>
                </a:solidFill>
              </a:rPr>
              <a:t> 1976</a:t>
            </a:r>
          </a:p>
          <a:p>
            <a:r>
              <a:rPr lang="en-US" sz="2400" b="1" dirty="0">
                <a:solidFill>
                  <a:srgbClr val="FFFFFF"/>
                </a:solidFill>
              </a:rPr>
              <a:t>color</a:t>
            </a:r>
            <a:r>
              <a:rPr lang="en-US" sz="2400" b="1" dirty="0">
                <a:solidFill>
                  <a:schemeClr val="accent2"/>
                </a:solidFill>
              </a:rPr>
              <a:t>:</a:t>
            </a:r>
            <a:r>
              <a:rPr lang="en-US" sz="2400" b="1" dirty="0">
                <a:solidFill>
                  <a:srgbClr val="FFFFFF"/>
                </a:solidFill>
              </a:rPr>
              <a:t> orange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1A1A1814-97B9-4709-AB10-B7835AB25339}"/>
              </a:ext>
            </a:extLst>
          </p:cNvPr>
          <p:cNvSpPr txBox="1"/>
          <p:nvPr/>
        </p:nvSpPr>
        <p:spPr>
          <a:xfrm>
            <a:off x="5267813" y="1995119"/>
            <a:ext cx="2454518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rgbClr val="FFFFFF"/>
                </a:solidFill>
              </a:rPr>
              <a:t>model</a:t>
            </a:r>
            <a:r>
              <a:rPr lang="en-US" sz="2400" b="1" dirty="0">
                <a:solidFill>
                  <a:schemeClr val="accent2"/>
                </a:solidFill>
              </a:rPr>
              <a:t>:</a:t>
            </a:r>
            <a:r>
              <a:rPr lang="en-US" sz="2400" b="1" dirty="0">
                <a:solidFill>
                  <a:srgbClr val="FFFFFF"/>
                </a:solidFill>
              </a:rPr>
              <a:t> Model S</a:t>
            </a:r>
          </a:p>
          <a:p>
            <a:r>
              <a:rPr lang="en-US" sz="2400" b="1" dirty="0">
                <a:solidFill>
                  <a:srgbClr val="FFFFFF"/>
                </a:solidFill>
              </a:rPr>
              <a:t>company</a:t>
            </a:r>
            <a:r>
              <a:rPr lang="en-US" sz="2400" b="1" dirty="0">
                <a:solidFill>
                  <a:schemeClr val="accent2"/>
                </a:solidFill>
              </a:rPr>
              <a:t>:</a:t>
            </a:r>
            <a:r>
              <a:rPr lang="en-US" sz="2400" b="1" dirty="0">
                <a:solidFill>
                  <a:srgbClr val="FFFFFF"/>
                </a:solidFill>
              </a:rPr>
              <a:t> Tesla</a:t>
            </a:r>
          </a:p>
          <a:p>
            <a:r>
              <a:rPr lang="en-US" sz="2400" b="1" dirty="0">
                <a:solidFill>
                  <a:srgbClr val="FFFFFF"/>
                </a:solidFill>
              </a:rPr>
              <a:t>year</a:t>
            </a:r>
            <a:r>
              <a:rPr lang="en-US" sz="2400" b="1" dirty="0">
                <a:solidFill>
                  <a:schemeClr val="accent2"/>
                </a:solidFill>
              </a:rPr>
              <a:t>:</a:t>
            </a:r>
            <a:r>
              <a:rPr lang="en-US" sz="2400" b="1" dirty="0">
                <a:solidFill>
                  <a:srgbClr val="FFFFFF"/>
                </a:solidFill>
              </a:rPr>
              <a:t> 2017</a:t>
            </a:r>
          </a:p>
          <a:p>
            <a:r>
              <a:rPr lang="en-US" sz="2400" b="1" dirty="0">
                <a:solidFill>
                  <a:srgbClr val="FFFFFF"/>
                </a:solidFill>
              </a:rPr>
              <a:t>color</a:t>
            </a:r>
            <a:r>
              <a:rPr lang="en-US" sz="2400" b="1" dirty="0">
                <a:solidFill>
                  <a:schemeClr val="accent2"/>
                </a:solidFill>
              </a:rPr>
              <a:t>:</a:t>
            </a:r>
            <a:r>
              <a:rPr lang="en-US" sz="2400" b="1" dirty="0">
                <a:solidFill>
                  <a:srgbClr val="FFFFFF"/>
                </a:solidFill>
              </a:rPr>
              <a:t> blue</a:t>
            </a:r>
          </a:p>
        </p:txBody>
      </p:sp>
    </p:spTree>
    <p:extLst>
      <p:ext uri="{BB962C8B-B14F-4D97-AF65-F5344CB8AC3E}">
        <p14:creationId xmlns:p14="http://schemas.microsoft.com/office/powerpoint/2010/main" val="196321438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68CAC0-75B6-4840-A8D8-E290AD6D01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Classes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C45ADAEC-08FE-4F9D-8441-6CFD19CCCBA8}"/>
              </a:ext>
            </a:extLst>
          </p:cNvPr>
          <p:cNvSpPr/>
          <p:nvPr/>
        </p:nvSpPr>
        <p:spPr>
          <a:xfrm>
            <a:off x="8568559" y="803077"/>
            <a:ext cx="3153103" cy="770036"/>
          </a:xfrm>
          <a:prstGeom prst="roundRect">
            <a:avLst/>
          </a:prstGeom>
          <a:noFill/>
          <a:ln w="5715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rgbClr val="FFFFFF"/>
                </a:solidFill>
              </a:rPr>
              <a:t>Person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C37995B0-58AE-4142-8AEC-6C75C6E1E57E}"/>
              </a:ext>
            </a:extLst>
          </p:cNvPr>
          <p:cNvSpPr/>
          <p:nvPr/>
        </p:nvSpPr>
        <p:spPr>
          <a:xfrm>
            <a:off x="8568558" y="1861993"/>
            <a:ext cx="3153103" cy="2039971"/>
          </a:xfrm>
          <a:prstGeom prst="roundRect">
            <a:avLst/>
          </a:prstGeom>
          <a:noFill/>
          <a:ln w="57150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rgbClr val="FFFFFF"/>
                </a:solidFill>
              </a:rPr>
              <a:t>name</a:t>
            </a:r>
          </a:p>
          <a:p>
            <a:pPr algn="ctr"/>
            <a:r>
              <a:rPr lang="en-US" sz="2800" b="1" dirty="0">
                <a:solidFill>
                  <a:srgbClr val="FFFFFF"/>
                </a:solidFill>
              </a:rPr>
              <a:t>age</a:t>
            </a:r>
          </a:p>
          <a:p>
            <a:pPr algn="ctr"/>
            <a:r>
              <a:rPr lang="en-US" sz="2800" b="1" dirty="0">
                <a:solidFill>
                  <a:srgbClr val="FFFFFF"/>
                </a:solidFill>
              </a:rPr>
              <a:t>city</a:t>
            </a:r>
          </a:p>
          <a:p>
            <a:pPr algn="ctr"/>
            <a:r>
              <a:rPr lang="en-US" sz="2800" b="1" dirty="0">
                <a:solidFill>
                  <a:srgbClr val="FFFFFF"/>
                </a:solidFill>
              </a:rPr>
              <a:t>gender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08014D6F-7960-4D7F-B0FF-48AF8C3DF70A}"/>
              </a:ext>
            </a:extLst>
          </p:cNvPr>
          <p:cNvSpPr/>
          <p:nvPr/>
        </p:nvSpPr>
        <p:spPr>
          <a:xfrm>
            <a:off x="8568558" y="4190844"/>
            <a:ext cx="3153103" cy="2260255"/>
          </a:xfrm>
          <a:prstGeom prst="roundRect">
            <a:avLst/>
          </a:prstGeom>
          <a:noFill/>
          <a:ln w="5715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rgbClr val="FFFFFF"/>
                </a:solidFill>
              </a:rPr>
              <a:t>eat</a:t>
            </a:r>
          </a:p>
          <a:p>
            <a:pPr algn="ctr"/>
            <a:r>
              <a:rPr lang="en-US" sz="2800" b="1" dirty="0">
                <a:solidFill>
                  <a:srgbClr val="FFFFFF"/>
                </a:solidFill>
              </a:rPr>
              <a:t>study</a:t>
            </a:r>
          </a:p>
          <a:p>
            <a:pPr algn="ctr"/>
            <a:r>
              <a:rPr lang="en-US" sz="2800" b="1" dirty="0">
                <a:solidFill>
                  <a:srgbClr val="FFFFFF"/>
                </a:solidFill>
              </a:rPr>
              <a:t>sleep</a:t>
            </a:r>
          </a:p>
          <a:p>
            <a:pPr algn="ctr"/>
            <a:r>
              <a:rPr lang="en-US" sz="2800" b="1" dirty="0">
                <a:solidFill>
                  <a:srgbClr val="FFFFFF"/>
                </a:solidFill>
              </a:rPr>
              <a:t>play</a:t>
            </a:r>
          </a:p>
        </p:txBody>
      </p:sp>
      <p:pic>
        <p:nvPicPr>
          <p:cNvPr id="2052" name="Picture 4" descr="Download Free png Free icons designed by Freepik | Flaticon - DLPNG.com">
            <a:extLst>
              <a:ext uri="{FF2B5EF4-FFF2-40B4-BE49-F238E27FC236}">
                <a16:creationId xmlns:a16="http://schemas.microsoft.com/office/drawing/2014/main" id="{21564951-FDB3-4C85-B75B-8BF4D401589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7402" t="1418" r="35563" b="65481"/>
          <a:stretch/>
        </p:blipFill>
        <p:spPr bwMode="auto">
          <a:xfrm>
            <a:off x="320534" y="1476734"/>
            <a:ext cx="2412125" cy="27762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" name="Picture 4" descr="Download Free png Free icons designed by Freepik | Flaticon - DLPNG.com">
            <a:extLst>
              <a:ext uri="{FF2B5EF4-FFF2-40B4-BE49-F238E27FC236}">
                <a16:creationId xmlns:a16="http://schemas.microsoft.com/office/drawing/2014/main" id="{95FA9263-A69C-446B-AFD5-AE72A76FD8F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9494" t="66665"/>
          <a:stretch/>
        </p:blipFill>
        <p:spPr bwMode="auto">
          <a:xfrm>
            <a:off x="4968599" y="220439"/>
            <a:ext cx="2721845" cy="27958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" name="Picture 4" descr="Download Free png Free icons designed by Freepik | Flaticon - DLPNG.com">
            <a:extLst>
              <a:ext uri="{FF2B5EF4-FFF2-40B4-BE49-F238E27FC236}">
                <a16:creationId xmlns:a16="http://schemas.microsoft.com/office/drawing/2014/main" id="{B4A46116-4CA4-4928-90E5-8FBBA492F71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8161" b="66899"/>
          <a:stretch/>
        </p:blipFill>
        <p:spPr bwMode="auto">
          <a:xfrm>
            <a:off x="2719533" y="2546992"/>
            <a:ext cx="2840809" cy="27762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77E61A21-D2D9-4066-BEFB-21DACD72A1C4}"/>
              </a:ext>
            </a:extLst>
          </p:cNvPr>
          <p:cNvSpPr txBox="1"/>
          <p:nvPr/>
        </p:nvSpPr>
        <p:spPr>
          <a:xfrm>
            <a:off x="512358" y="3753534"/>
            <a:ext cx="2486065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rgbClr val="FFFFFF"/>
                </a:solidFill>
              </a:rPr>
              <a:t>name</a:t>
            </a:r>
            <a:r>
              <a:rPr lang="en-US" sz="2400" b="1" dirty="0">
                <a:solidFill>
                  <a:schemeClr val="accent2"/>
                </a:solidFill>
              </a:rPr>
              <a:t>:</a:t>
            </a:r>
            <a:r>
              <a:rPr lang="en-US" sz="2400" b="1" dirty="0">
                <a:solidFill>
                  <a:srgbClr val="FFFFFF"/>
                </a:solidFill>
              </a:rPr>
              <a:t> June</a:t>
            </a:r>
          </a:p>
          <a:p>
            <a:r>
              <a:rPr lang="en-US" sz="2400" b="1" dirty="0">
                <a:solidFill>
                  <a:srgbClr val="FFFFFF"/>
                </a:solidFill>
              </a:rPr>
              <a:t>age</a:t>
            </a:r>
            <a:r>
              <a:rPr lang="en-US" sz="2400" b="1" dirty="0">
                <a:solidFill>
                  <a:schemeClr val="accent2"/>
                </a:solidFill>
              </a:rPr>
              <a:t>:</a:t>
            </a:r>
            <a:r>
              <a:rPr lang="en-US" sz="2400" b="1" dirty="0">
                <a:solidFill>
                  <a:srgbClr val="FFFFFF"/>
                </a:solidFill>
              </a:rPr>
              <a:t> 34</a:t>
            </a:r>
          </a:p>
          <a:p>
            <a:r>
              <a:rPr lang="en-US" sz="2400" b="1" dirty="0">
                <a:solidFill>
                  <a:srgbClr val="FFFFFF"/>
                </a:solidFill>
              </a:rPr>
              <a:t>city</a:t>
            </a:r>
            <a:r>
              <a:rPr lang="en-US" sz="2400" b="1" dirty="0">
                <a:solidFill>
                  <a:schemeClr val="accent2"/>
                </a:solidFill>
              </a:rPr>
              <a:t>:</a:t>
            </a:r>
            <a:r>
              <a:rPr lang="en-US" sz="2400" b="1" dirty="0">
                <a:solidFill>
                  <a:srgbClr val="FFFFFF"/>
                </a:solidFill>
              </a:rPr>
              <a:t> Ottawa</a:t>
            </a:r>
          </a:p>
          <a:p>
            <a:r>
              <a:rPr lang="en-US" sz="2400" b="1" dirty="0">
                <a:solidFill>
                  <a:srgbClr val="FFFFFF"/>
                </a:solidFill>
              </a:rPr>
              <a:t>gender</a:t>
            </a:r>
            <a:r>
              <a:rPr lang="en-US" sz="2400" b="1" dirty="0">
                <a:solidFill>
                  <a:schemeClr val="accent2"/>
                </a:solidFill>
              </a:rPr>
              <a:t>:</a:t>
            </a:r>
            <a:r>
              <a:rPr lang="en-US" sz="2400" b="1" dirty="0">
                <a:solidFill>
                  <a:srgbClr val="FFFFFF"/>
                </a:solidFill>
              </a:rPr>
              <a:t> she</a:t>
            </a:r>
            <a:r>
              <a:rPr lang="en-US" sz="2400" b="1" dirty="0">
                <a:solidFill>
                  <a:schemeClr val="accent6"/>
                </a:solidFill>
              </a:rPr>
              <a:t>/</a:t>
            </a:r>
            <a:r>
              <a:rPr lang="en-US" sz="2400" b="1" dirty="0">
                <a:solidFill>
                  <a:srgbClr val="FFFFFF"/>
                </a:solidFill>
              </a:rPr>
              <a:t>her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DC30413-2C42-4459-81FD-A632536C545D}"/>
              </a:ext>
            </a:extLst>
          </p:cNvPr>
          <p:cNvSpPr txBox="1"/>
          <p:nvPr/>
        </p:nvSpPr>
        <p:spPr>
          <a:xfrm>
            <a:off x="3413791" y="4949185"/>
            <a:ext cx="2433167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rgbClr val="FFFFFF"/>
                </a:solidFill>
              </a:rPr>
              <a:t>name</a:t>
            </a:r>
            <a:r>
              <a:rPr lang="en-US" sz="2400" b="1" dirty="0">
                <a:solidFill>
                  <a:schemeClr val="accent2"/>
                </a:solidFill>
              </a:rPr>
              <a:t>:</a:t>
            </a:r>
            <a:r>
              <a:rPr lang="en-US" sz="2400" b="1" dirty="0">
                <a:solidFill>
                  <a:srgbClr val="FFFFFF"/>
                </a:solidFill>
              </a:rPr>
              <a:t> Ted</a:t>
            </a:r>
          </a:p>
          <a:p>
            <a:r>
              <a:rPr lang="en-US" sz="2400" b="1" dirty="0">
                <a:solidFill>
                  <a:srgbClr val="FFFFFF"/>
                </a:solidFill>
              </a:rPr>
              <a:t>age</a:t>
            </a:r>
            <a:r>
              <a:rPr lang="en-US" sz="2400" b="1" dirty="0">
                <a:solidFill>
                  <a:schemeClr val="accent2"/>
                </a:solidFill>
              </a:rPr>
              <a:t>:</a:t>
            </a:r>
            <a:r>
              <a:rPr lang="en-US" sz="2400" b="1" dirty="0">
                <a:solidFill>
                  <a:srgbClr val="FFFFFF"/>
                </a:solidFill>
              </a:rPr>
              <a:t> 31</a:t>
            </a:r>
          </a:p>
          <a:p>
            <a:r>
              <a:rPr lang="en-US" sz="2400" b="1" dirty="0">
                <a:solidFill>
                  <a:srgbClr val="FFFFFF"/>
                </a:solidFill>
              </a:rPr>
              <a:t>city</a:t>
            </a:r>
            <a:r>
              <a:rPr lang="en-US" sz="2400" b="1" dirty="0">
                <a:solidFill>
                  <a:schemeClr val="accent2"/>
                </a:solidFill>
              </a:rPr>
              <a:t>:</a:t>
            </a:r>
            <a:r>
              <a:rPr lang="en-US" sz="2400" b="1" dirty="0">
                <a:solidFill>
                  <a:srgbClr val="FFFFFF"/>
                </a:solidFill>
              </a:rPr>
              <a:t> Kingston</a:t>
            </a:r>
          </a:p>
          <a:p>
            <a:r>
              <a:rPr lang="en-US" sz="2400" b="1" dirty="0">
                <a:solidFill>
                  <a:srgbClr val="FFFFFF"/>
                </a:solidFill>
              </a:rPr>
              <a:t>gender</a:t>
            </a:r>
            <a:r>
              <a:rPr lang="en-US" sz="2400" b="1" dirty="0">
                <a:solidFill>
                  <a:schemeClr val="accent2"/>
                </a:solidFill>
              </a:rPr>
              <a:t>:</a:t>
            </a:r>
            <a:r>
              <a:rPr lang="en-US" sz="2400" b="1" dirty="0">
                <a:solidFill>
                  <a:srgbClr val="FFFFFF"/>
                </a:solidFill>
              </a:rPr>
              <a:t> he</a:t>
            </a:r>
            <a:r>
              <a:rPr lang="en-US" sz="2400" b="1" dirty="0">
                <a:solidFill>
                  <a:schemeClr val="accent6"/>
                </a:solidFill>
              </a:rPr>
              <a:t>/</a:t>
            </a:r>
            <a:r>
              <a:rPr lang="en-US" sz="2400" b="1" dirty="0">
                <a:solidFill>
                  <a:srgbClr val="FFFFFF"/>
                </a:solidFill>
              </a:rPr>
              <a:t>him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81767E2-4D42-44C6-99F0-953B5BD92191}"/>
              </a:ext>
            </a:extLst>
          </p:cNvPr>
          <p:cNvSpPr txBox="1"/>
          <p:nvPr/>
        </p:nvSpPr>
        <p:spPr>
          <a:xfrm>
            <a:off x="5429190" y="2621184"/>
            <a:ext cx="2917273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rgbClr val="FFFFFF"/>
                </a:solidFill>
              </a:rPr>
              <a:t>name</a:t>
            </a:r>
            <a:r>
              <a:rPr lang="en-US" sz="2400" b="1" dirty="0">
                <a:solidFill>
                  <a:schemeClr val="accent2"/>
                </a:solidFill>
              </a:rPr>
              <a:t>:</a:t>
            </a:r>
            <a:r>
              <a:rPr lang="en-US" sz="2400" b="1" dirty="0">
                <a:solidFill>
                  <a:srgbClr val="FFFFFF"/>
                </a:solidFill>
              </a:rPr>
              <a:t> Majid</a:t>
            </a:r>
          </a:p>
          <a:p>
            <a:r>
              <a:rPr lang="en-US" sz="2400" b="1" dirty="0">
                <a:solidFill>
                  <a:srgbClr val="FFFFFF"/>
                </a:solidFill>
              </a:rPr>
              <a:t>age</a:t>
            </a:r>
            <a:r>
              <a:rPr lang="en-US" sz="2400" b="1" dirty="0">
                <a:solidFill>
                  <a:schemeClr val="accent2"/>
                </a:solidFill>
              </a:rPr>
              <a:t>:</a:t>
            </a:r>
            <a:r>
              <a:rPr lang="en-US" sz="2400" b="1" dirty="0">
                <a:solidFill>
                  <a:srgbClr val="FFFFFF"/>
                </a:solidFill>
              </a:rPr>
              <a:t> 28</a:t>
            </a:r>
          </a:p>
          <a:p>
            <a:r>
              <a:rPr lang="en-US" sz="2400" b="1" dirty="0">
                <a:solidFill>
                  <a:srgbClr val="FFFFFF"/>
                </a:solidFill>
              </a:rPr>
              <a:t>city</a:t>
            </a:r>
            <a:r>
              <a:rPr lang="en-US" sz="2400" b="1" dirty="0">
                <a:solidFill>
                  <a:schemeClr val="accent2"/>
                </a:solidFill>
              </a:rPr>
              <a:t>:</a:t>
            </a:r>
            <a:r>
              <a:rPr lang="en-US" sz="2400" b="1" dirty="0">
                <a:solidFill>
                  <a:srgbClr val="FFFFFF"/>
                </a:solidFill>
              </a:rPr>
              <a:t> Toronto</a:t>
            </a:r>
          </a:p>
          <a:p>
            <a:r>
              <a:rPr lang="en-US" sz="2400" b="1" dirty="0">
                <a:solidFill>
                  <a:srgbClr val="FFFFFF"/>
                </a:solidFill>
              </a:rPr>
              <a:t>gender</a:t>
            </a:r>
            <a:r>
              <a:rPr lang="en-US" sz="2400" b="1" dirty="0">
                <a:solidFill>
                  <a:schemeClr val="accent2"/>
                </a:solidFill>
              </a:rPr>
              <a:t>:</a:t>
            </a:r>
            <a:r>
              <a:rPr lang="en-US" sz="2400" b="1" dirty="0">
                <a:solidFill>
                  <a:srgbClr val="FFFFFF"/>
                </a:solidFill>
              </a:rPr>
              <a:t> they</a:t>
            </a:r>
            <a:r>
              <a:rPr lang="en-US" sz="2400" b="1" dirty="0">
                <a:solidFill>
                  <a:schemeClr val="accent6"/>
                </a:solidFill>
              </a:rPr>
              <a:t>/</a:t>
            </a:r>
            <a:r>
              <a:rPr lang="en-US" sz="2400" b="1" dirty="0">
                <a:solidFill>
                  <a:srgbClr val="FFFFFF"/>
                </a:solidFill>
              </a:rPr>
              <a:t>them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ADA4471-B59D-4322-8953-2C60CC083C7A}"/>
              </a:ext>
            </a:extLst>
          </p:cNvPr>
          <p:cNvSpPr txBox="1"/>
          <p:nvPr/>
        </p:nvSpPr>
        <p:spPr>
          <a:xfrm>
            <a:off x="2902628" y="1339755"/>
            <a:ext cx="1954924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accent6"/>
                </a:solidFill>
              </a:rPr>
              <a:t>Instances </a:t>
            </a:r>
            <a:r>
              <a:rPr lang="en-US" sz="2000" dirty="0">
                <a:solidFill>
                  <a:schemeClr val="accent1"/>
                </a:solidFill>
              </a:rPr>
              <a:t>(</a:t>
            </a:r>
            <a:r>
              <a:rPr lang="en-US" sz="2000" dirty="0">
                <a:solidFill>
                  <a:schemeClr val="accent6"/>
                </a:solidFill>
              </a:rPr>
              <a:t>objects</a:t>
            </a:r>
            <a:r>
              <a:rPr lang="en-US" sz="2000" dirty="0">
                <a:solidFill>
                  <a:schemeClr val="accent1"/>
                </a:solidFill>
              </a:rPr>
              <a:t>)</a:t>
            </a:r>
            <a:r>
              <a:rPr lang="en-US" sz="2000" dirty="0">
                <a:solidFill>
                  <a:schemeClr val="accent6"/>
                </a:solidFill>
              </a:rPr>
              <a:t> of the </a:t>
            </a:r>
            <a:r>
              <a:rPr lang="en-US" sz="2000" b="1" dirty="0">
                <a:solidFill>
                  <a:srgbClr val="FFFFFF"/>
                </a:solidFill>
              </a:rPr>
              <a:t>Person</a:t>
            </a:r>
            <a:r>
              <a:rPr lang="en-US" sz="2000" dirty="0">
                <a:solidFill>
                  <a:schemeClr val="accent6"/>
                </a:solidFill>
              </a:rPr>
              <a:t> class</a:t>
            </a:r>
            <a:r>
              <a:rPr lang="en-US" sz="2000" dirty="0">
                <a:solidFill>
                  <a:schemeClr val="accent1"/>
                </a:solidFill>
              </a:rPr>
              <a:t>.</a:t>
            </a:r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522C33B0-6BFF-4306-AA90-544792DE922D}"/>
              </a:ext>
            </a:extLst>
          </p:cNvPr>
          <p:cNvCxnSpPr>
            <a:cxnSpLocks/>
            <a:stCxn id="13" idx="1"/>
          </p:cNvCxnSpPr>
          <p:nvPr/>
        </p:nvCxnSpPr>
        <p:spPr>
          <a:xfrm flipH="1">
            <a:off x="2201454" y="1847587"/>
            <a:ext cx="701174" cy="315353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20CF4741-13AD-4477-B006-AEBEED073583}"/>
              </a:ext>
            </a:extLst>
          </p:cNvPr>
          <p:cNvCxnSpPr>
            <a:cxnSpLocks/>
            <a:stCxn id="13" idx="2"/>
          </p:cNvCxnSpPr>
          <p:nvPr/>
        </p:nvCxnSpPr>
        <p:spPr>
          <a:xfrm>
            <a:off x="3880090" y="2355418"/>
            <a:ext cx="148000" cy="565863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1F690D3D-29E8-4CD6-B67D-69AF5F895BEE}"/>
              </a:ext>
            </a:extLst>
          </p:cNvPr>
          <p:cNvCxnSpPr>
            <a:cxnSpLocks/>
          </p:cNvCxnSpPr>
          <p:nvPr/>
        </p:nvCxnSpPr>
        <p:spPr>
          <a:xfrm>
            <a:off x="4769069" y="1939159"/>
            <a:ext cx="891799" cy="307427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9736314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68CAC0-75B6-4840-A8D8-E290AD6D01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Classes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C45ADAEC-08FE-4F9D-8441-6CFD19CCCBA8}"/>
              </a:ext>
            </a:extLst>
          </p:cNvPr>
          <p:cNvSpPr/>
          <p:nvPr/>
        </p:nvSpPr>
        <p:spPr>
          <a:xfrm>
            <a:off x="8568559" y="803077"/>
            <a:ext cx="3153103" cy="770036"/>
          </a:xfrm>
          <a:prstGeom prst="roundRect">
            <a:avLst/>
          </a:prstGeom>
          <a:noFill/>
          <a:ln w="5715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rgbClr val="FFFFFF"/>
                </a:solidFill>
              </a:rPr>
              <a:t>Turtle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C37995B0-58AE-4142-8AEC-6C75C6E1E57E}"/>
              </a:ext>
            </a:extLst>
          </p:cNvPr>
          <p:cNvSpPr/>
          <p:nvPr/>
        </p:nvSpPr>
        <p:spPr>
          <a:xfrm>
            <a:off x="8568558" y="1861993"/>
            <a:ext cx="3153103" cy="2039971"/>
          </a:xfrm>
          <a:prstGeom prst="roundRect">
            <a:avLst/>
          </a:prstGeom>
          <a:noFill/>
          <a:ln w="57150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rgbClr val="FFFFFF"/>
                </a:solidFill>
              </a:rPr>
              <a:t>name</a:t>
            </a:r>
          </a:p>
          <a:p>
            <a:pPr algn="ctr"/>
            <a:r>
              <a:rPr lang="en-US" sz="2800" b="1" dirty="0">
                <a:solidFill>
                  <a:srgbClr val="FFFFFF"/>
                </a:solidFill>
              </a:rPr>
              <a:t>x location</a:t>
            </a:r>
          </a:p>
          <a:p>
            <a:pPr algn="ctr"/>
            <a:r>
              <a:rPr lang="en-US" sz="2800" b="1" dirty="0">
                <a:solidFill>
                  <a:srgbClr val="FFFFFF"/>
                </a:solidFill>
              </a:rPr>
              <a:t>y location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08014D6F-7960-4D7F-B0FF-48AF8C3DF70A}"/>
              </a:ext>
            </a:extLst>
          </p:cNvPr>
          <p:cNvSpPr/>
          <p:nvPr/>
        </p:nvSpPr>
        <p:spPr>
          <a:xfrm>
            <a:off x="8568558" y="4190844"/>
            <a:ext cx="3153103" cy="2260255"/>
          </a:xfrm>
          <a:prstGeom prst="roundRect">
            <a:avLst/>
          </a:prstGeom>
          <a:noFill/>
          <a:ln w="5715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rgbClr val="FFFFFF"/>
                </a:solidFill>
              </a:rPr>
              <a:t>move up</a:t>
            </a:r>
          </a:p>
          <a:p>
            <a:pPr algn="ctr"/>
            <a:r>
              <a:rPr lang="en-US" sz="2800" b="1" dirty="0">
                <a:solidFill>
                  <a:srgbClr val="FFFFFF"/>
                </a:solidFill>
              </a:rPr>
              <a:t>move down</a:t>
            </a:r>
          </a:p>
          <a:p>
            <a:pPr algn="ctr"/>
            <a:r>
              <a:rPr lang="en-US" sz="2800" b="1" dirty="0">
                <a:solidFill>
                  <a:srgbClr val="FFFFFF"/>
                </a:solidFill>
              </a:rPr>
              <a:t>move left</a:t>
            </a:r>
          </a:p>
          <a:p>
            <a:pPr algn="ctr"/>
            <a:r>
              <a:rPr lang="en-US" sz="2800" b="1" dirty="0">
                <a:solidFill>
                  <a:srgbClr val="FFFFFF"/>
                </a:solidFill>
              </a:rPr>
              <a:t>move right</a:t>
            </a:r>
          </a:p>
          <a:p>
            <a:pPr algn="ctr"/>
            <a:r>
              <a:rPr lang="en-US" sz="2800" b="1" dirty="0">
                <a:solidFill>
                  <a:srgbClr val="FFFFFF"/>
                </a:solidFill>
              </a:rPr>
              <a:t>go to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7E61A21-D2D9-4066-BEFB-21DACD72A1C4}"/>
              </a:ext>
            </a:extLst>
          </p:cNvPr>
          <p:cNvSpPr txBox="1"/>
          <p:nvPr/>
        </p:nvSpPr>
        <p:spPr>
          <a:xfrm>
            <a:off x="277546" y="3900731"/>
            <a:ext cx="2130711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rgbClr val="FFFFFF"/>
                </a:solidFill>
              </a:rPr>
              <a:t>name</a:t>
            </a:r>
            <a:r>
              <a:rPr lang="en-US" sz="2400" b="1" dirty="0">
                <a:solidFill>
                  <a:schemeClr val="accent2"/>
                </a:solidFill>
              </a:rPr>
              <a:t>:</a:t>
            </a:r>
            <a:r>
              <a:rPr lang="en-US" sz="2400" b="1" dirty="0">
                <a:solidFill>
                  <a:srgbClr val="FFFFFF"/>
                </a:solidFill>
              </a:rPr>
              <a:t> Lucy</a:t>
            </a:r>
          </a:p>
          <a:p>
            <a:r>
              <a:rPr lang="en-US" sz="2400" b="1" dirty="0">
                <a:solidFill>
                  <a:srgbClr val="FFFFFF"/>
                </a:solidFill>
              </a:rPr>
              <a:t>x location</a:t>
            </a:r>
            <a:r>
              <a:rPr lang="en-US" sz="2400" b="1" dirty="0">
                <a:solidFill>
                  <a:schemeClr val="accent2"/>
                </a:solidFill>
              </a:rPr>
              <a:t>:</a:t>
            </a:r>
            <a:r>
              <a:rPr lang="en-US" sz="2400" b="1" dirty="0">
                <a:solidFill>
                  <a:srgbClr val="FFFFFF"/>
                </a:solidFill>
              </a:rPr>
              <a:t> 24</a:t>
            </a:r>
          </a:p>
          <a:p>
            <a:r>
              <a:rPr lang="en-US" sz="2400" b="1" dirty="0">
                <a:solidFill>
                  <a:srgbClr val="FFFFFF"/>
                </a:solidFill>
              </a:rPr>
              <a:t>y location</a:t>
            </a:r>
            <a:r>
              <a:rPr lang="en-US" sz="2400" b="1" dirty="0">
                <a:solidFill>
                  <a:schemeClr val="accent2"/>
                </a:solidFill>
              </a:rPr>
              <a:t>:</a:t>
            </a:r>
            <a:r>
              <a:rPr lang="en-US" sz="2400" b="1" dirty="0">
                <a:solidFill>
                  <a:srgbClr val="FFFFFF"/>
                </a:solidFill>
              </a:rPr>
              <a:t> 35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ADA4471-B59D-4322-8953-2C60CC083C7A}"/>
              </a:ext>
            </a:extLst>
          </p:cNvPr>
          <p:cNvSpPr txBox="1"/>
          <p:nvPr/>
        </p:nvSpPr>
        <p:spPr>
          <a:xfrm>
            <a:off x="2902628" y="1339755"/>
            <a:ext cx="1954924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accent6"/>
                </a:solidFill>
              </a:rPr>
              <a:t>Instances </a:t>
            </a:r>
            <a:r>
              <a:rPr lang="en-US" sz="2000" dirty="0">
                <a:solidFill>
                  <a:schemeClr val="accent1"/>
                </a:solidFill>
              </a:rPr>
              <a:t>(</a:t>
            </a:r>
            <a:r>
              <a:rPr lang="en-US" sz="2000" dirty="0">
                <a:solidFill>
                  <a:schemeClr val="accent6"/>
                </a:solidFill>
              </a:rPr>
              <a:t>objects</a:t>
            </a:r>
            <a:r>
              <a:rPr lang="en-US" sz="2000" dirty="0">
                <a:solidFill>
                  <a:schemeClr val="accent1"/>
                </a:solidFill>
              </a:rPr>
              <a:t>)</a:t>
            </a:r>
            <a:r>
              <a:rPr lang="en-US" sz="2000" dirty="0">
                <a:solidFill>
                  <a:schemeClr val="accent6"/>
                </a:solidFill>
              </a:rPr>
              <a:t> of the </a:t>
            </a:r>
            <a:r>
              <a:rPr lang="en-US" sz="2000" b="1" dirty="0">
                <a:solidFill>
                  <a:srgbClr val="FFFFFF"/>
                </a:solidFill>
              </a:rPr>
              <a:t>Turtle</a:t>
            </a:r>
            <a:r>
              <a:rPr lang="en-US" sz="2000" dirty="0">
                <a:solidFill>
                  <a:schemeClr val="accent6"/>
                </a:solidFill>
              </a:rPr>
              <a:t> class</a:t>
            </a:r>
            <a:r>
              <a:rPr lang="en-US" sz="2000" dirty="0">
                <a:solidFill>
                  <a:schemeClr val="accent1"/>
                </a:solidFill>
              </a:rPr>
              <a:t>.</a:t>
            </a:r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522C33B0-6BFF-4306-AA90-544792DE922D}"/>
              </a:ext>
            </a:extLst>
          </p:cNvPr>
          <p:cNvCxnSpPr>
            <a:cxnSpLocks/>
          </p:cNvCxnSpPr>
          <p:nvPr/>
        </p:nvCxnSpPr>
        <p:spPr>
          <a:xfrm flipH="1">
            <a:off x="1907628" y="2246586"/>
            <a:ext cx="995000" cy="433233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20CF4741-13AD-4477-B006-AEBEED073583}"/>
              </a:ext>
            </a:extLst>
          </p:cNvPr>
          <p:cNvCxnSpPr>
            <a:cxnSpLocks/>
            <a:stCxn id="13" idx="2"/>
          </p:cNvCxnSpPr>
          <p:nvPr/>
        </p:nvCxnSpPr>
        <p:spPr>
          <a:xfrm>
            <a:off x="3880090" y="2355418"/>
            <a:ext cx="357991" cy="1286416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1F690D3D-29E8-4CD6-B67D-69AF5F895BEE}"/>
              </a:ext>
            </a:extLst>
          </p:cNvPr>
          <p:cNvCxnSpPr>
            <a:cxnSpLocks/>
          </p:cNvCxnSpPr>
          <p:nvPr/>
        </p:nvCxnSpPr>
        <p:spPr>
          <a:xfrm>
            <a:off x="4784836" y="1900400"/>
            <a:ext cx="567896" cy="93938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7" name="Picture 4" descr="Turtle Icon | Flat Animal Iconset | Martin Berube">
            <a:extLst>
              <a:ext uri="{FF2B5EF4-FFF2-40B4-BE49-F238E27FC236}">
                <a16:creationId xmlns:a16="http://schemas.microsoft.com/office/drawing/2014/main" id="{19A45DBA-CA07-4587-A544-44A07E25070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7433" y="2139683"/>
            <a:ext cx="2109796" cy="21097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3717F4A0-7A32-4E9C-BB4C-B5B66B5A7CDC}"/>
              </a:ext>
            </a:extLst>
          </p:cNvPr>
          <p:cNvSpPr txBox="1"/>
          <p:nvPr/>
        </p:nvSpPr>
        <p:spPr>
          <a:xfrm>
            <a:off x="3493860" y="5083237"/>
            <a:ext cx="2130711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rgbClr val="FFFFFF"/>
                </a:solidFill>
              </a:rPr>
              <a:t>name</a:t>
            </a:r>
            <a:r>
              <a:rPr lang="en-US" sz="2400" b="1" dirty="0">
                <a:solidFill>
                  <a:schemeClr val="accent2"/>
                </a:solidFill>
              </a:rPr>
              <a:t>:</a:t>
            </a:r>
            <a:r>
              <a:rPr lang="en-US" sz="2400" b="1" dirty="0">
                <a:solidFill>
                  <a:srgbClr val="FFFFFF"/>
                </a:solidFill>
              </a:rPr>
              <a:t> Brian</a:t>
            </a:r>
          </a:p>
          <a:p>
            <a:r>
              <a:rPr lang="en-US" sz="2400" b="1" dirty="0">
                <a:solidFill>
                  <a:srgbClr val="FFFFFF"/>
                </a:solidFill>
              </a:rPr>
              <a:t>x location</a:t>
            </a:r>
            <a:r>
              <a:rPr lang="en-US" sz="2400" b="1" dirty="0">
                <a:solidFill>
                  <a:schemeClr val="accent2"/>
                </a:solidFill>
              </a:rPr>
              <a:t>:</a:t>
            </a:r>
            <a:r>
              <a:rPr lang="en-US" sz="2400" b="1" dirty="0">
                <a:solidFill>
                  <a:srgbClr val="FFFFFF"/>
                </a:solidFill>
              </a:rPr>
              <a:t> 92</a:t>
            </a:r>
          </a:p>
          <a:p>
            <a:r>
              <a:rPr lang="en-US" sz="2400" b="1" dirty="0">
                <a:solidFill>
                  <a:srgbClr val="FFFFFF"/>
                </a:solidFill>
              </a:rPr>
              <a:t>y location</a:t>
            </a:r>
            <a:r>
              <a:rPr lang="en-US" sz="2400" b="1" dirty="0">
                <a:solidFill>
                  <a:schemeClr val="accent2"/>
                </a:solidFill>
              </a:rPr>
              <a:t>:</a:t>
            </a:r>
            <a:r>
              <a:rPr lang="en-US" sz="2400" b="1" dirty="0">
                <a:solidFill>
                  <a:srgbClr val="FFFFFF"/>
                </a:solidFill>
              </a:rPr>
              <a:t> 62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6C635ABC-9113-455C-8FEC-668263C58E33}"/>
              </a:ext>
            </a:extLst>
          </p:cNvPr>
          <p:cNvSpPr txBox="1"/>
          <p:nvPr/>
        </p:nvSpPr>
        <p:spPr>
          <a:xfrm>
            <a:off x="5352732" y="2476743"/>
            <a:ext cx="2382383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rgbClr val="FFFFFF"/>
                </a:solidFill>
              </a:rPr>
              <a:t>name</a:t>
            </a:r>
            <a:r>
              <a:rPr lang="en-US" sz="2400" b="1" dirty="0">
                <a:solidFill>
                  <a:schemeClr val="accent2"/>
                </a:solidFill>
              </a:rPr>
              <a:t>:</a:t>
            </a:r>
            <a:r>
              <a:rPr lang="en-US" sz="2400" b="1" dirty="0">
                <a:solidFill>
                  <a:srgbClr val="FFFFFF"/>
                </a:solidFill>
              </a:rPr>
              <a:t> </a:t>
            </a:r>
            <a:r>
              <a:rPr lang="en-US" sz="2400" b="1" dirty="0" err="1">
                <a:solidFill>
                  <a:srgbClr val="FFFFFF"/>
                </a:solidFill>
              </a:rPr>
              <a:t>Vinodh</a:t>
            </a:r>
            <a:endParaRPr lang="en-US" sz="2400" b="1" dirty="0">
              <a:solidFill>
                <a:srgbClr val="FFFFFF"/>
              </a:solidFill>
            </a:endParaRPr>
          </a:p>
          <a:p>
            <a:r>
              <a:rPr lang="en-US" sz="2400" b="1" dirty="0">
                <a:solidFill>
                  <a:srgbClr val="FFFFFF"/>
                </a:solidFill>
              </a:rPr>
              <a:t>x location</a:t>
            </a:r>
            <a:r>
              <a:rPr lang="en-US" sz="2400" b="1" dirty="0">
                <a:solidFill>
                  <a:schemeClr val="accent2"/>
                </a:solidFill>
              </a:rPr>
              <a:t>:</a:t>
            </a:r>
            <a:r>
              <a:rPr lang="en-US" sz="2400" b="1" dirty="0">
                <a:solidFill>
                  <a:srgbClr val="FFFFFF"/>
                </a:solidFill>
              </a:rPr>
              <a:t> 134</a:t>
            </a:r>
          </a:p>
          <a:p>
            <a:r>
              <a:rPr lang="en-US" sz="2400" b="1" dirty="0">
                <a:solidFill>
                  <a:srgbClr val="FFFFFF"/>
                </a:solidFill>
              </a:rPr>
              <a:t>y location</a:t>
            </a:r>
            <a:r>
              <a:rPr lang="en-US" sz="2400" b="1" dirty="0">
                <a:solidFill>
                  <a:schemeClr val="accent2"/>
                </a:solidFill>
              </a:rPr>
              <a:t>:</a:t>
            </a:r>
            <a:r>
              <a:rPr lang="en-US" sz="2400" b="1" dirty="0">
                <a:solidFill>
                  <a:srgbClr val="FFFFFF"/>
                </a:solidFill>
              </a:rPr>
              <a:t> 45</a:t>
            </a:r>
          </a:p>
        </p:txBody>
      </p:sp>
      <p:pic>
        <p:nvPicPr>
          <p:cNvPr id="24" name="Picture 4" descr="Turtle Icon | Flat Animal Iconset | Martin Berube">
            <a:extLst>
              <a:ext uri="{FF2B5EF4-FFF2-40B4-BE49-F238E27FC236}">
                <a16:creationId xmlns:a16="http://schemas.microsoft.com/office/drawing/2014/main" id="{7423E3E2-12CB-4F83-8A4E-FE9A5CAC661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40258" y="3327174"/>
            <a:ext cx="2109796" cy="21097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6" name="Picture 4" descr="Turtle Icon | Flat Animal Iconset | Martin Berube">
            <a:extLst>
              <a:ext uri="{FF2B5EF4-FFF2-40B4-BE49-F238E27FC236}">
                <a16:creationId xmlns:a16="http://schemas.microsoft.com/office/drawing/2014/main" id="{46407452-9151-421B-9150-A5013E4B5E4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90997" y="719865"/>
            <a:ext cx="2109796" cy="21097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5385666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5A1703-5E68-6BC4-5177-0B13147F7A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E68B75-0213-C20C-AC1C-93DE385EDE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1605" y="801507"/>
            <a:ext cx="10515600" cy="656148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We’ve already been using objects!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A7236791-53B7-1432-CD4A-CEC8F0192FFA}"/>
              </a:ext>
            </a:extLst>
          </p:cNvPr>
          <p:cNvSpPr/>
          <p:nvPr/>
        </p:nvSpPr>
        <p:spPr>
          <a:xfrm>
            <a:off x="8525668" y="792331"/>
            <a:ext cx="3153103" cy="770036"/>
          </a:xfrm>
          <a:prstGeom prst="roundRect">
            <a:avLst/>
          </a:prstGeom>
          <a:noFill/>
          <a:ln w="5715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rgbClr val="FFFFFF"/>
                </a:solidFill>
              </a:rPr>
              <a:t>math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6AD0C643-64A0-4360-6B3B-170F7E5A6602}"/>
              </a:ext>
            </a:extLst>
          </p:cNvPr>
          <p:cNvSpPr/>
          <p:nvPr/>
        </p:nvSpPr>
        <p:spPr>
          <a:xfrm>
            <a:off x="8525667" y="1758490"/>
            <a:ext cx="3153103" cy="2039971"/>
          </a:xfrm>
          <a:prstGeom prst="roundRect">
            <a:avLst/>
          </a:prstGeom>
          <a:noFill/>
          <a:ln w="57150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rgbClr val="FFFFFF"/>
                </a:solidFill>
              </a:rPr>
              <a:t>pi</a:t>
            </a:r>
          </a:p>
          <a:p>
            <a:pPr algn="ctr"/>
            <a:r>
              <a:rPr lang="en-US" sz="2800" b="1" dirty="0">
                <a:solidFill>
                  <a:srgbClr val="FFFFFF"/>
                </a:solidFill>
              </a:rPr>
              <a:t>e</a:t>
            </a:r>
          </a:p>
          <a:p>
            <a:pPr algn="ctr"/>
            <a:r>
              <a:rPr lang="en-US" sz="2800" b="1" dirty="0">
                <a:solidFill>
                  <a:srgbClr val="FFFFFF"/>
                </a:solidFill>
              </a:rPr>
              <a:t>inf</a:t>
            </a:r>
          </a:p>
          <a:p>
            <a:pPr algn="ctr"/>
            <a:r>
              <a:rPr lang="en-US" sz="2800" b="1" dirty="0">
                <a:solidFill>
                  <a:srgbClr val="FFFFFF"/>
                </a:solidFill>
              </a:rPr>
              <a:t>…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89FEF5D3-346D-F14A-CC25-6D36BD4A033F}"/>
              </a:ext>
            </a:extLst>
          </p:cNvPr>
          <p:cNvSpPr/>
          <p:nvPr/>
        </p:nvSpPr>
        <p:spPr>
          <a:xfrm>
            <a:off x="8525667" y="3994584"/>
            <a:ext cx="3153103" cy="2653047"/>
          </a:xfrm>
          <a:prstGeom prst="roundRect">
            <a:avLst/>
          </a:prstGeom>
          <a:noFill/>
          <a:ln w="5715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rgbClr val="FFFFFF"/>
                </a:solidFill>
              </a:rPr>
              <a:t>factorial</a:t>
            </a:r>
          </a:p>
          <a:p>
            <a:pPr algn="ctr"/>
            <a:r>
              <a:rPr lang="en-US" sz="2800" b="1" dirty="0">
                <a:solidFill>
                  <a:srgbClr val="FFFFFF"/>
                </a:solidFill>
              </a:rPr>
              <a:t>ceil</a:t>
            </a:r>
          </a:p>
          <a:p>
            <a:pPr algn="ctr"/>
            <a:r>
              <a:rPr lang="en-US" sz="2800" b="1" dirty="0">
                <a:solidFill>
                  <a:srgbClr val="FFFFFF"/>
                </a:solidFill>
              </a:rPr>
              <a:t>floor</a:t>
            </a:r>
          </a:p>
          <a:p>
            <a:pPr algn="ctr"/>
            <a:r>
              <a:rPr lang="en-US" sz="2800" b="1" dirty="0" err="1">
                <a:solidFill>
                  <a:srgbClr val="FFFFFF"/>
                </a:solidFill>
              </a:rPr>
              <a:t>isfinite</a:t>
            </a:r>
            <a:endParaRPr lang="en-US" sz="2800" b="1" dirty="0">
              <a:solidFill>
                <a:srgbClr val="FFFFFF"/>
              </a:solidFill>
            </a:endParaRPr>
          </a:p>
          <a:p>
            <a:pPr algn="ctr"/>
            <a:r>
              <a:rPr lang="en-US" sz="2800" b="1" dirty="0">
                <a:solidFill>
                  <a:srgbClr val="FFFFFF"/>
                </a:solidFill>
              </a:rPr>
              <a:t>log</a:t>
            </a:r>
          </a:p>
          <a:p>
            <a:pPr algn="ctr"/>
            <a:r>
              <a:rPr lang="en-US" sz="2800" b="1" dirty="0">
                <a:solidFill>
                  <a:srgbClr val="FFFFFF"/>
                </a:solidFill>
              </a:rPr>
              <a:t>…</a:t>
            </a:r>
          </a:p>
        </p:txBody>
      </p:sp>
      <p:sp>
        <p:nvSpPr>
          <p:cNvPr id="3" name="Rectangle: Rounded Corners 3">
            <a:extLst>
              <a:ext uri="{FF2B5EF4-FFF2-40B4-BE49-F238E27FC236}">
                <a16:creationId xmlns:a16="http://schemas.microsoft.com/office/drawing/2014/main" id="{988F96C2-80D0-E9F8-567B-7AC00EF1F020}"/>
              </a:ext>
            </a:extLst>
          </p:cNvPr>
          <p:cNvSpPr/>
          <p:nvPr/>
        </p:nvSpPr>
        <p:spPr>
          <a:xfrm>
            <a:off x="5116042" y="1590822"/>
            <a:ext cx="3153103" cy="770036"/>
          </a:xfrm>
          <a:prstGeom prst="roundRect">
            <a:avLst/>
          </a:prstGeom>
          <a:noFill/>
          <a:ln w="5715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rgbClr val="FFFFFF"/>
                </a:solidFill>
              </a:rPr>
              <a:t>string</a:t>
            </a:r>
          </a:p>
        </p:txBody>
      </p:sp>
      <p:sp>
        <p:nvSpPr>
          <p:cNvPr id="8" name="Rectangle: Rounded Corners 6">
            <a:extLst>
              <a:ext uri="{FF2B5EF4-FFF2-40B4-BE49-F238E27FC236}">
                <a16:creationId xmlns:a16="http://schemas.microsoft.com/office/drawing/2014/main" id="{F453D7BA-ABF3-117B-78F4-A680CE8ABCD2}"/>
              </a:ext>
            </a:extLst>
          </p:cNvPr>
          <p:cNvSpPr/>
          <p:nvPr/>
        </p:nvSpPr>
        <p:spPr>
          <a:xfrm>
            <a:off x="5116041" y="2539594"/>
            <a:ext cx="3153103" cy="4108037"/>
          </a:xfrm>
          <a:prstGeom prst="roundRect">
            <a:avLst/>
          </a:prstGeom>
          <a:noFill/>
          <a:ln w="5715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rgbClr val="FFFFFF"/>
                </a:solidFill>
              </a:rPr>
              <a:t>replace</a:t>
            </a:r>
          </a:p>
          <a:p>
            <a:pPr algn="ctr"/>
            <a:r>
              <a:rPr lang="en-US" sz="2800" b="1" dirty="0">
                <a:solidFill>
                  <a:srgbClr val="FFFFFF"/>
                </a:solidFill>
              </a:rPr>
              <a:t>find</a:t>
            </a:r>
          </a:p>
          <a:p>
            <a:pPr algn="ctr"/>
            <a:r>
              <a:rPr lang="en-US" sz="2800" b="1" dirty="0" err="1">
                <a:solidFill>
                  <a:srgbClr val="FFFFFF"/>
                </a:solidFill>
              </a:rPr>
              <a:t>rfind</a:t>
            </a:r>
            <a:endParaRPr lang="en-US" sz="2800" b="1" dirty="0">
              <a:solidFill>
                <a:srgbClr val="FFFFFF"/>
              </a:solidFill>
            </a:endParaRPr>
          </a:p>
          <a:p>
            <a:pPr algn="ctr"/>
            <a:r>
              <a:rPr lang="en-US" sz="2800" b="1" dirty="0">
                <a:solidFill>
                  <a:srgbClr val="FFFFFF"/>
                </a:solidFill>
              </a:rPr>
              <a:t>upper</a:t>
            </a:r>
          </a:p>
          <a:p>
            <a:pPr algn="ctr"/>
            <a:r>
              <a:rPr lang="en-US" sz="2800" b="1" dirty="0" err="1">
                <a:solidFill>
                  <a:srgbClr val="FFFFFF"/>
                </a:solidFill>
              </a:rPr>
              <a:t>isupper</a:t>
            </a:r>
            <a:endParaRPr lang="en-US" sz="2800" b="1" dirty="0">
              <a:solidFill>
                <a:srgbClr val="FFFFFF"/>
              </a:solidFill>
            </a:endParaRPr>
          </a:p>
          <a:p>
            <a:pPr algn="ctr"/>
            <a:r>
              <a:rPr lang="en-US" sz="2800" b="1" dirty="0" err="1">
                <a:solidFill>
                  <a:srgbClr val="FFFFFF"/>
                </a:solidFill>
              </a:rPr>
              <a:t>islower</a:t>
            </a:r>
            <a:endParaRPr lang="en-US" sz="2800" b="1" dirty="0">
              <a:solidFill>
                <a:srgbClr val="FFFFFF"/>
              </a:solidFill>
            </a:endParaRPr>
          </a:p>
          <a:p>
            <a:pPr algn="ctr"/>
            <a:r>
              <a:rPr lang="en-US" sz="2800" b="1" dirty="0">
                <a:solidFill>
                  <a:srgbClr val="FFFFFF"/>
                </a:solidFill>
              </a:rPr>
              <a:t>capitalize</a:t>
            </a:r>
          </a:p>
          <a:p>
            <a:pPr algn="ctr"/>
            <a:r>
              <a:rPr lang="en-US" sz="2800" b="1" dirty="0">
                <a:solidFill>
                  <a:srgbClr val="FFFFFF"/>
                </a:solidFill>
              </a:rPr>
              <a:t>count</a:t>
            </a:r>
          </a:p>
          <a:p>
            <a:pPr algn="ctr"/>
            <a:r>
              <a:rPr lang="en-US" sz="2800" b="1" dirty="0">
                <a:solidFill>
                  <a:srgbClr val="FFFFFF"/>
                </a:solidFill>
              </a:rPr>
              <a:t>…</a:t>
            </a:r>
          </a:p>
        </p:txBody>
      </p:sp>
      <p:sp>
        <p:nvSpPr>
          <p:cNvPr id="9" name="Rectangle: Rounded Corners 3">
            <a:extLst>
              <a:ext uri="{FF2B5EF4-FFF2-40B4-BE49-F238E27FC236}">
                <a16:creationId xmlns:a16="http://schemas.microsoft.com/office/drawing/2014/main" id="{DD3B5168-B82B-970D-E425-3393ED4AE7A1}"/>
              </a:ext>
            </a:extLst>
          </p:cNvPr>
          <p:cNvSpPr/>
          <p:nvPr/>
        </p:nvSpPr>
        <p:spPr>
          <a:xfrm>
            <a:off x="1706415" y="1604922"/>
            <a:ext cx="3153103" cy="770036"/>
          </a:xfrm>
          <a:prstGeom prst="roundRect">
            <a:avLst/>
          </a:prstGeom>
          <a:noFill/>
          <a:ln w="5715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rgbClr val="FFFFFF"/>
                </a:solidFill>
              </a:rPr>
              <a:t>integer</a:t>
            </a:r>
          </a:p>
        </p:txBody>
      </p:sp>
      <p:sp>
        <p:nvSpPr>
          <p:cNvPr id="11" name="Rectangle: Rounded Corners 6">
            <a:extLst>
              <a:ext uri="{FF2B5EF4-FFF2-40B4-BE49-F238E27FC236}">
                <a16:creationId xmlns:a16="http://schemas.microsoft.com/office/drawing/2014/main" id="{B45BB3E5-3B79-04E3-6D84-6E3E87EA1B02}"/>
              </a:ext>
            </a:extLst>
          </p:cNvPr>
          <p:cNvSpPr/>
          <p:nvPr/>
        </p:nvSpPr>
        <p:spPr>
          <a:xfrm>
            <a:off x="1706415" y="2539595"/>
            <a:ext cx="3153103" cy="2884544"/>
          </a:xfrm>
          <a:prstGeom prst="roundRect">
            <a:avLst/>
          </a:prstGeom>
          <a:noFill/>
          <a:ln w="5715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 err="1">
                <a:solidFill>
                  <a:srgbClr val="FFFFFF"/>
                </a:solidFill>
              </a:rPr>
              <a:t>is_integer</a:t>
            </a:r>
            <a:endParaRPr lang="en-US" sz="2800" b="1" dirty="0">
              <a:solidFill>
                <a:srgbClr val="FFFFFF"/>
              </a:solidFill>
            </a:endParaRPr>
          </a:p>
          <a:p>
            <a:pPr algn="ctr"/>
            <a:r>
              <a:rPr lang="en-US" sz="2800" b="1" dirty="0" err="1">
                <a:solidFill>
                  <a:srgbClr val="FFFFFF"/>
                </a:solidFill>
              </a:rPr>
              <a:t>as_integer_ratio</a:t>
            </a:r>
            <a:endParaRPr lang="en-US" sz="2800" b="1" dirty="0">
              <a:solidFill>
                <a:srgbClr val="FFFFFF"/>
              </a:solidFill>
            </a:endParaRPr>
          </a:p>
          <a:p>
            <a:pPr algn="ctr"/>
            <a:r>
              <a:rPr lang="en-US" sz="2800" b="1" dirty="0" err="1">
                <a:solidFill>
                  <a:srgbClr val="FFFFFF"/>
                </a:solidFill>
              </a:rPr>
              <a:t>to_bytes</a:t>
            </a:r>
            <a:endParaRPr lang="en-US" sz="2800" b="1" dirty="0">
              <a:solidFill>
                <a:srgbClr val="FFFFFF"/>
              </a:solidFill>
            </a:endParaRPr>
          </a:p>
          <a:p>
            <a:pPr algn="ctr"/>
            <a:r>
              <a:rPr lang="en-US" sz="2800" b="1" dirty="0" err="1">
                <a:solidFill>
                  <a:srgbClr val="FFFFFF"/>
                </a:solidFill>
              </a:rPr>
              <a:t>from_bytes</a:t>
            </a:r>
            <a:endParaRPr lang="en-US" sz="2800" b="1" dirty="0">
              <a:solidFill>
                <a:srgbClr val="FFFFFF"/>
              </a:solidFill>
            </a:endParaRPr>
          </a:p>
          <a:p>
            <a:pPr algn="ctr"/>
            <a:r>
              <a:rPr lang="en-US" sz="2800" b="1" dirty="0" err="1">
                <a:solidFill>
                  <a:srgbClr val="FFFFFF"/>
                </a:solidFill>
              </a:rPr>
              <a:t>bit_count</a:t>
            </a:r>
            <a:endParaRPr lang="en-US" sz="2800" b="1" dirty="0">
              <a:solidFill>
                <a:srgbClr val="FFFFFF"/>
              </a:solidFill>
            </a:endParaRPr>
          </a:p>
          <a:p>
            <a:pPr algn="ctr"/>
            <a:r>
              <a:rPr lang="en-US" sz="2800" b="1" dirty="0">
                <a:solidFill>
                  <a:srgbClr val="FFFFFF"/>
                </a:solidFill>
              </a:rPr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27775390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0C118C3C-13F5-4EA8-9EA9-3448AC3537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Classes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37342F3-76AB-4231-93A5-33157B7514CA}"/>
              </a:ext>
            </a:extLst>
          </p:cNvPr>
          <p:cNvSpPr txBox="1"/>
          <p:nvPr/>
        </p:nvSpPr>
        <p:spPr>
          <a:xfrm>
            <a:off x="263887" y="3042274"/>
            <a:ext cx="4695516" cy="35394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alex = Turtle(</a:t>
            </a:r>
            <a:r>
              <a:rPr lang="en-US" sz="2800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</a:t>
            </a:r>
            <a:r>
              <a:rPr lang="en-US" sz="28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sz="2800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</a:t>
            </a:r>
            <a:r>
              <a:rPr lang="en-US" sz="28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endParaRPr lang="en-US" sz="2800" b="1" dirty="0">
              <a:solidFill>
                <a:srgbClr val="00FF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sz="2800" b="1" dirty="0">
              <a:solidFill>
                <a:srgbClr val="00FF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8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alex.</a:t>
            </a:r>
            <a:r>
              <a:rPr lang="en-US" sz="2800" b="1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up()           </a:t>
            </a:r>
          </a:p>
          <a:p>
            <a:r>
              <a:rPr lang="en-US" sz="28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alex.</a:t>
            </a:r>
            <a:r>
              <a:rPr lang="en-US" sz="2800" b="1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goto(</a:t>
            </a:r>
            <a:r>
              <a:rPr lang="en-US" sz="28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-150, 100</a:t>
            </a:r>
            <a:r>
              <a:rPr lang="en-US" sz="2800" b="1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r>
              <a:rPr lang="en-US" sz="28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alex.</a:t>
            </a:r>
            <a:r>
              <a:rPr lang="en-US" sz="2800" b="1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down()</a:t>
            </a:r>
          </a:p>
          <a:p>
            <a:endParaRPr lang="en-US" sz="2800" b="1" dirty="0">
              <a:solidFill>
                <a:schemeClr val="accent6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8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print(alex.</a:t>
            </a:r>
            <a:r>
              <a:rPr lang="en-US" sz="2800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x</a:t>
            </a:r>
            <a:r>
              <a:rPr lang="en-US" sz="28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800" b="1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8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alex.</a:t>
            </a:r>
            <a:r>
              <a:rPr lang="en-US" sz="2800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y</a:t>
            </a:r>
            <a:r>
              <a:rPr lang="en-US" sz="28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F44D4F8-8898-4119-8855-0C4DDEF2FA56}"/>
              </a:ext>
            </a:extLst>
          </p:cNvPr>
          <p:cNvSpPr txBox="1"/>
          <p:nvPr/>
        </p:nvSpPr>
        <p:spPr>
          <a:xfrm>
            <a:off x="5352120" y="2012309"/>
            <a:ext cx="6453894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class Turtle:</a:t>
            </a:r>
          </a:p>
          <a:p>
            <a:r>
              <a:rPr lang="en-US" sz="20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</a:p>
          <a:p>
            <a:r>
              <a:rPr lang="en-US" sz="2000" b="1" dirty="0">
                <a:solidFill>
                  <a:srgbClr val="FFD6AD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def __init__(self, x, y):</a:t>
            </a:r>
          </a:p>
          <a:p>
            <a:r>
              <a:rPr lang="en-US" sz="2000" b="1" dirty="0">
                <a:solidFill>
                  <a:srgbClr val="FFD6AD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self.x = x</a:t>
            </a:r>
          </a:p>
          <a:p>
            <a:r>
              <a:rPr lang="en-US" sz="2000" b="1" dirty="0">
                <a:solidFill>
                  <a:srgbClr val="FFD6AD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self.y = y</a:t>
            </a:r>
          </a:p>
          <a:p>
            <a:r>
              <a:rPr lang="en-US" sz="2000" b="1" dirty="0">
                <a:solidFill>
                  <a:srgbClr val="FFD6AD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endParaRPr lang="en-US" sz="2000" b="1" dirty="0">
              <a:solidFill>
                <a:srgbClr val="00FF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0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  <a:r>
              <a:rPr lang="en-US" sz="2000" b="1" dirty="0">
                <a:solidFill>
                  <a:srgbClr val="FF5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def up(self):</a:t>
            </a:r>
          </a:p>
          <a:p>
            <a:r>
              <a:rPr lang="en-US" sz="2000" b="1" dirty="0">
                <a:solidFill>
                  <a:srgbClr val="FF5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body</a:t>
            </a:r>
          </a:p>
          <a:p>
            <a:endParaRPr lang="en-US" sz="2000" b="1" dirty="0">
              <a:solidFill>
                <a:srgbClr val="FF505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000" b="1" dirty="0">
                <a:solidFill>
                  <a:srgbClr val="FF5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def goto(self, x, y):</a:t>
            </a:r>
          </a:p>
          <a:p>
            <a:r>
              <a:rPr lang="en-US" sz="2000" b="1" dirty="0">
                <a:solidFill>
                  <a:srgbClr val="FF5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body</a:t>
            </a:r>
          </a:p>
          <a:p>
            <a:endParaRPr lang="en-US" sz="2000" b="1" dirty="0">
              <a:solidFill>
                <a:srgbClr val="FF505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000" b="1" dirty="0">
                <a:solidFill>
                  <a:srgbClr val="FF5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def down(self):</a:t>
            </a:r>
          </a:p>
          <a:p>
            <a:r>
              <a:rPr lang="en-US" sz="2000" b="1" dirty="0">
                <a:solidFill>
                  <a:srgbClr val="FF5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body</a:t>
            </a:r>
          </a:p>
        </p:txBody>
      </p:sp>
      <p:pic>
        <p:nvPicPr>
          <p:cNvPr id="9" name="Picture 4" descr="Turtle Icon | Flat Animal Iconset | Martin Berube">
            <a:extLst>
              <a:ext uri="{FF2B5EF4-FFF2-40B4-BE49-F238E27FC236}">
                <a16:creationId xmlns:a16="http://schemas.microsoft.com/office/drawing/2014/main" id="{AF327F94-8753-4212-8602-FAA2129C061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7435" y="1200950"/>
            <a:ext cx="2109796" cy="21097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B9880642-D477-05AF-3784-5F5D6DB46196}"/>
              </a:ext>
            </a:extLst>
          </p:cNvPr>
          <p:cNvSpPr txBox="1"/>
          <p:nvPr/>
        </p:nvSpPr>
        <p:spPr>
          <a:xfrm>
            <a:off x="5352120" y="727514"/>
            <a:ext cx="6453894" cy="923330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CA" dirty="0"/>
              <a:t>We don’t need to know these details to be able to use them!</a:t>
            </a:r>
          </a:p>
          <a:p>
            <a:endParaRPr lang="en-CA" dirty="0"/>
          </a:p>
          <a:p>
            <a:r>
              <a:rPr lang="en-CA" dirty="0"/>
              <a:t>We will learn more about building custom classes later… </a:t>
            </a:r>
          </a:p>
        </p:txBody>
      </p:sp>
    </p:spTree>
    <p:extLst>
      <p:ext uri="{BB962C8B-B14F-4D97-AF65-F5344CB8AC3E}">
        <p14:creationId xmlns:p14="http://schemas.microsoft.com/office/powerpoint/2010/main" val="57752227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68CAC0-75B6-4840-A8D8-E290AD6D01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Classes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C45ADAEC-08FE-4F9D-8441-6CFD19CCCBA8}"/>
              </a:ext>
            </a:extLst>
          </p:cNvPr>
          <p:cNvSpPr/>
          <p:nvPr/>
        </p:nvSpPr>
        <p:spPr>
          <a:xfrm>
            <a:off x="8568559" y="803077"/>
            <a:ext cx="3153103" cy="770036"/>
          </a:xfrm>
          <a:prstGeom prst="roundRect">
            <a:avLst/>
          </a:prstGeom>
          <a:noFill/>
          <a:ln w="5715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rgbClr val="FFFFFF"/>
                </a:solidFill>
              </a:rPr>
              <a:t>File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C37995B0-58AE-4142-8AEC-6C75C6E1E57E}"/>
              </a:ext>
            </a:extLst>
          </p:cNvPr>
          <p:cNvSpPr/>
          <p:nvPr/>
        </p:nvSpPr>
        <p:spPr>
          <a:xfrm>
            <a:off x="8568558" y="1861993"/>
            <a:ext cx="3153103" cy="2039971"/>
          </a:xfrm>
          <a:prstGeom prst="roundRect">
            <a:avLst/>
          </a:prstGeom>
          <a:noFill/>
          <a:ln w="57150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rgbClr val="FFFFFF"/>
                </a:solidFill>
              </a:rPr>
              <a:t>filename</a:t>
            </a:r>
          </a:p>
          <a:p>
            <a:pPr algn="ctr"/>
            <a:r>
              <a:rPr lang="en-US" sz="2800" b="1" dirty="0">
                <a:solidFill>
                  <a:srgbClr val="FFFFFF"/>
                </a:solidFill>
              </a:rPr>
              <a:t>mode (ex: read or write)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08014D6F-7960-4D7F-B0FF-48AF8C3DF70A}"/>
              </a:ext>
            </a:extLst>
          </p:cNvPr>
          <p:cNvSpPr/>
          <p:nvPr/>
        </p:nvSpPr>
        <p:spPr>
          <a:xfrm>
            <a:off x="8568558" y="4183175"/>
            <a:ext cx="3153103" cy="2403139"/>
          </a:xfrm>
          <a:prstGeom prst="roundRect">
            <a:avLst/>
          </a:prstGeom>
          <a:noFill/>
          <a:ln w="5715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rgbClr val="FFFFFF"/>
                </a:solidFill>
              </a:rPr>
              <a:t>read</a:t>
            </a:r>
          </a:p>
          <a:p>
            <a:pPr algn="ctr"/>
            <a:r>
              <a:rPr lang="en-US" sz="2800" b="1" dirty="0" err="1">
                <a:solidFill>
                  <a:srgbClr val="FFFFFF"/>
                </a:solidFill>
              </a:rPr>
              <a:t>readline</a:t>
            </a:r>
            <a:endParaRPr lang="en-US" sz="2800" b="1" dirty="0">
              <a:solidFill>
                <a:srgbClr val="FFFFFF"/>
              </a:solidFill>
            </a:endParaRPr>
          </a:p>
          <a:p>
            <a:pPr algn="ctr"/>
            <a:r>
              <a:rPr lang="en-US" sz="2800" b="1" dirty="0">
                <a:solidFill>
                  <a:srgbClr val="FFFFFF"/>
                </a:solidFill>
              </a:rPr>
              <a:t>write</a:t>
            </a:r>
          </a:p>
          <a:p>
            <a:pPr algn="ctr"/>
            <a:r>
              <a:rPr lang="en-US" sz="2800" b="1" dirty="0">
                <a:solidFill>
                  <a:srgbClr val="FFFFFF"/>
                </a:solidFill>
              </a:rPr>
              <a:t>close</a:t>
            </a:r>
          </a:p>
          <a:p>
            <a:pPr algn="ctr"/>
            <a:r>
              <a:rPr lang="en-US" sz="2800" b="1" dirty="0">
                <a:solidFill>
                  <a:srgbClr val="FFFFFF"/>
                </a:solidFill>
              </a:rPr>
              <a:t>…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7E61A21-D2D9-4066-BEFB-21DACD72A1C4}"/>
              </a:ext>
            </a:extLst>
          </p:cNvPr>
          <p:cNvSpPr txBox="1"/>
          <p:nvPr/>
        </p:nvSpPr>
        <p:spPr>
          <a:xfrm>
            <a:off x="277546" y="3900731"/>
            <a:ext cx="2270173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rgbClr val="FFFFFF"/>
                </a:solidFill>
              </a:rPr>
              <a:t>name</a:t>
            </a:r>
            <a:r>
              <a:rPr lang="en-US" sz="2400" b="1" dirty="0">
                <a:solidFill>
                  <a:schemeClr val="accent2"/>
                </a:solidFill>
              </a:rPr>
              <a:t>:</a:t>
            </a:r>
            <a:r>
              <a:rPr lang="en-US" sz="2400" b="1" dirty="0">
                <a:solidFill>
                  <a:srgbClr val="FFFFFF"/>
                </a:solidFill>
              </a:rPr>
              <a:t> bills.txt</a:t>
            </a:r>
          </a:p>
          <a:p>
            <a:r>
              <a:rPr lang="en-US" sz="2400" b="1" dirty="0">
                <a:solidFill>
                  <a:srgbClr val="FFFFFF"/>
                </a:solidFill>
              </a:rPr>
              <a:t>mode</a:t>
            </a:r>
            <a:r>
              <a:rPr lang="en-US" sz="2400" b="1" dirty="0">
                <a:solidFill>
                  <a:schemeClr val="accent2"/>
                </a:solidFill>
              </a:rPr>
              <a:t>:</a:t>
            </a:r>
            <a:r>
              <a:rPr lang="en-US" sz="2400" b="1" dirty="0">
                <a:solidFill>
                  <a:srgbClr val="FFFFFF"/>
                </a:solidFill>
              </a:rPr>
              <a:t> append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ADA4471-B59D-4322-8953-2C60CC083C7A}"/>
              </a:ext>
            </a:extLst>
          </p:cNvPr>
          <p:cNvSpPr txBox="1"/>
          <p:nvPr/>
        </p:nvSpPr>
        <p:spPr>
          <a:xfrm>
            <a:off x="2902628" y="1339755"/>
            <a:ext cx="1954924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accent6"/>
                </a:solidFill>
              </a:rPr>
              <a:t>Instances </a:t>
            </a:r>
            <a:r>
              <a:rPr lang="en-US" sz="2000" dirty="0">
                <a:solidFill>
                  <a:schemeClr val="accent1"/>
                </a:solidFill>
              </a:rPr>
              <a:t>(</a:t>
            </a:r>
            <a:r>
              <a:rPr lang="en-US" sz="2000" dirty="0">
                <a:solidFill>
                  <a:schemeClr val="accent6"/>
                </a:solidFill>
              </a:rPr>
              <a:t>objects</a:t>
            </a:r>
            <a:r>
              <a:rPr lang="en-US" sz="2000" dirty="0">
                <a:solidFill>
                  <a:schemeClr val="accent1"/>
                </a:solidFill>
              </a:rPr>
              <a:t>)</a:t>
            </a:r>
            <a:r>
              <a:rPr lang="en-US" sz="2000" dirty="0">
                <a:solidFill>
                  <a:schemeClr val="accent6"/>
                </a:solidFill>
              </a:rPr>
              <a:t> of the </a:t>
            </a:r>
            <a:r>
              <a:rPr lang="en-US" sz="2000" b="1" dirty="0">
                <a:solidFill>
                  <a:srgbClr val="FFFFFF"/>
                </a:solidFill>
              </a:rPr>
              <a:t>file</a:t>
            </a:r>
            <a:r>
              <a:rPr lang="en-US" sz="2000" dirty="0">
                <a:solidFill>
                  <a:schemeClr val="accent6"/>
                </a:solidFill>
              </a:rPr>
              <a:t> class</a:t>
            </a:r>
            <a:r>
              <a:rPr lang="en-US" sz="2000" dirty="0">
                <a:solidFill>
                  <a:schemeClr val="accent1"/>
                </a:solidFill>
              </a:rPr>
              <a:t>.</a:t>
            </a:r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522C33B0-6BFF-4306-AA90-544792DE922D}"/>
              </a:ext>
            </a:extLst>
          </p:cNvPr>
          <p:cNvCxnSpPr>
            <a:cxnSpLocks/>
          </p:cNvCxnSpPr>
          <p:nvPr/>
        </p:nvCxnSpPr>
        <p:spPr>
          <a:xfrm flipH="1">
            <a:off x="1907628" y="2246586"/>
            <a:ext cx="995000" cy="433233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20CF4741-13AD-4477-B006-AEBEED073583}"/>
              </a:ext>
            </a:extLst>
          </p:cNvPr>
          <p:cNvCxnSpPr>
            <a:cxnSpLocks/>
            <a:stCxn id="13" idx="2"/>
          </p:cNvCxnSpPr>
          <p:nvPr/>
        </p:nvCxnSpPr>
        <p:spPr>
          <a:xfrm>
            <a:off x="3880090" y="2355418"/>
            <a:ext cx="290754" cy="1154698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1F690D3D-29E8-4CD6-B67D-69AF5F895BEE}"/>
              </a:ext>
            </a:extLst>
          </p:cNvPr>
          <p:cNvCxnSpPr>
            <a:cxnSpLocks/>
          </p:cNvCxnSpPr>
          <p:nvPr/>
        </p:nvCxnSpPr>
        <p:spPr>
          <a:xfrm>
            <a:off x="4784836" y="1900400"/>
            <a:ext cx="483288" cy="56649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3717F4A0-7A32-4E9C-BB4C-B5B66B5A7CDC}"/>
              </a:ext>
            </a:extLst>
          </p:cNvPr>
          <p:cNvSpPr txBox="1"/>
          <p:nvPr/>
        </p:nvSpPr>
        <p:spPr>
          <a:xfrm>
            <a:off x="3493860" y="5083237"/>
            <a:ext cx="2620782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rgbClr val="FFFFFF"/>
                </a:solidFill>
              </a:rPr>
              <a:t>name</a:t>
            </a:r>
            <a:r>
              <a:rPr lang="en-US" sz="2400" b="1" dirty="0">
                <a:solidFill>
                  <a:schemeClr val="accent2"/>
                </a:solidFill>
              </a:rPr>
              <a:t>:</a:t>
            </a:r>
            <a:r>
              <a:rPr lang="en-US" sz="2400" b="1" dirty="0">
                <a:solidFill>
                  <a:srgbClr val="FFFFFF"/>
                </a:solidFill>
              </a:rPr>
              <a:t> grades.txt</a:t>
            </a:r>
          </a:p>
          <a:p>
            <a:r>
              <a:rPr lang="en-US" sz="2400" b="1" dirty="0">
                <a:solidFill>
                  <a:srgbClr val="FFFFFF"/>
                </a:solidFill>
              </a:rPr>
              <a:t>mode</a:t>
            </a:r>
            <a:r>
              <a:rPr lang="en-US" sz="2400" b="1" dirty="0">
                <a:solidFill>
                  <a:schemeClr val="accent2"/>
                </a:solidFill>
              </a:rPr>
              <a:t>:</a:t>
            </a:r>
            <a:r>
              <a:rPr lang="en-US" sz="2400" b="1" dirty="0">
                <a:solidFill>
                  <a:srgbClr val="FFFFFF"/>
                </a:solidFill>
              </a:rPr>
              <a:t> read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6C635ABC-9113-455C-8FEC-668263C58E33}"/>
              </a:ext>
            </a:extLst>
          </p:cNvPr>
          <p:cNvSpPr txBox="1"/>
          <p:nvPr/>
        </p:nvSpPr>
        <p:spPr>
          <a:xfrm>
            <a:off x="5352732" y="2476743"/>
            <a:ext cx="2869375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rgbClr val="FFFFFF"/>
                </a:solidFill>
              </a:rPr>
              <a:t>name</a:t>
            </a:r>
            <a:r>
              <a:rPr lang="en-US" sz="2400" b="1" dirty="0">
                <a:solidFill>
                  <a:schemeClr val="accent2"/>
                </a:solidFill>
              </a:rPr>
              <a:t>:</a:t>
            </a:r>
            <a:r>
              <a:rPr lang="en-US" sz="2400" b="1" dirty="0">
                <a:solidFill>
                  <a:srgbClr val="FFFFFF"/>
                </a:solidFill>
              </a:rPr>
              <a:t> itinerary.txt</a:t>
            </a:r>
          </a:p>
          <a:p>
            <a:r>
              <a:rPr lang="en-US" sz="2400" b="1" dirty="0">
                <a:solidFill>
                  <a:srgbClr val="FFFFFF"/>
                </a:solidFill>
              </a:rPr>
              <a:t>mode</a:t>
            </a:r>
            <a:r>
              <a:rPr lang="en-US" sz="2400" b="1" dirty="0">
                <a:solidFill>
                  <a:schemeClr val="accent2"/>
                </a:solidFill>
              </a:rPr>
              <a:t>:</a:t>
            </a:r>
            <a:r>
              <a:rPr lang="en-US" sz="2400" b="1" dirty="0">
                <a:solidFill>
                  <a:srgbClr val="FFFFFF"/>
                </a:solidFill>
              </a:rPr>
              <a:t> write</a:t>
            </a:r>
          </a:p>
        </p:txBody>
      </p:sp>
      <p:pic>
        <p:nvPicPr>
          <p:cNvPr id="1026" name="Picture 2" descr="BlueProgramming: PHP: Suma de enteros desde un archivo">
            <a:extLst>
              <a:ext uri="{FF2B5EF4-FFF2-40B4-BE49-F238E27FC236}">
                <a16:creationId xmlns:a16="http://schemas.microsoft.com/office/drawing/2014/main" id="{1273D2BC-B509-4185-86EF-8AC559B2A3D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582" r="18232"/>
          <a:stretch/>
        </p:blipFill>
        <p:spPr bwMode="auto">
          <a:xfrm>
            <a:off x="277546" y="2418717"/>
            <a:ext cx="1532112" cy="14820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" name="Picture 2" descr="BlueProgramming: PHP: Suma de enteros desde un archivo">
            <a:extLst>
              <a:ext uri="{FF2B5EF4-FFF2-40B4-BE49-F238E27FC236}">
                <a16:creationId xmlns:a16="http://schemas.microsoft.com/office/drawing/2014/main" id="{1000E23E-D04E-49B2-932B-16CF67CAF0D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582" r="18232"/>
          <a:stretch/>
        </p:blipFill>
        <p:spPr bwMode="auto">
          <a:xfrm>
            <a:off x="5352732" y="994729"/>
            <a:ext cx="1532112" cy="14820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" name="Picture 2" descr="BlueProgramming: PHP: Suma de enteros desde un archivo">
            <a:extLst>
              <a:ext uri="{FF2B5EF4-FFF2-40B4-BE49-F238E27FC236}">
                <a16:creationId xmlns:a16="http://schemas.microsoft.com/office/drawing/2014/main" id="{6FCB1D95-B613-465F-8019-D03B14B6EF9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582" r="18232"/>
          <a:stretch/>
        </p:blipFill>
        <p:spPr bwMode="auto">
          <a:xfrm>
            <a:off x="3493372" y="3596131"/>
            <a:ext cx="1532112" cy="14820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4022897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2C0F20-AFD0-E6A2-1C9D-DA9C941832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DDD20E-207C-15BE-3DF0-1FAA2057A0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Let’s Code!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DC6A31-1AEB-E405-5420-4B9E1638CB3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0050" y="1532292"/>
            <a:ext cx="7025986" cy="4835479"/>
          </a:xfrm>
        </p:spPr>
        <p:txBody>
          <a:bodyPr>
            <a:normAutofit/>
          </a:bodyPr>
          <a:lstStyle/>
          <a:p>
            <a:r>
              <a:rPr lang="en-CA" dirty="0"/>
              <a:t>Let’s take a look at how this works in Python!</a:t>
            </a:r>
          </a:p>
          <a:p>
            <a:pPr lvl="1"/>
            <a:r>
              <a:rPr lang="en-CA" dirty="0"/>
              <a:t>Objects in Python</a:t>
            </a:r>
          </a:p>
          <a:p>
            <a:pPr lvl="1"/>
            <a:r>
              <a:rPr lang="en-CA" dirty="0"/>
              <a:t>One potential ACORN design</a:t>
            </a:r>
          </a:p>
        </p:txBody>
      </p:sp>
      <p:sp>
        <p:nvSpPr>
          <p:cNvPr id="4" name="Rectangle: Rounded Corners 5">
            <a:extLst>
              <a:ext uri="{FF2B5EF4-FFF2-40B4-BE49-F238E27FC236}">
                <a16:creationId xmlns:a16="http://schemas.microsoft.com/office/drawing/2014/main" id="{8DF3BD45-CDFE-D07B-5F7E-9C648A5A3769}"/>
              </a:ext>
            </a:extLst>
          </p:cNvPr>
          <p:cNvSpPr/>
          <p:nvPr/>
        </p:nvSpPr>
        <p:spPr>
          <a:xfrm>
            <a:off x="7664115" y="1949006"/>
            <a:ext cx="3958389" cy="4418765"/>
          </a:xfrm>
          <a:prstGeom prst="roundRect">
            <a:avLst/>
          </a:prstGeom>
          <a:noFill/>
          <a:ln w="762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4400" b="1" dirty="0">
                <a:solidFill>
                  <a:srgbClr val="FFFFFF"/>
                </a:solidFill>
              </a:rPr>
              <a:t>Breakout Session!</a:t>
            </a:r>
          </a:p>
          <a:p>
            <a:endParaRPr lang="en-US" sz="4400" b="1" dirty="0">
              <a:solidFill>
                <a:srgbClr val="FFFFFF"/>
              </a:solidFill>
            </a:endParaRPr>
          </a:p>
          <a:p>
            <a:r>
              <a:rPr lang="en-US" sz="2800" b="1" dirty="0">
                <a:solidFill>
                  <a:srgbClr val="FFFFFF"/>
                </a:solidFill>
              </a:rPr>
              <a:t>Click Link</a:t>
            </a:r>
            <a:r>
              <a:rPr lang="en-US" sz="2800" b="1" dirty="0">
                <a:solidFill>
                  <a:schemeClr val="accent6"/>
                </a:solidFill>
              </a:rPr>
              <a:t>:</a:t>
            </a:r>
          </a:p>
          <a:p>
            <a:r>
              <a:rPr lang="en-US" sz="2800" b="1" dirty="0">
                <a:solidFill>
                  <a:schemeClr val="accent6"/>
                </a:solidFill>
              </a:rPr>
              <a:t>1. Objects in Python</a:t>
            </a:r>
          </a:p>
        </p:txBody>
      </p:sp>
    </p:spTree>
    <p:extLst>
      <p:ext uri="{BB962C8B-B14F-4D97-AF65-F5344CB8AC3E}">
        <p14:creationId xmlns:p14="http://schemas.microsoft.com/office/powerpoint/2010/main" val="65818860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5468F2-3FAC-F941-8BE0-D089053DC0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Why do we care about files?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332CD2-B798-8145-867C-70B1F48DB34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Everything we’ve done so far is essentially deleted when our program ends</a:t>
            </a:r>
          </a:p>
          <a:p>
            <a:r>
              <a:rPr lang="en-US" dirty="0"/>
              <a:t>What if we wanted to store information?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7496826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B7515D-556E-6B45-9B28-46B778A862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6933" y="727514"/>
            <a:ext cx="10515600" cy="656148"/>
          </a:xfrm>
        </p:spPr>
        <p:txBody>
          <a:bodyPr>
            <a:normAutofit fontScale="90000"/>
          </a:bodyPr>
          <a:lstStyle/>
          <a:p>
            <a:r>
              <a:rPr lang="en-US" dirty="0"/>
              <a:t>Why work with files?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FC5352-5DE4-804B-808E-585C34C0F28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10747" y="1383662"/>
            <a:ext cx="6827520" cy="4835479"/>
          </a:xfrm>
        </p:spPr>
        <p:txBody>
          <a:bodyPr>
            <a:normAutofit/>
          </a:bodyPr>
          <a:lstStyle/>
          <a:p>
            <a:pPr>
              <a:spcBef>
                <a:spcPct val="0"/>
              </a:spcBef>
              <a:spcAft>
                <a:spcPts val="1800"/>
              </a:spcAft>
            </a:pPr>
            <a:r>
              <a:rPr lang="en-US" dirty="0"/>
              <a:t>While a program is running, its data is stored in random access memory (RAM). </a:t>
            </a:r>
            <a:r>
              <a:rPr lang="en-US" i="1" u="sng" dirty="0"/>
              <a:t>when the program ends data in RAM disappears</a:t>
            </a:r>
            <a:r>
              <a:rPr lang="en-US" dirty="0"/>
              <a:t>. </a:t>
            </a:r>
          </a:p>
          <a:p>
            <a:pPr>
              <a:spcBef>
                <a:spcPct val="0"/>
              </a:spcBef>
              <a:spcAft>
                <a:spcPts val="1800"/>
              </a:spcAft>
            </a:pPr>
            <a:r>
              <a:rPr lang="en-US" dirty="0"/>
              <a:t>To make data available the next time the program is started, it must be written to a non-volatile storage medium, such a hard drive, USB drive, cloud storage, or CD-R.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EEE0984-4C4F-5D2E-C19F-6649E46FE1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16773" y="1383663"/>
            <a:ext cx="5111849" cy="3416938"/>
          </a:xfrm>
          <a:prstGeom prst="rect">
            <a:avLst/>
          </a:prstGeom>
        </p:spPr>
      </p:pic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0D386752-FBF0-177B-8BFA-8F7CB6BB47D8}"/>
              </a:ext>
            </a:extLst>
          </p:cNvPr>
          <p:cNvCxnSpPr>
            <a:cxnSpLocks/>
          </p:cNvCxnSpPr>
          <p:nvPr/>
        </p:nvCxnSpPr>
        <p:spPr>
          <a:xfrm flipV="1">
            <a:off x="6890754" y="3586169"/>
            <a:ext cx="2481943" cy="2200268"/>
          </a:xfrm>
          <a:prstGeom prst="straightConnector1">
            <a:avLst/>
          </a:prstGeom>
          <a:ln w="7302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C473A48D-4846-9527-77BD-4E6CD9091D83}"/>
              </a:ext>
            </a:extLst>
          </p:cNvPr>
          <p:cNvSpPr txBox="1"/>
          <p:nvPr/>
        </p:nvSpPr>
        <p:spPr>
          <a:xfrm>
            <a:off x="5904827" y="5631507"/>
            <a:ext cx="1393330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400" dirty="0">
                <a:solidFill>
                  <a:srgbClr val="FFFFFF"/>
                </a:solidFill>
              </a:rPr>
              <a:t>RAM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D601B7D9-F6C9-C9C0-E938-E1353037FFE9}"/>
              </a:ext>
            </a:extLst>
          </p:cNvPr>
          <p:cNvCxnSpPr>
            <a:cxnSpLocks/>
          </p:cNvCxnSpPr>
          <p:nvPr/>
        </p:nvCxnSpPr>
        <p:spPr>
          <a:xfrm flipV="1">
            <a:off x="5181738" y="3092132"/>
            <a:ext cx="2116419" cy="2899507"/>
          </a:xfrm>
          <a:prstGeom prst="straightConnector1">
            <a:avLst/>
          </a:prstGeom>
          <a:ln w="7302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6FB0E9EB-0E29-765B-D285-629F2765772A}"/>
              </a:ext>
            </a:extLst>
          </p:cNvPr>
          <p:cNvSpPr txBox="1"/>
          <p:nvPr/>
        </p:nvSpPr>
        <p:spPr>
          <a:xfrm>
            <a:off x="3810317" y="5786437"/>
            <a:ext cx="1236236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400" dirty="0">
                <a:solidFill>
                  <a:srgbClr val="FFFFFF"/>
                </a:solidFill>
              </a:rPr>
              <a:t>Disk</a:t>
            </a:r>
          </a:p>
        </p:txBody>
      </p:sp>
    </p:spTree>
    <p:extLst>
      <p:ext uri="{BB962C8B-B14F-4D97-AF65-F5344CB8AC3E}">
        <p14:creationId xmlns:p14="http://schemas.microsoft.com/office/powerpoint/2010/main" val="2775333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B6E51F-CD54-2948-B037-47C5E5564A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Why work with files?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A084EC-D3D1-F042-8447-C2BAC0B231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6491288" cy="4835479"/>
          </a:xfrm>
        </p:spPr>
        <p:txBody>
          <a:bodyPr/>
          <a:lstStyle/>
          <a:p>
            <a:pPr>
              <a:spcBef>
                <a:spcPct val="0"/>
              </a:spcBef>
              <a:spcAft>
                <a:spcPts val="1800"/>
              </a:spcAft>
            </a:pPr>
            <a:r>
              <a:rPr lang="en-US" dirty="0"/>
              <a:t>Data on non-volatile storage media are stored in named locations on the media called </a:t>
            </a:r>
            <a:r>
              <a:rPr lang="en-US" b="1" dirty="0"/>
              <a:t>files</a:t>
            </a:r>
            <a:r>
              <a:rPr lang="en-US" dirty="0"/>
              <a:t>. </a:t>
            </a:r>
          </a:p>
          <a:p>
            <a:pPr>
              <a:spcBef>
                <a:spcPct val="0"/>
              </a:spcBef>
              <a:spcAft>
                <a:spcPts val="1800"/>
              </a:spcAft>
            </a:pPr>
            <a:r>
              <a:rPr lang="en-US" dirty="0"/>
              <a:t>By </a:t>
            </a:r>
            <a:r>
              <a:rPr lang="en-US" b="1" dirty="0"/>
              <a:t>reading</a:t>
            </a:r>
            <a:r>
              <a:rPr lang="en-US" dirty="0"/>
              <a:t> and </a:t>
            </a:r>
            <a:r>
              <a:rPr lang="en-US" b="1" dirty="0"/>
              <a:t>writing</a:t>
            </a:r>
            <a:r>
              <a:rPr lang="en-US" dirty="0"/>
              <a:t> files, </a:t>
            </a:r>
            <a:r>
              <a:rPr lang="en-US" u="sng" dirty="0"/>
              <a:t>programs can save information between program runs</a:t>
            </a:r>
            <a:r>
              <a:rPr lang="en-US" dirty="0"/>
              <a:t>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3196736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B7515D-556E-6B45-9B28-46B778A862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It’s like working with a notebook!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FC5352-5DE4-804B-808E-585C34C0F28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6636026" cy="4835479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A file</a:t>
            </a:r>
            <a:r>
              <a:rPr lang="en-CA" dirty="0"/>
              <a:t> must be </a:t>
            </a:r>
            <a:r>
              <a:rPr lang="en-CA" b="1" dirty="0"/>
              <a:t>opened</a:t>
            </a:r>
            <a:r>
              <a:rPr lang="en-CA" dirty="0"/>
              <a:t>.</a:t>
            </a:r>
          </a:p>
          <a:p>
            <a:endParaRPr lang="en-CA" dirty="0"/>
          </a:p>
          <a:p>
            <a:r>
              <a:rPr lang="en-CA" dirty="0"/>
              <a:t>When you are done, it has to be </a:t>
            </a:r>
            <a:r>
              <a:rPr lang="en-CA" b="1" dirty="0"/>
              <a:t>closed</a:t>
            </a:r>
            <a:r>
              <a:rPr lang="en-CA" dirty="0"/>
              <a:t>. </a:t>
            </a:r>
          </a:p>
          <a:p>
            <a:endParaRPr lang="en-CA" dirty="0"/>
          </a:p>
          <a:p>
            <a:r>
              <a:rPr lang="en-CA" dirty="0"/>
              <a:t>While the file is open, it can either be </a:t>
            </a:r>
            <a:r>
              <a:rPr lang="en-CA" b="1" dirty="0"/>
              <a:t>read from or written to</a:t>
            </a:r>
            <a:r>
              <a:rPr lang="en-CA" dirty="0"/>
              <a:t>. </a:t>
            </a:r>
          </a:p>
          <a:p>
            <a:endParaRPr lang="en-CA" dirty="0"/>
          </a:p>
          <a:p>
            <a:r>
              <a:rPr lang="en-CA" dirty="0"/>
              <a:t>Like a bookmark, the file </a:t>
            </a:r>
            <a:r>
              <a:rPr lang="en-CA" b="1" dirty="0"/>
              <a:t>keeps track of </a:t>
            </a:r>
            <a:r>
              <a:rPr lang="en-CA" dirty="0"/>
              <a:t>where you are reading to or writing from. </a:t>
            </a:r>
          </a:p>
          <a:p>
            <a:endParaRPr lang="en-CA" dirty="0"/>
          </a:p>
          <a:p>
            <a:r>
              <a:rPr lang="en-CA" dirty="0"/>
              <a:t>You can read the whole file in its </a:t>
            </a:r>
            <a:r>
              <a:rPr lang="en-CA" b="1" dirty="0"/>
              <a:t>natural order </a:t>
            </a:r>
            <a:r>
              <a:rPr lang="en-CA" dirty="0"/>
              <a:t>or you can </a:t>
            </a:r>
            <a:r>
              <a:rPr lang="en-CA" b="1" dirty="0"/>
              <a:t>skip</a:t>
            </a:r>
            <a:r>
              <a:rPr lang="en-CA" dirty="0"/>
              <a:t> around</a:t>
            </a:r>
          </a:p>
        </p:txBody>
      </p:sp>
    </p:spTree>
    <p:extLst>
      <p:ext uri="{BB962C8B-B14F-4D97-AF65-F5344CB8AC3E}">
        <p14:creationId xmlns:p14="http://schemas.microsoft.com/office/powerpoint/2010/main" val="156900910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2360F4-CC26-0B46-981C-0C1F006209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Opening a File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FF7601-639B-724F-87FC-B4B0A1EBE0E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Bef>
                <a:spcPct val="0"/>
              </a:spcBef>
              <a:spcAft>
                <a:spcPts val="1800"/>
              </a:spcAft>
            </a:pPr>
            <a:r>
              <a:rPr lang="en-US" dirty="0"/>
              <a:t>Python has a built-in function </a:t>
            </a:r>
            <a:r>
              <a:rPr lang="en-US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open</a:t>
            </a:r>
            <a:r>
              <a:rPr lang="en-US" dirty="0"/>
              <a:t> that creates and returns a file object with a connection between the file information on the disk and the program. </a:t>
            </a:r>
          </a:p>
          <a:p>
            <a:pPr>
              <a:spcBef>
                <a:spcPct val="0"/>
              </a:spcBef>
              <a:spcAft>
                <a:spcPts val="1800"/>
              </a:spcAft>
            </a:pPr>
            <a:r>
              <a:rPr lang="en-US" dirty="0"/>
              <a:t>The general form for opening a file is:</a:t>
            </a:r>
          </a:p>
          <a:p>
            <a:pPr marL="0" indent="0">
              <a:spcBef>
                <a:spcPct val="0"/>
              </a:spcBef>
              <a:spcAft>
                <a:spcPts val="1800"/>
              </a:spcAft>
              <a:buNone/>
            </a:pPr>
            <a:endParaRPr lang="en-US" dirty="0"/>
          </a:p>
          <a:p>
            <a:pPr marL="0" indent="0">
              <a:spcBef>
                <a:spcPct val="0"/>
              </a:spcBef>
              <a:spcAft>
                <a:spcPts val="1800"/>
              </a:spcAft>
              <a:buNone/>
            </a:pPr>
            <a:endParaRPr lang="en-US" sz="800" dirty="0"/>
          </a:p>
          <a:p>
            <a:pPr>
              <a:spcBef>
                <a:spcPct val="0"/>
              </a:spcBef>
              <a:spcAft>
                <a:spcPts val="1800"/>
              </a:spcAft>
            </a:pPr>
            <a:r>
              <a:rPr lang="en-US" dirty="0"/>
              <a:t>where </a:t>
            </a:r>
            <a:r>
              <a:rPr lang="en-US" b="1" dirty="0"/>
              <a:t>mode</a:t>
            </a:r>
            <a:r>
              <a:rPr lang="en-US" dirty="0"/>
              <a:t> is </a:t>
            </a:r>
            <a:r>
              <a:rPr lang="en-US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'r'</a:t>
            </a:r>
            <a:r>
              <a:rPr lang="en-US" dirty="0"/>
              <a:t> (to open for reading), </a:t>
            </a:r>
            <a:r>
              <a:rPr lang="en-US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'w'</a:t>
            </a:r>
            <a:r>
              <a:rPr lang="en-US" dirty="0"/>
              <a:t> (to open for writing), or </a:t>
            </a:r>
            <a:r>
              <a:rPr lang="en-US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'a'</a:t>
            </a:r>
            <a:r>
              <a:rPr lang="en-US" dirty="0">
                <a:solidFill>
                  <a:schemeClr val="accent6"/>
                </a:solidFill>
              </a:rPr>
              <a:t> </a:t>
            </a:r>
            <a:r>
              <a:rPr lang="en-US" dirty="0"/>
              <a:t>(to open for appending to what is already in the file).</a:t>
            </a:r>
          </a:p>
          <a:p>
            <a:pPr>
              <a:spcBef>
                <a:spcPct val="0"/>
              </a:spcBef>
              <a:spcAft>
                <a:spcPts val="1800"/>
              </a:spcAft>
            </a:pPr>
            <a:r>
              <a:rPr lang="en-US" b="1" dirty="0"/>
              <a:t>filename</a:t>
            </a:r>
            <a:r>
              <a:rPr lang="en-US" dirty="0"/>
              <a:t> is an external storage location.</a:t>
            </a:r>
            <a:endParaRPr lang="en-US" sz="2400" dirty="0"/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B7B6B15E-FD69-E041-82B7-8C3078FDFDE0}"/>
              </a:ext>
            </a:extLst>
          </p:cNvPr>
          <p:cNvSpPr txBox="1"/>
          <p:nvPr/>
        </p:nvSpPr>
        <p:spPr>
          <a:xfrm>
            <a:off x="1055442" y="3809199"/>
            <a:ext cx="10298358" cy="55399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lang="en-US" sz="3600" spc="-5" dirty="0">
                <a:solidFill>
                  <a:srgbClr val="00FF00"/>
                </a:solidFill>
                <a:latin typeface="Courier New"/>
                <a:cs typeface="Courier New"/>
              </a:rPr>
              <a:t>open(filename, mode)</a:t>
            </a:r>
            <a:endParaRPr sz="3600" dirty="0">
              <a:solidFill>
                <a:srgbClr val="00FF00"/>
              </a:solidFill>
              <a:latin typeface="Courier New"/>
              <a:cs typeface="Courier New"/>
            </a:endParaRPr>
          </a:p>
        </p:txBody>
      </p:sp>
    </p:spTree>
    <p:extLst>
      <p:ext uri="{BB962C8B-B14F-4D97-AF65-F5344CB8AC3E}">
        <p14:creationId xmlns:p14="http://schemas.microsoft.com/office/powerpoint/2010/main" val="399591602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7FAA8B-F3B4-7B44-B7CD-433A5271E9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Writing to a File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55FD1D87-9B42-1341-ACFC-DC01A7D5C7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73978"/>
            <a:ext cx="10515600" cy="4835479"/>
          </a:xfrm>
        </p:spPr>
        <p:txBody>
          <a:bodyPr/>
          <a:lstStyle/>
          <a:p>
            <a:pPr>
              <a:spcBef>
                <a:spcPct val="0"/>
              </a:spcBef>
              <a:spcAft>
                <a:spcPts val="1800"/>
              </a:spcAft>
            </a:pPr>
            <a:r>
              <a:rPr lang="en-US" dirty="0"/>
              <a:t>The following statement opens the file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test.txt</a:t>
            </a:r>
            <a:r>
              <a:rPr lang="en-US" dirty="0"/>
              <a:t> in write mode </a:t>
            </a:r>
            <a:r>
              <a:rPr lang="en-US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‘w’</a:t>
            </a:r>
            <a:r>
              <a:rPr lang="en-US" dirty="0">
                <a:cs typeface="Courier New" panose="02070309020205020404" pitchFamily="49" charset="0"/>
              </a:rPr>
              <a:t>.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</a:p>
          <a:p>
            <a:pPr>
              <a:spcBef>
                <a:spcPct val="0"/>
              </a:spcBef>
              <a:spcAft>
                <a:spcPts val="1800"/>
              </a:spcAft>
            </a:pPr>
            <a:endParaRPr lang="en-US" dirty="0"/>
          </a:p>
          <a:p>
            <a:pPr>
              <a:spcBef>
                <a:spcPct val="0"/>
              </a:spcBef>
              <a:spcAft>
                <a:spcPts val="1800"/>
              </a:spcAft>
            </a:pPr>
            <a:r>
              <a:rPr lang="en-US" dirty="0"/>
              <a:t>If there is no file named "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test.txt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"</a:t>
            </a:r>
            <a:r>
              <a:rPr lang="en-US" dirty="0"/>
              <a:t> on the disk, it will be created. </a:t>
            </a:r>
            <a:r>
              <a:rPr lang="en-US" i="1" u="sng" dirty="0"/>
              <a:t>If there already is one, it will be replaced by the file we are writing</a:t>
            </a:r>
            <a:r>
              <a:rPr lang="en-US" dirty="0"/>
              <a:t>.</a:t>
            </a:r>
          </a:p>
          <a:p>
            <a:pPr>
              <a:spcBef>
                <a:spcPct val="0"/>
              </a:spcBef>
              <a:spcAft>
                <a:spcPts val="1800"/>
              </a:spcAft>
            </a:pPr>
            <a:r>
              <a:rPr lang="en-US" dirty="0"/>
              <a:t>The file information will be assigned to the file object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myfile</a:t>
            </a:r>
            <a:r>
              <a:rPr lang="en-US" dirty="0"/>
              <a:t>.</a:t>
            </a:r>
          </a:p>
        </p:txBody>
      </p:sp>
      <p:sp>
        <p:nvSpPr>
          <p:cNvPr id="10" name="object 4">
            <a:extLst>
              <a:ext uri="{FF2B5EF4-FFF2-40B4-BE49-F238E27FC236}">
                <a16:creationId xmlns:a16="http://schemas.microsoft.com/office/drawing/2014/main" id="{CB9E7D43-AD30-B347-9931-0848D08C333E}"/>
              </a:ext>
            </a:extLst>
          </p:cNvPr>
          <p:cNvSpPr txBox="1"/>
          <p:nvPr/>
        </p:nvSpPr>
        <p:spPr>
          <a:xfrm>
            <a:off x="1910861" y="2594764"/>
            <a:ext cx="8763001" cy="55399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lang="en-US" sz="3600" spc="-5" dirty="0" err="1">
                <a:solidFill>
                  <a:srgbClr val="00FF00"/>
                </a:solidFill>
                <a:latin typeface="Courier New"/>
                <a:cs typeface="Courier New"/>
              </a:rPr>
              <a:t>myfile</a:t>
            </a:r>
            <a:r>
              <a:rPr lang="en-US" sz="3600" spc="-5" dirty="0">
                <a:solidFill>
                  <a:srgbClr val="00FF00"/>
                </a:solidFill>
                <a:latin typeface="Courier New"/>
                <a:cs typeface="Courier New"/>
              </a:rPr>
              <a:t> = open(‘</a:t>
            </a:r>
            <a:r>
              <a:rPr lang="en-US" sz="3600" spc="-5" dirty="0" err="1">
                <a:solidFill>
                  <a:srgbClr val="00FF00"/>
                </a:solidFill>
                <a:latin typeface="Courier New"/>
                <a:cs typeface="Courier New"/>
              </a:rPr>
              <a:t>test.txt</a:t>
            </a:r>
            <a:r>
              <a:rPr lang="en-US" sz="3600" spc="-5" dirty="0">
                <a:solidFill>
                  <a:srgbClr val="00FF00"/>
                </a:solidFill>
                <a:latin typeface="Courier New"/>
                <a:cs typeface="Courier New"/>
              </a:rPr>
              <a:t>’, ‘w’)</a:t>
            </a:r>
            <a:endParaRPr sz="3600" dirty="0">
              <a:solidFill>
                <a:srgbClr val="00FF00"/>
              </a:solidFill>
              <a:latin typeface="Courier New"/>
              <a:cs typeface="Courier New"/>
            </a:endParaRPr>
          </a:p>
        </p:txBody>
      </p:sp>
    </p:spTree>
    <p:extLst>
      <p:ext uri="{BB962C8B-B14F-4D97-AF65-F5344CB8AC3E}">
        <p14:creationId xmlns:p14="http://schemas.microsoft.com/office/powerpoint/2010/main" val="252652834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7FAA8B-F3B4-7B44-B7CD-433A5271E9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Writing to a File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55FD1D87-9B42-1341-ACFC-DC01A7D5C7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73978"/>
            <a:ext cx="10515600" cy="4835479"/>
          </a:xfrm>
        </p:spPr>
        <p:txBody>
          <a:bodyPr/>
          <a:lstStyle/>
          <a:p>
            <a:pPr>
              <a:spcBef>
                <a:spcPct val="0"/>
              </a:spcBef>
              <a:spcAft>
                <a:spcPts val="1800"/>
              </a:spcAft>
            </a:pPr>
            <a:r>
              <a:rPr lang="en-US" dirty="0"/>
              <a:t>To write something we need to use the </a:t>
            </a:r>
            <a:r>
              <a:rPr lang="en-US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write</a:t>
            </a:r>
            <a:r>
              <a:rPr lang="en-US" dirty="0"/>
              <a:t> method as shown:</a:t>
            </a:r>
          </a:p>
          <a:p>
            <a:pPr>
              <a:spcBef>
                <a:spcPct val="0"/>
              </a:spcBef>
              <a:spcAft>
                <a:spcPts val="1800"/>
              </a:spcAft>
            </a:pPr>
            <a:endParaRPr lang="en-US" dirty="0"/>
          </a:p>
          <a:p>
            <a:pPr>
              <a:spcBef>
                <a:spcPct val="0"/>
              </a:spcBef>
              <a:spcAft>
                <a:spcPts val="1800"/>
              </a:spcAft>
            </a:pPr>
            <a:r>
              <a:rPr lang="en-US" dirty="0"/>
              <a:t>The </a:t>
            </a:r>
            <a:r>
              <a:rPr lang="en-US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write</a:t>
            </a:r>
            <a:r>
              <a:rPr lang="en-US" dirty="0"/>
              <a:t> method does not attach a </a:t>
            </a:r>
            <a:r>
              <a:rPr lang="en-US" dirty="0">
                <a:solidFill>
                  <a:srgbClr val="00B0F0"/>
                </a:solidFill>
              </a:rPr>
              <a:t>new line character </a:t>
            </a:r>
            <a:r>
              <a:rPr lang="en-US" dirty="0"/>
              <a:t>by default. </a:t>
            </a:r>
          </a:p>
          <a:p>
            <a:pPr>
              <a:spcBef>
                <a:spcPct val="0"/>
              </a:spcBef>
              <a:spcAft>
                <a:spcPts val="1800"/>
              </a:spcAft>
            </a:pPr>
            <a:endParaRPr lang="en-US" dirty="0"/>
          </a:p>
          <a:p>
            <a:pPr marL="457200" lvl="1" indent="-457200">
              <a:spcBef>
                <a:spcPct val="0"/>
              </a:spcBef>
              <a:spcAft>
                <a:spcPts val="1800"/>
              </a:spcAft>
              <a:buFontTx/>
              <a:buChar char="•"/>
            </a:pPr>
            <a:endParaRPr lang="en-US" sz="1400" dirty="0"/>
          </a:p>
          <a:p>
            <a:pPr marL="457200" lvl="1" indent="-457200">
              <a:spcBef>
                <a:spcPct val="0"/>
              </a:spcBef>
              <a:spcAft>
                <a:spcPts val="1800"/>
              </a:spcAft>
              <a:buFontTx/>
              <a:buChar char="•"/>
            </a:pPr>
            <a:r>
              <a:rPr lang="en-US" dirty="0"/>
              <a:t>Every time we use </a:t>
            </a:r>
            <a:r>
              <a:rPr lang="en-US" dirty="0" err="1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myfile.write</a:t>
            </a:r>
            <a:r>
              <a:rPr lang="en-US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  <a:r>
              <a:rPr lang="en-US" dirty="0">
                <a:solidFill>
                  <a:schemeClr val="accent6"/>
                </a:solidFill>
              </a:rPr>
              <a:t> </a:t>
            </a:r>
            <a:r>
              <a:rPr lang="en-US" dirty="0"/>
              <a:t>a string is added to file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“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test.txt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”</a:t>
            </a:r>
            <a:r>
              <a:rPr lang="en-US" dirty="0"/>
              <a:t> where we left off.</a:t>
            </a:r>
          </a:p>
        </p:txBody>
      </p:sp>
      <p:sp>
        <p:nvSpPr>
          <p:cNvPr id="10" name="object 4">
            <a:extLst>
              <a:ext uri="{FF2B5EF4-FFF2-40B4-BE49-F238E27FC236}">
                <a16:creationId xmlns:a16="http://schemas.microsoft.com/office/drawing/2014/main" id="{CB9E7D43-AD30-B347-9931-0848D08C333E}"/>
              </a:ext>
            </a:extLst>
          </p:cNvPr>
          <p:cNvSpPr txBox="1"/>
          <p:nvPr/>
        </p:nvSpPr>
        <p:spPr>
          <a:xfrm>
            <a:off x="1910861" y="2594764"/>
            <a:ext cx="8763001" cy="55399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lang="en-US" sz="3600" spc="-5" dirty="0" err="1">
                <a:solidFill>
                  <a:srgbClr val="00FF00"/>
                </a:solidFill>
                <a:latin typeface="Courier New"/>
                <a:cs typeface="Courier New"/>
              </a:rPr>
              <a:t>myfile.write</a:t>
            </a:r>
            <a:r>
              <a:rPr lang="en-US" sz="3600" spc="-5" dirty="0">
                <a:solidFill>
                  <a:srgbClr val="00FF00"/>
                </a:solidFill>
                <a:latin typeface="Courier New"/>
                <a:cs typeface="Courier New"/>
              </a:rPr>
              <a:t>(‘CATS!…’)</a:t>
            </a:r>
            <a:endParaRPr sz="3600" dirty="0">
              <a:solidFill>
                <a:srgbClr val="00FF00"/>
              </a:solidFill>
              <a:latin typeface="Courier New"/>
              <a:cs typeface="Courier New"/>
            </a:endParaRPr>
          </a:p>
        </p:txBody>
      </p:sp>
      <p:sp>
        <p:nvSpPr>
          <p:cNvPr id="5" name="object 4">
            <a:extLst>
              <a:ext uri="{FF2B5EF4-FFF2-40B4-BE49-F238E27FC236}">
                <a16:creationId xmlns:a16="http://schemas.microsoft.com/office/drawing/2014/main" id="{0835F72E-430E-CF4E-A367-D43DE10E22FF}"/>
              </a:ext>
            </a:extLst>
          </p:cNvPr>
          <p:cNvSpPr txBox="1"/>
          <p:nvPr/>
        </p:nvSpPr>
        <p:spPr>
          <a:xfrm>
            <a:off x="978876" y="4091717"/>
            <a:ext cx="10978662" cy="110799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lang="en-US" sz="3600" spc="-5" dirty="0" err="1">
                <a:solidFill>
                  <a:srgbClr val="00FF00"/>
                </a:solidFill>
                <a:latin typeface="Courier New"/>
                <a:cs typeface="Courier New"/>
              </a:rPr>
              <a:t>myfile.write</a:t>
            </a:r>
            <a:r>
              <a:rPr lang="en-US" sz="3600" spc="-5" dirty="0">
                <a:solidFill>
                  <a:srgbClr val="00FF00"/>
                </a:solidFill>
                <a:latin typeface="Courier New"/>
                <a:cs typeface="Courier New"/>
              </a:rPr>
              <a:t>(‘\n’)</a:t>
            </a:r>
          </a:p>
          <a:p>
            <a:pPr marL="12700">
              <a:lnSpc>
                <a:spcPct val="100000"/>
              </a:lnSpc>
            </a:pPr>
            <a:r>
              <a:rPr lang="en-US" sz="3600" spc="-5" dirty="0" err="1">
                <a:solidFill>
                  <a:srgbClr val="00FF00"/>
                </a:solidFill>
                <a:latin typeface="Courier New"/>
                <a:cs typeface="Courier New"/>
              </a:rPr>
              <a:t>myfile.write</a:t>
            </a:r>
            <a:r>
              <a:rPr lang="en-US" sz="3600" spc="-5" dirty="0">
                <a:solidFill>
                  <a:srgbClr val="00FF00"/>
                </a:solidFill>
                <a:latin typeface="Courier New"/>
                <a:cs typeface="Courier New"/>
              </a:rPr>
              <a:t>(‘I &lt;3 my second line… \n’)</a:t>
            </a:r>
            <a:endParaRPr sz="3600" dirty="0">
              <a:solidFill>
                <a:srgbClr val="00FF00"/>
              </a:solidFill>
              <a:latin typeface="Courier New"/>
              <a:cs typeface="Courier New"/>
            </a:endParaRPr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54388033-4869-C442-9DC9-32C9FF84F1A3}"/>
              </a:ext>
            </a:extLst>
          </p:cNvPr>
          <p:cNvCxnSpPr/>
          <p:nvPr/>
        </p:nvCxnSpPr>
        <p:spPr>
          <a:xfrm>
            <a:off x="9744075" y="3786188"/>
            <a:ext cx="929787" cy="814387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4799008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64E3B2-900B-5B49-8F16-52BDAA2E9B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43EDF7-69CD-1E42-92FC-4C541DDEBD9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9906000" cy="4835479"/>
          </a:xfrm>
        </p:spPr>
        <p:txBody>
          <a:bodyPr/>
          <a:lstStyle/>
          <a:p>
            <a:pPr marL="0" indent="0">
              <a:buNone/>
            </a:pPr>
            <a:r>
              <a:rPr lang="en-US" spc="-5" dirty="0" err="1">
                <a:solidFill>
                  <a:srgbClr val="00FF00"/>
                </a:solidFill>
                <a:latin typeface="Courier New"/>
                <a:cs typeface="Courier New"/>
              </a:rPr>
              <a:t>myfile</a:t>
            </a:r>
            <a:r>
              <a:rPr lang="en-US" spc="-5" dirty="0">
                <a:solidFill>
                  <a:srgbClr val="00FF00"/>
                </a:solidFill>
                <a:latin typeface="Courier New"/>
                <a:cs typeface="Courier New"/>
              </a:rPr>
              <a:t> = open(‘</a:t>
            </a:r>
            <a:r>
              <a:rPr lang="en-US" spc="-5" dirty="0" err="1">
                <a:solidFill>
                  <a:srgbClr val="00FF00"/>
                </a:solidFill>
                <a:latin typeface="Courier New"/>
                <a:cs typeface="Courier New"/>
              </a:rPr>
              <a:t>test.txt</a:t>
            </a:r>
            <a:r>
              <a:rPr lang="en-US" spc="-5" dirty="0">
                <a:solidFill>
                  <a:srgbClr val="00FF00"/>
                </a:solidFill>
                <a:latin typeface="Courier New"/>
                <a:cs typeface="Courier New"/>
              </a:rPr>
              <a:t>’, ‘w’)</a:t>
            </a:r>
          </a:p>
          <a:p>
            <a:pPr marL="0" indent="0">
              <a:buNone/>
            </a:pPr>
            <a:r>
              <a:rPr lang="en-US" spc="-5" dirty="0" err="1">
                <a:solidFill>
                  <a:srgbClr val="00FF00"/>
                </a:solidFill>
                <a:latin typeface="Courier New"/>
                <a:cs typeface="Courier New"/>
              </a:rPr>
              <a:t>myfile.write</a:t>
            </a:r>
            <a:r>
              <a:rPr lang="en-US" spc="-5" dirty="0">
                <a:solidFill>
                  <a:srgbClr val="00FF00"/>
                </a:solidFill>
                <a:latin typeface="Courier New"/>
                <a:cs typeface="Courier New"/>
              </a:rPr>
              <a:t>(‘CATS!…’)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pc="-5" dirty="0" err="1">
                <a:solidFill>
                  <a:srgbClr val="00FF00"/>
                </a:solidFill>
                <a:latin typeface="Courier New"/>
                <a:cs typeface="Courier New"/>
              </a:rPr>
              <a:t>myfile.write</a:t>
            </a:r>
            <a:r>
              <a:rPr lang="en-US" spc="-5" dirty="0">
                <a:solidFill>
                  <a:srgbClr val="00FF00"/>
                </a:solidFill>
                <a:latin typeface="Courier New"/>
                <a:cs typeface="Courier New"/>
              </a:rPr>
              <a:t>(‘\n’)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pc="-5" dirty="0" err="1">
                <a:solidFill>
                  <a:srgbClr val="00FF00"/>
                </a:solidFill>
                <a:latin typeface="Courier New"/>
                <a:cs typeface="Courier New"/>
              </a:rPr>
              <a:t>myfile.write</a:t>
            </a:r>
            <a:r>
              <a:rPr lang="en-US" spc="-5" dirty="0">
                <a:solidFill>
                  <a:srgbClr val="00FF00"/>
                </a:solidFill>
                <a:latin typeface="Courier New"/>
                <a:cs typeface="Courier New"/>
              </a:rPr>
              <a:t>(‘I &lt;3 my second sentence… \n’)</a:t>
            </a:r>
            <a:endParaRPr lang="en-US" dirty="0">
              <a:solidFill>
                <a:srgbClr val="00FF00"/>
              </a:solidFill>
              <a:latin typeface="Courier New"/>
              <a:cs typeface="Courier New"/>
            </a:endParaRPr>
          </a:p>
          <a:p>
            <a:pPr marL="0" indent="0">
              <a:buNone/>
            </a:pPr>
            <a:endParaRPr lang="en-US" dirty="0">
              <a:solidFill>
                <a:srgbClr val="00FF00"/>
              </a:solidFill>
              <a:latin typeface="Courier New"/>
              <a:cs typeface="Courier New"/>
            </a:endParaRPr>
          </a:p>
          <a:p>
            <a:pPr marL="0" indent="0">
              <a:buNone/>
            </a:pPr>
            <a:endParaRPr lang="en-US" dirty="0">
              <a:solidFill>
                <a:srgbClr val="00FF00"/>
              </a:solidFill>
              <a:latin typeface="Courier New"/>
              <a:cs typeface="Courier New"/>
            </a:endParaRPr>
          </a:p>
          <a:p>
            <a:pPr marL="0" indent="0">
              <a:buNone/>
            </a:pPr>
            <a:r>
              <a:rPr lang="en-US" dirty="0">
                <a:solidFill>
                  <a:srgbClr val="00FF00"/>
                </a:solidFill>
                <a:latin typeface="Courier New"/>
                <a:cs typeface="Courier New"/>
              </a:rPr>
              <a:t># and eventually we close our file</a:t>
            </a:r>
          </a:p>
          <a:p>
            <a:pPr marL="0" indent="0">
              <a:buNone/>
            </a:pPr>
            <a:r>
              <a:rPr lang="en-US" sz="2800" spc="-5" dirty="0" err="1">
                <a:solidFill>
                  <a:srgbClr val="00FF00"/>
                </a:solidFill>
                <a:latin typeface="Courier New"/>
                <a:cs typeface="Courier New"/>
              </a:rPr>
              <a:t>myfile.close</a:t>
            </a:r>
            <a:r>
              <a:rPr lang="en-US" sz="2800" spc="-5" dirty="0">
                <a:solidFill>
                  <a:srgbClr val="00FF00"/>
                </a:solidFill>
                <a:latin typeface="Courier New"/>
                <a:cs typeface="Courier New"/>
              </a:rPr>
              <a:t>()</a:t>
            </a:r>
            <a:endParaRPr lang="en-US" dirty="0">
              <a:solidFill>
                <a:srgbClr val="00FF00"/>
              </a:solidFill>
              <a:latin typeface="Courier New"/>
              <a:cs typeface="Courier New"/>
            </a:endParaRP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D803BBA-6C5F-F849-B6E5-9C7DE802892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67725" y="3568700"/>
            <a:ext cx="4229100" cy="3937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556956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7FAA8B-F3B4-7B44-B7CD-433A5271E9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Closing a File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55FD1D87-9B42-1341-ACFC-DC01A7D5C7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73978"/>
            <a:ext cx="10515600" cy="4835479"/>
          </a:xfrm>
        </p:spPr>
        <p:txBody>
          <a:bodyPr/>
          <a:lstStyle/>
          <a:p>
            <a:pPr>
              <a:spcBef>
                <a:spcPct val="0"/>
              </a:spcBef>
              <a:spcAft>
                <a:spcPts val="1800"/>
              </a:spcAft>
            </a:pPr>
            <a:r>
              <a:rPr lang="en-US" dirty="0"/>
              <a:t>Once you have finished with the file, you need to close it:</a:t>
            </a:r>
          </a:p>
          <a:p>
            <a:pPr>
              <a:spcBef>
                <a:spcPct val="0"/>
              </a:spcBef>
              <a:spcAft>
                <a:spcPts val="1800"/>
              </a:spcAft>
            </a:pPr>
            <a:endParaRPr lang="en-US" dirty="0"/>
          </a:p>
          <a:p>
            <a:pPr>
              <a:spcBef>
                <a:spcPct val="0"/>
              </a:spcBef>
              <a:spcAft>
                <a:spcPts val="1800"/>
              </a:spcAft>
            </a:pPr>
            <a:endParaRPr lang="en-US" sz="1400" dirty="0"/>
          </a:p>
          <a:p>
            <a:pPr>
              <a:spcBef>
                <a:spcPct val="0"/>
              </a:spcBef>
              <a:spcAft>
                <a:spcPts val="1800"/>
              </a:spcAft>
            </a:pPr>
            <a:r>
              <a:rPr lang="en-US" dirty="0"/>
              <a:t>This tells the system that we are done writing and makes the disk file available for reading or writing by other programs (or by our own program).</a:t>
            </a:r>
          </a:p>
        </p:txBody>
      </p:sp>
      <p:sp>
        <p:nvSpPr>
          <p:cNvPr id="10" name="object 4">
            <a:extLst>
              <a:ext uri="{FF2B5EF4-FFF2-40B4-BE49-F238E27FC236}">
                <a16:creationId xmlns:a16="http://schemas.microsoft.com/office/drawing/2014/main" id="{CB9E7D43-AD30-B347-9931-0848D08C333E}"/>
              </a:ext>
            </a:extLst>
          </p:cNvPr>
          <p:cNvSpPr txBox="1"/>
          <p:nvPr/>
        </p:nvSpPr>
        <p:spPr>
          <a:xfrm>
            <a:off x="1910861" y="2471672"/>
            <a:ext cx="8763001" cy="55399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lang="en-US" sz="3600" spc="-5" dirty="0" err="1">
                <a:solidFill>
                  <a:srgbClr val="00FF00"/>
                </a:solidFill>
                <a:latin typeface="Courier New"/>
                <a:cs typeface="Courier New"/>
              </a:rPr>
              <a:t>myfile.close</a:t>
            </a:r>
            <a:r>
              <a:rPr lang="en-US" sz="3600" spc="-5" dirty="0">
                <a:solidFill>
                  <a:srgbClr val="00FF00"/>
                </a:solidFill>
                <a:latin typeface="Courier New"/>
                <a:cs typeface="Courier New"/>
              </a:rPr>
              <a:t>()</a:t>
            </a:r>
            <a:endParaRPr sz="3600" dirty="0">
              <a:solidFill>
                <a:srgbClr val="00FF00"/>
              </a:solidFill>
              <a:latin typeface="Courier New"/>
              <a:cs typeface="Courier New"/>
            </a:endParaRPr>
          </a:p>
        </p:txBody>
      </p:sp>
    </p:spTree>
    <p:extLst>
      <p:ext uri="{BB962C8B-B14F-4D97-AF65-F5344CB8AC3E}">
        <p14:creationId xmlns:p14="http://schemas.microsoft.com/office/powerpoint/2010/main" val="100610886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D3E942-D48A-CF4F-BAD4-22FE8605A5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Let’s Code!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A3DF1E-F240-BC41-B313-3625DDE1D9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0050" y="1532292"/>
            <a:ext cx="7025986" cy="4835479"/>
          </a:xfrm>
        </p:spPr>
        <p:txBody>
          <a:bodyPr>
            <a:normAutofit/>
          </a:bodyPr>
          <a:lstStyle/>
          <a:p>
            <a:r>
              <a:rPr lang="en-CA" dirty="0"/>
              <a:t>Let’s take a look at how this works in Python!</a:t>
            </a:r>
          </a:p>
          <a:p>
            <a:pPr lvl="1"/>
            <a:r>
              <a:rPr lang="en-CA" dirty="0">
                <a:solidFill>
                  <a:srgbClr val="FFFF00"/>
                </a:solidFill>
              </a:rPr>
              <a:t>Writing to your first file</a:t>
            </a:r>
          </a:p>
          <a:p>
            <a:pPr lvl="1"/>
            <a:r>
              <a:rPr lang="en-CA" dirty="0">
                <a:solidFill>
                  <a:srgbClr val="FFFF00"/>
                </a:solidFill>
              </a:rPr>
              <a:t>Figure out where your files are getting saved!</a:t>
            </a:r>
          </a:p>
          <a:p>
            <a:pPr lvl="2"/>
            <a:r>
              <a:rPr lang="en-CA" dirty="0">
                <a:solidFill>
                  <a:srgbClr val="FFFF00"/>
                </a:solidFill>
              </a:rPr>
              <a:t>Current working directory</a:t>
            </a:r>
          </a:p>
          <a:p>
            <a:pPr lvl="1"/>
            <a:r>
              <a:rPr lang="en-CA" dirty="0">
                <a:solidFill>
                  <a:srgbClr val="FFFF00"/>
                </a:solidFill>
              </a:rPr>
              <a:t>Try playing with “w” and “a” mode!</a:t>
            </a:r>
          </a:p>
        </p:txBody>
      </p:sp>
      <p:sp>
        <p:nvSpPr>
          <p:cNvPr id="4" name="Rectangle: Rounded Corners 5">
            <a:extLst>
              <a:ext uri="{FF2B5EF4-FFF2-40B4-BE49-F238E27FC236}">
                <a16:creationId xmlns:a16="http://schemas.microsoft.com/office/drawing/2014/main" id="{9BD5FBCF-8C94-E44C-BBC9-C128207E6FA0}"/>
              </a:ext>
            </a:extLst>
          </p:cNvPr>
          <p:cNvSpPr/>
          <p:nvPr/>
        </p:nvSpPr>
        <p:spPr>
          <a:xfrm>
            <a:off x="7664115" y="1949006"/>
            <a:ext cx="3958389" cy="4418765"/>
          </a:xfrm>
          <a:prstGeom prst="roundRect">
            <a:avLst/>
          </a:prstGeom>
          <a:noFill/>
          <a:ln w="762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4400" b="1" dirty="0">
                <a:solidFill>
                  <a:srgbClr val="FFFFFF"/>
                </a:solidFill>
              </a:rPr>
              <a:t>Breakout Session!</a:t>
            </a:r>
          </a:p>
          <a:p>
            <a:endParaRPr lang="en-US" sz="4400" b="1" dirty="0">
              <a:solidFill>
                <a:srgbClr val="FFFFFF"/>
              </a:solidFill>
            </a:endParaRPr>
          </a:p>
          <a:p>
            <a:r>
              <a:rPr lang="en-US" sz="2800" b="1" dirty="0">
                <a:solidFill>
                  <a:srgbClr val="FFFFFF"/>
                </a:solidFill>
              </a:rPr>
              <a:t>Click Link</a:t>
            </a:r>
            <a:r>
              <a:rPr lang="en-US" sz="2800" b="1" dirty="0">
                <a:solidFill>
                  <a:schemeClr val="accent6"/>
                </a:solidFill>
              </a:rPr>
              <a:t>:</a:t>
            </a:r>
          </a:p>
          <a:p>
            <a:r>
              <a:rPr lang="en-US" sz="2800" b="1" dirty="0">
                <a:solidFill>
                  <a:schemeClr val="accent6"/>
                </a:solidFill>
              </a:rPr>
              <a:t>2. The File Object</a:t>
            </a:r>
          </a:p>
        </p:txBody>
      </p:sp>
    </p:spTree>
    <p:extLst>
      <p:ext uri="{BB962C8B-B14F-4D97-AF65-F5344CB8AC3E}">
        <p14:creationId xmlns:p14="http://schemas.microsoft.com/office/powerpoint/2010/main" val="238655627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7FAA8B-F3B4-7B44-B7CD-433A5271E9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CLOSE THE FILE!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55FD1D87-9B42-1341-ACFC-DC01A7D5C7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673978"/>
            <a:ext cx="10915067" cy="4835479"/>
          </a:xfrm>
        </p:spPr>
        <p:txBody>
          <a:bodyPr>
            <a:normAutofit/>
          </a:bodyPr>
          <a:lstStyle/>
          <a:p>
            <a:pPr>
              <a:spcBef>
                <a:spcPct val="0"/>
              </a:spcBef>
              <a:spcAft>
                <a:spcPts val="1800"/>
              </a:spcAft>
            </a:pPr>
            <a:r>
              <a:rPr lang="en-US" dirty="0"/>
              <a:t>Always close a file that you’ve opened!</a:t>
            </a:r>
          </a:p>
          <a:p>
            <a:pPr lvl="1">
              <a:spcBef>
                <a:spcPct val="0"/>
              </a:spcBef>
              <a:spcAft>
                <a:spcPts val="1800"/>
              </a:spcAft>
            </a:pPr>
            <a:r>
              <a:rPr lang="en-US" dirty="0"/>
              <a:t>Many changes don’t occur until </a:t>
            </a:r>
            <a:r>
              <a:rPr lang="en-US" b="1" dirty="0"/>
              <a:t>after</a:t>
            </a:r>
            <a:r>
              <a:rPr lang="en-US" dirty="0"/>
              <a:t> the file is closed</a:t>
            </a:r>
          </a:p>
          <a:p>
            <a:pPr lvl="1">
              <a:spcBef>
                <a:spcPct val="0"/>
              </a:spcBef>
              <a:spcAft>
                <a:spcPts val="1800"/>
              </a:spcAft>
            </a:pPr>
            <a:r>
              <a:rPr lang="en-US" dirty="0"/>
              <a:t>Leaving open is a waste of a computer’s resources</a:t>
            </a:r>
          </a:p>
          <a:p>
            <a:pPr lvl="2">
              <a:spcBef>
                <a:spcPct val="0"/>
              </a:spcBef>
              <a:spcAft>
                <a:spcPts val="1800"/>
              </a:spcAft>
            </a:pPr>
            <a:r>
              <a:rPr lang="en-US" dirty="0"/>
              <a:t>Slows down program, uses more space in RAM, impacts performance</a:t>
            </a:r>
          </a:p>
          <a:p>
            <a:pPr lvl="1">
              <a:spcBef>
                <a:spcPct val="0"/>
              </a:spcBef>
              <a:spcAft>
                <a:spcPts val="1800"/>
              </a:spcAft>
            </a:pPr>
            <a:r>
              <a:rPr lang="en-US" dirty="0"/>
              <a:t>Other files may treat the file as “open” and won’t be able to read the file</a:t>
            </a:r>
          </a:p>
          <a:p>
            <a:pPr lvl="1">
              <a:spcBef>
                <a:spcPct val="0"/>
              </a:spcBef>
              <a:spcAft>
                <a:spcPts val="1800"/>
              </a:spcAft>
            </a:pPr>
            <a:r>
              <a:rPr lang="en-US" dirty="0"/>
              <a:t>Could run into limits about how many files you have open</a:t>
            </a:r>
          </a:p>
          <a:p>
            <a:pPr lvl="1">
              <a:spcBef>
                <a:spcPct val="0"/>
              </a:spcBef>
              <a:spcAft>
                <a:spcPts val="1800"/>
              </a:spcAft>
            </a:pPr>
            <a:r>
              <a:rPr lang="en-US" dirty="0"/>
              <a:t>Not #</a:t>
            </a:r>
            <a:r>
              <a:rPr lang="en-US" dirty="0" err="1"/>
              <a:t>cleancode</a:t>
            </a:r>
            <a:endParaRPr lang="en-US" dirty="0"/>
          </a:p>
          <a:p>
            <a:pPr>
              <a:spcBef>
                <a:spcPct val="0"/>
              </a:spcBef>
              <a:spcAft>
                <a:spcPts val="1800"/>
              </a:spcAft>
            </a:pPr>
            <a:endParaRPr lang="en-US" dirty="0"/>
          </a:p>
          <a:p>
            <a:pPr>
              <a:spcBef>
                <a:spcPct val="0"/>
              </a:spcBef>
              <a:spcAft>
                <a:spcPts val="1800"/>
              </a:spcAft>
            </a:pPr>
            <a:endParaRPr lang="en-US" sz="1400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81081D2-D55E-8549-A8BE-7DD579CA4843}"/>
              </a:ext>
            </a:extLst>
          </p:cNvPr>
          <p:cNvSpPr/>
          <p:nvPr/>
        </p:nvSpPr>
        <p:spPr>
          <a:xfrm>
            <a:off x="8568169" y="1532036"/>
            <a:ext cx="3185098" cy="523220"/>
          </a:xfrm>
          <a:prstGeom prst="rect">
            <a:avLst/>
          </a:prstGeom>
          <a:solidFill>
            <a:srgbClr val="FF0000"/>
          </a:solidFill>
        </p:spPr>
        <p:txBody>
          <a:bodyPr wrap="square">
            <a:spAutoFit/>
          </a:bodyPr>
          <a:lstStyle/>
          <a:p>
            <a:pPr marL="0" marR="0" algn="ctr">
              <a:spcBef>
                <a:spcPts val="0"/>
              </a:spcBef>
              <a:spcAft>
                <a:spcPts val="0"/>
              </a:spcAft>
            </a:pPr>
            <a:r>
              <a:rPr lang="en-US" sz="2800" b="1" dirty="0">
                <a:solidFill>
                  <a:srgbClr val="FFFF00"/>
                </a:solidFill>
                <a:latin typeface="Courier New" panose="02070309020205020404" pitchFamily="49" charset="0"/>
                <a:ea typeface="MS Mincho" panose="02020609040205080304" pitchFamily="49" charset="-128"/>
              </a:rPr>
              <a:t>myfile.close()</a:t>
            </a:r>
            <a:endParaRPr lang="sv-SE" sz="2800" b="1" dirty="0">
              <a:solidFill>
                <a:srgbClr val="FFFF00"/>
              </a:solidFill>
              <a:latin typeface="Courier New" panose="02070309020205020404" pitchFamily="49" charset="0"/>
              <a:ea typeface="MS Mincho" panose="02020609040205080304" pitchFamily="49" charset="-128"/>
            </a:endParaRPr>
          </a:p>
        </p:txBody>
      </p:sp>
      <p:sp>
        <p:nvSpPr>
          <p:cNvPr id="7" name="Arrow: Up 6">
            <a:extLst>
              <a:ext uri="{FF2B5EF4-FFF2-40B4-BE49-F238E27FC236}">
                <a16:creationId xmlns:a16="http://schemas.microsoft.com/office/drawing/2014/main" id="{AF1C390A-DABA-FC4A-9E48-989CFA163607}"/>
              </a:ext>
            </a:extLst>
          </p:cNvPr>
          <p:cNvSpPr/>
          <p:nvPr/>
        </p:nvSpPr>
        <p:spPr>
          <a:xfrm>
            <a:off x="9783790" y="2122574"/>
            <a:ext cx="647114" cy="597877"/>
          </a:xfrm>
          <a:prstGeom prst="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8" name="Arrow: Up 7">
            <a:extLst>
              <a:ext uri="{FF2B5EF4-FFF2-40B4-BE49-F238E27FC236}">
                <a16:creationId xmlns:a16="http://schemas.microsoft.com/office/drawing/2014/main" id="{9F0C7FA4-FB43-9F4C-92C8-59B77DC489A1}"/>
              </a:ext>
            </a:extLst>
          </p:cNvPr>
          <p:cNvSpPr/>
          <p:nvPr/>
        </p:nvSpPr>
        <p:spPr>
          <a:xfrm rot="10800000">
            <a:off x="9783790" y="866841"/>
            <a:ext cx="647114" cy="597877"/>
          </a:xfrm>
          <a:prstGeom prst="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67227851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7FAA8B-F3B4-7B44-B7CD-433A5271E9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The ”Writing to Files” Recipe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C0FF35E-4A45-2149-8375-84C4CBF5E77F}"/>
              </a:ext>
            </a:extLst>
          </p:cNvPr>
          <p:cNvSpPr/>
          <p:nvPr/>
        </p:nvSpPr>
        <p:spPr>
          <a:xfrm>
            <a:off x="1535713" y="2255209"/>
            <a:ext cx="6411130" cy="37856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2400" b="1" dirty="0">
                <a:solidFill>
                  <a:srgbClr val="00FF00"/>
                </a:solidFill>
                <a:latin typeface="Courier New" panose="02070309020205020404" pitchFamily="49" charset="0"/>
                <a:ea typeface="MS Mincho" panose="02020609040205080304" pitchFamily="49" charset="-128"/>
              </a:rPr>
              <a:t># open/create a file</a:t>
            </a: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2400" b="1" dirty="0" err="1">
                <a:solidFill>
                  <a:srgbClr val="00B0F0"/>
                </a:solidFill>
                <a:latin typeface="Courier New" panose="02070309020205020404" pitchFamily="49" charset="0"/>
                <a:ea typeface="MS Mincho" panose="02020609040205080304" pitchFamily="49" charset="-128"/>
              </a:rPr>
              <a:t>myfile</a:t>
            </a:r>
            <a:r>
              <a:rPr lang="en-US" sz="2400" b="1" dirty="0">
                <a:solidFill>
                  <a:srgbClr val="00B0F0"/>
                </a:solidFill>
                <a:latin typeface="Courier New" panose="02070309020205020404" pitchFamily="49" charset="0"/>
                <a:ea typeface="MS Mincho" panose="02020609040205080304" pitchFamily="49" charset="-128"/>
              </a:rPr>
              <a:t> = open("grades.txt", "w")</a:t>
            </a: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endParaRPr lang="en-US" sz="2400" b="1" dirty="0">
              <a:solidFill>
                <a:srgbClr val="5B9BD5"/>
              </a:solidFill>
              <a:latin typeface="Courier New" panose="02070309020205020404" pitchFamily="49" charset="0"/>
              <a:ea typeface="MS Mincho" panose="02020609040205080304" pitchFamily="49" charset="-128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endParaRPr lang="en-US" sz="2400" b="1" dirty="0">
              <a:solidFill>
                <a:srgbClr val="5B9BD5"/>
              </a:solidFill>
              <a:latin typeface="Courier New" panose="02070309020205020404" pitchFamily="49" charset="0"/>
              <a:ea typeface="MS Mincho" panose="02020609040205080304" pitchFamily="49" charset="-128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2400" b="1" dirty="0">
                <a:solidFill>
                  <a:srgbClr val="00FF00"/>
                </a:solidFill>
                <a:latin typeface="Courier New" panose="02070309020205020404" pitchFamily="49" charset="0"/>
                <a:ea typeface="MS Mincho" panose="02020609040205080304" pitchFamily="49" charset="-128"/>
              </a:rPr>
              <a:t># write to a file</a:t>
            </a: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2400" b="1" dirty="0" err="1">
                <a:solidFill>
                  <a:srgbClr val="00B0F0"/>
                </a:solidFill>
                <a:latin typeface="Courier New" panose="02070309020205020404" pitchFamily="49" charset="0"/>
                <a:ea typeface="MS Mincho" panose="02020609040205080304" pitchFamily="49" charset="-128"/>
              </a:rPr>
              <a:t>myfile.write</a:t>
            </a:r>
            <a:r>
              <a:rPr lang="en-US" sz="2400" b="1" dirty="0">
                <a:solidFill>
                  <a:srgbClr val="00B0F0"/>
                </a:solidFill>
                <a:latin typeface="Courier New" panose="02070309020205020404" pitchFamily="49" charset="0"/>
                <a:ea typeface="MS Mincho" panose="02020609040205080304" pitchFamily="49" charset="-128"/>
              </a:rPr>
              <a:t>(’string’)</a:t>
            </a: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endParaRPr lang="en-US" sz="2400" b="1" dirty="0">
              <a:solidFill>
                <a:srgbClr val="5B9BD5"/>
              </a:solidFill>
              <a:latin typeface="Courier New" panose="02070309020205020404" pitchFamily="49" charset="0"/>
              <a:ea typeface="MS Mincho" panose="02020609040205080304" pitchFamily="49" charset="-128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endParaRPr lang="en-US" sz="2400" b="1" dirty="0">
              <a:solidFill>
                <a:srgbClr val="5B9BD5"/>
              </a:solidFill>
              <a:latin typeface="Courier New" panose="02070309020205020404" pitchFamily="49" charset="0"/>
              <a:ea typeface="MS Mincho" panose="02020609040205080304" pitchFamily="49" charset="-128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2400" b="1" dirty="0">
                <a:solidFill>
                  <a:srgbClr val="00FF00"/>
                </a:solidFill>
                <a:latin typeface="Courier New" panose="02070309020205020404" pitchFamily="49" charset="0"/>
                <a:ea typeface="MS Mincho" panose="02020609040205080304" pitchFamily="49" charset="-128"/>
              </a:rPr>
              <a:t># close the file    </a:t>
            </a: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2400" b="1" dirty="0" err="1">
                <a:solidFill>
                  <a:srgbClr val="00B0F0"/>
                </a:solidFill>
                <a:latin typeface="Courier New" panose="02070309020205020404" pitchFamily="49" charset="0"/>
                <a:ea typeface="MS Mincho" panose="02020609040205080304" pitchFamily="49" charset="-128"/>
              </a:rPr>
              <a:t>myfile.close</a:t>
            </a:r>
            <a:r>
              <a:rPr lang="en-US" sz="2400" b="1" dirty="0">
                <a:solidFill>
                  <a:srgbClr val="00B0F0"/>
                </a:solidFill>
                <a:latin typeface="Courier New" panose="02070309020205020404" pitchFamily="49" charset="0"/>
                <a:ea typeface="MS Mincho" panose="02020609040205080304" pitchFamily="49" charset="-128"/>
              </a:rPr>
              <a:t>()</a:t>
            </a:r>
            <a:endParaRPr lang="sv-SE" sz="2400" b="1" dirty="0">
              <a:solidFill>
                <a:srgbClr val="00B0F0"/>
              </a:solidFill>
              <a:latin typeface="Courier New" panose="02070309020205020404" pitchFamily="49" charset="0"/>
              <a:ea typeface="MS Mincho" panose="02020609040205080304" pitchFamily="49" charset="-128"/>
            </a:endParaRP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7379AA0B-9B01-A344-A95F-BB77AC0B08E9}"/>
              </a:ext>
            </a:extLst>
          </p:cNvPr>
          <p:cNvCxnSpPr/>
          <p:nvPr/>
        </p:nvCxnSpPr>
        <p:spPr bwMode="auto">
          <a:xfrm flipH="1">
            <a:off x="857250" y="2562986"/>
            <a:ext cx="533400" cy="0"/>
          </a:xfrm>
          <a:prstGeom prst="line">
            <a:avLst/>
          </a:prstGeom>
          <a:noFill/>
          <a:ln w="28575" cap="flat" cmpd="sng" algn="ctr">
            <a:solidFill>
              <a:srgbClr val="FFFFFF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33CFEB30-4335-124F-A699-57617E2D9586}"/>
              </a:ext>
            </a:extLst>
          </p:cNvPr>
          <p:cNvCxnSpPr>
            <a:cxnSpLocks/>
          </p:cNvCxnSpPr>
          <p:nvPr/>
        </p:nvCxnSpPr>
        <p:spPr bwMode="auto">
          <a:xfrm>
            <a:off x="857250" y="2562986"/>
            <a:ext cx="0" cy="2880450"/>
          </a:xfrm>
          <a:prstGeom prst="line">
            <a:avLst/>
          </a:prstGeom>
          <a:noFill/>
          <a:ln w="28575" cap="flat" cmpd="sng" algn="ctr">
            <a:solidFill>
              <a:srgbClr val="FFFFFF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3A0E7681-6B70-3948-9FE7-F632B9A4B12C}"/>
              </a:ext>
            </a:extLst>
          </p:cNvPr>
          <p:cNvCxnSpPr/>
          <p:nvPr/>
        </p:nvCxnSpPr>
        <p:spPr bwMode="auto">
          <a:xfrm flipH="1">
            <a:off x="857250" y="5443436"/>
            <a:ext cx="533400" cy="0"/>
          </a:xfrm>
          <a:prstGeom prst="line">
            <a:avLst/>
          </a:prstGeom>
          <a:noFill/>
          <a:ln w="28575" cap="flat" cmpd="sng" algn="ctr">
            <a:solidFill>
              <a:srgbClr val="FFFFFF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96A57D9A-78A9-9040-AA12-8D654FA813A6}"/>
              </a:ext>
            </a:extLst>
          </p:cNvPr>
          <p:cNvSpPr txBox="1"/>
          <p:nvPr/>
        </p:nvSpPr>
        <p:spPr>
          <a:xfrm rot="16200000">
            <a:off x="-450182" y="3886425"/>
            <a:ext cx="2070182" cy="523220"/>
          </a:xfrm>
          <a:prstGeom prst="rect">
            <a:avLst/>
          </a:prstGeom>
          <a:noFill/>
          <a:ln>
            <a:solidFill>
              <a:srgbClr val="FFFFFF"/>
            </a:solidFill>
          </a:ln>
        </p:spPr>
        <p:txBody>
          <a:bodyPr wrap="none" rtlCol="0">
            <a:spAutoFit/>
          </a:bodyPr>
          <a:lstStyle/>
          <a:p>
            <a:r>
              <a:rPr lang="en-US" sz="2800" dirty="0">
                <a:solidFill>
                  <a:srgbClr val="FFFFFF"/>
                </a:solidFill>
              </a:rPr>
              <a:t>go together</a:t>
            </a:r>
          </a:p>
        </p:txBody>
      </p:sp>
    </p:spTree>
    <p:extLst>
      <p:ext uri="{BB962C8B-B14F-4D97-AF65-F5344CB8AC3E}">
        <p14:creationId xmlns:p14="http://schemas.microsoft.com/office/powerpoint/2010/main" val="33167691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7FAA8B-F3B4-7B44-B7CD-433A5271E9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Example: Writing to Files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55FD1D87-9B42-1341-ACFC-DC01A7D5C7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73978"/>
            <a:ext cx="10515600" cy="4835479"/>
          </a:xfrm>
        </p:spPr>
        <p:txBody>
          <a:bodyPr>
            <a:normAutofit/>
          </a:bodyPr>
          <a:lstStyle/>
          <a:p>
            <a:pPr>
              <a:spcBef>
                <a:spcPct val="0"/>
              </a:spcBef>
              <a:spcAft>
                <a:spcPts val="1800"/>
              </a:spcAft>
            </a:pPr>
            <a:r>
              <a:rPr lang="en-US" dirty="0"/>
              <a:t>How would we write a string to a file?</a:t>
            </a:r>
          </a:p>
          <a:p>
            <a:pPr>
              <a:spcBef>
                <a:spcPct val="0"/>
              </a:spcBef>
              <a:spcAft>
                <a:spcPts val="1800"/>
              </a:spcAft>
            </a:pPr>
            <a:endParaRPr lang="en-US" dirty="0"/>
          </a:p>
          <a:p>
            <a:pPr>
              <a:spcBef>
                <a:spcPct val="0"/>
              </a:spcBef>
              <a:spcAft>
                <a:spcPts val="1800"/>
              </a:spcAft>
            </a:pPr>
            <a:endParaRPr lang="en-US" sz="1400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C0FF35E-4A45-2149-8375-84C4CBF5E77F}"/>
              </a:ext>
            </a:extLst>
          </p:cNvPr>
          <p:cNvSpPr/>
          <p:nvPr/>
        </p:nvSpPr>
        <p:spPr>
          <a:xfrm>
            <a:off x="360730" y="2652611"/>
            <a:ext cx="9711958" cy="31700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2000" b="1" dirty="0">
                <a:solidFill>
                  <a:srgbClr val="00B0F0"/>
                </a:solidFill>
                <a:latin typeface="Courier New" panose="02070309020205020404" pitchFamily="49" charset="0"/>
                <a:ea typeface="MS Mincho" panose="02020609040205080304" pitchFamily="49" charset="-128"/>
              </a:rPr>
              <a:t>students = ‘</a:t>
            </a:r>
            <a:r>
              <a:rPr lang="en-US" sz="2000" b="1" dirty="0" err="1">
                <a:solidFill>
                  <a:srgbClr val="00B0F0"/>
                </a:solidFill>
                <a:latin typeface="Courier New" panose="02070309020205020404" pitchFamily="49" charset="0"/>
                <a:ea typeface="MS Mincho" panose="02020609040205080304" pitchFamily="49" charset="-128"/>
              </a:rPr>
              <a:t>Kendrick,A</a:t>
            </a:r>
            <a:r>
              <a:rPr lang="en-US" sz="2000" b="1" dirty="0">
                <a:solidFill>
                  <a:srgbClr val="00B0F0"/>
                </a:solidFill>
                <a:latin typeface="Courier New" panose="02070309020205020404" pitchFamily="49" charset="0"/>
                <a:ea typeface="MS Mincho" panose="02020609040205080304" pitchFamily="49" charset="-128"/>
              </a:rPr>
              <a:t>+\</a:t>
            </a:r>
            <a:r>
              <a:rPr lang="en-US" sz="2000" b="1" dirty="0" err="1">
                <a:solidFill>
                  <a:srgbClr val="00B0F0"/>
                </a:solidFill>
                <a:latin typeface="Courier New" panose="02070309020205020404" pitchFamily="49" charset="0"/>
                <a:ea typeface="MS Mincho" panose="02020609040205080304" pitchFamily="49" charset="-128"/>
              </a:rPr>
              <a:t>nDre:C</a:t>
            </a:r>
            <a:r>
              <a:rPr lang="en-US" sz="2000" b="1" dirty="0">
                <a:solidFill>
                  <a:srgbClr val="00B0F0"/>
                </a:solidFill>
                <a:latin typeface="Courier New" panose="02070309020205020404" pitchFamily="49" charset="0"/>
                <a:ea typeface="MS Mincho" panose="02020609040205080304" pitchFamily="49" charset="-128"/>
              </a:rPr>
              <a:t>-\</a:t>
            </a:r>
            <a:r>
              <a:rPr lang="en-US" sz="2000" b="1" dirty="0" err="1">
                <a:solidFill>
                  <a:srgbClr val="00B0F0"/>
                </a:solidFill>
                <a:latin typeface="Courier New" panose="02070309020205020404" pitchFamily="49" charset="0"/>
                <a:ea typeface="MS Mincho" panose="02020609040205080304" pitchFamily="49" charset="-128"/>
              </a:rPr>
              <a:t>nSnoop:B</a:t>
            </a:r>
            <a:r>
              <a:rPr lang="en-US" sz="2000" b="1" dirty="0">
                <a:solidFill>
                  <a:srgbClr val="00B0F0"/>
                </a:solidFill>
                <a:latin typeface="Courier New" panose="02070309020205020404" pitchFamily="49" charset="0"/>
                <a:ea typeface="MS Mincho" panose="02020609040205080304" pitchFamily="49" charset="-128"/>
              </a:rPr>
              <a:t>\n’</a:t>
            </a: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endParaRPr lang="en-US" sz="2000" b="1" dirty="0">
              <a:solidFill>
                <a:srgbClr val="5B9BD5"/>
              </a:solidFill>
              <a:latin typeface="Courier New" panose="02070309020205020404" pitchFamily="49" charset="0"/>
              <a:ea typeface="MS Mincho" panose="02020609040205080304" pitchFamily="49" charset="-128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2000" b="1" dirty="0">
                <a:solidFill>
                  <a:srgbClr val="00FF00"/>
                </a:solidFill>
                <a:latin typeface="Courier New" panose="02070309020205020404" pitchFamily="49" charset="0"/>
                <a:ea typeface="MS Mincho" panose="02020609040205080304" pitchFamily="49" charset="-128"/>
              </a:rPr>
              <a:t># create a file</a:t>
            </a: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2000" b="1" dirty="0" err="1">
                <a:solidFill>
                  <a:srgbClr val="00B0F0"/>
                </a:solidFill>
                <a:latin typeface="Courier New" panose="02070309020205020404" pitchFamily="49" charset="0"/>
                <a:ea typeface="MS Mincho" panose="02020609040205080304" pitchFamily="49" charset="-128"/>
              </a:rPr>
              <a:t>myfile</a:t>
            </a:r>
            <a:r>
              <a:rPr lang="en-US" sz="2000" b="1" dirty="0">
                <a:solidFill>
                  <a:srgbClr val="00B0F0"/>
                </a:solidFill>
                <a:latin typeface="Courier New" panose="02070309020205020404" pitchFamily="49" charset="0"/>
                <a:ea typeface="MS Mincho" panose="02020609040205080304" pitchFamily="49" charset="-128"/>
              </a:rPr>
              <a:t> = open("grades.txt", "w")</a:t>
            </a: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endParaRPr lang="en-US" sz="2000" b="1" dirty="0">
              <a:solidFill>
                <a:srgbClr val="5B9BD5"/>
              </a:solidFill>
              <a:latin typeface="Courier New" panose="02070309020205020404" pitchFamily="49" charset="0"/>
              <a:ea typeface="MS Mincho" panose="02020609040205080304" pitchFamily="49" charset="-128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2000" b="1" dirty="0">
                <a:solidFill>
                  <a:srgbClr val="00FF00"/>
                </a:solidFill>
                <a:latin typeface="Courier New" panose="02070309020205020404" pitchFamily="49" charset="0"/>
                <a:ea typeface="MS Mincho" panose="02020609040205080304" pitchFamily="49" charset="-128"/>
              </a:rPr>
              <a:t># store string to the file</a:t>
            </a: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2000" b="1" dirty="0" err="1">
                <a:solidFill>
                  <a:srgbClr val="00B0F0"/>
                </a:solidFill>
                <a:latin typeface="Courier New" panose="02070309020205020404" pitchFamily="49" charset="0"/>
                <a:ea typeface="MS Mincho" panose="02020609040205080304" pitchFamily="49" charset="-128"/>
              </a:rPr>
              <a:t>myfile.write</a:t>
            </a:r>
            <a:r>
              <a:rPr lang="en-US" sz="2000" b="1" dirty="0">
                <a:solidFill>
                  <a:srgbClr val="00B0F0"/>
                </a:solidFill>
                <a:latin typeface="Courier New" panose="02070309020205020404" pitchFamily="49" charset="0"/>
                <a:ea typeface="MS Mincho" panose="02020609040205080304" pitchFamily="49" charset="-128"/>
              </a:rPr>
              <a:t>(students)</a:t>
            </a: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endParaRPr lang="en-US" sz="2000" b="1" dirty="0">
              <a:solidFill>
                <a:srgbClr val="00B0F0"/>
              </a:solidFill>
              <a:latin typeface="Courier New" panose="02070309020205020404" pitchFamily="49" charset="0"/>
              <a:ea typeface="MS Mincho" panose="02020609040205080304" pitchFamily="49" charset="-128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2000" b="1" dirty="0">
                <a:solidFill>
                  <a:srgbClr val="00FF00"/>
                </a:solidFill>
                <a:latin typeface="Courier New" panose="02070309020205020404" pitchFamily="49" charset="0"/>
                <a:ea typeface="MS Mincho" panose="02020609040205080304" pitchFamily="49" charset="-128"/>
              </a:rPr>
              <a:t># close the file    </a:t>
            </a: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2000" b="1" dirty="0" err="1">
                <a:solidFill>
                  <a:srgbClr val="00B0F0"/>
                </a:solidFill>
                <a:latin typeface="Courier New" panose="02070309020205020404" pitchFamily="49" charset="0"/>
                <a:ea typeface="MS Mincho" panose="02020609040205080304" pitchFamily="49" charset="-128"/>
              </a:rPr>
              <a:t>myfile.close</a:t>
            </a:r>
            <a:r>
              <a:rPr lang="en-US" sz="2000" b="1" dirty="0">
                <a:solidFill>
                  <a:srgbClr val="00B0F0"/>
                </a:solidFill>
                <a:latin typeface="Courier New" panose="02070309020205020404" pitchFamily="49" charset="0"/>
                <a:ea typeface="MS Mincho" panose="02020609040205080304" pitchFamily="49" charset="-128"/>
              </a:rPr>
              <a:t>()</a:t>
            </a:r>
            <a:endParaRPr lang="sv-SE" sz="2000" b="1" dirty="0">
              <a:solidFill>
                <a:srgbClr val="00B0F0"/>
              </a:solidFill>
              <a:latin typeface="Courier New" panose="02070309020205020404" pitchFamily="49" charset="0"/>
              <a:ea typeface="MS Mincho" panose="02020609040205080304" pitchFamily="49" charset="-128"/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D01D33C5-D340-214D-8C90-BF06DA0D4B8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21098" y="2652611"/>
            <a:ext cx="3594100" cy="3251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8707988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DA742D-1B93-4351-9522-5F2B39F3DE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Encapsulation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0BCDD1-56E6-4389-AFFE-26A42FD638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6789821" cy="4835479"/>
          </a:xfrm>
        </p:spPr>
        <p:txBody>
          <a:bodyPr>
            <a:normAutofit/>
          </a:bodyPr>
          <a:lstStyle/>
          <a:p>
            <a:r>
              <a:rPr lang="en-US" dirty="0"/>
              <a:t>The core of object</a:t>
            </a:r>
            <a:r>
              <a:rPr lang="en-US" dirty="0">
                <a:solidFill>
                  <a:schemeClr val="accent1"/>
                </a:solidFill>
              </a:rPr>
              <a:t>-</a:t>
            </a:r>
            <a:r>
              <a:rPr lang="en-US" dirty="0"/>
              <a:t>oriented programming is the organization of the program by </a:t>
            </a:r>
            <a:r>
              <a:rPr lang="en-US" b="1" dirty="0">
                <a:solidFill>
                  <a:schemeClr val="accent6"/>
                </a:solidFill>
              </a:rPr>
              <a:t>encapsulating</a:t>
            </a:r>
            <a:r>
              <a:rPr lang="en-US" dirty="0"/>
              <a:t> related </a:t>
            </a:r>
            <a:r>
              <a:rPr lang="en-US" dirty="0">
                <a:solidFill>
                  <a:schemeClr val="accent6"/>
                </a:solidFill>
              </a:rPr>
              <a:t>data</a:t>
            </a:r>
            <a:r>
              <a:rPr lang="en-US" dirty="0"/>
              <a:t> and </a:t>
            </a:r>
            <a:r>
              <a:rPr lang="en-US" dirty="0">
                <a:solidFill>
                  <a:schemeClr val="accent6"/>
                </a:solidFill>
              </a:rPr>
              <a:t>functions</a:t>
            </a:r>
            <a:r>
              <a:rPr lang="en-US" dirty="0"/>
              <a:t> together in an object</a:t>
            </a:r>
            <a:r>
              <a:rPr lang="en-US" dirty="0">
                <a:solidFill>
                  <a:schemeClr val="accent1"/>
                </a:solidFill>
              </a:rPr>
              <a:t>.</a:t>
            </a:r>
          </a:p>
          <a:p>
            <a:r>
              <a:rPr lang="en-US" dirty="0"/>
              <a:t>To encapsulate something means to enclose it in some kind of container</a:t>
            </a:r>
            <a:r>
              <a:rPr lang="en-US" dirty="0">
                <a:solidFill>
                  <a:schemeClr val="accent2"/>
                </a:solidFill>
              </a:rPr>
              <a:t>.</a:t>
            </a:r>
            <a:r>
              <a:rPr lang="en-US" dirty="0"/>
              <a:t> </a:t>
            </a:r>
          </a:p>
          <a:p>
            <a:r>
              <a:rPr lang="en-US" dirty="0"/>
              <a:t>In programming</a:t>
            </a:r>
            <a:r>
              <a:rPr lang="en-US" dirty="0">
                <a:solidFill>
                  <a:schemeClr val="accent2"/>
                </a:solidFill>
              </a:rPr>
              <a:t>,</a:t>
            </a:r>
            <a:r>
              <a:rPr lang="en-US" dirty="0"/>
              <a:t> encapsulation means keeping </a:t>
            </a:r>
            <a:r>
              <a:rPr lang="en-US" b="1" dirty="0">
                <a:solidFill>
                  <a:srgbClr val="E00BE5"/>
                </a:solidFill>
              </a:rPr>
              <a:t>data</a:t>
            </a:r>
            <a:r>
              <a:rPr lang="en-US" dirty="0"/>
              <a:t> and the </a:t>
            </a:r>
            <a:r>
              <a:rPr lang="en-US" b="1" dirty="0">
                <a:solidFill>
                  <a:srgbClr val="E00BE5"/>
                </a:solidFill>
              </a:rPr>
              <a:t>code</a:t>
            </a:r>
            <a:r>
              <a:rPr lang="en-US" dirty="0"/>
              <a:t> that uses it in one place and hiding the details of exactly how they work together</a:t>
            </a:r>
            <a:r>
              <a:rPr lang="en-US" dirty="0">
                <a:solidFill>
                  <a:schemeClr val="accent2"/>
                </a:solidFill>
              </a:rPr>
              <a:t>.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D6E815B5-A0F6-4AB7-A3AC-6D77EC275801}"/>
              </a:ext>
            </a:extLst>
          </p:cNvPr>
          <p:cNvSpPr/>
          <p:nvPr/>
        </p:nvSpPr>
        <p:spPr>
          <a:xfrm>
            <a:off x="8688874" y="1801561"/>
            <a:ext cx="2283924" cy="557769"/>
          </a:xfrm>
          <a:prstGeom prst="roundRect">
            <a:avLst/>
          </a:prstGeom>
          <a:noFill/>
          <a:ln w="5715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rgbClr val="FFFFFF"/>
                </a:solidFill>
              </a:rPr>
              <a:t>Class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AD7D26D2-32C8-4EC8-B895-03F10F8D9AE4}"/>
              </a:ext>
            </a:extLst>
          </p:cNvPr>
          <p:cNvSpPr/>
          <p:nvPr/>
        </p:nvSpPr>
        <p:spPr>
          <a:xfrm>
            <a:off x="8688874" y="2600779"/>
            <a:ext cx="2283924" cy="1477636"/>
          </a:xfrm>
          <a:prstGeom prst="roundRect">
            <a:avLst/>
          </a:prstGeom>
          <a:noFill/>
          <a:ln w="57150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rgbClr val="FFFFFF"/>
                </a:solidFill>
              </a:rPr>
              <a:t>Attributes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710962CE-A6B5-4B3C-85DE-1B9CA7B379B6}"/>
              </a:ext>
            </a:extLst>
          </p:cNvPr>
          <p:cNvSpPr/>
          <p:nvPr/>
        </p:nvSpPr>
        <p:spPr>
          <a:xfrm>
            <a:off x="8688874" y="4319864"/>
            <a:ext cx="2283924" cy="1637197"/>
          </a:xfrm>
          <a:prstGeom prst="roundRect">
            <a:avLst/>
          </a:prstGeom>
          <a:noFill/>
          <a:ln w="5715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rgbClr val="FFFFFF"/>
                </a:solidFill>
              </a:rPr>
              <a:t>Methods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1EBBE01C-C44B-4EE8-9F05-595BAC0B7A7F}"/>
              </a:ext>
            </a:extLst>
          </p:cNvPr>
          <p:cNvSpPr/>
          <p:nvPr/>
        </p:nvSpPr>
        <p:spPr>
          <a:xfrm>
            <a:off x="7598978" y="1191126"/>
            <a:ext cx="4463716" cy="5378116"/>
          </a:xfrm>
          <a:prstGeom prst="ellipse">
            <a:avLst/>
          </a:prstGeom>
          <a:noFill/>
          <a:ln w="38100">
            <a:solidFill>
              <a:srgbClr val="E00BE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8EDF094-E06A-4842-8081-7F4CC8DF2303}"/>
              </a:ext>
            </a:extLst>
          </p:cNvPr>
          <p:cNvSpPr txBox="1"/>
          <p:nvPr/>
        </p:nvSpPr>
        <p:spPr>
          <a:xfrm>
            <a:off x="8562700" y="578945"/>
            <a:ext cx="253627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rgbClr val="E00BE5"/>
                </a:solidFill>
              </a:rPr>
              <a:t>Encapsulation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B18C931-5832-4830-8E6E-DC988A727470}"/>
              </a:ext>
            </a:extLst>
          </p:cNvPr>
          <p:cNvSpPr txBox="1"/>
          <p:nvPr/>
        </p:nvSpPr>
        <p:spPr>
          <a:xfrm>
            <a:off x="4942733" y="727514"/>
            <a:ext cx="4463715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 err="1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seb.</a:t>
            </a:r>
            <a:r>
              <a:rPr lang="en-US" sz="2800" b="1" dirty="0" err="1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forward</a:t>
            </a:r>
            <a:r>
              <a:rPr lang="en-US" sz="2800" b="1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(50)</a:t>
            </a:r>
          </a:p>
          <a:p>
            <a:r>
              <a:rPr lang="en-US" sz="2800" b="1" dirty="0" err="1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kitty.</a:t>
            </a:r>
            <a:r>
              <a:rPr lang="en-US" sz="2800" b="1" dirty="0" err="1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scratch</a:t>
            </a:r>
            <a:r>
              <a:rPr lang="en-US" sz="2800" b="1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       </a:t>
            </a:r>
          </a:p>
        </p:txBody>
      </p:sp>
    </p:spTree>
    <p:extLst>
      <p:ext uri="{BB962C8B-B14F-4D97-AF65-F5344CB8AC3E}">
        <p14:creationId xmlns:p14="http://schemas.microsoft.com/office/powerpoint/2010/main" val="4328558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BFE9CA-3CBC-5841-8561-1BC587C9E1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Encapsulate it!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D14B4A-8438-D54A-B041-EC96B896D4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1605" y="1848718"/>
            <a:ext cx="5494225" cy="4835479"/>
          </a:xfrm>
        </p:spPr>
        <p:txBody>
          <a:bodyPr>
            <a:normAutofit/>
          </a:bodyPr>
          <a:lstStyle/>
          <a:p>
            <a:r>
              <a:rPr lang="en-US" dirty="0"/>
              <a:t>For example, each instance of class</a:t>
            </a:r>
            <a:r>
              <a:rPr lang="en-US" dirty="0">
                <a:solidFill>
                  <a:srgbClr val="00FF00"/>
                </a:solidFill>
                <a:latin typeface="Courier" pitchFamily="2" charset="0"/>
              </a:rPr>
              <a:t> file </a:t>
            </a:r>
            <a:r>
              <a:rPr lang="en-US" dirty="0"/>
              <a:t>keeps track of which file on the disk it is reading/writing and where it currently is on that file.</a:t>
            </a:r>
          </a:p>
          <a:p>
            <a:r>
              <a:rPr lang="en-US" dirty="0"/>
              <a:t>The class hides the details of how it is done, so we (as programmers) can use it without needing to know how it is implemented</a:t>
            </a:r>
          </a:p>
          <a:p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6E8C905-178B-CA41-8B19-EA10E845017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59787" y="1890282"/>
            <a:ext cx="3215081" cy="987874"/>
          </a:xfrm>
          <a:prstGeom prst="rect">
            <a:avLst/>
          </a:prstGeom>
        </p:spPr>
      </p:pic>
      <p:pic>
        <p:nvPicPr>
          <p:cNvPr id="10" name="Picture 9" descr="Text&#10;&#10;Description automatically generated">
            <a:extLst>
              <a:ext uri="{FF2B5EF4-FFF2-40B4-BE49-F238E27FC236}">
                <a16:creationId xmlns:a16="http://schemas.microsoft.com/office/drawing/2014/main" id="{3F3FD835-FD46-F34C-BF61-7E7B64F803B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83074" y="2236567"/>
            <a:ext cx="3608926" cy="2927007"/>
          </a:xfrm>
          <a:prstGeom prst="rect">
            <a:avLst/>
          </a:prstGeom>
        </p:spPr>
      </p:pic>
      <p:pic>
        <p:nvPicPr>
          <p:cNvPr id="12" name="Picture 11" descr="A black screen with white text&#10;&#10;Description automatically generated with low confidence">
            <a:extLst>
              <a:ext uri="{FF2B5EF4-FFF2-40B4-BE49-F238E27FC236}">
                <a16:creationId xmlns:a16="http://schemas.microsoft.com/office/drawing/2014/main" id="{8356DD0C-A1C9-5E48-9D39-547659B49C3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59787" y="4521984"/>
            <a:ext cx="3215078" cy="987873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D8C792F3-70FB-1A4E-BBF6-02951E6411F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59786" y="5459295"/>
            <a:ext cx="6144519" cy="2617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0156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E35A2B-9370-D544-B240-2EBC0C44B4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36156" y="2915727"/>
            <a:ext cx="5119688" cy="656148"/>
          </a:xfrm>
        </p:spPr>
        <p:txBody>
          <a:bodyPr>
            <a:normAutofit fontScale="90000"/>
          </a:bodyPr>
          <a:lstStyle/>
          <a:p>
            <a:r>
              <a:rPr lang="en-US" dirty="0"/>
              <a:t>Writing and Reading</a:t>
            </a:r>
          </a:p>
        </p:txBody>
      </p:sp>
      <p:pic>
        <p:nvPicPr>
          <p:cNvPr id="5" name="Graphic 4" descr="Tick with solid fill">
            <a:extLst>
              <a:ext uri="{FF2B5EF4-FFF2-40B4-BE49-F238E27FC236}">
                <a16:creationId xmlns:a16="http://schemas.microsoft.com/office/drawing/2014/main" id="{81A12F20-181F-C848-ADF7-E8E07B513E9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081462" y="2001327"/>
            <a:ext cx="914400" cy="914400"/>
          </a:xfrm>
          <a:prstGeom prst="rect">
            <a:avLst/>
          </a:prstGeom>
        </p:spPr>
      </p:pic>
      <p:pic>
        <p:nvPicPr>
          <p:cNvPr id="7" name="Graphic 6" descr="Question Mark with solid fill">
            <a:extLst>
              <a:ext uri="{FF2B5EF4-FFF2-40B4-BE49-F238E27FC236}">
                <a16:creationId xmlns:a16="http://schemas.microsoft.com/office/drawing/2014/main" id="{B2951A74-51E0-004C-BF6C-1DC6A2ADAF6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853237" y="2087590"/>
            <a:ext cx="914400" cy="914400"/>
          </a:xfrm>
          <a:prstGeom prst="rect">
            <a:avLst/>
          </a:prstGeom>
        </p:spPr>
      </p:pic>
      <p:sp>
        <p:nvSpPr>
          <p:cNvPr id="8" name="object 4">
            <a:extLst>
              <a:ext uri="{FF2B5EF4-FFF2-40B4-BE49-F238E27FC236}">
                <a16:creationId xmlns:a16="http://schemas.microsoft.com/office/drawing/2014/main" id="{A819C8B6-94AE-7E43-BC03-FB7E87A28409}"/>
              </a:ext>
            </a:extLst>
          </p:cNvPr>
          <p:cNvSpPr txBox="1"/>
          <p:nvPr/>
        </p:nvSpPr>
        <p:spPr>
          <a:xfrm>
            <a:off x="366713" y="3676238"/>
            <a:ext cx="4747114" cy="30777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lang="en-US" sz="2000" spc="-5" dirty="0" err="1">
                <a:solidFill>
                  <a:srgbClr val="00FF00"/>
                </a:solidFill>
                <a:latin typeface="Courier New"/>
                <a:cs typeface="Courier New"/>
              </a:rPr>
              <a:t>myfile</a:t>
            </a:r>
            <a:r>
              <a:rPr lang="en-US" sz="2000" spc="-5" dirty="0">
                <a:solidFill>
                  <a:srgbClr val="00FF00"/>
                </a:solidFill>
                <a:latin typeface="Courier New"/>
                <a:cs typeface="Courier New"/>
              </a:rPr>
              <a:t> = open(‘</a:t>
            </a:r>
            <a:r>
              <a:rPr lang="en-US" sz="2000" spc="-5" dirty="0" err="1">
                <a:solidFill>
                  <a:srgbClr val="00FF00"/>
                </a:solidFill>
                <a:latin typeface="Courier New"/>
                <a:cs typeface="Courier New"/>
              </a:rPr>
              <a:t>test.txt</a:t>
            </a:r>
            <a:r>
              <a:rPr lang="en-US" sz="2000" spc="-5" dirty="0">
                <a:solidFill>
                  <a:srgbClr val="00FF00"/>
                </a:solidFill>
                <a:latin typeface="Courier New"/>
                <a:cs typeface="Courier New"/>
              </a:rPr>
              <a:t>’, ‘w’)</a:t>
            </a:r>
            <a:endParaRPr sz="2000" dirty="0">
              <a:solidFill>
                <a:srgbClr val="00FF00"/>
              </a:solidFill>
              <a:latin typeface="Courier New"/>
              <a:cs typeface="Courier New"/>
            </a:endParaRPr>
          </a:p>
        </p:txBody>
      </p:sp>
      <p:sp>
        <p:nvSpPr>
          <p:cNvPr id="9" name="object 4">
            <a:extLst>
              <a:ext uri="{FF2B5EF4-FFF2-40B4-BE49-F238E27FC236}">
                <a16:creationId xmlns:a16="http://schemas.microsoft.com/office/drawing/2014/main" id="{FCDC388A-2E0C-DB44-9802-4420B36F6B19}"/>
              </a:ext>
            </a:extLst>
          </p:cNvPr>
          <p:cNvSpPr txBox="1"/>
          <p:nvPr/>
        </p:nvSpPr>
        <p:spPr>
          <a:xfrm>
            <a:off x="366713" y="4316440"/>
            <a:ext cx="4747114" cy="30777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lang="en-US" sz="2000" spc="-5" dirty="0" err="1">
                <a:solidFill>
                  <a:srgbClr val="00FF00"/>
                </a:solidFill>
                <a:latin typeface="Courier New"/>
                <a:cs typeface="Courier New"/>
              </a:rPr>
              <a:t>myfile</a:t>
            </a:r>
            <a:r>
              <a:rPr lang="en-US" sz="2000" spc="-5" dirty="0">
                <a:solidFill>
                  <a:srgbClr val="00FF00"/>
                </a:solidFill>
                <a:latin typeface="Courier New"/>
                <a:cs typeface="Courier New"/>
              </a:rPr>
              <a:t> = open(‘</a:t>
            </a:r>
            <a:r>
              <a:rPr lang="en-US" sz="2000" spc="-5" dirty="0" err="1">
                <a:solidFill>
                  <a:srgbClr val="00FF00"/>
                </a:solidFill>
                <a:latin typeface="Courier New"/>
                <a:cs typeface="Courier New"/>
              </a:rPr>
              <a:t>test.txt</a:t>
            </a:r>
            <a:r>
              <a:rPr lang="en-US" sz="2000" spc="-5" dirty="0">
                <a:solidFill>
                  <a:srgbClr val="00FF00"/>
                </a:solidFill>
                <a:latin typeface="Courier New"/>
                <a:cs typeface="Courier New"/>
              </a:rPr>
              <a:t>’, ‘a’)</a:t>
            </a:r>
            <a:endParaRPr sz="2000" dirty="0">
              <a:solidFill>
                <a:srgbClr val="00FF00"/>
              </a:solidFill>
              <a:latin typeface="Courier New"/>
              <a:cs typeface="Courier New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EE30196-7EE1-6241-B592-A3F01CFFBA53}"/>
              </a:ext>
            </a:extLst>
          </p:cNvPr>
          <p:cNvSpPr txBox="1"/>
          <p:nvPr/>
        </p:nvSpPr>
        <p:spPr>
          <a:xfrm>
            <a:off x="323849" y="4956642"/>
            <a:ext cx="610076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pc="-5" dirty="0" err="1">
                <a:solidFill>
                  <a:srgbClr val="00FF00"/>
                </a:solidFill>
                <a:latin typeface="Courier New"/>
                <a:cs typeface="Courier New"/>
              </a:rPr>
              <a:t>myfile.write</a:t>
            </a:r>
            <a:r>
              <a:rPr lang="en-US" spc="-5" dirty="0">
                <a:solidFill>
                  <a:srgbClr val="00FF00"/>
                </a:solidFill>
                <a:latin typeface="Courier New"/>
                <a:cs typeface="Courier New"/>
              </a:rPr>
              <a:t>(‘CATS!…’)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CD5FF49E-AF4D-6F42-822B-B2E6CB5E8167}"/>
              </a:ext>
            </a:extLst>
          </p:cNvPr>
          <p:cNvCxnSpPr>
            <a:cxnSpLocks/>
          </p:cNvCxnSpPr>
          <p:nvPr/>
        </p:nvCxnSpPr>
        <p:spPr>
          <a:xfrm flipH="1">
            <a:off x="942975" y="2544790"/>
            <a:ext cx="657225" cy="894601"/>
          </a:xfrm>
          <a:prstGeom prst="straightConnector1">
            <a:avLst/>
          </a:prstGeom>
          <a:ln>
            <a:solidFill>
              <a:schemeClr val="accent6"/>
            </a:solidFill>
            <a:tailEnd type="triangle"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3DBD4AF5-E7E8-7145-92C1-EDA4A8079DD1}"/>
              </a:ext>
            </a:extLst>
          </p:cNvPr>
          <p:cNvCxnSpPr>
            <a:cxnSpLocks/>
          </p:cNvCxnSpPr>
          <p:nvPr/>
        </p:nvCxnSpPr>
        <p:spPr>
          <a:xfrm>
            <a:off x="2057400" y="2544790"/>
            <a:ext cx="1109662" cy="1027085"/>
          </a:xfrm>
          <a:prstGeom prst="straightConnector1">
            <a:avLst/>
          </a:prstGeom>
          <a:ln>
            <a:solidFill>
              <a:schemeClr val="accent6"/>
            </a:solidFill>
            <a:tailEnd type="triangle"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69F828E9-9F4A-0B42-A48B-9984040F2E0C}"/>
              </a:ext>
            </a:extLst>
          </p:cNvPr>
          <p:cNvSpPr txBox="1"/>
          <p:nvPr/>
        </p:nvSpPr>
        <p:spPr>
          <a:xfrm>
            <a:off x="942975" y="2071095"/>
            <a:ext cx="20088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6"/>
                </a:solidFill>
              </a:rPr>
              <a:t>Can be any name!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D014BD2-089B-C04B-82F3-0DFB8BF9B7EB}"/>
              </a:ext>
            </a:extLst>
          </p:cNvPr>
          <p:cNvSpPr txBox="1"/>
          <p:nvPr/>
        </p:nvSpPr>
        <p:spPr>
          <a:xfrm>
            <a:off x="4008926" y="3960808"/>
            <a:ext cx="11176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6"/>
                </a:solidFill>
              </a:rPr>
              <a:t>'w’ OR ‘a’</a:t>
            </a:r>
          </a:p>
        </p:txBody>
      </p:sp>
    </p:spTree>
    <p:extLst>
      <p:ext uri="{BB962C8B-B14F-4D97-AF65-F5344CB8AC3E}">
        <p14:creationId xmlns:p14="http://schemas.microsoft.com/office/powerpoint/2010/main" val="1157831490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7FAA8B-F3B4-7B44-B7CD-433A5271E9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Different ways of Reading a File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55FD1D87-9B42-1341-ACFC-DC01A7D5C7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73978"/>
            <a:ext cx="10515600" cy="4835479"/>
          </a:xfrm>
        </p:spPr>
        <p:txBody>
          <a:bodyPr>
            <a:normAutofit fontScale="92500" lnSpcReduction="10000"/>
          </a:bodyPr>
          <a:lstStyle/>
          <a:p>
            <a:pPr>
              <a:spcBef>
                <a:spcPct val="0"/>
              </a:spcBef>
              <a:spcAft>
                <a:spcPts val="1800"/>
              </a:spcAft>
            </a:pPr>
            <a:r>
              <a:rPr lang="en-US" dirty="0"/>
              <a:t>Reading a file is similar to writing a file. First we need to open a file for reading (</a:t>
            </a:r>
            <a:r>
              <a:rPr lang="en-US" b="1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“r”</a:t>
            </a:r>
            <a:r>
              <a:rPr lang="en-US" dirty="0"/>
              <a:t>):</a:t>
            </a:r>
          </a:p>
          <a:p>
            <a:pPr>
              <a:spcBef>
                <a:spcPct val="0"/>
              </a:spcBef>
              <a:spcAft>
                <a:spcPts val="1800"/>
              </a:spcAft>
            </a:pPr>
            <a:endParaRPr lang="en-US" dirty="0"/>
          </a:p>
          <a:p>
            <a:pPr>
              <a:spcBef>
                <a:spcPct val="0"/>
              </a:spcBef>
              <a:spcAft>
                <a:spcPts val="1800"/>
              </a:spcAft>
            </a:pPr>
            <a:r>
              <a:rPr lang="en-US" dirty="0"/>
              <a:t>If file doesn’t exist? </a:t>
            </a:r>
            <a:r>
              <a:rPr lang="en-US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ERROR</a:t>
            </a:r>
          </a:p>
          <a:p>
            <a:pPr>
              <a:spcBef>
                <a:spcPct val="0"/>
              </a:spcBef>
              <a:spcAft>
                <a:spcPts val="1800"/>
              </a:spcAft>
            </a:pPr>
            <a:r>
              <a:rPr lang="en-US" dirty="0"/>
              <a:t>Then to read a file we apply one of the following approaches which take advantage of various read methods:</a:t>
            </a:r>
          </a:p>
          <a:p>
            <a:pPr marL="1657350" lvl="3" indent="-514350">
              <a:spcBef>
                <a:spcPct val="0"/>
              </a:spcBef>
              <a:spcAft>
                <a:spcPts val="1800"/>
              </a:spcAft>
              <a:buFont typeface="+mj-lt"/>
              <a:buAutoNum type="arabicPeriod"/>
            </a:pPr>
            <a:r>
              <a:rPr lang="en-US" dirty="0"/>
              <a:t>The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read</a:t>
            </a:r>
            <a:r>
              <a:rPr lang="en-US" dirty="0"/>
              <a:t> approach</a:t>
            </a:r>
          </a:p>
          <a:p>
            <a:pPr marL="1657350" lvl="3" indent="-514350">
              <a:spcBef>
                <a:spcPct val="0"/>
              </a:spcBef>
              <a:spcAft>
                <a:spcPts val="1800"/>
              </a:spcAft>
              <a:buFont typeface="+mj-lt"/>
              <a:buAutoNum type="arabicPeriod"/>
            </a:pPr>
            <a:r>
              <a:rPr lang="en-US" dirty="0"/>
              <a:t>The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readline</a:t>
            </a:r>
            <a:r>
              <a:rPr lang="en-US" dirty="0"/>
              <a:t> approach</a:t>
            </a:r>
          </a:p>
          <a:p>
            <a:pPr marL="1657350" lvl="3" indent="-514350">
              <a:spcBef>
                <a:spcPct val="0"/>
              </a:spcBef>
              <a:spcAft>
                <a:spcPts val="1800"/>
              </a:spcAft>
              <a:buFont typeface="+mj-lt"/>
              <a:buAutoNum type="arabicPeriod"/>
            </a:pPr>
            <a:r>
              <a:rPr lang="en-US" dirty="0"/>
              <a:t>The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for line in file </a:t>
            </a:r>
            <a:r>
              <a:rPr lang="en-US" dirty="0"/>
              <a:t>approach</a:t>
            </a:r>
          </a:p>
          <a:p>
            <a:pPr marL="1657350" lvl="3" indent="-514350">
              <a:spcBef>
                <a:spcPct val="0"/>
              </a:spcBef>
              <a:spcAft>
                <a:spcPts val="1800"/>
              </a:spcAft>
              <a:buFont typeface="+mj-lt"/>
              <a:buAutoNum type="arabicPeriod"/>
            </a:pPr>
            <a:r>
              <a:rPr lang="en-US" dirty="0"/>
              <a:t>The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readlines</a:t>
            </a:r>
            <a:r>
              <a:rPr lang="en-US" dirty="0"/>
              <a:t> approach</a:t>
            </a:r>
          </a:p>
          <a:p>
            <a:pPr>
              <a:spcBef>
                <a:spcPct val="0"/>
              </a:spcBef>
              <a:spcAft>
                <a:spcPts val="1800"/>
              </a:spcAft>
            </a:pPr>
            <a:endParaRPr lang="en-US" dirty="0"/>
          </a:p>
          <a:p>
            <a:pPr>
              <a:spcBef>
                <a:spcPct val="0"/>
              </a:spcBef>
              <a:spcAft>
                <a:spcPts val="1800"/>
              </a:spcAft>
            </a:pPr>
            <a:endParaRPr lang="en-US" sz="1400" dirty="0"/>
          </a:p>
        </p:txBody>
      </p:sp>
      <p:sp>
        <p:nvSpPr>
          <p:cNvPr id="13" name="object 4">
            <a:extLst>
              <a:ext uri="{FF2B5EF4-FFF2-40B4-BE49-F238E27FC236}">
                <a16:creationId xmlns:a16="http://schemas.microsoft.com/office/drawing/2014/main" id="{52D1E3B6-E39E-D841-A944-7DF0BD96DED0}"/>
              </a:ext>
            </a:extLst>
          </p:cNvPr>
          <p:cNvSpPr txBox="1"/>
          <p:nvPr/>
        </p:nvSpPr>
        <p:spPr>
          <a:xfrm>
            <a:off x="1910861" y="2471672"/>
            <a:ext cx="8763001" cy="55399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lang="en-US" sz="3600" spc="-5" dirty="0" err="1">
                <a:solidFill>
                  <a:srgbClr val="00FF00"/>
                </a:solidFill>
                <a:latin typeface="Courier New"/>
                <a:cs typeface="Courier New"/>
              </a:rPr>
              <a:t>myfile</a:t>
            </a:r>
            <a:r>
              <a:rPr lang="en-US" sz="3600" spc="-5" dirty="0">
                <a:solidFill>
                  <a:srgbClr val="00FF00"/>
                </a:solidFill>
                <a:latin typeface="Courier New"/>
                <a:cs typeface="Courier New"/>
              </a:rPr>
              <a:t> = open(‘</a:t>
            </a:r>
            <a:r>
              <a:rPr lang="en-US" sz="3600" spc="-5" dirty="0" err="1">
                <a:solidFill>
                  <a:srgbClr val="00FF00"/>
                </a:solidFill>
                <a:latin typeface="Courier New"/>
                <a:cs typeface="Courier New"/>
              </a:rPr>
              <a:t>test.txt</a:t>
            </a:r>
            <a:r>
              <a:rPr lang="en-US" sz="3600" spc="-5" dirty="0">
                <a:solidFill>
                  <a:srgbClr val="00FF00"/>
                </a:solidFill>
                <a:latin typeface="Courier New"/>
                <a:cs typeface="Courier New"/>
              </a:rPr>
              <a:t>’, </a:t>
            </a:r>
            <a:r>
              <a:rPr lang="en-US" sz="3600" spc="-5" dirty="0">
                <a:solidFill>
                  <a:schemeClr val="accent6"/>
                </a:solidFill>
                <a:latin typeface="Courier New"/>
                <a:cs typeface="Courier New"/>
              </a:rPr>
              <a:t>‘r’</a:t>
            </a:r>
            <a:r>
              <a:rPr lang="en-US" sz="3600" spc="-5" dirty="0">
                <a:solidFill>
                  <a:srgbClr val="00FF00"/>
                </a:solidFill>
                <a:latin typeface="Courier New"/>
                <a:cs typeface="Courier New"/>
              </a:rPr>
              <a:t>)</a:t>
            </a:r>
            <a:endParaRPr sz="3600" dirty="0">
              <a:solidFill>
                <a:srgbClr val="00FF00"/>
              </a:solidFill>
              <a:latin typeface="Courier New"/>
              <a:cs typeface="Courier New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10596DF-A5C0-3A4D-8DAC-5BC81AB0CA43}"/>
              </a:ext>
            </a:extLst>
          </p:cNvPr>
          <p:cNvSpPr txBox="1"/>
          <p:nvPr/>
        </p:nvSpPr>
        <p:spPr>
          <a:xfrm>
            <a:off x="7543801" y="4722357"/>
            <a:ext cx="313006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FF00"/>
                </a:solidFill>
              </a:rPr>
              <a:t>No correct approach!</a:t>
            </a:r>
          </a:p>
          <a:p>
            <a:r>
              <a:rPr lang="en-US" dirty="0">
                <a:solidFill>
                  <a:srgbClr val="FFFF00"/>
                </a:solidFill>
              </a:rPr>
              <a:t>Multiple methods to help with contexts and purposes</a:t>
            </a:r>
          </a:p>
        </p:txBody>
      </p:sp>
    </p:spTree>
    <p:extLst>
      <p:ext uri="{BB962C8B-B14F-4D97-AF65-F5344CB8AC3E}">
        <p14:creationId xmlns:p14="http://schemas.microsoft.com/office/powerpoint/2010/main" val="22216478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7FAA8B-F3B4-7B44-B7CD-433A5271E9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Different ways of Reading a File</a:t>
            </a:r>
          </a:p>
        </p:txBody>
      </p: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B658FBE8-A4CC-D040-B901-16DD3E09450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62356744"/>
              </p:ext>
            </p:extLst>
          </p:nvPr>
        </p:nvGraphicFramePr>
        <p:xfrm>
          <a:off x="209550" y="1383662"/>
          <a:ext cx="10241280" cy="514096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334548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2676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6903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600" dirty="0">
                          <a:effectLst/>
                        </a:rPr>
                        <a:t>Approach</a:t>
                      </a:r>
                      <a:endParaRPr lang="en-US" sz="16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MS Mincho" panose="02020609040205080304" pitchFamily="49" charset="-128"/>
                      </a:endParaRPr>
                    </a:p>
                  </a:txBody>
                  <a:tcPr marL="50800" marR="50800" marT="50800" marB="50800"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600" dirty="0">
                          <a:effectLst/>
                        </a:rPr>
                        <a:t>Code</a:t>
                      </a:r>
                      <a:endParaRPr lang="en-US" sz="16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MS Mincho" panose="02020609040205080304" pitchFamily="49" charset="-128"/>
                      </a:endParaRPr>
                    </a:p>
                  </a:txBody>
                  <a:tcPr marL="50800" marR="50800" marT="50800" marB="50800"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600" dirty="0">
                          <a:effectLst/>
                        </a:rPr>
                        <a:t>When to use it</a:t>
                      </a:r>
                      <a:endParaRPr lang="en-US" sz="16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MS Mincho" panose="02020609040205080304" pitchFamily="49" charset="-128"/>
                      </a:endParaRPr>
                    </a:p>
                  </a:txBody>
                  <a:tcPr marL="50800" marR="50800" marT="50800" marB="5080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l"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600" dirty="0">
                          <a:effectLst/>
                        </a:rPr>
                        <a:t>The read approach</a:t>
                      </a:r>
                      <a:endParaRPr lang="en-US" sz="16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MS Mincho" panose="02020609040205080304" pitchFamily="49" charset="-128"/>
                      </a:endParaRPr>
                    </a:p>
                  </a:txBody>
                  <a:tcPr marL="50800" marR="50800" marT="50800" marB="5080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rgbClr val="0070C0"/>
                          </a:solidFill>
                          <a:effectLst/>
                        </a:rPr>
                        <a:t>myfile = open(filename, 'r')</a:t>
                      </a:r>
                    </a:p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rgbClr val="0070C0"/>
                          </a:solidFill>
                          <a:effectLst/>
                        </a:rPr>
                        <a:t>contents = </a:t>
                      </a:r>
                      <a:r>
                        <a:rPr lang="en-US" sz="1600" dirty="0" err="1">
                          <a:solidFill>
                            <a:srgbClr val="0070C0"/>
                          </a:solidFill>
                          <a:effectLst/>
                        </a:rPr>
                        <a:t>myfile.read</a:t>
                      </a:r>
                      <a:r>
                        <a:rPr lang="en-US" sz="1600" dirty="0">
                          <a:solidFill>
                            <a:srgbClr val="0070C0"/>
                          </a:solidFill>
                          <a:effectLst/>
                        </a:rPr>
                        <a:t>()</a:t>
                      </a:r>
                    </a:p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rgbClr val="0070C0"/>
                          </a:solidFill>
                          <a:effectLst/>
                        </a:rPr>
                        <a:t>myfile.close()</a:t>
                      </a:r>
                      <a:endParaRPr lang="en-US" sz="1600" dirty="0">
                        <a:solidFill>
                          <a:srgbClr val="0070C0"/>
                        </a:solidFill>
                        <a:effectLst/>
                        <a:latin typeface="Courier New" panose="02070309020205020404" pitchFamily="49" charset="0"/>
                        <a:ea typeface="MS Mincho" panose="02020609040205080304" pitchFamily="49" charset="-128"/>
                        <a:cs typeface="Courier New" panose="02070309020205020404" pitchFamily="49" charset="0"/>
                      </a:endParaRPr>
                    </a:p>
                  </a:txBody>
                  <a:tcPr marL="50800" marR="50800" marT="50800" marB="50800"/>
                </a:tc>
                <a:tc>
                  <a:txBody>
                    <a:bodyPr/>
                    <a:lstStyle/>
                    <a:p>
                      <a:pPr marL="0" marR="0" algn="l"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600" dirty="0">
                          <a:effectLst/>
                        </a:rPr>
                        <a:t>When you want to read the whole file at once and use it as a single string.</a:t>
                      </a:r>
                      <a:endParaRPr lang="en-US" sz="16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MS Mincho" panose="02020609040205080304" pitchFamily="49" charset="-128"/>
                      </a:endParaRPr>
                    </a:p>
                  </a:txBody>
                  <a:tcPr marL="50800" marR="50800" marT="50800" marB="5080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l"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600" dirty="0">
                          <a:effectLst/>
                        </a:rPr>
                        <a:t>The </a:t>
                      </a:r>
                      <a:r>
                        <a:rPr lang="en-US" sz="1600" dirty="0" err="1">
                          <a:effectLst/>
                        </a:rPr>
                        <a:t>readline</a:t>
                      </a:r>
                      <a:r>
                        <a:rPr lang="en-US" sz="1600" dirty="0">
                          <a:effectLst/>
                        </a:rPr>
                        <a:t> approach</a:t>
                      </a:r>
                      <a:endParaRPr lang="en-US" sz="16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MS Mincho" panose="02020609040205080304" pitchFamily="49" charset="-128"/>
                      </a:endParaRPr>
                    </a:p>
                  </a:txBody>
                  <a:tcPr marL="50800" marR="50800" marT="50800" marB="5080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rgbClr val="0070C0"/>
                          </a:solidFill>
                          <a:effectLst/>
                        </a:rPr>
                        <a:t>myfile = open(filename, 'r')</a:t>
                      </a:r>
                    </a:p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rgbClr val="0070C0"/>
                          </a:solidFill>
                          <a:effectLst/>
                        </a:rPr>
                        <a:t>contents = ''</a:t>
                      </a:r>
                      <a:br>
                        <a:rPr lang="en-US" sz="1600" dirty="0">
                          <a:solidFill>
                            <a:srgbClr val="0070C0"/>
                          </a:solidFill>
                          <a:effectLst/>
                        </a:rPr>
                      </a:br>
                      <a:r>
                        <a:rPr lang="en-US" sz="1600" dirty="0">
                          <a:solidFill>
                            <a:srgbClr val="0070C0"/>
                          </a:solidFill>
                          <a:effectLst/>
                        </a:rPr>
                        <a:t>line = </a:t>
                      </a:r>
                      <a:r>
                        <a:rPr lang="en-US" sz="1600" dirty="0" err="1">
                          <a:solidFill>
                            <a:srgbClr val="0070C0"/>
                          </a:solidFill>
                          <a:effectLst/>
                        </a:rPr>
                        <a:t>myfile.readline</a:t>
                      </a:r>
                      <a:r>
                        <a:rPr lang="en-US" sz="1600" dirty="0">
                          <a:solidFill>
                            <a:srgbClr val="0070C0"/>
                          </a:solidFill>
                          <a:effectLst/>
                        </a:rPr>
                        <a:t>()</a:t>
                      </a:r>
                    </a:p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rgbClr val="0070C0"/>
                          </a:solidFill>
                          <a:effectLst/>
                        </a:rPr>
                        <a:t>while line != '':</a:t>
                      </a: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>
                          <a:solidFill>
                            <a:srgbClr val="0070C0"/>
                          </a:solidFill>
                          <a:effectLst/>
                        </a:rPr>
                        <a:t>    contents += line</a:t>
                      </a: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>
                          <a:solidFill>
                            <a:srgbClr val="0070C0"/>
                          </a:solidFill>
                          <a:effectLst/>
                        </a:rPr>
                        <a:t>    line = </a:t>
                      </a:r>
                      <a:r>
                        <a:rPr lang="en-US" sz="1600" dirty="0" err="1">
                          <a:solidFill>
                            <a:srgbClr val="0070C0"/>
                          </a:solidFill>
                          <a:effectLst/>
                        </a:rPr>
                        <a:t>myfile.readline</a:t>
                      </a:r>
                      <a:r>
                        <a:rPr lang="en-US" sz="1600" dirty="0">
                          <a:solidFill>
                            <a:srgbClr val="0070C0"/>
                          </a:solidFill>
                          <a:effectLst/>
                        </a:rPr>
                        <a:t>()</a:t>
                      </a:r>
                      <a:br>
                        <a:rPr lang="en-US" sz="1600" dirty="0">
                          <a:solidFill>
                            <a:srgbClr val="0070C0"/>
                          </a:solidFill>
                          <a:effectLst/>
                        </a:rPr>
                      </a:br>
                      <a:r>
                        <a:rPr lang="en-US" sz="1600" dirty="0" err="1">
                          <a:solidFill>
                            <a:srgbClr val="0070C0"/>
                          </a:solidFill>
                          <a:effectLst/>
                        </a:rPr>
                        <a:t>myfile.close</a:t>
                      </a:r>
                      <a:r>
                        <a:rPr lang="en-US" sz="1600" dirty="0">
                          <a:solidFill>
                            <a:srgbClr val="0070C0"/>
                          </a:solidFill>
                          <a:effectLst/>
                        </a:rPr>
                        <a:t>()</a:t>
                      </a:r>
                      <a:endParaRPr lang="en-US" sz="1600" dirty="0">
                        <a:solidFill>
                          <a:srgbClr val="0070C0"/>
                        </a:solidFill>
                        <a:effectLst/>
                        <a:latin typeface="Courier New" panose="02070309020205020404" pitchFamily="49" charset="0"/>
                        <a:ea typeface="MS Mincho" panose="02020609040205080304" pitchFamily="49" charset="-128"/>
                        <a:cs typeface="Courier New" panose="02070309020205020404" pitchFamily="49" charset="0"/>
                      </a:endParaRPr>
                    </a:p>
                  </a:txBody>
                  <a:tcPr marL="50800" marR="50800" marT="50800" marB="50800"/>
                </a:tc>
                <a:tc>
                  <a:txBody>
                    <a:bodyPr/>
                    <a:lstStyle/>
                    <a:p>
                      <a:pPr marL="0" marR="0" algn="l"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600" dirty="0">
                          <a:effectLst/>
                        </a:rPr>
                        <a:t>When you want to process only part of a file. Each time through the loop line contains one line of the file.</a:t>
                      </a:r>
                      <a:endParaRPr lang="en-US" sz="16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MS Mincho" panose="02020609040205080304" pitchFamily="49" charset="-128"/>
                      </a:endParaRPr>
                    </a:p>
                  </a:txBody>
                  <a:tcPr marL="50800" marR="50800" marT="50800" marB="5080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l"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600" dirty="0">
                          <a:effectLst/>
                        </a:rPr>
                        <a:t>The for line in file approach</a:t>
                      </a:r>
                      <a:endParaRPr lang="en-US" sz="16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MS Mincho" panose="02020609040205080304" pitchFamily="49" charset="-128"/>
                      </a:endParaRPr>
                    </a:p>
                  </a:txBody>
                  <a:tcPr marL="50800" marR="50800" marT="50800" marB="5080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rgbClr val="0070C0"/>
                          </a:solidFill>
                          <a:effectLst/>
                        </a:rPr>
                        <a:t>myfile = open(filename, 'r')</a:t>
                      </a:r>
                    </a:p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rgbClr val="0070C0"/>
                          </a:solidFill>
                          <a:effectLst/>
                        </a:rPr>
                        <a:t>contents = ''</a:t>
                      </a:r>
                    </a:p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rgbClr val="0070C0"/>
                          </a:solidFill>
                          <a:effectLst/>
                        </a:rPr>
                        <a:t>for line in myfile:</a:t>
                      </a:r>
                      <a:br>
                        <a:rPr lang="en-US" sz="1600" dirty="0">
                          <a:solidFill>
                            <a:srgbClr val="0070C0"/>
                          </a:solidFill>
                          <a:effectLst/>
                        </a:rPr>
                      </a:br>
                      <a:r>
                        <a:rPr lang="en-US" sz="1600" dirty="0">
                          <a:solidFill>
                            <a:srgbClr val="0070C0"/>
                          </a:solidFill>
                          <a:effectLst/>
                        </a:rPr>
                        <a:t>    contents += line</a:t>
                      </a:r>
                    </a:p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rgbClr val="0070C0"/>
                          </a:solidFill>
                          <a:effectLst/>
                        </a:rPr>
                        <a:t>myfile.close()</a:t>
                      </a:r>
                      <a:endParaRPr lang="en-US" sz="1600" dirty="0">
                        <a:solidFill>
                          <a:srgbClr val="0070C0"/>
                        </a:solidFill>
                        <a:effectLst/>
                        <a:latin typeface="Courier New" panose="02070309020205020404" pitchFamily="49" charset="0"/>
                        <a:ea typeface="MS Mincho" panose="02020609040205080304" pitchFamily="49" charset="-128"/>
                        <a:cs typeface="Courier New" panose="02070309020205020404" pitchFamily="49" charset="0"/>
                      </a:endParaRPr>
                    </a:p>
                  </a:txBody>
                  <a:tcPr marL="50800" marR="50800" marT="50800" marB="50800"/>
                </a:tc>
                <a:tc>
                  <a:txBody>
                    <a:bodyPr/>
                    <a:lstStyle/>
                    <a:p>
                      <a:pPr marL="0" marR="0" algn="l"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600" dirty="0">
                          <a:effectLst/>
                        </a:rPr>
                        <a:t>When you want to process every line in the file one at a time.</a:t>
                      </a:r>
                      <a:endParaRPr lang="en-US" sz="16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MS Mincho" panose="02020609040205080304" pitchFamily="49" charset="-128"/>
                      </a:endParaRPr>
                    </a:p>
                  </a:txBody>
                  <a:tcPr marL="50800" marR="50800" marT="50800" marB="5080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l"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600" dirty="0">
                          <a:effectLst/>
                        </a:rPr>
                        <a:t>The </a:t>
                      </a:r>
                      <a:r>
                        <a:rPr lang="en-US" sz="1600" dirty="0" err="1">
                          <a:effectLst/>
                        </a:rPr>
                        <a:t>readlines</a:t>
                      </a:r>
                      <a:r>
                        <a:rPr lang="en-US" sz="1600" dirty="0">
                          <a:effectLst/>
                        </a:rPr>
                        <a:t> approach</a:t>
                      </a:r>
                      <a:endParaRPr lang="en-US" sz="16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MS Mincho" panose="02020609040205080304" pitchFamily="49" charset="-128"/>
                      </a:endParaRPr>
                    </a:p>
                  </a:txBody>
                  <a:tcPr marL="50800" marR="50800" marT="50800" marB="5080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rgbClr val="0070C0"/>
                          </a:solidFill>
                          <a:effectLst/>
                        </a:rPr>
                        <a:t>myfile = open(filename, 'r')</a:t>
                      </a:r>
                      <a:br>
                        <a:rPr lang="en-US" sz="1600" dirty="0">
                          <a:solidFill>
                            <a:srgbClr val="0070C0"/>
                          </a:solidFill>
                          <a:effectLst/>
                        </a:rPr>
                      </a:br>
                      <a:r>
                        <a:rPr lang="en-US" sz="1600" dirty="0">
                          <a:solidFill>
                            <a:srgbClr val="0070C0"/>
                          </a:solidFill>
                          <a:effectLst/>
                        </a:rPr>
                        <a:t>lines = </a:t>
                      </a:r>
                      <a:r>
                        <a:rPr lang="en-US" sz="1600" dirty="0" err="1">
                          <a:solidFill>
                            <a:srgbClr val="0070C0"/>
                          </a:solidFill>
                          <a:effectLst/>
                        </a:rPr>
                        <a:t>myfile.readlines</a:t>
                      </a:r>
                      <a:r>
                        <a:rPr lang="en-US" sz="1600" dirty="0">
                          <a:solidFill>
                            <a:srgbClr val="0070C0"/>
                          </a:solidFill>
                          <a:effectLst/>
                        </a:rPr>
                        <a:t>()</a:t>
                      </a:r>
                    </a:p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rgbClr val="0070C0"/>
                          </a:solidFill>
                          <a:effectLst/>
                        </a:rPr>
                        <a:t>myfile.close()</a:t>
                      </a:r>
                      <a:endParaRPr lang="en-US" sz="1600" dirty="0">
                        <a:solidFill>
                          <a:srgbClr val="0070C0"/>
                        </a:solidFill>
                        <a:effectLst/>
                        <a:latin typeface="Courier New" panose="02070309020205020404" pitchFamily="49" charset="0"/>
                        <a:ea typeface="MS Mincho" panose="02020609040205080304" pitchFamily="49" charset="-128"/>
                        <a:cs typeface="Courier New" panose="02070309020205020404" pitchFamily="49" charset="0"/>
                      </a:endParaRPr>
                    </a:p>
                  </a:txBody>
                  <a:tcPr marL="50800" marR="50800" marT="50800" marB="50800"/>
                </a:tc>
                <a:tc>
                  <a:txBody>
                    <a:bodyPr/>
                    <a:lstStyle/>
                    <a:p>
                      <a:pPr marL="0" marR="0" algn="l"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600" dirty="0">
                          <a:effectLst/>
                        </a:rPr>
                        <a:t>When you want to examine each line of a file by index.</a:t>
                      </a:r>
                      <a:endParaRPr lang="en-US" sz="16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MS Mincho" panose="02020609040205080304" pitchFamily="49" charset="-128"/>
                      </a:endParaRPr>
                    </a:p>
                  </a:txBody>
                  <a:tcPr marL="50800" marR="50800" marT="50800" marB="5080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3" name="Right Brace 2">
            <a:extLst>
              <a:ext uri="{FF2B5EF4-FFF2-40B4-BE49-F238E27FC236}">
                <a16:creationId xmlns:a16="http://schemas.microsoft.com/office/drawing/2014/main" id="{397AE32E-3EFC-4E23-C68B-EC6852BE3F36}"/>
              </a:ext>
            </a:extLst>
          </p:cNvPr>
          <p:cNvSpPr/>
          <p:nvPr/>
        </p:nvSpPr>
        <p:spPr>
          <a:xfrm>
            <a:off x="10597515" y="2046090"/>
            <a:ext cx="609600" cy="1804354"/>
          </a:xfrm>
          <a:prstGeom prst="rightBrace">
            <a:avLst/>
          </a:prstGeom>
          <a:ln w="57150">
            <a:solidFill>
              <a:srgbClr val="00FF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4" name="Right Brace 3">
            <a:extLst>
              <a:ext uri="{FF2B5EF4-FFF2-40B4-BE49-F238E27FC236}">
                <a16:creationId xmlns:a16="http://schemas.microsoft.com/office/drawing/2014/main" id="{4B96C498-D9C3-2108-E59F-1B550AC8AB6D}"/>
              </a:ext>
            </a:extLst>
          </p:cNvPr>
          <p:cNvSpPr/>
          <p:nvPr/>
        </p:nvSpPr>
        <p:spPr>
          <a:xfrm>
            <a:off x="10597515" y="4512872"/>
            <a:ext cx="609600" cy="1804354"/>
          </a:xfrm>
          <a:prstGeom prst="rightBrace">
            <a:avLst/>
          </a:prstGeom>
          <a:ln w="5715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D0B52D5-F4B1-FDB5-9CD1-CDF12F7FC8A1}"/>
              </a:ext>
            </a:extLst>
          </p:cNvPr>
          <p:cNvSpPr txBox="1"/>
          <p:nvPr/>
        </p:nvSpPr>
        <p:spPr>
          <a:xfrm rot="5400000">
            <a:off x="10936827" y="2686657"/>
            <a:ext cx="1357166" cy="523220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CA" sz="2800" b="1" dirty="0"/>
              <a:t>TODAY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ADCC6A3-D8AA-C28E-E79F-D839FC0706A1}"/>
              </a:ext>
            </a:extLst>
          </p:cNvPr>
          <p:cNvSpPr txBox="1"/>
          <p:nvPr/>
        </p:nvSpPr>
        <p:spPr>
          <a:xfrm rot="5400000">
            <a:off x="10856178" y="5153439"/>
            <a:ext cx="1524776" cy="523220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CA" sz="2800" b="1" dirty="0"/>
              <a:t>FUTURE</a:t>
            </a:r>
          </a:p>
        </p:txBody>
      </p:sp>
    </p:spTree>
    <p:extLst>
      <p:ext uri="{BB962C8B-B14F-4D97-AF65-F5344CB8AC3E}">
        <p14:creationId xmlns:p14="http://schemas.microsoft.com/office/powerpoint/2010/main" val="3648069472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D3E942-D48A-CF4F-BAD4-22FE8605A5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Let’s Code!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A3DF1E-F240-BC41-B313-3625DDE1D9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0050" y="1532292"/>
            <a:ext cx="7025986" cy="4835479"/>
          </a:xfrm>
        </p:spPr>
        <p:txBody>
          <a:bodyPr>
            <a:normAutofit/>
          </a:bodyPr>
          <a:lstStyle/>
          <a:p>
            <a:r>
              <a:rPr lang="en-CA" dirty="0"/>
              <a:t>Let’s take a look at how this works in Python!</a:t>
            </a:r>
          </a:p>
          <a:p>
            <a:pPr lvl="1"/>
            <a:r>
              <a:rPr lang="en-CA" dirty="0"/>
              <a:t>Different read approaches</a:t>
            </a:r>
          </a:p>
          <a:p>
            <a:pPr lvl="2"/>
            <a:r>
              <a:rPr lang="en-CA" dirty="0"/>
              <a:t>read()</a:t>
            </a:r>
          </a:p>
          <a:p>
            <a:pPr lvl="2"/>
            <a:r>
              <a:rPr lang="en-CA" dirty="0" err="1"/>
              <a:t>readline</a:t>
            </a:r>
            <a:r>
              <a:rPr lang="en-CA" dirty="0"/>
              <a:t>()</a:t>
            </a:r>
          </a:p>
          <a:p>
            <a:pPr lvl="2"/>
            <a:r>
              <a:rPr lang="en-CA" dirty="0"/>
              <a:t>for line in file</a:t>
            </a:r>
          </a:p>
          <a:p>
            <a:pPr lvl="2"/>
            <a:r>
              <a:rPr lang="en-CA" dirty="0" err="1"/>
              <a:t>readlines</a:t>
            </a:r>
            <a:r>
              <a:rPr lang="en-CA" dirty="0"/>
              <a:t>()</a:t>
            </a:r>
          </a:p>
          <a:p>
            <a:pPr lvl="1"/>
            <a:endParaRPr lang="en-CA" dirty="0"/>
          </a:p>
        </p:txBody>
      </p:sp>
      <p:sp>
        <p:nvSpPr>
          <p:cNvPr id="4" name="Rectangle: Rounded Corners 5">
            <a:extLst>
              <a:ext uri="{FF2B5EF4-FFF2-40B4-BE49-F238E27FC236}">
                <a16:creationId xmlns:a16="http://schemas.microsoft.com/office/drawing/2014/main" id="{9BD5FBCF-8C94-E44C-BBC9-C128207E6FA0}"/>
              </a:ext>
            </a:extLst>
          </p:cNvPr>
          <p:cNvSpPr/>
          <p:nvPr/>
        </p:nvSpPr>
        <p:spPr>
          <a:xfrm>
            <a:off x="7664115" y="1949006"/>
            <a:ext cx="3958389" cy="4418765"/>
          </a:xfrm>
          <a:prstGeom prst="roundRect">
            <a:avLst/>
          </a:prstGeom>
          <a:noFill/>
          <a:ln w="762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4400" b="1" dirty="0">
                <a:solidFill>
                  <a:srgbClr val="FFFFFF"/>
                </a:solidFill>
              </a:rPr>
              <a:t>Open your notebook</a:t>
            </a:r>
          </a:p>
          <a:p>
            <a:endParaRPr lang="en-US" sz="4400" b="1" dirty="0">
              <a:solidFill>
                <a:srgbClr val="FFFFFF"/>
              </a:solidFill>
            </a:endParaRPr>
          </a:p>
          <a:p>
            <a:r>
              <a:rPr lang="en-US" sz="2800" b="1" dirty="0">
                <a:solidFill>
                  <a:srgbClr val="FFFFFF"/>
                </a:solidFill>
              </a:rPr>
              <a:t>Click Link</a:t>
            </a:r>
            <a:r>
              <a:rPr lang="en-US" sz="2800" b="1" dirty="0">
                <a:solidFill>
                  <a:schemeClr val="accent6"/>
                </a:solidFill>
              </a:rPr>
              <a:t>:</a:t>
            </a:r>
          </a:p>
          <a:p>
            <a:r>
              <a:rPr lang="en-US" sz="2800" b="1" dirty="0">
                <a:solidFill>
                  <a:schemeClr val="accent6"/>
                </a:solidFill>
              </a:rPr>
              <a:t>3. Reading Files</a:t>
            </a:r>
          </a:p>
        </p:txBody>
      </p:sp>
    </p:spTree>
    <p:extLst>
      <p:ext uri="{BB962C8B-B14F-4D97-AF65-F5344CB8AC3E}">
        <p14:creationId xmlns:p14="http://schemas.microsoft.com/office/powerpoint/2010/main" val="151772314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AEAFC5-C885-4A4E-AEB5-4761FC0C44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3321496"/>
            <a:ext cx="10671313" cy="3171379"/>
          </a:xfrm>
        </p:spPr>
        <p:txBody>
          <a:bodyPr>
            <a:normAutofit fontScale="92500"/>
          </a:bodyPr>
          <a:lstStyle/>
          <a:p>
            <a:r>
              <a:rPr lang="en-CA" sz="2400" dirty="0" err="1"/>
              <a:t>Madlibs</a:t>
            </a:r>
            <a:r>
              <a:rPr lang="en-CA" sz="2400" dirty="0"/>
              <a:t> is a story game</a:t>
            </a:r>
          </a:p>
          <a:p>
            <a:r>
              <a:rPr lang="en-CA" sz="2400" dirty="0"/>
              <a:t>A story is written, and a few important words are taken out, replaced by blanks</a:t>
            </a:r>
          </a:p>
          <a:p>
            <a:r>
              <a:rPr lang="en-CA" sz="2400" dirty="0"/>
              <a:t>The blanks are labelled with their part of speech or other category ("noun", "adjective", "an animal", and so on)</a:t>
            </a:r>
          </a:p>
          <a:p>
            <a:r>
              <a:rPr lang="en-CA" sz="2400" dirty="0"/>
              <a:t>Replace the categories with specific words without knowing the story</a:t>
            </a:r>
          </a:p>
          <a:p>
            <a:r>
              <a:rPr lang="en-CA" sz="2400" dirty="0"/>
              <a:t>When all the blanks have been filled in, the story is read out, usually with comic results</a:t>
            </a:r>
          </a:p>
          <a:p>
            <a:r>
              <a:rPr lang="en-CA" sz="2400" dirty="0"/>
              <a:t>Example: </a:t>
            </a:r>
            <a:r>
              <a:rPr lang="en-CA" sz="2400" dirty="0">
                <a:hlinkClick r:id="rId2"/>
              </a:rPr>
              <a:t>https://youtu.be/kM9Wuzj4k24</a:t>
            </a:r>
            <a:r>
              <a:rPr lang="en-CA" sz="2400" dirty="0"/>
              <a:t> 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2FB9987-751C-D3A0-0CFF-F069A4A911A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70915" y="767896"/>
            <a:ext cx="9005881" cy="255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4543388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701F9A-52B7-F146-A805-0BAC2A04D3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1CCF1A-8EA7-38A8-1B02-C412F5E0D8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Let’s Code!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B6AB99-99F8-8F0C-5D0B-A3E98CB47F5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0050" y="1532292"/>
            <a:ext cx="7025986" cy="4835479"/>
          </a:xfrm>
        </p:spPr>
        <p:txBody>
          <a:bodyPr>
            <a:normAutofit/>
          </a:bodyPr>
          <a:lstStyle/>
          <a:p>
            <a:r>
              <a:rPr lang="en-CA" dirty="0"/>
              <a:t>Let’s take a look at how this works in Python!</a:t>
            </a:r>
          </a:p>
          <a:p>
            <a:pPr lvl="1"/>
            <a:r>
              <a:rPr lang="en-CA" dirty="0"/>
              <a:t>Bringing it all together with </a:t>
            </a:r>
            <a:r>
              <a:rPr lang="en-CA" dirty="0" err="1"/>
              <a:t>Madlibs</a:t>
            </a:r>
            <a:r>
              <a:rPr lang="en-CA" dirty="0"/>
              <a:t>!</a:t>
            </a:r>
          </a:p>
          <a:p>
            <a:pPr lvl="1"/>
            <a:endParaRPr lang="en-CA" dirty="0"/>
          </a:p>
        </p:txBody>
      </p:sp>
      <p:sp>
        <p:nvSpPr>
          <p:cNvPr id="4" name="Rectangle: Rounded Corners 5">
            <a:extLst>
              <a:ext uri="{FF2B5EF4-FFF2-40B4-BE49-F238E27FC236}">
                <a16:creationId xmlns:a16="http://schemas.microsoft.com/office/drawing/2014/main" id="{CDC5D849-44CB-7BFB-E8F1-139ADFB51302}"/>
              </a:ext>
            </a:extLst>
          </p:cNvPr>
          <p:cNvSpPr/>
          <p:nvPr/>
        </p:nvSpPr>
        <p:spPr>
          <a:xfrm>
            <a:off x="7664115" y="1949006"/>
            <a:ext cx="3958389" cy="4418765"/>
          </a:xfrm>
          <a:prstGeom prst="roundRect">
            <a:avLst/>
          </a:prstGeom>
          <a:noFill/>
          <a:ln w="762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4400" b="1" dirty="0">
                <a:solidFill>
                  <a:srgbClr val="FFFFFF"/>
                </a:solidFill>
              </a:rPr>
              <a:t>Open your notebook</a:t>
            </a:r>
          </a:p>
          <a:p>
            <a:endParaRPr lang="en-US" sz="4400" b="1" dirty="0">
              <a:solidFill>
                <a:srgbClr val="FFFFFF"/>
              </a:solidFill>
            </a:endParaRPr>
          </a:p>
          <a:p>
            <a:r>
              <a:rPr lang="en-US" sz="2800" b="1" dirty="0">
                <a:solidFill>
                  <a:srgbClr val="FFFFFF"/>
                </a:solidFill>
              </a:rPr>
              <a:t>Click Link</a:t>
            </a:r>
            <a:r>
              <a:rPr lang="en-US" sz="2800" b="1" dirty="0">
                <a:solidFill>
                  <a:schemeClr val="accent6"/>
                </a:solidFill>
              </a:rPr>
              <a:t>:</a:t>
            </a:r>
          </a:p>
          <a:p>
            <a:r>
              <a:rPr lang="en-US" sz="2800" b="1" dirty="0">
                <a:solidFill>
                  <a:schemeClr val="accent6"/>
                </a:solidFill>
              </a:rPr>
              <a:t>4. </a:t>
            </a:r>
            <a:r>
              <a:rPr lang="en-US" sz="2800" b="1" dirty="0" err="1">
                <a:solidFill>
                  <a:schemeClr val="accent6"/>
                </a:solidFill>
              </a:rPr>
              <a:t>Madlibs</a:t>
            </a:r>
            <a:endParaRPr lang="en-US" sz="2800" b="1" dirty="0">
              <a:solidFill>
                <a:schemeClr val="accent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02338851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B60CE9-063D-1A99-5C4A-8CB846D466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B41A1C-7713-1877-BD4D-FD443DC799D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introduction to Object Oriented Programming</a:t>
            </a:r>
            <a:r>
              <a:rPr lang="en-US" dirty="0">
                <a:solidFill>
                  <a:schemeClr val="accent1"/>
                </a:solidFill>
              </a:rPr>
              <a:t>,</a:t>
            </a:r>
            <a:r>
              <a:rPr lang="en-US" dirty="0"/>
              <a:t> </a:t>
            </a:r>
            <a:r>
              <a:rPr lang="en-US" dirty="0">
                <a:solidFill>
                  <a:schemeClr val="accent6"/>
                </a:solidFill>
              </a:rPr>
              <a:t>and</a:t>
            </a:r>
            <a:r>
              <a:rPr lang="en-US" dirty="0"/>
              <a:t> the file object</a:t>
            </a:r>
            <a:r>
              <a:rPr lang="en-US" dirty="0">
                <a:solidFill>
                  <a:schemeClr val="accent1"/>
                </a:solidFill>
              </a:rPr>
              <a:t>.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F1FB9DC-96F2-AF83-DBDF-D4C6C5D1B89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b="1" dirty="0"/>
              <a:t>Week </a:t>
            </a:r>
            <a:r>
              <a:rPr lang="en-US" b="1" dirty="0">
                <a:solidFill>
                  <a:schemeClr val="accent6"/>
                </a:solidFill>
              </a:rPr>
              <a:t>5</a:t>
            </a:r>
            <a:r>
              <a:rPr lang="en-US" b="1" dirty="0"/>
              <a:t> </a:t>
            </a:r>
            <a:r>
              <a:rPr lang="en-US" dirty="0">
                <a:solidFill>
                  <a:schemeClr val="accent2"/>
                </a:solidFill>
              </a:rPr>
              <a:t>|</a:t>
            </a:r>
            <a:r>
              <a:rPr lang="en-US" dirty="0"/>
              <a:t> Lecture </a:t>
            </a:r>
            <a:r>
              <a:rPr lang="en-US" dirty="0">
                <a:solidFill>
                  <a:schemeClr val="accent6"/>
                </a:solidFill>
              </a:rPr>
              <a:t>2 </a:t>
            </a:r>
            <a:r>
              <a:rPr lang="en-US" dirty="0">
                <a:solidFill>
                  <a:schemeClr val="accent1"/>
                </a:solidFill>
              </a:rPr>
              <a:t>(</a:t>
            </a:r>
            <a:r>
              <a:rPr lang="en-US" dirty="0">
                <a:solidFill>
                  <a:schemeClr val="accent6"/>
                </a:solidFill>
              </a:rPr>
              <a:t>5.2</a:t>
            </a:r>
            <a:r>
              <a:rPr lang="en-US" dirty="0">
                <a:solidFill>
                  <a:schemeClr val="accent1"/>
                </a:solidFill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127193898"/>
      </p:ext>
    </p:extLst>
  </p:cSld>
  <p:clrMapOvr>
    <a:masterClrMapping/>
  </p:clrMapOvr>
</p:sld>
</file>

<file path=ppt/theme/theme1.xml><?xml version="1.0" encoding="utf-8"?>
<a:theme xmlns:a="http://schemas.openxmlformats.org/drawingml/2006/main" name="APS106_PPTX_Theme">
  <a:themeElements>
    <a:clrScheme name="Custom 5">
      <a:dk1>
        <a:srgbClr val="444445"/>
      </a:dk1>
      <a:lt1>
        <a:srgbClr val="000000"/>
      </a:lt1>
      <a:dk2>
        <a:srgbClr val="7B8994"/>
      </a:dk2>
      <a:lt2>
        <a:srgbClr val="3D464D"/>
      </a:lt2>
      <a:accent1>
        <a:srgbClr val="017EE5"/>
      </a:accent1>
      <a:accent2>
        <a:srgbClr val="017EE5"/>
      </a:accent2>
      <a:accent3>
        <a:srgbClr val="017EE5"/>
      </a:accent3>
      <a:accent4>
        <a:srgbClr val="7B8994"/>
      </a:accent4>
      <a:accent5>
        <a:srgbClr val="7B8994"/>
      </a:accent5>
      <a:accent6>
        <a:srgbClr val="FF9933"/>
      </a:accent6>
      <a:hlink>
        <a:srgbClr val="3D464D"/>
      </a:hlink>
      <a:folHlink>
        <a:srgbClr val="3D464D"/>
      </a:folHlink>
    </a:clrScheme>
    <a:fontScheme name="Custom 1">
      <a:majorFont>
        <a:latin typeface="Segoe UI"/>
        <a:ea typeface=""/>
        <a:cs typeface=""/>
      </a:majorFont>
      <a:minorFont>
        <a:latin typeface="Segoe U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APS106_PPTX_Theme" id="{D71ABBE9-7E6D-4E30-BD8F-2EB61EB32A2D}" vid="{056030BA-02C6-4208-ACCE-F1B550CC0AA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APS106_PPTX_Theme</Template>
  <TotalTime>52595</TotalTime>
  <Words>2602</Words>
  <Application>Microsoft Macintosh PowerPoint</Application>
  <PresentationFormat>Widescreen</PresentationFormat>
  <Paragraphs>555</Paragraphs>
  <Slides>44</Slides>
  <Notes>6</Notes>
  <HiddenSlides>3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44</vt:i4>
      </vt:variant>
    </vt:vector>
  </HeadingPairs>
  <TitlesOfParts>
    <vt:vector size="53" baseType="lpstr">
      <vt:lpstr>Arial</vt:lpstr>
      <vt:lpstr>Calibri</vt:lpstr>
      <vt:lpstr>Courier</vt:lpstr>
      <vt:lpstr>Courier New</vt:lpstr>
      <vt:lpstr>Helvetica Neue</vt:lpstr>
      <vt:lpstr>Segoe UI</vt:lpstr>
      <vt:lpstr>Times New Roman</vt:lpstr>
      <vt:lpstr>Wingdings</vt:lpstr>
      <vt:lpstr>APS106_PPTX_Theme</vt:lpstr>
      <vt:lpstr>introduction to Object Oriented Programming, and the file object.</vt:lpstr>
      <vt:lpstr>This Week’s Content</vt:lpstr>
      <vt:lpstr>Procedural Programming</vt:lpstr>
      <vt:lpstr>Procedural Programming</vt:lpstr>
      <vt:lpstr>PowerPoint Presentation</vt:lpstr>
      <vt:lpstr>Object-Oriented Programming</vt:lpstr>
      <vt:lpstr>Object-Oriented Programming</vt:lpstr>
      <vt:lpstr>Objects in Python</vt:lpstr>
      <vt:lpstr>Classes</vt:lpstr>
      <vt:lpstr>Classes: blueprints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Classes</vt:lpstr>
      <vt:lpstr>Classes</vt:lpstr>
      <vt:lpstr>Classes</vt:lpstr>
      <vt:lpstr>We’ve already been using objects!</vt:lpstr>
      <vt:lpstr>Classes</vt:lpstr>
      <vt:lpstr>Classes</vt:lpstr>
      <vt:lpstr>Let’s Code!</vt:lpstr>
      <vt:lpstr>Why do we care about files?</vt:lpstr>
      <vt:lpstr>Why work with files?</vt:lpstr>
      <vt:lpstr>Why work with files?</vt:lpstr>
      <vt:lpstr>It’s like working with a notebook!</vt:lpstr>
      <vt:lpstr>Opening a File</vt:lpstr>
      <vt:lpstr>Writing to a File</vt:lpstr>
      <vt:lpstr>Writing to a File</vt:lpstr>
      <vt:lpstr>PowerPoint Presentation</vt:lpstr>
      <vt:lpstr>Closing a File</vt:lpstr>
      <vt:lpstr>Let’s Code!</vt:lpstr>
      <vt:lpstr>CLOSE THE FILE!</vt:lpstr>
      <vt:lpstr>The ”Writing to Files” Recipe</vt:lpstr>
      <vt:lpstr>Example: Writing to Files</vt:lpstr>
      <vt:lpstr>Encapsulation</vt:lpstr>
      <vt:lpstr>Encapsulate it!</vt:lpstr>
      <vt:lpstr>Writing and Reading</vt:lpstr>
      <vt:lpstr>Different ways of Reading a File</vt:lpstr>
      <vt:lpstr>Different ways of Reading a File</vt:lpstr>
      <vt:lpstr>Let’s Code!</vt:lpstr>
      <vt:lpstr>PowerPoint Presentation</vt:lpstr>
      <vt:lpstr>Let’s Code!</vt:lpstr>
      <vt:lpstr>introduction to Object Oriented Programming, and the file object.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Sebastian Goodfellow</dc:creator>
  <cp:lastModifiedBy>Sutton, Christopher</cp:lastModifiedBy>
  <cp:revision>298</cp:revision>
  <dcterms:created xsi:type="dcterms:W3CDTF">2021-11-03T00:49:37Z</dcterms:created>
  <dcterms:modified xsi:type="dcterms:W3CDTF">2026-02-04T16:00:16Z</dcterms:modified>
</cp:coreProperties>
</file>