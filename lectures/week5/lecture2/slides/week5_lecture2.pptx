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</p:sldMasterIdLst>
  <p:notesMasterIdLst>
    <p:notesMasterId r:id="rId41"/>
  </p:notesMasterIdLst>
  <p:sldIdLst>
    <p:sldId id="256" r:id="rId2"/>
    <p:sldId id="576" r:id="rId3"/>
    <p:sldId id="330" r:id="rId4"/>
    <p:sldId id="326" r:id="rId5"/>
    <p:sldId id="328" r:id="rId6"/>
    <p:sldId id="329" r:id="rId7"/>
    <p:sldId id="331" r:id="rId8"/>
    <p:sldId id="332" r:id="rId9"/>
    <p:sldId id="333" r:id="rId10"/>
    <p:sldId id="335" r:id="rId11"/>
    <p:sldId id="337" r:id="rId12"/>
    <p:sldId id="336" r:id="rId13"/>
    <p:sldId id="338" r:id="rId14"/>
    <p:sldId id="573" r:id="rId15"/>
    <p:sldId id="361" r:id="rId16"/>
    <p:sldId id="324" r:id="rId17"/>
    <p:sldId id="574" r:id="rId18"/>
    <p:sldId id="498" r:id="rId19"/>
    <p:sldId id="493" r:id="rId20"/>
    <p:sldId id="563" r:id="rId21"/>
    <p:sldId id="496" r:id="rId22"/>
    <p:sldId id="502" r:id="rId23"/>
    <p:sldId id="529" r:id="rId24"/>
    <p:sldId id="541" r:id="rId25"/>
    <p:sldId id="564" r:id="rId26"/>
    <p:sldId id="542" r:id="rId27"/>
    <p:sldId id="503" r:id="rId28"/>
    <p:sldId id="544" r:id="rId29"/>
    <p:sldId id="546" r:id="rId30"/>
    <p:sldId id="545" r:id="rId31"/>
    <p:sldId id="356" r:id="rId32"/>
    <p:sldId id="411" r:id="rId33"/>
    <p:sldId id="570" r:id="rId34"/>
    <p:sldId id="547" r:id="rId35"/>
    <p:sldId id="548" r:id="rId36"/>
    <p:sldId id="571" r:id="rId37"/>
    <p:sldId id="291" r:id="rId38"/>
    <p:sldId id="575" r:id="rId39"/>
    <p:sldId id="572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2D9F3D-F7CA-43FE-9E2E-5C007936740A}">
          <p14:sldIdLst>
            <p14:sldId id="256"/>
            <p14:sldId id="576"/>
            <p14:sldId id="330"/>
            <p14:sldId id="326"/>
            <p14:sldId id="328"/>
            <p14:sldId id="329"/>
            <p14:sldId id="331"/>
            <p14:sldId id="332"/>
            <p14:sldId id="333"/>
            <p14:sldId id="335"/>
            <p14:sldId id="337"/>
            <p14:sldId id="336"/>
            <p14:sldId id="338"/>
            <p14:sldId id="573"/>
            <p14:sldId id="361"/>
            <p14:sldId id="324"/>
            <p14:sldId id="574"/>
            <p14:sldId id="498"/>
            <p14:sldId id="493"/>
            <p14:sldId id="563"/>
            <p14:sldId id="496"/>
            <p14:sldId id="502"/>
            <p14:sldId id="529"/>
            <p14:sldId id="541"/>
            <p14:sldId id="564"/>
            <p14:sldId id="542"/>
            <p14:sldId id="503"/>
            <p14:sldId id="544"/>
            <p14:sldId id="546"/>
            <p14:sldId id="545"/>
            <p14:sldId id="356"/>
            <p14:sldId id="411"/>
            <p14:sldId id="570"/>
            <p14:sldId id="547"/>
            <p14:sldId id="548"/>
            <p14:sldId id="571"/>
            <p14:sldId id="291"/>
            <p14:sldId id="575"/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FF00"/>
    <a:srgbClr val="E00BE5"/>
    <a:srgbClr val="FF5050"/>
    <a:srgbClr val="444445"/>
    <a:srgbClr val="FFD6AD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122" autoAdjust="0"/>
    <p:restoredTop sz="94660"/>
  </p:normalViewPr>
  <p:slideViewPr>
    <p:cSldViewPr snapToGrid="0">
      <p:cViewPr varScale="1">
        <p:scale>
          <a:sx n="91" d="100"/>
          <a:sy n="91" d="100"/>
        </p:scale>
        <p:origin x="22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88962-212E-354E-9F0A-BD91D5C0951B}" type="datetimeFigureOut">
              <a:rPr lang="en-CA" smtClean="0"/>
              <a:t>2025-02-03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45578-F236-A04D-A3A4-886269DB90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2099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874C1-937B-F927-E02D-C82BB62F8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A9675E-B70F-99F1-B8D5-585EC8F3C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44BAC-84C3-556A-3EB4-D466FEADC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66A05-3DE2-2271-98CF-EA89B188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55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490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7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FA71-C4FA-E399-CEB6-B521264A1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0D2BAF-E88D-05C1-9440-1433DBE64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249FD-831D-249C-8223-25704F0D3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B0F0-C31C-BDD4-6464-994D61B4A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27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0E9A4-6E61-4AF5-9711-A3D3136113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409479"/>
            <a:ext cx="11391065" cy="89358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9B255B-D275-45F6-ACB5-BBD491BB4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3848999"/>
            <a:ext cx="1139106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893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  <a:lvl2pPr>
              <a:defRPr>
                <a:solidFill>
                  <a:srgbClr val="444445"/>
                </a:solidFill>
              </a:defRPr>
            </a:lvl2pPr>
            <a:lvl3pPr>
              <a:defRPr>
                <a:solidFill>
                  <a:srgbClr val="444445"/>
                </a:solidFill>
              </a:defRPr>
            </a:lvl3pPr>
            <a:lvl4pPr>
              <a:defRPr>
                <a:solidFill>
                  <a:srgbClr val="444445"/>
                </a:solidFill>
              </a:defRPr>
            </a:lvl4pPr>
            <a:lvl5pP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79519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56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tx1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tx1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tx1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tx1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tx1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1723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25685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hyperlink" Target="https://youtu.be/kM9Wuzj4k24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Object Oriented Programming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and</a:t>
            </a:r>
            <a:r>
              <a:rPr lang="en-US" dirty="0"/>
              <a:t> the file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5.2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1F5C7-6C48-A411-11B2-E7C1249B7F84}"/>
              </a:ext>
            </a:extLst>
          </p:cNvPr>
          <p:cNvSpPr txBox="1"/>
          <p:nvPr/>
        </p:nvSpPr>
        <p:spPr>
          <a:xfrm>
            <a:off x="335947" y="4426565"/>
            <a:ext cx="9693038" cy="1877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download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and text file for today’s lecture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Due Friday 11:59 PM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 released Thursday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5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5.1</a:t>
            </a:r>
          </a:p>
          <a:p>
            <a:pPr lvl="1"/>
            <a:r>
              <a:rPr lang="en-US" dirty="0"/>
              <a:t>Strings: Conversions, Indexing, Slicing, and Immutability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5.2 </a:t>
            </a:r>
          </a:p>
          <a:p>
            <a:pPr lvl="1"/>
            <a:r>
              <a:rPr lang="en-US" b="1" dirty="0"/>
              <a:t>Introduction to Object-Oriented Programming and the File Object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5.3</a:t>
            </a:r>
          </a:p>
          <a:p>
            <a:pPr lvl="1"/>
            <a:r>
              <a:rPr lang="en-GB" b="0" i="0" u="none" strike="noStrike" dirty="0">
                <a:effectLst/>
                <a:latin typeface="Lato Extended"/>
              </a:rPr>
              <a:t>Term Test 1 Review: Jeopardy!</a:t>
            </a:r>
          </a:p>
        </p:txBody>
      </p:sp>
    </p:spTree>
    <p:extLst>
      <p:ext uri="{BB962C8B-B14F-4D97-AF65-F5344CB8AC3E}">
        <p14:creationId xmlns:p14="http://schemas.microsoft.com/office/powerpoint/2010/main" val="1818929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Procedural </a:t>
            </a:r>
            <a:r>
              <a:rPr lang="en-US" b="1" dirty="0">
                <a:solidFill>
                  <a:schemeClr val="accent2"/>
                </a:solidFill>
              </a:rPr>
              <a:t>vs</a:t>
            </a:r>
            <a:r>
              <a:rPr lang="en-US" b="1" dirty="0"/>
              <a:t> 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69A56-A721-4A35-B0F5-BABF32CBF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accent6"/>
                </a:solidFill>
              </a:rPr>
              <a:t>“</a:t>
            </a:r>
            <a:r>
              <a:rPr lang="en-US" i="1" dirty="0"/>
              <a:t>Object</a:t>
            </a:r>
            <a:r>
              <a:rPr lang="en-US" i="1" dirty="0">
                <a:solidFill>
                  <a:schemeClr val="accent2"/>
                </a:solidFill>
              </a:rPr>
              <a:t>-</a:t>
            </a:r>
            <a:r>
              <a:rPr lang="en-US" i="1" dirty="0"/>
              <a:t>oriented programming </a:t>
            </a:r>
            <a:r>
              <a:rPr lang="en-US" i="1" dirty="0">
                <a:solidFill>
                  <a:schemeClr val="accent2"/>
                </a:solidFill>
              </a:rPr>
              <a:t>(</a:t>
            </a:r>
            <a:r>
              <a:rPr lang="en-US" i="1" dirty="0"/>
              <a:t>OOP</a:t>
            </a:r>
            <a:r>
              <a:rPr lang="en-US" i="1" dirty="0">
                <a:solidFill>
                  <a:schemeClr val="accent2"/>
                </a:solidFill>
              </a:rPr>
              <a:t>)</a:t>
            </a:r>
            <a:r>
              <a:rPr lang="en-US" i="1" dirty="0"/>
              <a:t> is a programming paradigm based on the concept of “objects”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which may contain data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in the form of fields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often known as attributes</a:t>
            </a:r>
            <a:r>
              <a:rPr lang="en-US" i="1" dirty="0">
                <a:solidFill>
                  <a:schemeClr val="accent2"/>
                </a:solidFill>
              </a:rPr>
              <a:t>;</a:t>
            </a:r>
            <a:r>
              <a:rPr lang="en-US" i="1" dirty="0"/>
              <a:t> and code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in the form of procedures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often known as methods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>
                <a:solidFill>
                  <a:schemeClr val="accent6"/>
                </a:solidFill>
              </a:rPr>
              <a:t>”</a:t>
            </a:r>
            <a:r>
              <a:rPr lang="en-US" i="1" dirty="0"/>
              <a:t>                       </a:t>
            </a:r>
            <a:r>
              <a:rPr lang="en-US" b="1" dirty="0">
                <a:solidFill>
                  <a:schemeClr val="accent6"/>
                </a:solidFill>
              </a:rPr>
              <a:t>— Wikipedia  </a:t>
            </a:r>
            <a:r>
              <a:rPr lang="en-US" dirty="0">
                <a:solidFill>
                  <a:schemeClr val="accent6"/>
                </a:solidFill>
              </a:rPr>
              <a:t> </a:t>
            </a:r>
          </a:p>
          <a:p>
            <a:r>
              <a:rPr lang="en-US" i="1" dirty="0">
                <a:solidFill>
                  <a:schemeClr val="accent6"/>
                </a:solidFill>
              </a:rPr>
              <a:t>“</a:t>
            </a:r>
            <a:r>
              <a:rPr lang="en-US" i="1" dirty="0"/>
              <a:t>Procedural programming is a programming paradigm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derived from structured programming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based upon the concept of the procedure call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/>
              <a:t> Procedures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also known as routines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subroutines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or functions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simply contain a series of computational steps to be carried out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>
                <a:solidFill>
                  <a:schemeClr val="accent6"/>
                </a:solidFill>
              </a:rPr>
              <a:t>”</a:t>
            </a:r>
            <a:r>
              <a:rPr lang="en-US" i="1" dirty="0"/>
              <a:t>                                                                                 </a:t>
            </a:r>
            <a:r>
              <a:rPr lang="en-US" b="1" dirty="0">
                <a:solidFill>
                  <a:schemeClr val="accent6"/>
                </a:solidFill>
              </a:rPr>
              <a:t>— Wikipedia</a:t>
            </a:r>
          </a:p>
        </p:txBody>
      </p:sp>
    </p:spTree>
    <p:extLst>
      <p:ext uri="{BB962C8B-B14F-4D97-AF65-F5344CB8AC3E}">
        <p14:creationId xmlns:p14="http://schemas.microsoft.com/office/powerpoint/2010/main" val="3667075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6DF-EAC1-4B93-BDD5-12068793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575" y="727514"/>
            <a:ext cx="5146965" cy="656148"/>
          </a:xfrm>
        </p:spPr>
        <p:txBody>
          <a:bodyPr>
            <a:normAutofit/>
          </a:bodyPr>
          <a:lstStyle/>
          <a:p>
            <a:pPr algn="ctr"/>
            <a:r>
              <a:rPr lang="en-US" sz="3100" b="1" dirty="0"/>
              <a:t>Procedural Programming</a:t>
            </a:r>
          </a:p>
        </p:txBody>
      </p:sp>
      <p:pic>
        <p:nvPicPr>
          <p:cNvPr id="1030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0D9FC449-4D6C-4FDD-AAFC-DA28BFB8CF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563582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1AD231-67C2-4090-859F-A196D49328A0}"/>
              </a:ext>
            </a:extLst>
          </p:cNvPr>
          <p:cNvSpPr/>
          <p:nvPr/>
        </p:nvSpPr>
        <p:spPr>
          <a:xfrm>
            <a:off x="2580408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2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536016-8C8C-4655-B6A2-989E2E43A3EF}"/>
              </a:ext>
            </a:extLst>
          </p:cNvPr>
          <p:cNvSpPr/>
          <p:nvPr/>
        </p:nvSpPr>
        <p:spPr>
          <a:xfrm>
            <a:off x="4597234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3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603B06-48C1-4427-9A2B-82F9DAF8DE2A}"/>
              </a:ext>
            </a:extLst>
          </p:cNvPr>
          <p:cNvSpPr/>
          <p:nvPr/>
        </p:nvSpPr>
        <p:spPr>
          <a:xfrm>
            <a:off x="1572984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Traffic Light 1 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3C60E1-0345-4487-A4D3-A341A6596153}"/>
              </a:ext>
            </a:extLst>
          </p:cNvPr>
          <p:cNvSpPr/>
          <p:nvPr/>
        </p:nvSpPr>
        <p:spPr>
          <a:xfrm>
            <a:off x="3593273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Car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x, y location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66092B-1B9C-43A4-AD04-F12DF72A56FE}"/>
              </a:ext>
            </a:extLst>
          </p:cNvPr>
          <p:cNvSpPr/>
          <p:nvPr/>
        </p:nvSpPr>
        <p:spPr>
          <a:xfrm>
            <a:off x="184696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OK to Cross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9D40AD-0319-4BA0-8601-10F47338F624}"/>
              </a:ext>
            </a:extLst>
          </p:cNvPr>
          <p:cNvSpPr/>
          <p:nvPr/>
        </p:nvSpPr>
        <p:spPr>
          <a:xfrm>
            <a:off x="2534268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Advance Position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472B88-1959-4F32-9595-CC7431CF4877}"/>
              </a:ext>
            </a:extLst>
          </p:cNvPr>
          <p:cNvSpPr/>
          <p:nvPr/>
        </p:nvSpPr>
        <p:spPr>
          <a:xfrm>
            <a:off x="4883840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in Intersection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ACFA74-CDA3-41F2-B352-4ECEC366B2DF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55" name="Arrow: Down 54">
            <a:extLst>
              <a:ext uri="{FF2B5EF4-FFF2-40B4-BE49-F238E27FC236}">
                <a16:creationId xmlns:a16="http://schemas.microsoft.com/office/drawing/2014/main" id="{0454D01B-C5E0-4871-B907-0AEC55EF35EE}"/>
              </a:ext>
            </a:extLst>
          </p:cNvPr>
          <p:cNvSpPr/>
          <p:nvPr/>
        </p:nvSpPr>
        <p:spPr>
          <a:xfrm rot="3995189">
            <a:off x="7406304" y="263101"/>
            <a:ext cx="423081" cy="23723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A76CFF-3B57-416A-8503-E7C2A01809E4}"/>
              </a:ext>
            </a:extLst>
          </p:cNvPr>
          <p:cNvSpPr txBox="1"/>
          <p:nvPr/>
        </p:nvSpPr>
        <p:spPr>
          <a:xfrm>
            <a:off x="6986411" y="783811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D53E02-EEE0-40F2-86D1-06EBF1600F75}"/>
              </a:ext>
            </a:extLst>
          </p:cNvPr>
          <p:cNvSpPr txBox="1"/>
          <p:nvPr/>
        </p:nvSpPr>
        <p:spPr>
          <a:xfrm>
            <a:off x="969250" y="4325032"/>
            <a:ext cx="5003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Separation of </a:t>
            </a:r>
            <a:r>
              <a:rPr lang="en-US" sz="2400" b="1" dirty="0">
                <a:solidFill>
                  <a:schemeClr val="accent3"/>
                </a:solidFill>
              </a:rPr>
              <a:t>Data</a:t>
            </a:r>
            <a:r>
              <a:rPr lang="en-US" sz="2400" b="1" dirty="0">
                <a:solidFill>
                  <a:srgbClr val="FFFFFF"/>
                </a:solidFill>
              </a:rPr>
              <a:t> and </a:t>
            </a:r>
            <a:r>
              <a:rPr lang="en-US" sz="2400" b="1" dirty="0">
                <a:solidFill>
                  <a:schemeClr val="accent6"/>
                </a:solidFill>
              </a:rPr>
              <a:t>Functions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FF6E95-7403-4DE0-8948-6E36F2C7EA44}"/>
              </a:ext>
            </a:extLst>
          </p:cNvPr>
          <p:cNvSpPr txBox="1"/>
          <p:nvPr/>
        </p:nvSpPr>
        <p:spPr>
          <a:xfrm>
            <a:off x="54606" y="2557387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x_ped1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y_ped1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3E4B6-9A90-446A-BE18-79B624047611}"/>
              </a:ext>
            </a:extLst>
          </p:cNvPr>
          <p:cNvSpPr txBox="1"/>
          <p:nvPr/>
        </p:nvSpPr>
        <p:spPr>
          <a:xfrm>
            <a:off x="1081014" y="3649866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traffic_light 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‘red’</a:t>
            </a:r>
          </a:p>
        </p:txBody>
      </p:sp>
    </p:spTree>
    <p:extLst>
      <p:ext uri="{BB962C8B-B14F-4D97-AF65-F5344CB8AC3E}">
        <p14:creationId xmlns:p14="http://schemas.microsoft.com/office/powerpoint/2010/main" val="3647383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48D17-47FC-4AFC-A1DF-EE18D74C0681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378886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F96ACC4-6344-43D7-A5EF-2CBAA47F501A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4412538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CC06FA-46B2-4234-AD26-9C1A549172A8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H="1" flipV="1">
            <a:off x="1466106" y="2467047"/>
            <a:ext cx="1970686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F5028B6-EA06-4E82-8FE0-FD396200BDC0}"/>
              </a:ext>
            </a:extLst>
          </p:cNvPr>
          <p:cNvCxnSpPr>
            <a:cxnSpLocks/>
            <a:stCxn id="17" idx="0"/>
            <a:endCxn id="12" idx="2"/>
          </p:cNvCxnSpPr>
          <p:nvPr/>
        </p:nvCxnSpPr>
        <p:spPr>
          <a:xfrm flipV="1">
            <a:off x="3436792" y="2467047"/>
            <a:ext cx="46140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6376EF-0655-41B9-8C69-549DFB7096CE}"/>
              </a:ext>
            </a:extLst>
          </p:cNvPr>
          <p:cNvCxnSpPr>
            <a:cxnSpLocks/>
            <a:stCxn id="17" idx="0"/>
            <a:endCxn id="13" idx="2"/>
          </p:cNvCxnSpPr>
          <p:nvPr/>
        </p:nvCxnSpPr>
        <p:spPr>
          <a:xfrm flipV="1">
            <a:off x="3436792" y="2467047"/>
            <a:ext cx="2062966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352344C-048E-4BC9-BD01-F51FE6BA8B77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1087220" y="3559577"/>
            <a:ext cx="1388288" cy="199257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A11B7C-8854-4FB8-9DEC-C664443BE768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2395712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E9C16DF-EAC1-4B93-BDD5-12068793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575" y="727514"/>
            <a:ext cx="5146965" cy="656148"/>
          </a:xfrm>
        </p:spPr>
        <p:txBody>
          <a:bodyPr>
            <a:normAutofit/>
          </a:bodyPr>
          <a:lstStyle/>
          <a:p>
            <a:pPr algn="ctr"/>
            <a:r>
              <a:rPr lang="en-US" sz="3100" b="1" dirty="0"/>
              <a:t>Procedural Programming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563582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1AD231-67C2-4090-859F-A196D49328A0}"/>
              </a:ext>
            </a:extLst>
          </p:cNvPr>
          <p:cNvSpPr/>
          <p:nvPr/>
        </p:nvSpPr>
        <p:spPr>
          <a:xfrm>
            <a:off x="2580408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2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536016-8C8C-4655-B6A2-989E2E43A3EF}"/>
              </a:ext>
            </a:extLst>
          </p:cNvPr>
          <p:cNvSpPr/>
          <p:nvPr/>
        </p:nvSpPr>
        <p:spPr>
          <a:xfrm>
            <a:off x="4597234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3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603B06-48C1-4427-9A2B-82F9DAF8DE2A}"/>
              </a:ext>
            </a:extLst>
          </p:cNvPr>
          <p:cNvSpPr/>
          <p:nvPr/>
        </p:nvSpPr>
        <p:spPr>
          <a:xfrm>
            <a:off x="1572984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Traffic Light 1 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3C60E1-0345-4487-A4D3-A341A6596153}"/>
              </a:ext>
            </a:extLst>
          </p:cNvPr>
          <p:cNvSpPr/>
          <p:nvPr/>
        </p:nvSpPr>
        <p:spPr>
          <a:xfrm>
            <a:off x="3593273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Car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x, y location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66092B-1B9C-43A4-AD04-F12DF72A56FE}"/>
              </a:ext>
            </a:extLst>
          </p:cNvPr>
          <p:cNvSpPr/>
          <p:nvPr/>
        </p:nvSpPr>
        <p:spPr>
          <a:xfrm>
            <a:off x="184696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OK to Cross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9D40AD-0319-4BA0-8601-10F47338F624}"/>
              </a:ext>
            </a:extLst>
          </p:cNvPr>
          <p:cNvSpPr/>
          <p:nvPr/>
        </p:nvSpPr>
        <p:spPr>
          <a:xfrm>
            <a:off x="2534268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Advance Position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472B88-1959-4F32-9595-CC7431CF4877}"/>
              </a:ext>
            </a:extLst>
          </p:cNvPr>
          <p:cNvSpPr/>
          <p:nvPr/>
        </p:nvSpPr>
        <p:spPr>
          <a:xfrm>
            <a:off x="4883840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in Intersection</a:t>
            </a:r>
          </a:p>
        </p:txBody>
      </p:sp>
      <p:pic>
        <p:nvPicPr>
          <p:cNvPr id="27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169141F7-340D-4C3B-A84D-F3ADE9D49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6ED3751-3474-4DAE-A378-42459C1C7CD1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1C0B46A9-832E-4D50-A97C-AC9492805ECB}"/>
              </a:ext>
            </a:extLst>
          </p:cNvPr>
          <p:cNvSpPr/>
          <p:nvPr/>
        </p:nvSpPr>
        <p:spPr>
          <a:xfrm rot="3995189">
            <a:off x="7406304" y="263101"/>
            <a:ext cx="423081" cy="23723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D09675-12CF-4398-A2B3-37A9A2E8F9C2}"/>
              </a:ext>
            </a:extLst>
          </p:cNvPr>
          <p:cNvSpPr txBox="1"/>
          <p:nvPr/>
        </p:nvSpPr>
        <p:spPr>
          <a:xfrm>
            <a:off x="6986411" y="783811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517AC-8245-40B4-B14B-42C10D65F167}"/>
              </a:ext>
            </a:extLst>
          </p:cNvPr>
          <p:cNvSpPr txBox="1"/>
          <p:nvPr/>
        </p:nvSpPr>
        <p:spPr>
          <a:xfrm>
            <a:off x="489027" y="382493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input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441D5E-9EA4-46A5-95D2-FF33F17F9AED}"/>
              </a:ext>
            </a:extLst>
          </p:cNvPr>
          <p:cNvSpPr txBox="1"/>
          <p:nvPr/>
        </p:nvSpPr>
        <p:spPr>
          <a:xfrm>
            <a:off x="4020962" y="4577501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5050"/>
                </a:solidFill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534008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482409" y="1873036"/>
            <a:ext cx="2657290" cy="1302443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Car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Pedestrian in Intersection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8E359DE-2859-4B17-8BB2-DEDE363D1550}"/>
              </a:ext>
            </a:extLst>
          </p:cNvPr>
          <p:cNvSpPr txBox="1">
            <a:spLocks/>
          </p:cNvSpPr>
          <p:nvPr/>
        </p:nvSpPr>
        <p:spPr>
          <a:xfrm>
            <a:off x="663351" y="727514"/>
            <a:ext cx="5859844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00" b="1" dirty="0"/>
              <a:t>Object</a:t>
            </a:r>
            <a:r>
              <a:rPr lang="en-US" sz="3100" b="1" dirty="0">
                <a:solidFill>
                  <a:schemeClr val="accent2"/>
                </a:solidFill>
              </a:rPr>
              <a:t>-</a:t>
            </a:r>
            <a:r>
              <a:rPr lang="en-US" sz="3100" b="1" dirty="0"/>
              <a:t>Oriented Programming</a:t>
            </a:r>
          </a:p>
        </p:txBody>
      </p:sp>
      <p:pic>
        <p:nvPicPr>
          <p:cNvPr id="20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AAE781A1-8250-4184-922E-BEB5C75A4A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BD596FA-A75B-48B1-8949-0DE7980134E9}"/>
              </a:ext>
            </a:extLst>
          </p:cNvPr>
          <p:cNvSpPr txBox="1"/>
          <p:nvPr/>
        </p:nvSpPr>
        <p:spPr>
          <a:xfrm>
            <a:off x="519600" y="3551306"/>
            <a:ext cx="22168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Encapsulation of </a:t>
            </a:r>
            <a:r>
              <a:rPr lang="en-US" sz="2400" b="1" dirty="0">
                <a:solidFill>
                  <a:schemeClr val="accent3"/>
                </a:solidFill>
              </a:rPr>
              <a:t>Data</a:t>
            </a:r>
            <a:r>
              <a:rPr lang="en-US" sz="2400" b="1" dirty="0">
                <a:solidFill>
                  <a:srgbClr val="FFFFFF"/>
                </a:solidFill>
              </a:rPr>
              <a:t> and </a:t>
            </a:r>
            <a:r>
              <a:rPr lang="en-US" sz="2400" b="1" dirty="0">
                <a:solidFill>
                  <a:schemeClr val="accent6"/>
                </a:solidFill>
              </a:rPr>
              <a:t>Functions</a:t>
            </a:r>
            <a:r>
              <a:rPr lang="en-US" sz="2400" b="1" dirty="0">
                <a:solidFill>
                  <a:srgbClr val="FFFFFF"/>
                </a:solidFill>
              </a:rPr>
              <a:t>, like real life!</a:t>
            </a:r>
            <a:endParaRPr lang="en-US" sz="2400" b="1" dirty="0">
              <a:solidFill>
                <a:schemeClr val="accent6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9D34-66DD-42AD-99FA-D0981DA6B10F}"/>
              </a:ext>
            </a:extLst>
          </p:cNvPr>
          <p:cNvSpPr/>
          <p:nvPr/>
        </p:nvSpPr>
        <p:spPr>
          <a:xfrm>
            <a:off x="4031964" y="2366473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Traffic Light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Color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Change Color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254CE6-5376-45E9-A055-7D290E4E73A6}"/>
              </a:ext>
            </a:extLst>
          </p:cNvPr>
          <p:cNvSpPr/>
          <p:nvPr/>
        </p:nvSpPr>
        <p:spPr>
          <a:xfrm>
            <a:off x="3295320" y="4005632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Pedestrian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Ok to Cross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36FE8F-3C6B-4AF9-BAC5-0EEEE08B94E7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27F3CE67-C35B-4958-A00F-146F9AE716B3}"/>
              </a:ext>
            </a:extLst>
          </p:cNvPr>
          <p:cNvSpPr/>
          <p:nvPr/>
        </p:nvSpPr>
        <p:spPr>
          <a:xfrm rot="3371865">
            <a:off x="7549109" y="514339"/>
            <a:ext cx="423081" cy="22954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E0B83C-B106-47BF-A47F-1B668E4AABAE}"/>
              </a:ext>
            </a:extLst>
          </p:cNvPr>
          <p:cNvSpPr txBox="1"/>
          <p:nvPr/>
        </p:nvSpPr>
        <p:spPr>
          <a:xfrm>
            <a:off x="7083200" y="1018827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2383E88F-E4FB-4324-8B2F-201FB593CA02}"/>
              </a:ext>
            </a:extLst>
          </p:cNvPr>
          <p:cNvSpPr/>
          <p:nvPr/>
        </p:nvSpPr>
        <p:spPr>
          <a:xfrm>
            <a:off x="3338133" y="2653931"/>
            <a:ext cx="493149" cy="241741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1FDF67FD-5C7A-4273-84A1-88A031A5497D}"/>
              </a:ext>
            </a:extLst>
          </p:cNvPr>
          <p:cNvSpPr/>
          <p:nvPr/>
        </p:nvSpPr>
        <p:spPr>
          <a:xfrm rot="5400000">
            <a:off x="4843384" y="3647009"/>
            <a:ext cx="316073" cy="241717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Left-Right 33">
            <a:extLst>
              <a:ext uri="{FF2B5EF4-FFF2-40B4-BE49-F238E27FC236}">
                <a16:creationId xmlns:a16="http://schemas.microsoft.com/office/drawing/2014/main" id="{C309A414-3185-A63A-EF75-39BC5E03BEF4}"/>
              </a:ext>
            </a:extLst>
          </p:cNvPr>
          <p:cNvSpPr/>
          <p:nvPr/>
        </p:nvSpPr>
        <p:spPr>
          <a:xfrm rot="2548584">
            <a:off x="2630188" y="3482298"/>
            <a:ext cx="790198" cy="290045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36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 Programming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69A56-A721-4A35-B0F5-BABF32CBF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216487" cy="4835479"/>
          </a:xfrm>
        </p:spPr>
        <p:txBody>
          <a:bodyPr>
            <a:normAutofit/>
          </a:bodyPr>
          <a:lstStyle/>
          <a:p>
            <a:r>
              <a:rPr lang="en-US" dirty="0"/>
              <a:t>Often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an object definition corresponds to some object or concept in the real world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The functions that operate on that object correspond to the ways real</a:t>
            </a:r>
            <a:r>
              <a:rPr lang="en-US" dirty="0">
                <a:solidFill>
                  <a:schemeClr val="accent2"/>
                </a:solidFill>
              </a:rPr>
              <a:t>-­</a:t>
            </a:r>
            <a:r>
              <a:rPr lang="en-US" dirty="0"/>
              <a:t>world objects interact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sz="2400" dirty="0"/>
          </a:p>
          <a:p>
            <a:r>
              <a:rPr lang="en-US" sz="2400" dirty="0"/>
              <a:t>Models </a:t>
            </a:r>
            <a:r>
              <a:rPr lang="en-CA" sz="2400" dirty="0"/>
              <a:t>our real-life thinking </a:t>
            </a:r>
          </a:p>
          <a:p>
            <a:pPr lvl="1"/>
            <a:r>
              <a:rPr lang="en-CA" dirty="0"/>
              <a:t>Sandwich – </a:t>
            </a:r>
            <a:r>
              <a:rPr lang="en-CA" dirty="0">
                <a:solidFill>
                  <a:srgbClr val="00B0F0"/>
                </a:solidFill>
              </a:rPr>
              <a:t>ingredients,  freshness, </a:t>
            </a:r>
            <a:r>
              <a:rPr lang="en-CA" dirty="0"/>
              <a:t>etc. </a:t>
            </a:r>
          </a:p>
          <a:p>
            <a:pPr lvl="1"/>
            <a:r>
              <a:rPr lang="en-CA" dirty="0"/>
              <a:t>Car – </a:t>
            </a:r>
            <a:r>
              <a:rPr lang="en-CA" dirty="0">
                <a:solidFill>
                  <a:srgbClr val="00B0F0"/>
                </a:solidFill>
              </a:rPr>
              <a:t>model, year, fuel level, </a:t>
            </a:r>
            <a:r>
              <a:rPr lang="en-CA" dirty="0">
                <a:solidFill>
                  <a:schemeClr val="accent6"/>
                </a:solidFill>
              </a:rPr>
              <a:t>forward, reverse </a:t>
            </a:r>
            <a:r>
              <a:rPr lang="en-CA" dirty="0"/>
              <a:t>etc. </a:t>
            </a:r>
          </a:p>
          <a:p>
            <a:pPr lvl="1"/>
            <a:r>
              <a:rPr lang="en-CA" dirty="0"/>
              <a:t>Cat – </a:t>
            </a:r>
            <a:r>
              <a:rPr lang="en-CA" dirty="0">
                <a:solidFill>
                  <a:srgbClr val="00B0F0"/>
                </a:solidFill>
              </a:rPr>
              <a:t>weight, name, colour, </a:t>
            </a:r>
            <a:r>
              <a:rPr lang="en-CA" dirty="0">
                <a:solidFill>
                  <a:schemeClr val="accent6"/>
                </a:solidFill>
              </a:rPr>
              <a:t>scratch, meow, sleep,</a:t>
            </a:r>
            <a:r>
              <a:rPr lang="en-CA" dirty="0"/>
              <a:t> etc.</a:t>
            </a:r>
          </a:p>
          <a:p>
            <a:pPr lvl="1"/>
            <a:r>
              <a:rPr lang="en-US" dirty="0"/>
              <a:t>Turtle Object – </a:t>
            </a:r>
            <a:r>
              <a:rPr lang="en-US" dirty="0" err="1">
                <a:solidFill>
                  <a:srgbClr val="00B0F0"/>
                </a:solidFill>
              </a:rPr>
              <a:t>x_position</a:t>
            </a:r>
            <a:r>
              <a:rPr lang="en-US" dirty="0">
                <a:solidFill>
                  <a:srgbClr val="00B0F0"/>
                </a:solidFill>
              </a:rPr>
              <a:t>, </a:t>
            </a:r>
            <a:r>
              <a:rPr lang="en-US" dirty="0" err="1">
                <a:solidFill>
                  <a:srgbClr val="00B0F0"/>
                </a:solidFill>
              </a:rPr>
              <a:t>y_position</a:t>
            </a:r>
            <a:r>
              <a:rPr lang="en-US" dirty="0">
                <a:solidFill>
                  <a:srgbClr val="00B0F0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forward, up, left</a:t>
            </a:r>
            <a:r>
              <a:rPr lang="en-US" dirty="0"/>
              <a:t>, etc.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578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C12C87E-58E9-4624-8985-A62E8C7BA528}"/>
              </a:ext>
            </a:extLst>
          </p:cNvPr>
          <p:cNvSpPr txBox="1"/>
          <p:nvPr/>
        </p:nvSpPr>
        <p:spPr>
          <a:xfrm>
            <a:off x="7313657" y="2250572"/>
            <a:ext cx="292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Object</a:t>
            </a:r>
            <a:r>
              <a:rPr lang="en-US" sz="2800" b="1" dirty="0">
                <a:solidFill>
                  <a:schemeClr val="accent1"/>
                </a:solidFill>
              </a:rPr>
              <a:t>-</a:t>
            </a:r>
            <a:r>
              <a:rPr lang="en-US" sz="2800" b="1" dirty="0">
                <a:solidFill>
                  <a:srgbClr val="FFFFFF"/>
                </a:solidFill>
              </a:rPr>
              <a:t>Oriented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52E65-141C-4542-8B87-484193F9CEB5}"/>
              </a:ext>
            </a:extLst>
          </p:cNvPr>
          <p:cNvSpPr txBox="1"/>
          <p:nvPr/>
        </p:nvSpPr>
        <p:spPr>
          <a:xfrm>
            <a:off x="343817" y="3041097"/>
            <a:ext cx="60441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</a:t>
            </a:r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alex_y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</a:t>
            </a:r>
            <a:r>
              <a:rPr lang="en-US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alex_x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alex_y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 Programming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EA1C7D-266C-4AA9-9895-3D314D41A9B1}"/>
              </a:ext>
            </a:extLst>
          </p:cNvPr>
          <p:cNvSpPr txBox="1"/>
          <p:nvPr/>
        </p:nvSpPr>
        <p:spPr>
          <a:xfrm>
            <a:off x="7313657" y="3046544"/>
            <a:ext cx="405591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right()</a:t>
            </a:r>
          </a:p>
          <a:p>
            <a:endParaRPr lang="en-US" sz="24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print(alex.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4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170A-0181-48B6-BBA3-18BA8D6E820E}"/>
              </a:ext>
            </a:extLst>
          </p:cNvPr>
          <p:cNvSpPr txBox="1"/>
          <p:nvPr/>
        </p:nvSpPr>
        <p:spPr>
          <a:xfrm>
            <a:off x="343817" y="2250572"/>
            <a:ext cx="20138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Procedural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A034C4-4D22-4BD1-BCEB-FDF7F0DB3216}"/>
              </a:ext>
            </a:extLst>
          </p:cNvPr>
          <p:cNvSpPr txBox="1"/>
          <p:nvPr/>
        </p:nvSpPr>
        <p:spPr>
          <a:xfrm>
            <a:off x="9288380" y="822163"/>
            <a:ext cx="24214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2"/>
                </a:solidFill>
              </a:rPr>
              <a:t>Data</a:t>
            </a:r>
          </a:p>
          <a:p>
            <a:pPr algn="r"/>
            <a:r>
              <a:rPr lang="en-US" sz="3600" b="1" dirty="0">
                <a:solidFill>
                  <a:schemeClr val="accent6"/>
                </a:solidFill>
              </a:rPr>
              <a:t>Functions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41E211-BE94-4FBB-8180-A5E4F1ACEE48}"/>
              </a:ext>
            </a:extLst>
          </p:cNvPr>
          <p:cNvSpPr txBox="1"/>
          <p:nvPr/>
        </p:nvSpPr>
        <p:spPr>
          <a:xfrm>
            <a:off x="2888775" y="1619630"/>
            <a:ext cx="335540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+ 1</a:t>
            </a:r>
          </a:p>
          <a:p>
            <a:endParaRPr lang="en-US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x_new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y_new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x_new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y_new</a:t>
            </a:r>
          </a:p>
          <a:p>
            <a:endParaRPr lang="en-US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+ 1</a:t>
            </a:r>
          </a:p>
        </p:txBody>
      </p:sp>
    </p:spTree>
    <p:extLst>
      <p:ext uri="{BB962C8B-B14F-4D97-AF65-F5344CB8AC3E}">
        <p14:creationId xmlns:p14="http://schemas.microsoft.com/office/powerpoint/2010/main" val="183134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7CC1-D7F1-42A0-8819-3480C348A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56654-C654-4B34-A855-B185C5D63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897573" cy="4835479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6"/>
                </a:solidFill>
              </a:rPr>
              <a:t>Everything in Python is an object</a:t>
            </a:r>
            <a:r>
              <a:rPr lang="en-US" sz="3200" b="1" dirty="0">
                <a:solidFill>
                  <a:schemeClr val="accent2"/>
                </a:solidFill>
              </a:rPr>
              <a:t>.</a:t>
            </a:r>
            <a:r>
              <a:rPr lang="en-US" sz="3200" b="1" dirty="0"/>
              <a:t> </a:t>
            </a:r>
          </a:p>
          <a:p>
            <a:r>
              <a:rPr lang="en-US" sz="3200" dirty="0"/>
              <a:t>Every value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variable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function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etc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is an object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  <a:r>
              <a:rPr lang="en-US" sz="3200" dirty="0"/>
              <a:t> </a:t>
            </a:r>
          </a:p>
          <a:p>
            <a:r>
              <a:rPr lang="en-US" sz="3200" dirty="0"/>
              <a:t>Every time we create a variable we are making a new object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CA561-1B0A-403D-89AC-AAC2B8685927}"/>
              </a:ext>
            </a:extLst>
          </p:cNvPr>
          <p:cNvSpPr txBox="1"/>
          <p:nvPr/>
        </p:nvSpPr>
        <p:spPr>
          <a:xfrm>
            <a:off x="4735773" y="1825624"/>
            <a:ext cx="741983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“Hello”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533A-8E7A-405F-A8D6-FC467895066E}"/>
              </a:ext>
            </a:extLst>
          </p:cNvPr>
          <p:cNvSpPr txBox="1"/>
          <p:nvPr/>
        </p:nvSpPr>
        <p:spPr>
          <a:xfrm>
            <a:off x="7560583" y="472833"/>
            <a:ext cx="38721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Is </a:t>
            </a:r>
            <a:r>
              <a:rPr lang="en-US" sz="3200" b="1" dirty="0">
                <a:solidFill>
                  <a:schemeClr val="accent2"/>
                </a:solidFill>
              </a:rPr>
              <a:t>this</a:t>
            </a:r>
            <a:r>
              <a:rPr lang="en-US" sz="3200" dirty="0">
                <a:solidFill>
                  <a:srgbClr val="FFFFFF"/>
                </a:solidFill>
              </a:rPr>
              <a:t> an instance </a:t>
            </a:r>
          </a:p>
          <a:p>
            <a:r>
              <a:rPr lang="en-US" sz="3200" dirty="0">
                <a:solidFill>
                  <a:srgbClr val="FFFFFF"/>
                </a:solidFill>
              </a:rPr>
              <a:t>             of </a:t>
            </a:r>
            <a:r>
              <a:rPr lang="en-US" sz="3200" b="1" dirty="0">
                <a:solidFill>
                  <a:schemeClr val="accent6"/>
                </a:solidFill>
              </a:rPr>
              <a:t>this </a:t>
            </a:r>
            <a:r>
              <a:rPr lang="en-US" sz="3200" dirty="0">
                <a:solidFill>
                  <a:srgbClr val="FFFFFF"/>
                </a:solidFill>
              </a:rPr>
              <a:t>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356B3C0E-ED5D-4BCE-9F74-0D095CADE14D}"/>
              </a:ext>
            </a:extLst>
          </p:cNvPr>
          <p:cNvSpPr/>
          <p:nvPr/>
        </p:nvSpPr>
        <p:spPr>
          <a:xfrm>
            <a:off x="8216528" y="1050878"/>
            <a:ext cx="354842" cy="877928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1DB3C0D-9EB1-4FBE-A0A0-BE78B218E2E6}"/>
              </a:ext>
            </a:extLst>
          </p:cNvPr>
          <p:cNvSpPr/>
          <p:nvPr/>
        </p:nvSpPr>
        <p:spPr>
          <a:xfrm>
            <a:off x="9761180" y="1548199"/>
            <a:ext cx="354842" cy="380608"/>
          </a:xfrm>
          <a:prstGeom prst="down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80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72230-213B-4739-9CB7-F95D1CD1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53152" cy="4835479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A template or blueprint for object types</a:t>
            </a:r>
          </a:p>
          <a:p>
            <a:r>
              <a:rPr lang="en-US" sz="3200" dirty="0"/>
              <a:t>An instance of a class refers to one object whose type is defined as the 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The words 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instance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 and 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object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 are used interchangeably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A </a:t>
            </a:r>
            <a:r>
              <a:rPr lang="en-US" sz="3200" dirty="0">
                <a:solidFill>
                  <a:schemeClr val="accent6"/>
                </a:solidFill>
              </a:rPr>
              <a:t>Class</a:t>
            </a:r>
            <a:r>
              <a:rPr lang="en-US" sz="3200" dirty="0"/>
              <a:t> is made up of attributes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data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/>
              <a:t>and methods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functions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24DF9-86FB-4920-B349-335058981718}"/>
              </a:ext>
            </a:extLst>
          </p:cNvPr>
          <p:cNvSpPr txBox="1"/>
          <p:nvPr/>
        </p:nvSpPr>
        <p:spPr>
          <a:xfrm>
            <a:off x="5701108" y="4997669"/>
            <a:ext cx="1818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Functions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3AD253-F30E-41A5-90B8-1F2E58E9169A}"/>
              </a:ext>
            </a:extLst>
          </p:cNvPr>
          <p:cNvCxnSpPr/>
          <p:nvPr/>
        </p:nvCxnSpPr>
        <p:spPr>
          <a:xfrm>
            <a:off x="7630506" y="5352392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7597EA-4B96-4938-8BC8-B2AB2986B68A}"/>
              </a:ext>
            </a:extLst>
          </p:cNvPr>
          <p:cNvCxnSpPr/>
          <p:nvPr/>
        </p:nvCxnSpPr>
        <p:spPr>
          <a:xfrm>
            <a:off x="7630505" y="2927119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C0CD4A-A4AE-405E-9A81-932093C55D33}"/>
              </a:ext>
            </a:extLst>
          </p:cNvPr>
          <p:cNvSpPr txBox="1"/>
          <p:nvPr/>
        </p:nvSpPr>
        <p:spPr>
          <a:xfrm>
            <a:off x="6539651" y="2579798"/>
            <a:ext cx="976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D9A07-5658-446E-8B1E-5EFC2E19E3EF}"/>
              </a:ext>
            </a:extLst>
          </p:cNvPr>
          <p:cNvSpPr txBox="1"/>
          <p:nvPr/>
        </p:nvSpPr>
        <p:spPr>
          <a:xfrm>
            <a:off x="5089241" y="5608908"/>
            <a:ext cx="29546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str.upper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(‘hello’)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hello’.upper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96876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age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city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gender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eat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study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sleep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play</a:t>
            </a:r>
          </a:p>
        </p:txBody>
      </p:sp>
      <p:pic>
        <p:nvPicPr>
          <p:cNvPr id="2052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21564951-FDB3-4C85-B75B-8BF4D40158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95FA9263-A69C-446B-AFD5-AE72A76FD8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94" t="66665"/>
          <a:stretch/>
        </p:blipFill>
        <p:spPr bwMode="auto">
          <a:xfrm>
            <a:off x="4968599" y="220439"/>
            <a:ext cx="2721845" cy="2795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B4A46116-4CA4-4928-90E5-8FBBA492F7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161" b="66899"/>
          <a:stretch/>
        </p:blipFill>
        <p:spPr bwMode="auto">
          <a:xfrm>
            <a:off x="2719533" y="2546992"/>
            <a:ext cx="2840809" cy="277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512358" y="3753534"/>
            <a:ext cx="24860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June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Ottawa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she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her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0413-2C42-4459-81FD-A632536C545D}"/>
              </a:ext>
            </a:extLst>
          </p:cNvPr>
          <p:cNvSpPr txBox="1"/>
          <p:nvPr/>
        </p:nvSpPr>
        <p:spPr>
          <a:xfrm>
            <a:off x="3413791" y="4949185"/>
            <a:ext cx="24331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Ted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31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Kingston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he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him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767E2-4D42-44C6-99F0-953B5BD92191}"/>
              </a:ext>
            </a:extLst>
          </p:cNvPr>
          <p:cNvSpPr txBox="1"/>
          <p:nvPr/>
        </p:nvSpPr>
        <p:spPr>
          <a:xfrm>
            <a:off x="5429190" y="2621184"/>
            <a:ext cx="29172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Majid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28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Toronto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they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them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Person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148000" cy="56586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69069" y="1939159"/>
            <a:ext cx="891799" cy="30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363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Car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company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year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brake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accelerate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open trunk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103128" y="3981449"/>
            <a:ext cx="26500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Corolla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Toyota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1980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Car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2325414" y="2230821"/>
            <a:ext cx="577214" cy="18130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211062" cy="134947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154214" y="1573113"/>
            <a:ext cx="1113599" cy="7438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6" name="Picture 8">
            <a:extLst>
              <a:ext uri="{FF2B5EF4-FFF2-40B4-BE49-F238E27FC236}">
                <a16:creationId xmlns:a16="http://schemas.microsoft.com/office/drawing/2014/main" id="{9579396F-B932-4BC6-B6F9-47A2C5CC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01" y="2355418"/>
            <a:ext cx="2507096" cy="1569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Blue Car Clip Art at Clker.com - vector clip art online, royalty free &amp;amp;  public domain">
            <a:extLst>
              <a:ext uri="{FF2B5EF4-FFF2-40B4-BE49-F238E27FC236}">
                <a16:creationId xmlns:a16="http://schemas.microsoft.com/office/drawing/2014/main" id="{7C41D54A-752A-4240-83EB-AD12C1784B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189" y="769300"/>
            <a:ext cx="2857500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Vw Bulli Camping Bus - Free photo on Pixabay">
            <a:extLst>
              <a:ext uri="{FF2B5EF4-FFF2-40B4-BE49-F238E27FC236}">
                <a16:creationId xmlns:a16="http://schemas.microsoft.com/office/drawing/2014/main" id="{A6B57B64-A693-4C30-9454-2A0292174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193" y="3625682"/>
            <a:ext cx="2913341" cy="141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78DFABA-DB9C-4E04-AF4E-E3D21148E276}"/>
              </a:ext>
            </a:extLst>
          </p:cNvPr>
          <p:cNvSpPr txBox="1"/>
          <p:nvPr/>
        </p:nvSpPr>
        <p:spPr>
          <a:xfrm>
            <a:off x="2967193" y="5039865"/>
            <a:ext cx="3394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Bus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Volkswagen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1976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orange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1A1814-97B9-4709-AB10-B7835AB25339}"/>
              </a:ext>
            </a:extLst>
          </p:cNvPr>
          <p:cNvSpPr txBox="1"/>
          <p:nvPr/>
        </p:nvSpPr>
        <p:spPr>
          <a:xfrm>
            <a:off x="5267813" y="1995119"/>
            <a:ext cx="245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Model S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Tesla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2017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blue</a:t>
            </a:r>
          </a:p>
        </p:txBody>
      </p:sp>
    </p:spTree>
    <p:extLst>
      <p:ext uri="{BB962C8B-B14F-4D97-AF65-F5344CB8AC3E}">
        <p14:creationId xmlns:p14="http://schemas.microsoft.com/office/powerpoint/2010/main" val="2897085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Turtle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x location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 location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up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down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left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right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go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Lucy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Turtle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357991" cy="128641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84836" y="1900400"/>
            <a:ext cx="567896" cy="9393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4" descr="Turtle Icon | Flat Animal Iconset | Martin Berube">
            <a:extLst>
              <a:ext uri="{FF2B5EF4-FFF2-40B4-BE49-F238E27FC236}">
                <a16:creationId xmlns:a16="http://schemas.microsoft.com/office/drawing/2014/main" id="{19A45DBA-CA07-4587-A544-44A07E250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3" y="2139683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717F4A0-7A32-4E9C-BB4C-B5B66B5A7CDC}"/>
              </a:ext>
            </a:extLst>
          </p:cNvPr>
          <p:cNvSpPr txBox="1"/>
          <p:nvPr/>
        </p:nvSpPr>
        <p:spPr>
          <a:xfrm>
            <a:off x="3493860" y="5083237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Brian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92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35ABC-9113-455C-8FEC-668263C58E33}"/>
              </a:ext>
            </a:extLst>
          </p:cNvPr>
          <p:cNvSpPr txBox="1"/>
          <p:nvPr/>
        </p:nvSpPr>
        <p:spPr>
          <a:xfrm>
            <a:off x="5352732" y="2476743"/>
            <a:ext cx="23823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Vinodh</a:t>
            </a:r>
            <a:endParaRPr lang="en-US" sz="2400" b="1" dirty="0">
              <a:solidFill>
                <a:srgbClr val="FFFFFF"/>
              </a:solidFill>
            </a:endParaRP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45</a:t>
            </a:r>
          </a:p>
        </p:txBody>
      </p:sp>
      <p:pic>
        <p:nvPicPr>
          <p:cNvPr id="24" name="Picture 4" descr="Turtle Icon | Flat Animal Iconset | Martin Berube">
            <a:extLst>
              <a:ext uri="{FF2B5EF4-FFF2-40B4-BE49-F238E27FC236}">
                <a16:creationId xmlns:a16="http://schemas.microsoft.com/office/drawing/2014/main" id="{7423E3E2-12CB-4F83-8A4E-FE9A5CAC6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258" y="332717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Turtle Icon | Flat Animal Iconset | Martin Berube">
            <a:extLst>
              <a:ext uri="{FF2B5EF4-FFF2-40B4-BE49-F238E27FC236}">
                <a16:creationId xmlns:a16="http://schemas.microsoft.com/office/drawing/2014/main" id="{46407452-9151-421B-9150-A5013E4B5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0997" y="719865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856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1703-5E68-6BC4-5177-0B13147F7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68B75-0213-C20C-AC1C-93DE385ED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605" y="801507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We’ve already been using objects!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7236791-53B7-1432-CD4A-CEC8F0192FFA}"/>
              </a:ext>
            </a:extLst>
          </p:cNvPr>
          <p:cNvSpPr/>
          <p:nvPr/>
        </p:nvSpPr>
        <p:spPr>
          <a:xfrm>
            <a:off x="8525668" y="792331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math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AD0C643-64A0-4360-6B3B-170F7E5A6602}"/>
              </a:ext>
            </a:extLst>
          </p:cNvPr>
          <p:cNvSpPr/>
          <p:nvPr/>
        </p:nvSpPr>
        <p:spPr>
          <a:xfrm>
            <a:off x="8525667" y="1758490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pi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inf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EF5D3-346D-F14A-CC25-6D36BD4A033F}"/>
              </a:ext>
            </a:extLst>
          </p:cNvPr>
          <p:cNvSpPr/>
          <p:nvPr/>
        </p:nvSpPr>
        <p:spPr>
          <a:xfrm>
            <a:off x="8525667" y="3994584"/>
            <a:ext cx="3153103" cy="265304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factorial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ceil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floor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isfinite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log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…</a:t>
            </a:r>
          </a:p>
        </p:txBody>
      </p:sp>
      <p:sp>
        <p:nvSpPr>
          <p:cNvPr id="3" name="Rectangle: Rounded Corners 3">
            <a:extLst>
              <a:ext uri="{FF2B5EF4-FFF2-40B4-BE49-F238E27FC236}">
                <a16:creationId xmlns:a16="http://schemas.microsoft.com/office/drawing/2014/main" id="{988F96C2-80D0-E9F8-567B-7AC00EF1F020}"/>
              </a:ext>
            </a:extLst>
          </p:cNvPr>
          <p:cNvSpPr/>
          <p:nvPr/>
        </p:nvSpPr>
        <p:spPr>
          <a:xfrm>
            <a:off x="5116042" y="1590822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string</a:t>
            </a:r>
          </a:p>
        </p:txBody>
      </p:sp>
      <p:sp>
        <p:nvSpPr>
          <p:cNvPr id="8" name="Rectangle: Rounded Corners 6">
            <a:extLst>
              <a:ext uri="{FF2B5EF4-FFF2-40B4-BE49-F238E27FC236}">
                <a16:creationId xmlns:a16="http://schemas.microsoft.com/office/drawing/2014/main" id="{F453D7BA-ABF3-117B-78F4-A680CE8ABCD2}"/>
              </a:ext>
            </a:extLst>
          </p:cNvPr>
          <p:cNvSpPr/>
          <p:nvPr/>
        </p:nvSpPr>
        <p:spPr>
          <a:xfrm>
            <a:off x="5116041" y="2539594"/>
            <a:ext cx="3153103" cy="410803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replace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find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rfind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upper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isupper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islower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capitalize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count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…</a:t>
            </a: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DD3B5168-B82B-970D-E425-3393ED4AE7A1}"/>
              </a:ext>
            </a:extLst>
          </p:cNvPr>
          <p:cNvSpPr/>
          <p:nvPr/>
        </p:nvSpPr>
        <p:spPr>
          <a:xfrm>
            <a:off x="1706415" y="1604922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integer</a:t>
            </a:r>
          </a:p>
        </p:txBody>
      </p: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B45BB3E5-3B79-04E3-6D84-6E3E87EA1B02}"/>
              </a:ext>
            </a:extLst>
          </p:cNvPr>
          <p:cNvSpPr/>
          <p:nvPr/>
        </p:nvSpPr>
        <p:spPr>
          <a:xfrm>
            <a:off x="1706415" y="2539595"/>
            <a:ext cx="3153103" cy="2884544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is_integer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as_integer_ratio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to_bytes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from_bytes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bit_count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77753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filename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 (ex: read or write)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83175"/>
            <a:ext cx="3153103" cy="2403139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readline</a:t>
            </a:r>
            <a:endParaRPr lang="en-US" sz="2800" b="1" dirty="0">
              <a:solidFill>
                <a:srgbClr val="FFFFFF"/>
              </a:solidFill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write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close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2701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bills.txt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append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file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290754" cy="115469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84836" y="1900400"/>
            <a:ext cx="483288" cy="5664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17F4A0-7A32-4E9C-BB4C-B5B66B5A7CDC}"/>
              </a:ext>
            </a:extLst>
          </p:cNvPr>
          <p:cNvSpPr txBox="1"/>
          <p:nvPr/>
        </p:nvSpPr>
        <p:spPr>
          <a:xfrm>
            <a:off x="3493860" y="5083237"/>
            <a:ext cx="2620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grades.txt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read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35ABC-9113-455C-8FEC-668263C58E33}"/>
              </a:ext>
            </a:extLst>
          </p:cNvPr>
          <p:cNvSpPr txBox="1"/>
          <p:nvPr/>
        </p:nvSpPr>
        <p:spPr>
          <a:xfrm>
            <a:off x="5352732" y="2476743"/>
            <a:ext cx="2869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itinerary.txt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write</a:t>
            </a:r>
          </a:p>
        </p:txBody>
      </p:sp>
      <p:pic>
        <p:nvPicPr>
          <p:cNvPr id="1026" name="Picture 2" descr="BlueProgramming: PHP: Suma de enteros desde un archivo">
            <a:extLst>
              <a:ext uri="{FF2B5EF4-FFF2-40B4-BE49-F238E27FC236}">
                <a16:creationId xmlns:a16="http://schemas.microsoft.com/office/drawing/2014/main" id="{1273D2BC-B509-4185-86EF-8AC559B2A3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277546" y="2418717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BlueProgramming: PHP: Suma de enteros desde un archivo">
            <a:extLst>
              <a:ext uri="{FF2B5EF4-FFF2-40B4-BE49-F238E27FC236}">
                <a16:creationId xmlns:a16="http://schemas.microsoft.com/office/drawing/2014/main" id="{1000E23E-D04E-49B2-932B-16CF67CAF0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5352732" y="994729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BlueProgramming: PHP: Suma de enteros desde un archivo">
            <a:extLst>
              <a:ext uri="{FF2B5EF4-FFF2-40B4-BE49-F238E27FC236}">
                <a16:creationId xmlns:a16="http://schemas.microsoft.com/office/drawing/2014/main" id="{6FCB1D95-B613-465F-8019-D03B14B6EF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3493372" y="3596131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228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342F3-76AB-4231-93A5-33157B7514CA}"/>
              </a:ext>
            </a:extLst>
          </p:cNvPr>
          <p:cNvSpPr txBox="1"/>
          <p:nvPr/>
        </p:nvSpPr>
        <p:spPr>
          <a:xfrm>
            <a:off x="263887" y="3042274"/>
            <a:ext cx="469551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up()           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down()</a:t>
            </a:r>
          </a:p>
          <a:p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4D4F8-8898-4119-8855-0C4DDEF2FA56}"/>
              </a:ext>
            </a:extLst>
          </p:cNvPr>
          <p:cNvSpPr txBox="1"/>
          <p:nvPr/>
        </p:nvSpPr>
        <p:spPr>
          <a:xfrm>
            <a:off x="5352120" y="2012309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pic>
        <p:nvPicPr>
          <p:cNvPr id="9" name="Picture 4" descr="Turtle Icon | Flat Animal Iconset | Martin Berube">
            <a:extLst>
              <a:ext uri="{FF2B5EF4-FFF2-40B4-BE49-F238E27FC236}">
                <a16:creationId xmlns:a16="http://schemas.microsoft.com/office/drawing/2014/main" id="{AF327F94-8753-4212-8602-FAA2129C0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1200950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9880642-D477-05AF-3784-5F5D6DB46196}"/>
              </a:ext>
            </a:extLst>
          </p:cNvPr>
          <p:cNvSpPr txBox="1"/>
          <p:nvPr/>
        </p:nvSpPr>
        <p:spPr>
          <a:xfrm>
            <a:off x="5352120" y="727514"/>
            <a:ext cx="6453894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CA" dirty="0"/>
              <a:t>We don’t need to know these details to be able to use them!</a:t>
            </a:r>
          </a:p>
          <a:p>
            <a:endParaRPr lang="en-CA" dirty="0"/>
          </a:p>
          <a:p>
            <a:r>
              <a:rPr lang="en-CA" dirty="0"/>
              <a:t>We will learn more about building custom classes later… </a:t>
            </a:r>
          </a:p>
        </p:txBody>
      </p:sp>
    </p:spTree>
    <p:extLst>
      <p:ext uri="{BB962C8B-B14F-4D97-AF65-F5344CB8AC3E}">
        <p14:creationId xmlns:p14="http://schemas.microsoft.com/office/powerpoint/2010/main" val="577522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C0F20-AFD0-E6A2-1C9D-DA9C94183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DD20E-207C-15BE-3DF0-1FAA2057A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C6A31-1AEB-E405-5420-4B9E1638C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Objects in Python</a:t>
            </a:r>
          </a:p>
          <a:p>
            <a:pPr lvl="1"/>
            <a:r>
              <a:rPr lang="en-CA" dirty="0"/>
              <a:t>One potential ACORN design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8DF3BD45-CDFE-D07B-5F7E-9C648A5A376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Breakout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Objects in Python</a:t>
            </a:r>
          </a:p>
        </p:txBody>
      </p:sp>
    </p:spTree>
    <p:extLst>
      <p:ext uri="{BB962C8B-B14F-4D97-AF65-F5344CB8AC3E}">
        <p14:creationId xmlns:p14="http://schemas.microsoft.com/office/powerpoint/2010/main" val="658188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468F2-3FAC-F941-8BE0-D089053DC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do we care about files?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32CD2-B798-8145-867C-70B1F48DB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Everything we’ve done so far is essentially deleted when our program ends</a:t>
            </a:r>
          </a:p>
          <a:p>
            <a:r>
              <a:rPr lang="en-US" dirty="0"/>
              <a:t>What if we wanted to store information?</a:t>
            </a:r>
          </a:p>
          <a:p>
            <a:pPr lvl="1"/>
            <a:endParaRPr lang="en-US" dirty="0"/>
          </a:p>
        </p:txBody>
      </p:sp>
      <p:pic>
        <p:nvPicPr>
          <p:cNvPr id="1026" name="Picture 2" descr="Your ATM could provide you with: | Washington Hospitality Association | We  Deliver Wins for the Hospitality Industry.">
            <a:extLst>
              <a:ext uri="{FF2B5EF4-FFF2-40B4-BE49-F238E27FC236}">
                <a16:creationId xmlns:a16="http://schemas.microsoft.com/office/drawing/2014/main" id="{D2F9B369-6DFE-E34B-AE5B-CB79364EC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906" y="3344424"/>
            <a:ext cx="2918936" cy="324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imal Crossing: New Horizons review — A paradise worth the wait | iMore">
            <a:extLst>
              <a:ext uri="{FF2B5EF4-FFF2-40B4-BE49-F238E27FC236}">
                <a16:creationId xmlns:a16="http://schemas.microsoft.com/office/drawing/2014/main" id="{3DC91F57-0543-D641-B73F-7EADE73AB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3103" y="3801624"/>
            <a:ext cx="4140199" cy="232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oes tough grading improve student learning?">
            <a:extLst>
              <a:ext uri="{FF2B5EF4-FFF2-40B4-BE49-F238E27FC236}">
                <a16:creationId xmlns:a16="http://schemas.microsoft.com/office/drawing/2014/main" id="{824D8469-8365-1148-B768-6811B7FAAF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2563" y="3801624"/>
            <a:ext cx="3493294" cy="232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968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515D-556E-6B45-9B28-46B778A86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work with files?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C5352-5DE4-804B-808E-585C34C0F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313" y="1754187"/>
            <a:ext cx="8062913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Recall from Week 1: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While a program is running, its data is stored in random access memory (RAM). RAM is fast and inexpensive, but it is also volatile, which means that </a:t>
            </a:r>
            <a:r>
              <a:rPr lang="en-US" i="1" u="sng" dirty="0"/>
              <a:t>when the program ends data in RAM disappears</a:t>
            </a:r>
            <a:r>
              <a:rPr lang="en-US" dirty="0"/>
              <a:t>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make data available the next time the program is started, it must be written to a non-volatile storage medium, such a hard drive, USB drive, cloud storage, or CD-R. </a:t>
            </a:r>
          </a:p>
        </p:txBody>
      </p:sp>
      <p:pic>
        <p:nvPicPr>
          <p:cNvPr id="2050" name="Picture 2" descr="10+ Ways to Free up RAM On Your Windows or Mac Device">
            <a:extLst>
              <a:ext uri="{FF2B5EF4-FFF2-40B4-BE49-F238E27FC236}">
                <a16:creationId xmlns:a16="http://schemas.microsoft.com/office/drawing/2014/main" id="{6759C5D5-A863-8E47-A0BF-D48E879B4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8226" y="1687712"/>
            <a:ext cx="3433763" cy="193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struggle is real | /r/MildlyInfuriating | USB Insertion Issues | Know  Your Meme">
            <a:extLst>
              <a:ext uri="{FF2B5EF4-FFF2-40B4-BE49-F238E27FC236}">
                <a16:creationId xmlns:a16="http://schemas.microsoft.com/office/drawing/2014/main" id="{05833825-4ABE-0744-B85C-6BFC55AA3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8225" y="3775697"/>
            <a:ext cx="3433763" cy="2881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33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6E51F-CD54-2948-B037-47C5E556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work with files?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084EC-D3D1-F042-8447-C2BAC0B2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491288" cy="4835479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Data on non-volatile storage media are stored in named locations on the media called </a:t>
            </a:r>
            <a:r>
              <a:rPr lang="en-US" b="1" dirty="0"/>
              <a:t>files</a:t>
            </a:r>
            <a:r>
              <a:rPr lang="en-US" dirty="0"/>
              <a:t>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By </a:t>
            </a:r>
            <a:r>
              <a:rPr lang="en-US" b="1" dirty="0"/>
              <a:t>reading</a:t>
            </a:r>
            <a:r>
              <a:rPr lang="en-US" dirty="0"/>
              <a:t> and </a:t>
            </a:r>
            <a:r>
              <a:rPr lang="en-US" b="1" dirty="0"/>
              <a:t>writing</a:t>
            </a:r>
            <a:r>
              <a:rPr lang="en-US" dirty="0"/>
              <a:t> files, </a:t>
            </a:r>
            <a:r>
              <a:rPr lang="en-US" u="sng" dirty="0"/>
              <a:t>programs can save information between program runs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4098" name="Picture 2" descr="File cabinet I have a meme for this hang on | Stupid funny memes, Funny  relatable memes, Funny memes">
            <a:extLst>
              <a:ext uri="{FF2B5EF4-FFF2-40B4-BE49-F238E27FC236}">
                <a16:creationId xmlns:a16="http://schemas.microsoft.com/office/drawing/2014/main" id="{D6DB6BEC-E447-3B42-A914-459B3C42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1649" y="1011212"/>
            <a:ext cx="3232151" cy="323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ur favorite Microsoft memes | TechRepublic">
            <a:extLst>
              <a:ext uri="{FF2B5EF4-FFF2-40B4-BE49-F238E27FC236}">
                <a16:creationId xmlns:a16="http://schemas.microsoft.com/office/drawing/2014/main" id="{4519E2D7-8E5A-5840-A929-25182B402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824" y="4527061"/>
            <a:ext cx="2717800" cy="165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967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515D-556E-6B45-9B28-46B778A86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It’s like working with a notebook!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C5352-5DE4-804B-808E-585C34C0F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36026" cy="483547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file</a:t>
            </a:r>
            <a:r>
              <a:rPr lang="en-CA" dirty="0"/>
              <a:t> must be </a:t>
            </a:r>
            <a:r>
              <a:rPr lang="en-CA" b="1" dirty="0"/>
              <a:t>opened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When you are done, it has to be </a:t>
            </a:r>
            <a:r>
              <a:rPr lang="en-CA" b="1" dirty="0"/>
              <a:t>closed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While the file is open, it can either be </a:t>
            </a:r>
            <a:r>
              <a:rPr lang="en-CA" b="1" dirty="0"/>
              <a:t>read from or written to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Like a bookmark, the file </a:t>
            </a:r>
            <a:r>
              <a:rPr lang="en-CA" b="1" dirty="0"/>
              <a:t>keeps track of </a:t>
            </a:r>
            <a:r>
              <a:rPr lang="en-CA" dirty="0"/>
              <a:t>where you are reading to or writing from. </a:t>
            </a:r>
          </a:p>
          <a:p>
            <a:endParaRPr lang="en-CA" dirty="0"/>
          </a:p>
          <a:p>
            <a:r>
              <a:rPr lang="en-CA" dirty="0"/>
              <a:t>You can read the whole file in its </a:t>
            </a:r>
            <a:r>
              <a:rPr lang="en-CA" b="1" dirty="0"/>
              <a:t>natural order </a:t>
            </a:r>
            <a:r>
              <a:rPr lang="en-CA" dirty="0"/>
              <a:t>or you can </a:t>
            </a:r>
            <a:r>
              <a:rPr lang="en-CA" b="1" dirty="0"/>
              <a:t>skip</a:t>
            </a:r>
            <a:r>
              <a:rPr lang="en-CA" dirty="0"/>
              <a:t> around</a:t>
            </a:r>
          </a:p>
        </p:txBody>
      </p:sp>
      <p:pic>
        <p:nvPicPr>
          <p:cNvPr id="5122" name="Picture 2" descr="i know dat file wuz in here somewhere - Cheezburger - Funny Memes | Funny  Pictures">
            <a:extLst>
              <a:ext uri="{FF2B5EF4-FFF2-40B4-BE49-F238E27FC236}">
                <a16:creationId xmlns:a16="http://schemas.microsoft.com/office/drawing/2014/main" id="{5B608F98-5439-7240-B6CF-A5C8E1947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5313" y="1825624"/>
            <a:ext cx="3715025" cy="2786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0091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360F4-CC26-0B46-981C-0C1F00620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Opening a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F7601-639B-724F-87FC-B4B0A1EBE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Python has a built-in function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 that creates and returns a file object with a connection between the file information on the disk and the program.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general form for opening a file is:</a:t>
            </a:r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dirty="0"/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sz="800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where </a:t>
            </a:r>
            <a:r>
              <a:rPr lang="en-US" b="1" dirty="0"/>
              <a:t>mode</a:t>
            </a:r>
            <a:r>
              <a:rPr lang="en-US" dirty="0"/>
              <a:t> is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'r'</a:t>
            </a:r>
            <a:r>
              <a:rPr lang="en-US" dirty="0"/>
              <a:t> (to open for reading),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'w'</a:t>
            </a:r>
            <a:r>
              <a:rPr lang="en-US" dirty="0"/>
              <a:t> (to open for writing), or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/>
              <a:t>(to open for appending to what is already in the file).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b="1" dirty="0"/>
              <a:t>filename</a:t>
            </a:r>
            <a:r>
              <a:rPr lang="en-US" dirty="0"/>
              <a:t> is an external storage location.</a:t>
            </a:r>
            <a:endParaRPr lang="en-US" sz="2400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7B6B15E-FD69-E041-82B7-8C3078FDFDE0}"/>
              </a:ext>
            </a:extLst>
          </p:cNvPr>
          <p:cNvSpPr txBox="1"/>
          <p:nvPr/>
        </p:nvSpPr>
        <p:spPr>
          <a:xfrm>
            <a:off x="1055442" y="3809199"/>
            <a:ext cx="10298358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open(filename, mode)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995916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to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following statement opens the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test.txt</a:t>
            </a:r>
            <a:r>
              <a:rPr lang="en-US" dirty="0"/>
              <a:t> in write mode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‘w’</a:t>
            </a:r>
            <a:r>
              <a:rPr lang="en-US" dirty="0">
                <a:cs typeface="Courier New" panose="02070309020205020404" pitchFamily="49" charset="0"/>
              </a:rPr>
              <a:t>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there is no file named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/>
              <a:t> on the disk, it will be created. </a:t>
            </a:r>
            <a:r>
              <a:rPr lang="en-US" i="1" u="sng" dirty="0"/>
              <a:t>If there already is one, it will be replaced by the file we are writing</a:t>
            </a:r>
            <a:r>
              <a:rPr lang="en-US" dirty="0"/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file information will be assigned to the file object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dirty="0"/>
              <a:t>.</a:t>
            </a: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CB9E7D43-AD30-B347-9931-0848D08C333E}"/>
              </a:ext>
            </a:extLst>
          </p:cNvPr>
          <p:cNvSpPr txBox="1"/>
          <p:nvPr/>
        </p:nvSpPr>
        <p:spPr>
          <a:xfrm>
            <a:off x="1910861" y="2594764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’, ‘w’)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5265283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to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write something we need to use the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 method as shown: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 method does not attach a </a:t>
            </a:r>
            <a:r>
              <a:rPr lang="en-US" dirty="0">
                <a:solidFill>
                  <a:srgbClr val="00B0F0"/>
                </a:solidFill>
              </a:rPr>
              <a:t>new line character </a:t>
            </a:r>
            <a:r>
              <a:rPr lang="en-US" dirty="0"/>
              <a:t>by default.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 marL="457200" lvl="1" indent="-457200">
              <a:spcBef>
                <a:spcPct val="0"/>
              </a:spcBef>
              <a:spcAft>
                <a:spcPts val="1800"/>
              </a:spcAft>
              <a:buFontTx/>
              <a:buChar char="•"/>
            </a:pPr>
            <a:endParaRPr lang="en-US" sz="1400" dirty="0"/>
          </a:p>
          <a:p>
            <a:pPr marL="457200" lvl="1" indent="-457200">
              <a:spcBef>
                <a:spcPct val="0"/>
              </a:spcBef>
              <a:spcAft>
                <a:spcPts val="1800"/>
              </a:spcAft>
              <a:buFontTx/>
              <a:buChar char="•"/>
            </a:pPr>
            <a:r>
              <a:rPr lang="en-US" dirty="0"/>
              <a:t>Every time we use </a:t>
            </a:r>
            <a:r>
              <a:rPr lang="en-US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myfile.write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chemeClr val="accent6"/>
                </a:solidFill>
              </a:rPr>
              <a:t> </a:t>
            </a:r>
            <a:r>
              <a:rPr lang="en-US" dirty="0"/>
              <a:t>a string is added to 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dirty="0"/>
              <a:t> where we left off.</a:t>
            </a: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CB9E7D43-AD30-B347-9931-0848D08C333E}"/>
              </a:ext>
            </a:extLst>
          </p:cNvPr>
          <p:cNvSpPr txBox="1"/>
          <p:nvPr/>
        </p:nvSpPr>
        <p:spPr>
          <a:xfrm>
            <a:off x="1910861" y="2594764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(‘CATS!…’)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835F72E-430E-CF4E-A367-D43DE10E22FF}"/>
              </a:ext>
            </a:extLst>
          </p:cNvPr>
          <p:cNvSpPr txBox="1"/>
          <p:nvPr/>
        </p:nvSpPr>
        <p:spPr>
          <a:xfrm>
            <a:off x="978876" y="4091717"/>
            <a:ext cx="10978662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(‘\n’)</a:t>
            </a:r>
          </a:p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(‘I &lt;3 my second line… \n’)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388033-4869-C442-9DC9-32C9FF84F1A3}"/>
              </a:ext>
            </a:extLst>
          </p:cNvPr>
          <p:cNvCxnSpPr/>
          <p:nvPr/>
        </p:nvCxnSpPr>
        <p:spPr>
          <a:xfrm>
            <a:off x="9744075" y="3786188"/>
            <a:ext cx="929787" cy="8143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990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4E3B2-900B-5B49-8F16-52BDAA2E9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3EDF7-69CD-1E42-92FC-4C541DDEB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9906000" cy="4835479"/>
          </a:xfrm>
        </p:spPr>
        <p:txBody>
          <a:bodyPr/>
          <a:lstStyle/>
          <a:p>
            <a:pPr marL="0" indent="0">
              <a:buNone/>
            </a:pP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’, ‘w’)</a:t>
            </a:r>
          </a:p>
          <a:p>
            <a:pPr marL="0" indent="0">
              <a:buNone/>
            </a:pP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(‘CATS!…’)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(‘\n’)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(‘I &lt;3 my second sentence… \n’)</a:t>
            </a:r>
            <a:endParaRPr lang="en-US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endParaRPr lang="en-US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endParaRPr lang="en-US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FF00"/>
                </a:solidFill>
                <a:latin typeface="Courier New"/>
                <a:cs typeface="Courier New"/>
              </a:rPr>
              <a:t># and eventually we close our file</a:t>
            </a:r>
          </a:p>
          <a:p>
            <a:pPr marL="0" indent="0">
              <a:buNone/>
            </a:pPr>
            <a:r>
              <a:rPr lang="en-US" sz="28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myfile.close</a:t>
            </a:r>
            <a:r>
              <a:rPr lang="en-US" sz="2800" spc="-5" dirty="0">
                <a:solidFill>
                  <a:srgbClr val="00FF00"/>
                </a:solidFill>
                <a:latin typeface="Courier New"/>
                <a:cs typeface="Courier New"/>
              </a:rPr>
              <a:t>()</a:t>
            </a:r>
            <a:endParaRPr lang="en-US" dirty="0">
              <a:solidFill>
                <a:srgbClr val="00FF00"/>
              </a:solidFill>
              <a:latin typeface="Courier New"/>
              <a:cs typeface="Courier New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803BBA-6C5F-F849-B6E5-9C7DE8028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7725" y="3568700"/>
            <a:ext cx="4229100" cy="393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569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Closing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Once you have finished with the file, you need to close it: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This tells the system that we are done writing and makes the disk file available for reading or writing by other programs (or by our own program).</a:t>
            </a: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CB9E7D43-AD30-B347-9931-0848D08C333E}"/>
              </a:ext>
            </a:extLst>
          </p:cNvPr>
          <p:cNvSpPr txBox="1"/>
          <p:nvPr/>
        </p:nvSpPr>
        <p:spPr>
          <a:xfrm>
            <a:off x="1910861" y="247167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myfile.close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()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0061088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>
                <a:solidFill>
                  <a:srgbClr val="FFFF00"/>
                </a:solidFill>
              </a:rPr>
              <a:t>Writing to your first file</a:t>
            </a:r>
          </a:p>
          <a:p>
            <a:pPr lvl="1"/>
            <a:r>
              <a:rPr lang="en-CA" dirty="0">
                <a:solidFill>
                  <a:srgbClr val="FFFF00"/>
                </a:solidFill>
              </a:rPr>
              <a:t>Figure out where your files are getting saved!</a:t>
            </a:r>
          </a:p>
          <a:p>
            <a:pPr lvl="2"/>
            <a:r>
              <a:rPr lang="en-CA" dirty="0">
                <a:solidFill>
                  <a:srgbClr val="FFFF00"/>
                </a:solidFill>
              </a:rPr>
              <a:t>Current working directory</a:t>
            </a:r>
          </a:p>
          <a:p>
            <a:pPr lvl="1"/>
            <a:r>
              <a:rPr lang="en-CA" dirty="0">
                <a:solidFill>
                  <a:srgbClr val="FFFF00"/>
                </a:solidFill>
              </a:rPr>
              <a:t>Try playing with “w” and “a” mode!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Breakout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The File Object</a:t>
            </a:r>
          </a:p>
        </p:txBody>
      </p:sp>
    </p:spTree>
    <p:extLst>
      <p:ext uri="{BB962C8B-B14F-4D97-AF65-F5344CB8AC3E}">
        <p14:creationId xmlns:p14="http://schemas.microsoft.com/office/powerpoint/2010/main" val="238655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CLOSE THE FILE!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0915067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Always close a file that you’ve opened!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Many changes don’t occur until </a:t>
            </a:r>
            <a:r>
              <a:rPr lang="en-US" b="1" dirty="0"/>
              <a:t>after</a:t>
            </a:r>
            <a:r>
              <a:rPr lang="en-US" dirty="0"/>
              <a:t> the file is closed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Leaving open is a waste of a computer’s resources</a:t>
            </a:r>
          </a:p>
          <a:p>
            <a:pPr lvl="2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Slows down program, uses more space in RAM, impacts performance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Other files may treat the file as “open” and won’t be able to read the file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Could run into limits about how many files you have open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Not #</a:t>
            </a:r>
            <a:r>
              <a:rPr lang="en-US" dirty="0" err="1"/>
              <a:t>cleancode</a:t>
            </a: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1081D2-D55E-8549-A8BE-7DD579CA4843}"/>
              </a:ext>
            </a:extLst>
          </p:cNvPr>
          <p:cNvSpPr/>
          <p:nvPr/>
        </p:nvSpPr>
        <p:spPr>
          <a:xfrm>
            <a:off x="8568169" y="1532036"/>
            <a:ext cx="3185098" cy="523220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2800" b="1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myfile.close()</a:t>
            </a:r>
            <a:endParaRPr lang="sv-SE" sz="2800" b="1" dirty="0">
              <a:solidFill>
                <a:srgbClr val="FF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7" name="Arrow: Up 6">
            <a:extLst>
              <a:ext uri="{FF2B5EF4-FFF2-40B4-BE49-F238E27FC236}">
                <a16:creationId xmlns:a16="http://schemas.microsoft.com/office/drawing/2014/main" id="{AF1C390A-DABA-FC4A-9E48-989CFA163607}"/>
              </a:ext>
            </a:extLst>
          </p:cNvPr>
          <p:cNvSpPr/>
          <p:nvPr/>
        </p:nvSpPr>
        <p:spPr>
          <a:xfrm>
            <a:off x="9783790" y="2122574"/>
            <a:ext cx="647114" cy="597877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Up 7">
            <a:extLst>
              <a:ext uri="{FF2B5EF4-FFF2-40B4-BE49-F238E27FC236}">
                <a16:creationId xmlns:a16="http://schemas.microsoft.com/office/drawing/2014/main" id="{9F0C7FA4-FB43-9F4C-92C8-59B77DC489A1}"/>
              </a:ext>
            </a:extLst>
          </p:cNvPr>
          <p:cNvSpPr/>
          <p:nvPr/>
        </p:nvSpPr>
        <p:spPr>
          <a:xfrm rot="10800000">
            <a:off x="9783790" y="866841"/>
            <a:ext cx="647114" cy="597877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074" name="Picture 2" descr="Download More RAM | Know Your Meme">
            <a:extLst>
              <a:ext uri="{FF2B5EF4-FFF2-40B4-BE49-F238E27FC236}">
                <a16:creationId xmlns:a16="http://schemas.microsoft.com/office/drawing/2014/main" id="{D5344579-2411-4442-8126-4015517432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250" y="4532089"/>
            <a:ext cx="2190750" cy="219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22785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”Writing to Files” Recipe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1535713" y="2255209"/>
            <a:ext cx="641113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open/create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write to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(’string’)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4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79AA0B-9B01-A344-A95F-BB77AC0B08E9}"/>
              </a:ext>
            </a:extLst>
          </p:cNvPr>
          <p:cNvCxnSpPr/>
          <p:nvPr/>
        </p:nvCxnSpPr>
        <p:spPr bwMode="auto">
          <a:xfrm flipH="1">
            <a:off x="857250" y="256298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CFEB30-4335-124F-A699-57617E2D9586}"/>
              </a:ext>
            </a:extLst>
          </p:cNvPr>
          <p:cNvCxnSpPr>
            <a:cxnSpLocks/>
          </p:cNvCxnSpPr>
          <p:nvPr/>
        </p:nvCxnSpPr>
        <p:spPr bwMode="auto">
          <a:xfrm>
            <a:off x="857250" y="2562986"/>
            <a:ext cx="0" cy="288045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E7681-6B70-3948-9FE7-F632B9A4B12C}"/>
              </a:ext>
            </a:extLst>
          </p:cNvPr>
          <p:cNvCxnSpPr/>
          <p:nvPr/>
        </p:nvCxnSpPr>
        <p:spPr bwMode="auto">
          <a:xfrm flipH="1">
            <a:off x="857250" y="544343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6A57D9A-78A9-9040-AA12-8D654FA813A6}"/>
              </a:ext>
            </a:extLst>
          </p:cNvPr>
          <p:cNvSpPr txBox="1"/>
          <p:nvPr/>
        </p:nvSpPr>
        <p:spPr>
          <a:xfrm rot="16200000">
            <a:off x="-450182" y="3886425"/>
            <a:ext cx="2070182" cy="52322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go together</a:t>
            </a:r>
          </a:p>
        </p:txBody>
      </p:sp>
      <p:pic>
        <p:nvPicPr>
          <p:cNvPr id="7170" name="Picture 2" descr="Final Paper due in 11 Hours | Writing humor, A writer's life, Ron burgundy  quotes">
            <a:extLst>
              <a:ext uri="{FF2B5EF4-FFF2-40B4-BE49-F238E27FC236}">
                <a16:creationId xmlns:a16="http://schemas.microsoft.com/office/drawing/2014/main" id="{F7B22A22-64A8-B242-AD87-ABC307CD5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414"/>
          <a:stretch/>
        </p:blipFill>
        <p:spPr bwMode="auto">
          <a:xfrm>
            <a:off x="7946843" y="1555768"/>
            <a:ext cx="3889323" cy="20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769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Writing to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would we write a string to a file?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360730" y="2652611"/>
            <a:ext cx="9711958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‘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Kendrick,A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+\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nDre:C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-\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nSnoop:B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\n’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store string to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(students)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D33C5-D340-214D-8C90-BF06DA0D4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098" y="2652611"/>
            <a:ext cx="35941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7079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The core of object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oriented programming is the organization of the program by </a:t>
            </a:r>
            <a:r>
              <a:rPr lang="en-US" b="1" dirty="0">
                <a:solidFill>
                  <a:schemeClr val="accent6"/>
                </a:solidFill>
              </a:rPr>
              <a:t>encapsulating</a:t>
            </a:r>
            <a:r>
              <a:rPr lang="en-US" dirty="0"/>
              <a:t> related </a:t>
            </a:r>
            <a:r>
              <a:rPr lang="en-US" dirty="0">
                <a:solidFill>
                  <a:schemeClr val="accent6"/>
                </a:solidFill>
              </a:rPr>
              <a:t>data</a:t>
            </a:r>
            <a:r>
              <a:rPr lang="en-US" dirty="0"/>
              <a:t> and </a:t>
            </a:r>
            <a:r>
              <a:rPr lang="en-US" dirty="0">
                <a:solidFill>
                  <a:schemeClr val="accent6"/>
                </a:solidFill>
              </a:rPr>
              <a:t>functions</a:t>
            </a:r>
            <a:r>
              <a:rPr lang="en-US" dirty="0"/>
              <a:t> together in an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To encapsulate something means to enclose it in some kind of container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In programming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encapsulation means keeping </a:t>
            </a:r>
            <a:r>
              <a:rPr lang="en-US" b="1" dirty="0">
                <a:solidFill>
                  <a:srgbClr val="E00BE5"/>
                </a:solidFill>
              </a:rPr>
              <a:t>data</a:t>
            </a:r>
            <a:r>
              <a:rPr lang="en-US" dirty="0"/>
              <a:t> and the </a:t>
            </a:r>
            <a:r>
              <a:rPr lang="en-US" b="1" dirty="0">
                <a:solidFill>
                  <a:srgbClr val="E00BE5"/>
                </a:solidFill>
              </a:rPr>
              <a:t>code</a:t>
            </a:r>
            <a:r>
              <a:rPr lang="en-US" dirty="0"/>
              <a:t> that uses it in one place and hiding the details of exactly how they work together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E815B5-A0F6-4AB7-A3AC-6D77EC275801}"/>
              </a:ext>
            </a:extLst>
          </p:cNvPr>
          <p:cNvSpPr/>
          <p:nvPr/>
        </p:nvSpPr>
        <p:spPr>
          <a:xfrm>
            <a:off x="8688874" y="1801561"/>
            <a:ext cx="2283924" cy="55776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7D26D2-32C8-4EC8-B895-03F10F8D9AE4}"/>
              </a:ext>
            </a:extLst>
          </p:cNvPr>
          <p:cNvSpPr/>
          <p:nvPr/>
        </p:nvSpPr>
        <p:spPr>
          <a:xfrm>
            <a:off x="8688874" y="2600779"/>
            <a:ext cx="2283924" cy="14776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0962CE-A6B5-4B3C-85DE-1B9CA7B379B6}"/>
              </a:ext>
            </a:extLst>
          </p:cNvPr>
          <p:cNvSpPr/>
          <p:nvPr/>
        </p:nvSpPr>
        <p:spPr>
          <a:xfrm>
            <a:off x="8688874" y="4319864"/>
            <a:ext cx="2283924" cy="163719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BBE01C-C44B-4EE8-9F05-595BAC0B7A7F}"/>
              </a:ext>
            </a:extLst>
          </p:cNvPr>
          <p:cNvSpPr/>
          <p:nvPr/>
        </p:nvSpPr>
        <p:spPr>
          <a:xfrm>
            <a:off x="7598978" y="1191126"/>
            <a:ext cx="4463716" cy="5378116"/>
          </a:xfrm>
          <a:prstGeom prst="ellipse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EDF094-E06A-4842-8081-7F4CC8DF2303}"/>
              </a:ext>
            </a:extLst>
          </p:cNvPr>
          <p:cNvSpPr txBox="1"/>
          <p:nvPr/>
        </p:nvSpPr>
        <p:spPr>
          <a:xfrm>
            <a:off x="8562700" y="578945"/>
            <a:ext cx="25362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</a:rPr>
              <a:t>Encapsulation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8C931-5832-4830-8E6E-DC988A727470}"/>
              </a:ext>
            </a:extLst>
          </p:cNvPr>
          <p:cNvSpPr txBox="1"/>
          <p:nvPr/>
        </p:nvSpPr>
        <p:spPr>
          <a:xfrm>
            <a:off x="4942733" y="727514"/>
            <a:ext cx="4463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seb.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forward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(50)</a:t>
            </a:r>
          </a:p>
          <a:p>
            <a:r>
              <a:rPr lang="en-US" sz="28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kitty.</a:t>
            </a:r>
            <a:r>
              <a:rPr lang="en-US" sz="2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</a:t>
            </a:r>
          </a:p>
        </p:txBody>
      </p:sp>
    </p:spTree>
    <p:extLst>
      <p:ext uri="{BB962C8B-B14F-4D97-AF65-F5344CB8AC3E}">
        <p14:creationId xmlns:p14="http://schemas.microsoft.com/office/powerpoint/2010/main" val="43285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FE9CA-3CBC-5841-8561-1BC587C9E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Encapsulate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14B4A-8438-D54A-B041-EC96B896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605" y="1848718"/>
            <a:ext cx="5494225" cy="4835479"/>
          </a:xfrm>
        </p:spPr>
        <p:txBody>
          <a:bodyPr>
            <a:normAutofit/>
          </a:bodyPr>
          <a:lstStyle/>
          <a:p>
            <a:r>
              <a:rPr lang="en-US" dirty="0"/>
              <a:t>For example, each instance of class</a:t>
            </a:r>
            <a:r>
              <a:rPr lang="en-US" dirty="0">
                <a:solidFill>
                  <a:srgbClr val="00FF00"/>
                </a:solidFill>
                <a:latin typeface="Courier" pitchFamily="2" charset="0"/>
              </a:rPr>
              <a:t> file </a:t>
            </a:r>
            <a:r>
              <a:rPr lang="en-US" dirty="0"/>
              <a:t>keeps track of which file on the disk it is reading/writing and where it currently is on that file.</a:t>
            </a:r>
          </a:p>
          <a:p>
            <a:r>
              <a:rPr lang="en-US" dirty="0"/>
              <a:t>The class hides the details of how it is done, so we (as programmers) can use it without needing to know how it is implemented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8C905-178B-CA41-8B19-EA10E8450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1890282"/>
            <a:ext cx="3215081" cy="987874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3F3FD835-FD46-F34C-BF61-7E7B64F80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074" y="2236567"/>
            <a:ext cx="3608926" cy="2927007"/>
          </a:xfrm>
          <a:prstGeom prst="rect">
            <a:avLst/>
          </a:prstGeom>
        </p:spPr>
      </p:pic>
      <p:pic>
        <p:nvPicPr>
          <p:cNvPr id="12" name="Picture 11" descr="A black screen with white text&#10;&#10;Description automatically generated with low confidence">
            <a:extLst>
              <a:ext uri="{FF2B5EF4-FFF2-40B4-BE49-F238E27FC236}">
                <a16:creationId xmlns:a16="http://schemas.microsoft.com/office/drawing/2014/main" id="{8356DD0C-A1C9-5E48-9D39-547659B49C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7" y="4521984"/>
            <a:ext cx="3215078" cy="9878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8C792F3-70FB-1A4E-BBF6-02951E641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9786" y="5459295"/>
            <a:ext cx="6144519" cy="261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15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35A2B-9370-D544-B240-2EBC0C44B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6156" y="2915727"/>
            <a:ext cx="5119688" cy="656148"/>
          </a:xfrm>
        </p:spPr>
        <p:txBody>
          <a:bodyPr>
            <a:normAutofit fontScale="90000"/>
          </a:bodyPr>
          <a:lstStyle/>
          <a:p>
            <a:r>
              <a:rPr lang="en-US" dirty="0"/>
              <a:t>Writing and Reading</a:t>
            </a:r>
          </a:p>
        </p:txBody>
      </p:sp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81A12F20-181F-C848-ADF7-E8E07B51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81462" y="2001327"/>
            <a:ext cx="914400" cy="914400"/>
          </a:xfrm>
          <a:prstGeom prst="rect">
            <a:avLst/>
          </a:prstGeom>
        </p:spPr>
      </p:pic>
      <p:pic>
        <p:nvPicPr>
          <p:cNvPr id="7" name="Graphic 6" descr="Question Mark with solid fill">
            <a:extLst>
              <a:ext uri="{FF2B5EF4-FFF2-40B4-BE49-F238E27FC236}">
                <a16:creationId xmlns:a16="http://schemas.microsoft.com/office/drawing/2014/main" id="{B2951A74-51E0-004C-BF6C-1DC6A2ADAF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3237" y="2087590"/>
            <a:ext cx="914400" cy="914400"/>
          </a:xfrm>
          <a:prstGeom prst="rect">
            <a:avLst/>
          </a:prstGeom>
        </p:spPr>
      </p:pic>
      <p:sp>
        <p:nvSpPr>
          <p:cNvPr id="8" name="object 4">
            <a:extLst>
              <a:ext uri="{FF2B5EF4-FFF2-40B4-BE49-F238E27FC236}">
                <a16:creationId xmlns:a16="http://schemas.microsoft.com/office/drawing/2014/main" id="{A819C8B6-94AE-7E43-BC03-FB7E87A28409}"/>
              </a:ext>
            </a:extLst>
          </p:cNvPr>
          <p:cNvSpPr txBox="1"/>
          <p:nvPr/>
        </p:nvSpPr>
        <p:spPr>
          <a:xfrm>
            <a:off x="366713" y="3676238"/>
            <a:ext cx="4747114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’, ‘w’)</a:t>
            </a:r>
            <a:endParaRPr sz="20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FCDC388A-2E0C-DB44-9802-4420B36F6B19}"/>
              </a:ext>
            </a:extLst>
          </p:cNvPr>
          <p:cNvSpPr txBox="1"/>
          <p:nvPr/>
        </p:nvSpPr>
        <p:spPr>
          <a:xfrm>
            <a:off x="366713" y="4316440"/>
            <a:ext cx="4747114" cy="3077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20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2000" spc="-5" dirty="0">
                <a:solidFill>
                  <a:srgbClr val="00FF00"/>
                </a:solidFill>
                <a:latin typeface="Courier New"/>
                <a:cs typeface="Courier New"/>
              </a:rPr>
              <a:t>’, ‘a’)</a:t>
            </a:r>
            <a:endParaRPr sz="20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30196-7EE1-6241-B592-A3F01CFFBA53}"/>
              </a:ext>
            </a:extLst>
          </p:cNvPr>
          <p:cNvSpPr txBox="1"/>
          <p:nvPr/>
        </p:nvSpPr>
        <p:spPr>
          <a:xfrm>
            <a:off x="323849" y="4956642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myfile.write</a:t>
            </a:r>
            <a:r>
              <a:rPr lang="en-US" spc="-5" dirty="0">
                <a:solidFill>
                  <a:srgbClr val="00FF00"/>
                </a:solidFill>
                <a:latin typeface="Courier New"/>
                <a:cs typeface="Courier New"/>
              </a:rPr>
              <a:t>(‘CATS!…’)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5FF49E-AF4D-6F42-822B-B2E6CB5E8167}"/>
              </a:ext>
            </a:extLst>
          </p:cNvPr>
          <p:cNvCxnSpPr>
            <a:cxnSpLocks/>
          </p:cNvCxnSpPr>
          <p:nvPr/>
        </p:nvCxnSpPr>
        <p:spPr>
          <a:xfrm flipH="1">
            <a:off x="942975" y="2544790"/>
            <a:ext cx="657225" cy="89460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BD4AF5-E7E8-7145-92C1-EDA4A8079DD1}"/>
              </a:ext>
            </a:extLst>
          </p:cNvPr>
          <p:cNvCxnSpPr>
            <a:cxnSpLocks/>
          </p:cNvCxnSpPr>
          <p:nvPr/>
        </p:nvCxnSpPr>
        <p:spPr>
          <a:xfrm>
            <a:off x="2057400" y="2544790"/>
            <a:ext cx="1109662" cy="102708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9F828E9-9F4A-0B42-A48B-9984040F2E0C}"/>
              </a:ext>
            </a:extLst>
          </p:cNvPr>
          <p:cNvSpPr txBox="1"/>
          <p:nvPr/>
        </p:nvSpPr>
        <p:spPr>
          <a:xfrm>
            <a:off x="942975" y="2071095"/>
            <a:ext cx="2008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Can be any name!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014BD2-089B-C04B-82F3-0DFB8BF9B7EB}"/>
              </a:ext>
            </a:extLst>
          </p:cNvPr>
          <p:cNvSpPr txBox="1"/>
          <p:nvPr/>
        </p:nvSpPr>
        <p:spPr>
          <a:xfrm>
            <a:off x="4008926" y="3960808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'w’ OR ‘a’</a:t>
            </a:r>
          </a:p>
        </p:txBody>
      </p:sp>
    </p:spTree>
    <p:extLst>
      <p:ext uri="{BB962C8B-B14F-4D97-AF65-F5344CB8AC3E}">
        <p14:creationId xmlns:p14="http://schemas.microsoft.com/office/powerpoint/2010/main" val="11578314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a file is similar to writing a file. First we need to open a file for reading (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“r”</a:t>
            </a:r>
            <a:r>
              <a:rPr lang="en-US" dirty="0"/>
              <a:t>):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file doesn’t exist?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Then to read a file we apply one of the following approaches which take advantage of various read methods: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file </a:t>
            </a:r>
            <a:r>
              <a:rPr lang="en-US" dirty="0"/>
              <a:t>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dirty="0"/>
              <a:t> approach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52D1E3B6-E39E-D841-A944-7DF0BD96DED0}"/>
              </a:ext>
            </a:extLst>
          </p:cNvPr>
          <p:cNvSpPr txBox="1"/>
          <p:nvPr/>
        </p:nvSpPr>
        <p:spPr>
          <a:xfrm>
            <a:off x="1910861" y="247167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’, </a:t>
            </a:r>
            <a:r>
              <a:rPr lang="en-US" sz="3600" spc="-5" dirty="0">
                <a:solidFill>
                  <a:schemeClr val="accent6"/>
                </a:solidFill>
                <a:latin typeface="Courier New"/>
                <a:cs typeface="Courier New"/>
              </a:rPr>
              <a:t>‘r’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96DF-A5C0-3A4D-8DAC-5BC81AB0CA43}"/>
              </a:ext>
            </a:extLst>
          </p:cNvPr>
          <p:cNvSpPr txBox="1"/>
          <p:nvPr/>
        </p:nvSpPr>
        <p:spPr>
          <a:xfrm>
            <a:off x="7543801" y="4722357"/>
            <a:ext cx="3130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No correct approach!</a:t>
            </a:r>
          </a:p>
          <a:p>
            <a:r>
              <a:rPr lang="en-US" dirty="0">
                <a:solidFill>
                  <a:srgbClr val="FFFF00"/>
                </a:solidFill>
              </a:rPr>
              <a:t>Multiple methods to help with contexts and purposes</a:t>
            </a:r>
          </a:p>
        </p:txBody>
      </p:sp>
    </p:spTree>
    <p:extLst>
      <p:ext uri="{BB962C8B-B14F-4D97-AF65-F5344CB8AC3E}">
        <p14:creationId xmlns:p14="http://schemas.microsoft.com/office/powerpoint/2010/main" val="22216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58FBE8-A4CC-D040-B901-16DD3E094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356744"/>
              </p:ext>
            </p:extLst>
          </p:nvPr>
        </p:nvGraphicFramePr>
        <p:xfrm>
          <a:off x="209550" y="1383662"/>
          <a:ext cx="10241280" cy="5140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6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Code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to use it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read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read the whole file at once and use it as a single string.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while line != '':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myfile.close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only part of a file. Each time through the loop line contains one line of the file.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for line in file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for line in myfile: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every line in the file one at a time.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readlines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myfile.readlines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examine each line of a file by index.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ight Brace 2">
            <a:extLst>
              <a:ext uri="{FF2B5EF4-FFF2-40B4-BE49-F238E27FC236}">
                <a16:creationId xmlns:a16="http://schemas.microsoft.com/office/drawing/2014/main" id="{397AE32E-3EFC-4E23-C68B-EC6852BE3F36}"/>
              </a:ext>
            </a:extLst>
          </p:cNvPr>
          <p:cNvSpPr/>
          <p:nvPr/>
        </p:nvSpPr>
        <p:spPr>
          <a:xfrm>
            <a:off x="10597515" y="2046090"/>
            <a:ext cx="609600" cy="1804354"/>
          </a:xfrm>
          <a:prstGeom prst="rightBrace">
            <a:avLst/>
          </a:prstGeom>
          <a:ln w="57150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4B96C498-D9C3-2108-E59F-1B550AC8AB6D}"/>
              </a:ext>
            </a:extLst>
          </p:cNvPr>
          <p:cNvSpPr/>
          <p:nvPr/>
        </p:nvSpPr>
        <p:spPr>
          <a:xfrm>
            <a:off x="10597515" y="4512872"/>
            <a:ext cx="609600" cy="1804354"/>
          </a:xfrm>
          <a:prstGeom prst="rightBrac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B52D5-F4B1-FDB5-9CD1-CDF12F7FC8A1}"/>
              </a:ext>
            </a:extLst>
          </p:cNvPr>
          <p:cNvSpPr txBox="1"/>
          <p:nvPr/>
        </p:nvSpPr>
        <p:spPr>
          <a:xfrm rot="5400000">
            <a:off x="10936827" y="2686657"/>
            <a:ext cx="13571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TODAY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DCC6A3-D8AA-C28E-E79F-D839FC0706A1}"/>
              </a:ext>
            </a:extLst>
          </p:cNvPr>
          <p:cNvSpPr txBox="1"/>
          <p:nvPr/>
        </p:nvSpPr>
        <p:spPr>
          <a:xfrm rot="5400000">
            <a:off x="10856178" y="5153439"/>
            <a:ext cx="152477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36480694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Different read approaches</a:t>
            </a:r>
          </a:p>
          <a:p>
            <a:pPr lvl="2"/>
            <a:r>
              <a:rPr lang="en-CA" dirty="0"/>
              <a:t>read()</a:t>
            </a:r>
          </a:p>
          <a:p>
            <a:pPr lvl="2"/>
            <a:r>
              <a:rPr lang="en-CA" dirty="0" err="1"/>
              <a:t>readline</a:t>
            </a:r>
            <a:r>
              <a:rPr lang="en-CA" dirty="0"/>
              <a:t>()</a:t>
            </a:r>
          </a:p>
          <a:p>
            <a:pPr lvl="2"/>
            <a:r>
              <a:rPr lang="en-CA" dirty="0"/>
              <a:t>for line in file</a:t>
            </a:r>
          </a:p>
          <a:p>
            <a:pPr lvl="2"/>
            <a:r>
              <a:rPr lang="en-CA" dirty="0" err="1"/>
              <a:t>readlines</a:t>
            </a:r>
            <a:r>
              <a:rPr lang="en-CA" dirty="0"/>
              <a:t>()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Reading Files</a:t>
            </a:r>
          </a:p>
        </p:txBody>
      </p:sp>
    </p:spTree>
    <p:extLst>
      <p:ext uri="{BB962C8B-B14F-4D97-AF65-F5344CB8AC3E}">
        <p14:creationId xmlns:p14="http://schemas.microsoft.com/office/powerpoint/2010/main" val="151772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AFC5-C885-4A4E-AEB5-4761FC0C4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321496"/>
            <a:ext cx="10671313" cy="3171379"/>
          </a:xfrm>
        </p:spPr>
        <p:txBody>
          <a:bodyPr>
            <a:normAutofit fontScale="92500"/>
          </a:bodyPr>
          <a:lstStyle/>
          <a:p>
            <a:r>
              <a:rPr lang="en-CA" sz="2400" dirty="0" err="1"/>
              <a:t>Madlibs</a:t>
            </a:r>
            <a:r>
              <a:rPr lang="en-CA" sz="2400" dirty="0"/>
              <a:t> is a story game</a:t>
            </a:r>
          </a:p>
          <a:p>
            <a:r>
              <a:rPr lang="en-CA" sz="2400" dirty="0"/>
              <a:t>A story is written, and a few important words are taken out, replaced by blanks</a:t>
            </a:r>
          </a:p>
          <a:p>
            <a:r>
              <a:rPr lang="en-CA" sz="2400" dirty="0"/>
              <a:t>The blanks are labelled with their part of speech or other category ("noun", "adjective", "an animal", and so on)</a:t>
            </a:r>
          </a:p>
          <a:p>
            <a:r>
              <a:rPr lang="en-CA" sz="2400" dirty="0"/>
              <a:t>Replace the categories with specific words without knowing the story</a:t>
            </a:r>
          </a:p>
          <a:p>
            <a:r>
              <a:rPr lang="en-CA" sz="2400" dirty="0"/>
              <a:t>When all the blanks have been filled in, the story is read out, usually with comic results</a:t>
            </a:r>
          </a:p>
          <a:p>
            <a:r>
              <a:rPr lang="en-CA" sz="2400" dirty="0"/>
              <a:t>Example: </a:t>
            </a:r>
            <a:r>
              <a:rPr lang="en-CA" sz="2400" dirty="0">
                <a:hlinkClick r:id="rId2"/>
              </a:rPr>
              <a:t>https://youtu.be/kM9Wuzj4k24</a:t>
            </a:r>
            <a:r>
              <a:rPr lang="en-CA" sz="2400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FB9987-751C-D3A0-0CFF-F069A4A91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915" y="767896"/>
            <a:ext cx="9005881" cy="255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543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01F9A-52B7-F146-A805-0BAC2A04D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CCF1A-8EA7-38A8-1B02-C412F5E0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6AB99-99F8-8F0C-5D0B-A3E98CB47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Bringing it all together with </a:t>
            </a:r>
            <a:r>
              <a:rPr lang="en-CA" dirty="0" err="1"/>
              <a:t>Madlibs</a:t>
            </a:r>
            <a:r>
              <a:rPr lang="en-CA" dirty="0"/>
              <a:t>!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CDC5D849-44CB-7BFB-E8F1-139ADFB5130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800" b="1" dirty="0" err="1">
                <a:solidFill>
                  <a:schemeClr val="accent6"/>
                </a:solidFill>
              </a:rPr>
              <a:t>Madlibs</a:t>
            </a:r>
            <a:endParaRPr lang="en-US" sz="28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388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60CE9-063D-1A99-5C4A-8CB846D4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41A1C-7713-1877-BD4D-FD443DC799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Object Oriented Programming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and</a:t>
            </a:r>
            <a:r>
              <a:rPr lang="en-US" dirty="0"/>
              <a:t> the file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1FB9DC-96F2-AF83-DBDF-D4C6C5D1B8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5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5.2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60680F-EB00-2FFC-0092-89611BB345A0}"/>
              </a:ext>
            </a:extLst>
          </p:cNvPr>
          <p:cNvSpPr txBox="1"/>
          <p:nvPr/>
        </p:nvSpPr>
        <p:spPr>
          <a:xfrm>
            <a:off x="335947" y="4426565"/>
            <a:ext cx="7580601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</a:t>
            </a:r>
          </a:p>
          <a:p>
            <a:endParaRPr lang="en-US" sz="20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3 Due Friday 11:59 PM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No Lab released Thursday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5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Looking for more practice</a:t>
            </a:r>
            <a:r>
              <a:rPr lang="en-US" sz="1600" dirty="0">
                <a:solidFill>
                  <a:srgbClr val="CC99FF"/>
                </a:solidFill>
              </a:rPr>
              <a:t>?</a:t>
            </a:r>
            <a:r>
              <a:rPr lang="en-US" sz="1600" dirty="0">
                <a:solidFill>
                  <a:srgbClr val="66FF99"/>
                </a:solidFill>
              </a:rPr>
              <a:t> Check out the textbook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7193898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PPTX_Theme">
  <a:themeElements>
    <a:clrScheme name="Custom 5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17EE5"/>
      </a:accent1>
      <a:accent2>
        <a:srgbClr val="017EE5"/>
      </a:accent2>
      <a:accent3>
        <a:srgbClr val="017EE5"/>
      </a:accent3>
      <a:accent4>
        <a:srgbClr val="7B8994"/>
      </a:accent4>
      <a:accent5>
        <a:srgbClr val="7B8994"/>
      </a:accent5>
      <a:accent6>
        <a:srgbClr val="FF9933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PPTX_Theme" id="{D71ABBE9-7E6D-4E30-BD8F-2EB61EB32A2D}" vid="{056030BA-02C6-4208-ACCE-F1B550CC0AA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APS106_PPTX_Theme</Template>
  <TotalTime>51478</TotalTime>
  <Words>2686</Words>
  <Application>Microsoft Macintosh PowerPoint</Application>
  <PresentationFormat>Widescreen</PresentationFormat>
  <Paragraphs>493</Paragraphs>
  <Slides>39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Arial</vt:lpstr>
      <vt:lpstr>Calibri</vt:lpstr>
      <vt:lpstr>Courier</vt:lpstr>
      <vt:lpstr>Courier New</vt:lpstr>
      <vt:lpstr>Lato Extended</vt:lpstr>
      <vt:lpstr>Segoe UI</vt:lpstr>
      <vt:lpstr>Times New Roman</vt:lpstr>
      <vt:lpstr>Wingdings</vt:lpstr>
      <vt:lpstr>APS106_PPTX_Theme</vt:lpstr>
      <vt:lpstr>introduction to Object Oriented Programming, and the file object.</vt:lpstr>
      <vt:lpstr>This Week’s Content</vt:lpstr>
      <vt:lpstr>Procedural vs Object-Oriented</vt:lpstr>
      <vt:lpstr>Procedural Programming</vt:lpstr>
      <vt:lpstr>Procedural Programming</vt:lpstr>
      <vt:lpstr>PowerPoint Presentation</vt:lpstr>
      <vt:lpstr>Object-Oriented Programming</vt:lpstr>
      <vt:lpstr>Object-Oriented Programming</vt:lpstr>
      <vt:lpstr>Objects in Python</vt:lpstr>
      <vt:lpstr>Classes</vt:lpstr>
      <vt:lpstr>Classes</vt:lpstr>
      <vt:lpstr>Classes</vt:lpstr>
      <vt:lpstr>Classes</vt:lpstr>
      <vt:lpstr>We’ve already been using objects!</vt:lpstr>
      <vt:lpstr>Classes</vt:lpstr>
      <vt:lpstr>Classes</vt:lpstr>
      <vt:lpstr>Let’s Code!</vt:lpstr>
      <vt:lpstr>Why do we care about files?</vt:lpstr>
      <vt:lpstr>Why work with files?</vt:lpstr>
      <vt:lpstr>Why work with files?</vt:lpstr>
      <vt:lpstr>It’s like working with a notebook!</vt:lpstr>
      <vt:lpstr>Opening a File</vt:lpstr>
      <vt:lpstr>Writing to a File</vt:lpstr>
      <vt:lpstr>Writing to a File</vt:lpstr>
      <vt:lpstr>PowerPoint Presentation</vt:lpstr>
      <vt:lpstr>Closing a File</vt:lpstr>
      <vt:lpstr>Let’s Code!</vt:lpstr>
      <vt:lpstr>CLOSE THE FILE!</vt:lpstr>
      <vt:lpstr>The ”Writing to Files” Recipe</vt:lpstr>
      <vt:lpstr>Example: Writing to Files</vt:lpstr>
      <vt:lpstr>Encapsulation</vt:lpstr>
      <vt:lpstr>Encapsulate it!</vt:lpstr>
      <vt:lpstr>Writing and Reading</vt:lpstr>
      <vt:lpstr>Different ways of Reading a File</vt:lpstr>
      <vt:lpstr>Different ways of Reading a File</vt:lpstr>
      <vt:lpstr>Let’s Code!</vt:lpstr>
      <vt:lpstr>PowerPoint Presentation</vt:lpstr>
      <vt:lpstr>Let’s Code!</vt:lpstr>
      <vt:lpstr>introduction to Object Oriented Programming, and the file object.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Ben Kinsella</cp:lastModifiedBy>
  <cp:revision>278</cp:revision>
  <dcterms:created xsi:type="dcterms:W3CDTF">2021-11-03T00:49:37Z</dcterms:created>
  <dcterms:modified xsi:type="dcterms:W3CDTF">2025-02-05T19:06:34Z</dcterms:modified>
</cp:coreProperties>
</file>