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29"/>
  </p:notesMasterIdLst>
  <p:sldIdLst>
    <p:sldId id="405" r:id="rId2"/>
    <p:sldId id="406" r:id="rId3"/>
    <p:sldId id="410" r:id="rId4"/>
    <p:sldId id="381" r:id="rId5"/>
    <p:sldId id="411" r:id="rId6"/>
    <p:sldId id="384" r:id="rId7"/>
    <p:sldId id="383" r:id="rId8"/>
    <p:sldId id="386" r:id="rId9"/>
    <p:sldId id="387" r:id="rId10"/>
    <p:sldId id="388" r:id="rId11"/>
    <p:sldId id="389" r:id="rId12"/>
    <p:sldId id="390" r:id="rId13"/>
    <p:sldId id="391" r:id="rId14"/>
    <p:sldId id="402" r:id="rId15"/>
    <p:sldId id="392" r:id="rId16"/>
    <p:sldId id="393" r:id="rId17"/>
    <p:sldId id="403" r:id="rId18"/>
    <p:sldId id="394" r:id="rId19"/>
    <p:sldId id="395" r:id="rId20"/>
    <p:sldId id="396" r:id="rId21"/>
    <p:sldId id="397" r:id="rId22"/>
    <p:sldId id="398" r:id="rId23"/>
    <p:sldId id="400" r:id="rId24"/>
    <p:sldId id="399" r:id="rId25"/>
    <p:sldId id="401" r:id="rId26"/>
    <p:sldId id="357" r:id="rId27"/>
    <p:sldId id="40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FF"/>
    <a:srgbClr val="FB7FE8"/>
    <a:srgbClr val="F30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604"/>
  </p:normalViewPr>
  <p:slideViewPr>
    <p:cSldViewPr snapToGrid="0">
      <p:cViewPr varScale="1">
        <p:scale>
          <a:sx n="100" d="100"/>
          <a:sy n="100" d="100"/>
        </p:scale>
        <p:origin x="18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string is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ordered sequence of characters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just like a list.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6AFEF-5B50-AD45-8E89-F62EC9932D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86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14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22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6AFEF-5B50-AD45-8E89-F62EC9932D2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07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90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E9A4-6E61-4AF5-9711-A3D313611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409479"/>
            <a:ext cx="11391065" cy="89358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255B-D275-45F6-ACB5-BBD491BB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3848999"/>
            <a:ext cx="1139106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93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  <a:lvl2pPr>
              <a:defRPr>
                <a:solidFill>
                  <a:srgbClr val="444445"/>
                </a:solidFill>
              </a:defRPr>
            </a:lvl2pPr>
            <a:lvl3pPr>
              <a:defRPr>
                <a:solidFill>
                  <a:srgbClr val="444445"/>
                </a:solidFill>
              </a:defRPr>
            </a:lvl3pPr>
            <a:lvl4pPr>
              <a:defRPr>
                <a:solidFill>
                  <a:srgbClr val="444445"/>
                </a:solidFill>
              </a:defRPr>
            </a:lvl4pPr>
            <a:lvl5pP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951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56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72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568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AE74A-CCEA-1535-8DD2-78348283F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8EAC-D618-922A-6CC7-DE88DAE0B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Strings: </a:t>
            </a:r>
            <a:br>
              <a:rPr lang="en-US" dirty="0"/>
            </a:br>
            <a:r>
              <a:rPr lang="en-US" dirty="0"/>
              <a:t>Conversions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Indexing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Slicing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Immutability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37CB2-EC11-BBEF-1ABB-6FBB6368D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5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5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6D3A9D-CDEB-9784-983D-E66A07EEEF0E}"/>
              </a:ext>
            </a:extLst>
          </p:cNvPr>
          <p:cNvSpPr txBox="1"/>
          <p:nvPr/>
        </p:nvSpPr>
        <p:spPr>
          <a:xfrm>
            <a:off x="335947" y="4261465"/>
            <a:ext cx="7580601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C99FF"/>
                </a:solidFill>
              </a:rPr>
              <a:t>While waiting, open the </a:t>
            </a:r>
            <a:r>
              <a:rPr lang="en-US" sz="2000" b="1" dirty="0" err="1">
                <a:solidFill>
                  <a:srgbClr val="CC99FF"/>
                </a:solidFill>
              </a:rPr>
              <a:t>Jupyter</a:t>
            </a:r>
            <a:r>
              <a:rPr lang="en-US" sz="2000" b="1" dirty="0">
                <a:solidFill>
                  <a:srgbClr val="CC99FF"/>
                </a:solidFill>
              </a:rPr>
              <a:t> Notebook for today’s lecture</a:t>
            </a:r>
          </a:p>
          <a:p>
            <a:endParaRPr lang="en-US" sz="2000" b="1" dirty="0">
              <a:solidFill>
                <a:srgbClr val="CC99FF"/>
              </a:solidFill>
            </a:endParaRPr>
          </a:p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3 (In-Person Lab) this week.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No Lab released Thursday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5 Released Friday 6:00 pm.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(Online), Practical, Office Hour sessions running all week.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Term Test 1 Next Thursday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Term Test Online Review next week</a:t>
            </a:r>
            <a:endParaRPr lang="en-US" sz="1600" dirty="0">
              <a:solidFill>
                <a:srgbClr val="CC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279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330"/>
    </mc:Choice>
    <mc:Fallback>
      <p:transition spd="slow" advTm="323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05" y="1903610"/>
            <a:ext cx="6993835" cy="3766793"/>
          </a:xfrm>
        </p:spPr>
        <p:txBody>
          <a:bodyPr>
            <a:normAutofit/>
          </a:bodyPr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5.1</a:t>
            </a:r>
          </a:p>
          <a:p>
            <a:pPr lvl="1"/>
            <a:r>
              <a:rPr lang="en-US" b="1" dirty="0"/>
              <a:t>Strings: Conversions, Indexing, Slicing, and Immutability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5.2 </a:t>
            </a:r>
          </a:p>
          <a:p>
            <a:pPr lvl="1"/>
            <a:r>
              <a:rPr lang="en-US" dirty="0"/>
              <a:t>Introduction to Object-Oriented Programming and the File Object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5.3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for </a:t>
            </a:r>
            <a:r>
              <a:rPr lang="en-US" b="1" dirty="0"/>
              <a:t>loops</a:t>
            </a:r>
          </a:p>
        </p:txBody>
      </p:sp>
    </p:spTree>
    <p:extLst>
      <p:ext uri="{BB962C8B-B14F-4D97-AF65-F5344CB8AC3E}">
        <p14:creationId xmlns:p14="http://schemas.microsoft.com/office/powerpoint/2010/main" val="3118733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02"/>
    </mc:Choice>
    <mc:Fallback>
      <p:transition spd="slow" advTm="1260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447D-0CA4-6E61-D1C3-120228ED1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C5858-0AD9-FD03-4764-9EC12E5E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45C4D-6D30-C701-E9C8-9C7290AF3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2" y="1822448"/>
            <a:ext cx="8792308" cy="4835479"/>
          </a:xfrm>
        </p:spPr>
        <p:txBody>
          <a:bodyPr/>
          <a:lstStyle/>
          <a:p>
            <a:r>
              <a:rPr lang="en-US" dirty="0"/>
              <a:t>The string (</a:t>
            </a:r>
            <a:r>
              <a:rPr lang="en-US" dirty="0">
                <a:solidFill>
                  <a:schemeClr val="accent6"/>
                </a:solidFill>
              </a:rPr>
              <a:t>str</a:t>
            </a:r>
            <a:r>
              <a:rPr lang="en-US" dirty="0"/>
              <a:t>) type </a:t>
            </a:r>
            <a:r>
              <a:rPr lang="en-US" dirty="0" err="1"/>
              <a:t>wasintroduced</a:t>
            </a:r>
            <a:r>
              <a:rPr lang="en-US" dirty="0"/>
              <a:t> in previous weeks</a:t>
            </a:r>
          </a:p>
          <a:p>
            <a:r>
              <a:rPr lang="en-US" dirty="0"/>
              <a:t>Let’s take our string knowledge to the next level!</a:t>
            </a:r>
          </a:p>
          <a:p>
            <a:pPr lvl="1"/>
            <a:r>
              <a:rPr lang="en-US" dirty="0"/>
              <a:t>escape sequences</a:t>
            </a:r>
          </a:p>
          <a:p>
            <a:pPr lvl="1"/>
            <a:r>
              <a:rPr lang="en-US" dirty="0"/>
              <a:t>str operations</a:t>
            </a:r>
          </a:p>
          <a:p>
            <a:pPr lvl="1"/>
            <a:r>
              <a:rPr lang="en-US" dirty="0"/>
              <a:t>type conversion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str indexing and slicing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str methods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Graphic 4" descr="Tick with solid fill">
            <a:extLst>
              <a:ext uri="{FF2B5EF4-FFF2-40B4-BE49-F238E27FC236}">
                <a16:creationId xmlns:a16="http://schemas.microsoft.com/office/drawing/2014/main" id="{B4FBF00F-8D64-6215-30ED-B60BF8167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0197" y="3110460"/>
            <a:ext cx="457200" cy="457200"/>
          </a:xfrm>
          <a:prstGeom prst="rect">
            <a:avLst/>
          </a:prstGeom>
        </p:spPr>
      </p:pic>
      <p:pic>
        <p:nvPicPr>
          <p:cNvPr id="7" name="Graphic 6" descr="Tick with solid fill">
            <a:extLst>
              <a:ext uri="{FF2B5EF4-FFF2-40B4-BE49-F238E27FC236}">
                <a16:creationId xmlns:a16="http://schemas.microsoft.com/office/drawing/2014/main" id="{1F8AF426-3C3F-3E7A-5B30-981F9022D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2997" y="3519269"/>
            <a:ext cx="457200" cy="457200"/>
          </a:xfrm>
          <a:prstGeom prst="rect">
            <a:avLst/>
          </a:prstGeom>
        </p:spPr>
      </p:pic>
      <p:pic>
        <p:nvPicPr>
          <p:cNvPr id="8" name="Graphic 7" descr="Tick with solid fill">
            <a:extLst>
              <a:ext uri="{FF2B5EF4-FFF2-40B4-BE49-F238E27FC236}">
                <a16:creationId xmlns:a16="http://schemas.microsoft.com/office/drawing/2014/main" id="{C665FB35-047D-B14B-D964-39371569D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1597" y="3928078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42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358"/>
    </mc:Choice>
    <mc:Fallback>
      <p:transition spd="slow" advTm="7535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3143-E0A9-244B-A70D-B8A4E0CD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Consider this…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E9C1E-7B80-F04D-8E5C-1E53E479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the user how many times they would like to see the string ”knock knock knock… Penny” repeated, and print it!</a:t>
            </a:r>
          </a:p>
          <a:p>
            <a:r>
              <a:rPr lang="en-US" dirty="0"/>
              <a:t>Can you customize the name?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66FD46-2278-E34E-BB44-E9C61D20C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625" y="3411582"/>
            <a:ext cx="5784750" cy="324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58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3143-E0A9-244B-A70D-B8A4E0CD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Consider this…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E9C1E-7B80-F04D-8E5C-1E53E4791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94995"/>
            <a:ext cx="11049000" cy="4835479"/>
          </a:xfrm>
        </p:spPr>
        <p:txBody>
          <a:bodyPr>
            <a:normAutofit/>
          </a:bodyPr>
          <a:lstStyle/>
          <a:p>
            <a:r>
              <a:rPr lang="en-US" dirty="0"/>
              <a:t>Ask the user how many times they would like to see the string ”knock knock knock… Penny” repeated, and print it!</a:t>
            </a:r>
          </a:p>
          <a:p>
            <a:r>
              <a:rPr lang="en-US" dirty="0"/>
              <a:t>Can you customize the name?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FF00"/>
                </a:solidFill>
              </a:rPr>
              <a:t>Hints for getting started</a:t>
            </a:r>
            <a:r>
              <a:rPr lang="en-US" dirty="0"/>
              <a:t>:</a:t>
            </a:r>
          </a:p>
          <a:p>
            <a:r>
              <a:rPr lang="en-US" dirty="0"/>
              <a:t>Ask the user for a number of times (think: input function)</a:t>
            </a:r>
          </a:p>
          <a:p>
            <a:pPr lvl="1"/>
            <a:r>
              <a:rPr lang="en-US" dirty="0"/>
              <a:t>Remember input function returns a string… </a:t>
            </a:r>
          </a:p>
          <a:p>
            <a:r>
              <a:rPr lang="en-US" dirty="0"/>
              <a:t>Repeated string (think: concatenation, * operator might be useful)</a:t>
            </a:r>
          </a:p>
          <a:p>
            <a:r>
              <a:rPr lang="en-US" dirty="0"/>
              <a:t>Make the output readable (think: escape characters)</a:t>
            </a:r>
          </a:p>
        </p:txBody>
      </p:sp>
      <p:pic>
        <p:nvPicPr>
          <p:cNvPr id="5" name="Picture 2" descr="Penny the big bang theory - Knock Knock Knock Penny Knock Knock Knock Penny Knock Knock Knock Penny LOLOLOLOLOLOLOLOLOL">
            <a:extLst>
              <a:ext uri="{FF2B5EF4-FFF2-40B4-BE49-F238E27FC236}">
                <a16:creationId xmlns:a16="http://schemas.microsoft.com/office/drawing/2014/main" id="{0AEB2BDC-5168-C6B9-ACD6-C2C988B9EC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10"/>
          <a:stretch/>
        </p:blipFill>
        <p:spPr bwMode="auto">
          <a:xfrm>
            <a:off x="5848611" y="2599441"/>
            <a:ext cx="4272419" cy="193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05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2" y="1822448"/>
            <a:ext cx="8129953" cy="4835479"/>
          </a:xfrm>
        </p:spPr>
        <p:txBody>
          <a:bodyPr/>
          <a:lstStyle/>
          <a:p>
            <a:r>
              <a:rPr lang="en-US" dirty="0"/>
              <a:t>The string (</a:t>
            </a:r>
            <a:r>
              <a:rPr lang="en-US" dirty="0">
                <a:solidFill>
                  <a:schemeClr val="accent6"/>
                </a:solidFill>
              </a:rPr>
              <a:t>str</a:t>
            </a:r>
            <a:r>
              <a:rPr lang="en-US" dirty="0"/>
              <a:t>) type was briefly introduced in previous weeks</a:t>
            </a:r>
          </a:p>
          <a:p>
            <a:r>
              <a:rPr lang="en-US" dirty="0"/>
              <a:t>Let’s take our string knowledge to the next level!</a:t>
            </a:r>
          </a:p>
          <a:p>
            <a:pPr lvl="1"/>
            <a:r>
              <a:rPr lang="en-US" dirty="0"/>
              <a:t>escape sequences</a:t>
            </a:r>
          </a:p>
          <a:p>
            <a:pPr lvl="1"/>
            <a:r>
              <a:rPr lang="en-US" dirty="0"/>
              <a:t>str operations</a:t>
            </a:r>
          </a:p>
          <a:p>
            <a:pPr lvl="1"/>
            <a:r>
              <a:rPr lang="en-US" dirty="0"/>
              <a:t>type conversion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str indexing and slicing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str methods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Graphic 4" descr="Tick with solid fill">
            <a:extLst>
              <a:ext uri="{FF2B5EF4-FFF2-40B4-BE49-F238E27FC236}">
                <a16:creationId xmlns:a16="http://schemas.microsoft.com/office/drawing/2014/main" id="{37BA7104-6152-0744-89F1-CF7778BFE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0197" y="3110460"/>
            <a:ext cx="457200" cy="457200"/>
          </a:xfrm>
          <a:prstGeom prst="rect">
            <a:avLst/>
          </a:prstGeom>
        </p:spPr>
      </p:pic>
      <p:pic>
        <p:nvPicPr>
          <p:cNvPr id="7" name="Graphic 6" descr="Tick with solid fill">
            <a:extLst>
              <a:ext uri="{FF2B5EF4-FFF2-40B4-BE49-F238E27FC236}">
                <a16:creationId xmlns:a16="http://schemas.microsoft.com/office/drawing/2014/main" id="{78A22A70-9FB8-E843-BD6E-FB5F463BA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2997" y="3519269"/>
            <a:ext cx="457200" cy="457200"/>
          </a:xfrm>
          <a:prstGeom prst="rect">
            <a:avLst/>
          </a:prstGeom>
        </p:spPr>
      </p:pic>
      <p:pic>
        <p:nvPicPr>
          <p:cNvPr id="8" name="Graphic 7" descr="Tick with solid fill">
            <a:extLst>
              <a:ext uri="{FF2B5EF4-FFF2-40B4-BE49-F238E27FC236}">
                <a16:creationId xmlns:a16="http://schemas.microsoft.com/office/drawing/2014/main" id="{20A9F539-0CF6-C541-B72F-F4D2A328F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597" y="3928078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95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6"/>
    </mc:Choice>
    <mc:Fallback>
      <p:transition spd="slow" advTm="66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92" y="1545083"/>
            <a:ext cx="11342654" cy="4835479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00FF00"/>
                </a:solidFill>
              </a:rPr>
              <a:t>index</a:t>
            </a:r>
            <a:r>
              <a:rPr lang="en-US" dirty="0"/>
              <a:t> is a position within the </a:t>
            </a:r>
            <a:r>
              <a:rPr lang="en-US" dirty="0">
                <a:solidFill>
                  <a:schemeClr val="accent6"/>
                </a:solidFill>
              </a:rPr>
              <a:t>string</a:t>
            </a:r>
          </a:p>
          <a:p>
            <a:r>
              <a:rPr lang="en-US" dirty="0"/>
              <a:t>A particular element of the string is accessed by the index of the element surrounded by square brackets </a:t>
            </a:r>
            <a:r>
              <a:rPr lang="en-US" dirty="0">
                <a:solidFill>
                  <a:srgbClr val="00FF00"/>
                </a:solidFill>
              </a:rPr>
              <a:t>[ ]</a:t>
            </a:r>
          </a:p>
          <a:p>
            <a:r>
              <a:rPr lang="en-US" dirty="0"/>
              <a:t>Positive indices count from the left-hand side, beginning with the first character at index 0, the second index 1, and so on…</a:t>
            </a:r>
          </a:p>
          <a:p>
            <a:r>
              <a:rPr lang="en-US" dirty="0"/>
              <a:t>Negative indices count from the right-hand side, beginning with the last character at index -1, the second last at index -2, and so on…</a:t>
            </a:r>
          </a:p>
          <a:p>
            <a:pPr lvl="1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0B13CB-9935-844B-A4D7-5474C855F47E}"/>
              </a:ext>
            </a:extLst>
          </p:cNvPr>
          <p:cNvSpPr txBox="1">
            <a:spLocks/>
          </p:cNvSpPr>
          <p:nvPr/>
        </p:nvSpPr>
        <p:spPr>
          <a:xfrm>
            <a:off x="650054" y="4892703"/>
            <a:ext cx="3151641" cy="1773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&gt;&gt;&gt;”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Yolo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”[0]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‘Y’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319F82-0593-CF43-8A67-84F0A8D53252}"/>
              </a:ext>
            </a:extLst>
          </p:cNvPr>
          <p:cNvSpPr txBox="1">
            <a:spLocks/>
          </p:cNvSpPr>
          <p:nvPr/>
        </p:nvSpPr>
        <p:spPr>
          <a:xfrm>
            <a:off x="4252457" y="4892701"/>
            <a:ext cx="3151641" cy="1773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Yolo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x[2]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‘l’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89E7DCA-D59D-F94A-8DC2-463EF0193244}"/>
              </a:ext>
            </a:extLst>
          </p:cNvPr>
          <p:cNvSpPr txBox="1">
            <a:spLocks/>
          </p:cNvSpPr>
          <p:nvPr/>
        </p:nvSpPr>
        <p:spPr>
          <a:xfrm>
            <a:off x="8202159" y="4892702"/>
            <a:ext cx="3151641" cy="1773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Yolo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x[-1]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‘o’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8771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650"/>
    </mc:Choice>
    <mc:Fallback>
      <p:transition spd="slow" advTm="1606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92" y="1545083"/>
            <a:ext cx="11837198" cy="4835479"/>
          </a:xfrm>
        </p:spPr>
        <p:txBody>
          <a:bodyPr/>
          <a:lstStyle/>
          <a:p>
            <a:r>
              <a:rPr lang="en-US" sz="1800" dirty="0"/>
              <a:t>An </a:t>
            </a:r>
            <a:r>
              <a:rPr lang="en-US" sz="1800" dirty="0">
                <a:solidFill>
                  <a:srgbClr val="00FF00"/>
                </a:solidFill>
              </a:rPr>
              <a:t>index</a:t>
            </a:r>
            <a:r>
              <a:rPr lang="en-US" sz="1800" dirty="0"/>
              <a:t> is a position within the </a:t>
            </a:r>
            <a:r>
              <a:rPr lang="en-US" sz="1800" dirty="0">
                <a:solidFill>
                  <a:schemeClr val="accent6"/>
                </a:solidFill>
              </a:rPr>
              <a:t>string</a:t>
            </a:r>
          </a:p>
          <a:p>
            <a:r>
              <a:rPr lang="en-US" sz="1800" dirty="0"/>
              <a:t>A particular element of the string is accessed by the index of the element surrounded by square brackets</a:t>
            </a:r>
          </a:p>
          <a:p>
            <a:r>
              <a:rPr lang="en-US" sz="1800" dirty="0"/>
              <a:t>Positive indices count from the left-hand side, beginning with the first character at index 0, the second index 1…</a:t>
            </a:r>
          </a:p>
          <a:p>
            <a:r>
              <a:rPr lang="en-US" sz="1800" dirty="0"/>
              <a:t>Negative indices count from the right-hand side, beginning with the last character at index -1, the second last at index -2, and so on…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0B13CB-9935-844B-A4D7-5474C855F47E}"/>
              </a:ext>
            </a:extLst>
          </p:cNvPr>
          <p:cNvSpPr txBox="1">
            <a:spLocks/>
          </p:cNvSpPr>
          <p:nvPr/>
        </p:nvSpPr>
        <p:spPr>
          <a:xfrm>
            <a:off x="345254" y="3429000"/>
            <a:ext cx="5116265" cy="32890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”I Love Cats”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x[0]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‘I’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1A7B58E-E2BF-1E45-BB4E-E274747E0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470960"/>
              </p:ext>
            </p:extLst>
          </p:nvPr>
        </p:nvGraphicFramePr>
        <p:xfrm>
          <a:off x="1597610" y="3962822"/>
          <a:ext cx="8996779" cy="15544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17889">
                  <a:extLst>
                    <a:ext uri="{9D8B030D-6E8A-4147-A177-3AD203B41FA5}">
                      <a16:colId xmlns:a16="http://schemas.microsoft.com/office/drawing/2014/main" val="3812440073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637702608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141936304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0917790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531086062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56567455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41428216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73081273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387692979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83441286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53936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00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84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06779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9357771-2381-DE4F-BF3D-E316A651620D}"/>
              </a:ext>
            </a:extLst>
          </p:cNvPr>
          <p:cNvSpPr txBox="1">
            <a:spLocks/>
          </p:cNvSpPr>
          <p:nvPr/>
        </p:nvSpPr>
        <p:spPr>
          <a:xfrm>
            <a:off x="3572622" y="5662460"/>
            <a:ext cx="3151641" cy="105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x[6]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 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AC3E55A-0A6E-0343-8E94-F31422C88AB9}"/>
              </a:ext>
            </a:extLst>
          </p:cNvPr>
          <p:cNvSpPr txBox="1">
            <a:spLocks/>
          </p:cNvSpPr>
          <p:nvPr/>
        </p:nvSpPr>
        <p:spPr>
          <a:xfrm>
            <a:off x="6799990" y="5662459"/>
            <a:ext cx="3151641" cy="105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x[-11]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‘I’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42858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326"/>
    </mc:Choice>
    <mc:Fallback>
      <p:transition spd="slow" advTm="6732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92" y="1545083"/>
            <a:ext cx="11342654" cy="4835479"/>
          </a:xfrm>
        </p:spPr>
        <p:txBody>
          <a:bodyPr/>
          <a:lstStyle/>
          <a:p>
            <a:r>
              <a:rPr lang="en-US" dirty="0"/>
              <a:t>We can extract more than one character (or substring) using </a:t>
            </a:r>
            <a:r>
              <a:rPr lang="en-US" dirty="0">
                <a:solidFill>
                  <a:schemeClr val="accent6"/>
                </a:solidFill>
              </a:rPr>
              <a:t>slicing</a:t>
            </a:r>
          </a:p>
          <a:p>
            <a:r>
              <a:rPr lang="en-US" dirty="0"/>
              <a:t>Uses the syntax [</a:t>
            </a:r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: </a:t>
            </a:r>
            <a:r>
              <a:rPr lang="en-US" dirty="0">
                <a:solidFill>
                  <a:srgbClr val="FB7FE8"/>
                </a:solidFill>
              </a:rPr>
              <a:t>finish</a:t>
            </a:r>
            <a:r>
              <a:rPr lang="en-US" dirty="0"/>
              <a:t>], where:</a:t>
            </a:r>
          </a:p>
          <a:p>
            <a:pPr lvl="1"/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is the index where we start the slice</a:t>
            </a:r>
          </a:p>
          <a:p>
            <a:pPr lvl="1"/>
            <a:r>
              <a:rPr lang="en-US" dirty="0">
                <a:solidFill>
                  <a:srgbClr val="FB7FE8"/>
                </a:solidFill>
              </a:rPr>
              <a:t>finish</a:t>
            </a:r>
            <a:r>
              <a:rPr lang="en-US" dirty="0"/>
              <a:t> is the index of </a:t>
            </a:r>
            <a:r>
              <a:rPr lang="en-US" b="1" dirty="0"/>
              <a:t>one after </a:t>
            </a:r>
            <a:r>
              <a:rPr lang="en-US" dirty="0"/>
              <a:t>where we end the slice</a:t>
            </a:r>
          </a:p>
          <a:p>
            <a:r>
              <a:rPr lang="en-US" dirty="0"/>
              <a:t>When either </a:t>
            </a:r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or </a:t>
            </a:r>
            <a:r>
              <a:rPr lang="en-US" dirty="0">
                <a:solidFill>
                  <a:srgbClr val="FB7FE8"/>
                </a:solidFill>
              </a:rPr>
              <a:t>finish</a:t>
            </a:r>
            <a:r>
              <a:rPr lang="en-US" dirty="0"/>
              <a:t> are not provided: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index is missing, it defaults to the beginning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rgbClr val="FB7FE8"/>
                </a:solidFill>
              </a:rPr>
              <a:t>finish</a:t>
            </a:r>
            <a:r>
              <a:rPr lang="en-US" dirty="0"/>
              <a:t> index is missing, it defaults to the end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0B13CB-9935-844B-A4D7-5474C855F47E}"/>
              </a:ext>
            </a:extLst>
          </p:cNvPr>
          <p:cNvSpPr txBox="1">
            <a:spLocks/>
          </p:cNvSpPr>
          <p:nvPr/>
        </p:nvSpPr>
        <p:spPr>
          <a:xfrm>
            <a:off x="650054" y="4892703"/>
            <a:ext cx="3151641" cy="1773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Yolo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x[0:3]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Yol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319F82-0593-CF43-8A67-84F0A8D53252}"/>
              </a:ext>
            </a:extLst>
          </p:cNvPr>
          <p:cNvSpPr txBox="1">
            <a:spLocks/>
          </p:cNvSpPr>
          <p:nvPr/>
        </p:nvSpPr>
        <p:spPr>
          <a:xfrm>
            <a:off x="4252457" y="4892701"/>
            <a:ext cx="3151641" cy="1773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Yolo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x[:3]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Yol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89E7DCA-D59D-F94A-8DC2-463EF0193244}"/>
              </a:ext>
            </a:extLst>
          </p:cNvPr>
          <p:cNvSpPr txBox="1">
            <a:spLocks/>
          </p:cNvSpPr>
          <p:nvPr/>
        </p:nvSpPr>
        <p:spPr>
          <a:xfrm>
            <a:off x="8202159" y="4892702"/>
            <a:ext cx="3151641" cy="1773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Yolo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x[-2:]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‘lo’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91109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465"/>
    </mc:Choice>
    <mc:Fallback>
      <p:transition spd="slow" advTm="214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14044"/>
            <a:ext cx="10515600" cy="656148"/>
          </a:xfrm>
        </p:spPr>
        <p:txBody>
          <a:bodyPr>
            <a:normAutofit fontScale="90000"/>
          </a:bodyPr>
          <a:lstStyle/>
          <a:p>
            <a:r>
              <a:rPr lang="en-US" dirty="0"/>
              <a:t>String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698" y="1400458"/>
            <a:ext cx="11594602" cy="220582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We can extract more than one character (or substring) using </a:t>
            </a:r>
            <a:r>
              <a:rPr lang="en-US" dirty="0">
                <a:solidFill>
                  <a:schemeClr val="accent6"/>
                </a:solidFill>
              </a:rPr>
              <a:t>slicing</a:t>
            </a:r>
          </a:p>
          <a:p>
            <a:r>
              <a:rPr lang="en-US" dirty="0"/>
              <a:t>Uses the syntax [</a:t>
            </a:r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: </a:t>
            </a:r>
            <a:r>
              <a:rPr lang="en-US" dirty="0">
                <a:solidFill>
                  <a:srgbClr val="FB7FE8"/>
                </a:solidFill>
              </a:rPr>
              <a:t>finish</a:t>
            </a:r>
            <a:r>
              <a:rPr lang="en-US" dirty="0"/>
              <a:t>], where:</a:t>
            </a:r>
          </a:p>
          <a:p>
            <a:pPr lvl="1"/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is the index where we start the slice</a:t>
            </a:r>
          </a:p>
          <a:p>
            <a:pPr lvl="1"/>
            <a:r>
              <a:rPr lang="en-US" dirty="0">
                <a:solidFill>
                  <a:srgbClr val="FB7FE8"/>
                </a:solidFill>
              </a:rPr>
              <a:t>finish</a:t>
            </a:r>
            <a:r>
              <a:rPr lang="en-US" dirty="0"/>
              <a:t> is the index of </a:t>
            </a:r>
            <a:r>
              <a:rPr lang="en-US" b="1" dirty="0"/>
              <a:t>one after </a:t>
            </a:r>
            <a:r>
              <a:rPr lang="en-US" dirty="0"/>
              <a:t>where we end the slice</a:t>
            </a:r>
          </a:p>
          <a:p>
            <a:r>
              <a:rPr lang="en-US" dirty="0"/>
              <a:t>When either </a:t>
            </a:r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or </a:t>
            </a:r>
            <a:r>
              <a:rPr lang="en-US" dirty="0">
                <a:solidFill>
                  <a:srgbClr val="FB7FE8"/>
                </a:solidFill>
              </a:rPr>
              <a:t>finish</a:t>
            </a:r>
            <a:r>
              <a:rPr lang="en-US" dirty="0"/>
              <a:t> are not provided: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index is missing, it defaults to the beginning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rgbClr val="FB7FE8"/>
                </a:solidFill>
              </a:rPr>
              <a:t>finish</a:t>
            </a:r>
            <a:r>
              <a:rPr lang="en-US" dirty="0"/>
              <a:t> index is missing, it defaults to the end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C6748286-5CC8-A04D-96E8-51A19B062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914346"/>
              </p:ext>
            </p:extLst>
          </p:nvPr>
        </p:nvGraphicFramePr>
        <p:xfrm>
          <a:off x="1597609" y="4074790"/>
          <a:ext cx="8996779" cy="15544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17889">
                  <a:extLst>
                    <a:ext uri="{9D8B030D-6E8A-4147-A177-3AD203B41FA5}">
                      <a16:colId xmlns:a16="http://schemas.microsoft.com/office/drawing/2014/main" val="3812440073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637702608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141936304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0917790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531086062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56567455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41428216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73081273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387692979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83441286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53936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00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84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06779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31D0CE-E299-454B-8B51-3FCD94A0C8FF}"/>
              </a:ext>
            </a:extLst>
          </p:cNvPr>
          <p:cNvSpPr txBox="1">
            <a:spLocks/>
          </p:cNvSpPr>
          <p:nvPr/>
        </p:nvSpPr>
        <p:spPr>
          <a:xfrm>
            <a:off x="457221" y="3606281"/>
            <a:ext cx="5116265" cy="30744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”I Love Cats”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x[2:6]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‘Love’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4AB333F-4EBC-E940-BEF7-890DA1946D8D}"/>
              </a:ext>
            </a:extLst>
          </p:cNvPr>
          <p:cNvSpPr txBox="1">
            <a:spLocks/>
          </p:cNvSpPr>
          <p:nvPr/>
        </p:nvSpPr>
        <p:spPr>
          <a:xfrm>
            <a:off x="2944357" y="5717576"/>
            <a:ext cx="3151641" cy="105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2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x[-9:-5]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200" spc="-15" dirty="0">
                <a:solidFill>
                  <a:srgbClr val="00FF00"/>
                </a:solidFill>
                <a:latin typeface="Courier New"/>
                <a:cs typeface="Courier New"/>
              </a:rPr>
              <a:t>‘Love’</a:t>
            </a:r>
            <a:endParaRPr lang="en-CA" sz="22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76B80F1-097E-7447-9706-63A49504198B}"/>
              </a:ext>
            </a:extLst>
          </p:cNvPr>
          <p:cNvSpPr txBox="1">
            <a:spLocks/>
          </p:cNvSpPr>
          <p:nvPr/>
        </p:nvSpPr>
        <p:spPr>
          <a:xfrm>
            <a:off x="6096002" y="5717576"/>
            <a:ext cx="2245565" cy="105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2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x[-4:]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200" spc="-15" dirty="0">
                <a:solidFill>
                  <a:srgbClr val="00FF00"/>
                </a:solidFill>
                <a:latin typeface="Courier New"/>
                <a:cs typeface="Courier New"/>
              </a:rPr>
              <a:t>‘Cats’</a:t>
            </a:r>
            <a:endParaRPr lang="en-CA" sz="22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8881C2D-F964-2546-B037-6A3494659CAD}"/>
              </a:ext>
            </a:extLst>
          </p:cNvPr>
          <p:cNvSpPr txBox="1">
            <a:spLocks/>
          </p:cNvSpPr>
          <p:nvPr/>
        </p:nvSpPr>
        <p:spPr>
          <a:xfrm>
            <a:off x="8583134" y="5717575"/>
            <a:ext cx="2770665" cy="105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2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x[:]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200" spc="-15" dirty="0">
                <a:solidFill>
                  <a:srgbClr val="00FF00"/>
                </a:solidFill>
                <a:latin typeface="Courier New"/>
                <a:cs typeface="Courier New"/>
              </a:rPr>
              <a:t>‘I Love Cats’</a:t>
            </a:r>
            <a:endParaRPr lang="en-CA" sz="22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455635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92" y="1545083"/>
            <a:ext cx="11342654" cy="4835479"/>
          </a:xfrm>
        </p:spPr>
        <p:txBody>
          <a:bodyPr/>
          <a:lstStyle/>
          <a:p>
            <a:r>
              <a:rPr lang="en-US" dirty="0"/>
              <a:t>To obtain the length of a string you can use the built-in function </a:t>
            </a:r>
            <a:r>
              <a:rPr lang="en-US" dirty="0" err="1">
                <a:solidFill>
                  <a:schemeClr val="accent6"/>
                </a:solidFill>
              </a:rPr>
              <a:t>len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The </a:t>
            </a:r>
            <a:r>
              <a:rPr lang="en-US" dirty="0" err="1">
                <a:solidFill>
                  <a:schemeClr val="accent6"/>
                </a:solidFill>
              </a:rPr>
              <a:t>len</a:t>
            </a:r>
            <a:r>
              <a:rPr lang="en-US" dirty="0"/>
              <a:t> function takes a string as an argument and returns an integer indicating the length of the string</a:t>
            </a:r>
          </a:p>
          <a:p>
            <a:pPr lvl="1"/>
            <a:r>
              <a:rPr lang="en-US" dirty="0"/>
              <a:t>Note: This will always be the final index + 1</a:t>
            </a:r>
          </a:p>
          <a:p>
            <a:pPr lvl="1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0B13CB-9935-844B-A4D7-5474C855F47E}"/>
              </a:ext>
            </a:extLst>
          </p:cNvPr>
          <p:cNvSpPr txBox="1">
            <a:spLocks/>
          </p:cNvSpPr>
          <p:nvPr/>
        </p:nvSpPr>
        <p:spPr>
          <a:xfrm>
            <a:off x="411603" y="3429001"/>
            <a:ext cx="4724379" cy="32517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”I Love Cats”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len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(x)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11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A93F135-ADF7-C54E-8B44-404C00CD1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790227"/>
              </p:ext>
            </p:extLst>
          </p:nvPr>
        </p:nvGraphicFramePr>
        <p:xfrm>
          <a:off x="1597610" y="3962822"/>
          <a:ext cx="8996779" cy="15544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17889">
                  <a:extLst>
                    <a:ext uri="{9D8B030D-6E8A-4147-A177-3AD203B41FA5}">
                      <a16:colId xmlns:a16="http://schemas.microsoft.com/office/drawing/2014/main" val="3812440073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637702608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141936304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0917790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531086062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56567455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41428216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73081273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387692979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83441286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53936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00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84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06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699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Extended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92" y="1545083"/>
            <a:ext cx="11781214" cy="4835479"/>
          </a:xfrm>
        </p:spPr>
        <p:txBody>
          <a:bodyPr/>
          <a:lstStyle/>
          <a:p>
            <a:r>
              <a:rPr lang="en-US" dirty="0"/>
              <a:t>We can slice (select) every </a:t>
            </a:r>
            <a:r>
              <a:rPr lang="en-US" b="1" i="1" dirty="0"/>
              <a:t>n</a:t>
            </a:r>
            <a:r>
              <a:rPr lang="en-US" dirty="0"/>
              <a:t>th character by providing three arguments</a:t>
            </a:r>
          </a:p>
          <a:p>
            <a:r>
              <a:rPr lang="en-US" dirty="0"/>
              <a:t>Uses the syntax [</a:t>
            </a:r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: </a:t>
            </a:r>
            <a:r>
              <a:rPr lang="en-US" dirty="0">
                <a:solidFill>
                  <a:srgbClr val="FB7FE8"/>
                </a:solidFill>
              </a:rPr>
              <a:t>finish </a:t>
            </a:r>
            <a:r>
              <a:rPr lang="en-US" dirty="0"/>
              <a:t>:</a:t>
            </a:r>
            <a:r>
              <a:rPr lang="en-US" dirty="0">
                <a:solidFill>
                  <a:srgbClr val="FB7FE8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step</a:t>
            </a:r>
            <a:r>
              <a:rPr lang="en-US" dirty="0"/>
              <a:t>], where:</a:t>
            </a:r>
          </a:p>
          <a:p>
            <a:pPr lvl="1"/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is the index where we start the slice</a:t>
            </a:r>
          </a:p>
          <a:p>
            <a:pPr lvl="1"/>
            <a:r>
              <a:rPr lang="en-US" dirty="0">
                <a:solidFill>
                  <a:srgbClr val="FB7FE8"/>
                </a:solidFill>
              </a:rPr>
              <a:t>finish</a:t>
            </a:r>
            <a:r>
              <a:rPr lang="en-US" dirty="0"/>
              <a:t> is the index of </a:t>
            </a:r>
            <a:r>
              <a:rPr lang="en-US" b="1" dirty="0"/>
              <a:t>one after </a:t>
            </a:r>
            <a:r>
              <a:rPr lang="en-US" dirty="0"/>
              <a:t>where we end the slice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step</a:t>
            </a:r>
            <a:r>
              <a:rPr lang="en-US" dirty="0"/>
              <a:t> is how much we count by between each character </a:t>
            </a:r>
          </a:p>
          <a:p>
            <a:r>
              <a:rPr lang="en-US" dirty="0"/>
              <a:t>When </a:t>
            </a:r>
            <a:r>
              <a:rPr lang="en-US" dirty="0">
                <a:solidFill>
                  <a:srgbClr val="00B0F0"/>
                </a:solidFill>
              </a:rPr>
              <a:t>step</a:t>
            </a:r>
            <a:r>
              <a:rPr lang="en-US" dirty="0"/>
              <a:t> is not provided, it defaults to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0B13CB-9935-844B-A4D7-5474C855F47E}"/>
              </a:ext>
            </a:extLst>
          </p:cNvPr>
          <p:cNvSpPr txBox="1">
            <a:spLocks/>
          </p:cNvSpPr>
          <p:nvPr/>
        </p:nvSpPr>
        <p:spPr>
          <a:xfrm>
            <a:off x="911675" y="4647508"/>
            <a:ext cx="3151641" cy="1773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Yolo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x[::2]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Yl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89E7DCA-D59D-F94A-8DC2-463EF0193244}"/>
              </a:ext>
            </a:extLst>
          </p:cNvPr>
          <p:cNvSpPr txBox="1">
            <a:spLocks/>
          </p:cNvSpPr>
          <p:nvPr/>
        </p:nvSpPr>
        <p:spPr>
          <a:xfrm>
            <a:off x="5839812" y="4647508"/>
            <a:ext cx="3151641" cy="1773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Yolo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x[::]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Yolo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44465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Extended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92" y="1545084"/>
            <a:ext cx="11781214" cy="188391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We can slice (select) every </a:t>
            </a:r>
            <a:r>
              <a:rPr lang="en-US" b="1" i="1" dirty="0"/>
              <a:t>n</a:t>
            </a:r>
            <a:r>
              <a:rPr lang="en-US" dirty="0"/>
              <a:t>th character by providing three arguments</a:t>
            </a:r>
          </a:p>
          <a:p>
            <a:r>
              <a:rPr lang="en-US" dirty="0"/>
              <a:t>Uses the syntax [</a:t>
            </a:r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: </a:t>
            </a:r>
            <a:r>
              <a:rPr lang="en-US" dirty="0">
                <a:solidFill>
                  <a:srgbClr val="FB7FE8"/>
                </a:solidFill>
              </a:rPr>
              <a:t>finish </a:t>
            </a:r>
            <a:r>
              <a:rPr lang="en-US" dirty="0"/>
              <a:t>:</a:t>
            </a:r>
            <a:r>
              <a:rPr lang="en-US" dirty="0">
                <a:solidFill>
                  <a:srgbClr val="FB7FE8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step</a:t>
            </a:r>
            <a:r>
              <a:rPr lang="en-US" dirty="0"/>
              <a:t>], where:</a:t>
            </a:r>
          </a:p>
          <a:p>
            <a:pPr lvl="1"/>
            <a:r>
              <a:rPr lang="en-US" dirty="0">
                <a:solidFill>
                  <a:srgbClr val="00FF00"/>
                </a:solidFill>
              </a:rPr>
              <a:t>start</a:t>
            </a:r>
            <a:r>
              <a:rPr lang="en-US" dirty="0"/>
              <a:t> is the index where we start the slice</a:t>
            </a:r>
          </a:p>
          <a:p>
            <a:pPr lvl="1"/>
            <a:r>
              <a:rPr lang="en-US" dirty="0">
                <a:solidFill>
                  <a:srgbClr val="FB7FE8"/>
                </a:solidFill>
              </a:rPr>
              <a:t>finish</a:t>
            </a:r>
            <a:r>
              <a:rPr lang="en-US" dirty="0"/>
              <a:t> is the index of </a:t>
            </a:r>
            <a:r>
              <a:rPr lang="en-US" b="1" dirty="0"/>
              <a:t>one after </a:t>
            </a:r>
            <a:r>
              <a:rPr lang="en-US" dirty="0"/>
              <a:t>where we end the slice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step</a:t>
            </a:r>
            <a:r>
              <a:rPr lang="en-US" dirty="0"/>
              <a:t> is how much we count by between each character </a:t>
            </a:r>
          </a:p>
          <a:p>
            <a:r>
              <a:rPr lang="en-US" dirty="0"/>
              <a:t>When </a:t>
            </a:r>
            <a:r>
              <a:rPr lang="en-US" dirty="0">
                <a:solidFill>
                  <a:srgbClr val="00B0F0"/>
                </a:solidFill>
              </a:rPr>
              <a:t>step</a:t>
            </a:r>
            <a:r>
              <a:rPr lang="en-US" dirty="0"/>
              <a:t> is not provided, it defaults to 1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BC81A4D5-E1E6-FA48-9902-535BC6020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037041"/>
              </p:ext>
            </p:extLst>
          </p:nvPr>
        </p:nvGraphicFramePr>
        <p:xfrm>
          <a:off x="1591509" y="3926387"/>
          <a:ext cx="8996779" cy="15544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17889">
                  <a:extLst>
                    <a:ext uri="{9D8B030D-6E8A-4147-A177-3AD203B41FA5}">
                      <a16:colId xmlns:a16="http://schemas.microsoft.com/office/drawing/2014/main" val="3812440073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637702608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141936304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0917790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531086062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56567455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41428216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73081273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387692979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83441286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53936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00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84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06779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174A51-E5E8-E846-9895-518BE897A428}"/>
              </a:ext>
            </a:extLst>
          </p:cNvPr>
          <p:cNvSpPr txBox="1">
            <a:spLocks/>
          </p:cNvSpPr>
          <p:nvPr/>
        </p:nvSpPr>
        <p:spPr>
          <a:xfrm>
            <a:off x="411603" y="3429001"/>
            <a:ext cx="4724379" cy="32517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”I Love Cats”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x[0:6:2]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‘</a:t>
            </a:r>
            <a:r>
              <a:rPr lang="en-CA" sz="2400" dirty="0" err="1">
                <a:solidFill>
                  <a:srgbClr val="00FF00"/>
                </a:solidFill>
                <a:latin typeface="Courier New"/>
                <a:cs typeface="Courier New"/>
              </a:rPr>
              <a:t>ILv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’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FEDC6E8-A23C-AF49-829E-5ECAE44ED153}"/>
              </a:ext>
            </a:extLst>
          </p:cNvPr>
          <p:cNvSpPr txBox="1">
            <a:spLocks/>
          </p:cNvSpPr>
          <p:nvPr/>
        </p:nvSpPr>
        <p:spPr>
          <a:xfrm>
            <a:off x="3560161" y="5697273"/>
            <a:ext cx="3151641" cy="105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x[::3]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‘Io t’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746EF9-0044-DD47-94B7-2D72D7D30E84}"/>
              </a:ext>
            </a:extLst>
          </p:cNvPr>
          <p:cNvSpPr txBox="1">
            <a:spLocks/>
          </p:cNvSpPr>
          <p:nvPr/>
        </p:nvSpPr>
        <p:spPr>
          <a:xfrm>
            <a:off x="5950412" y="5697273"/>
            <a:ext cx="3151641" cy="105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x[::-1]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staC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evoL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 I’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7BC3C2-F961-0846-9459-FBC05FC869CC}"/>
              </a:ext>
            </a:extLst>
          </p:cNvPr>
          <p:cNvSpPr txBox="1">
            <a:spLocks/>
          </p:cNvSpPr>
          <p:nvPr/>
        </p:nvSpPr>
        <p:spPr>
          <a:xfrm>
            <a:off x="9102053" y="5697273"/>
            <a:ext cx="3151641" cy="105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x[::-2]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sa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vLI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’</a:t>
            </a: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28806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666403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String indexing</a:t>
            </a:r>
          </a:p>
          <a:p>
            <a:pPr lvl="1"/>
            <a:r>
              <a:rPr lang="en-CA" dirty="0"/>
              <a:t>String slicing</a:t>
            </a:r>
          </a:p>
          <a:p>
            <a:pPr lvl="1"/>
            <a:r>
              <a:rPr lang="en-CA" dirty="0"/>
              <a:t>String length</a:t>
            </a:r>
          </a:p>
          <a:p>
            <a:pPr lvl="1"/>
            <a:r>
              <a:rPr lang="en-CA" dirty="0"/>
              <a:t>String slicing with a ‘step’</a:t>
            </a: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String Indexing and Slicing</a:t>
            </a:r>
          </a:p>
        </p:txBody>
      </p:sp>
    </p:spTree>
    <p:extLst>
      <p:ext uri="{BB962C8B-B14F-4D97-AF65-F5344CB8AC3E}">
        <p14:creationId xmlns:p14="http://schemas.microsoft.com/office/powerpoint/2010/main" val="335169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Modifying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91" y="1545083"/>
            <a:ext cx="11762553" cy="4835479"/>
          </a:xfrm>
        </p:spPr>
        <p:txBody>
          <a:bodyPr/>
          <a:lstStyle/>
          <a:p>
            <a:r>
              <a:rPr lang="en-US" dirty="0"/>
              <a:t>The indexing and slicing operations do not modify the string they act on</a:t>
            </a:r>
          </a:p>
          <a:p>
            <a:pPr lvl="1"/>
            <a:r>
              <a:rPr lang="en-US" dirty="0"/>
              <a:t>We cannot change a string!</a:t>
            </a:r>
          </a:p>
          <a:p>
            <a:r>
              <a:rPr lang="en-US" dirty="0"/>
              <a:t>Strings are </a:t>
            </a:r>
            <a:r>
              <a:rPr lang="en-US" dirty="0">
                <a:solidFill>
                  <a:srgbClr val="FF0000"/>
                </a:solidFill>
              </a:rPr>
              <a:t>immutable</a:t>
            </a:r>
            <a:r>
              <a:rPr lang="en-US" dirty="0"/>
              <a:t>, meaning they </a:t>
            </a:r>
            <a:r>
              <a:rPr lang="en-US" b="1" dirty="0"/>
              <a:t>CANNOT </a:t>
            </a:r>
            <a:r>
              <a:rPr lang="en-US" dirty="0"/>
              <a:t>be changed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A06070DE-F51A-6B4F-A127-E80C9EDF2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882338"/>
              </p:ext>
            </p:extLst>
          </p:nvPr>
        </p:nvGraphicFramePr>
        <p:xfrm>
          <a:off x="1597610" y="3670501"/>
          <a:ext cx="8996779" cy="15544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17889">
                  <a:extLst>
                    <a:ext uri="{9D8B030D-6E8A-4147-A177-3AD203B41FA5}">
                      <a16:colId xmlns:a16="http://schemas.microsoft.com/office/drawing/2014/main" val="3812440073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637702608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141936304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0917790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531086062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56567455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41428216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73081273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387692979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83441286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53936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00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84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06779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6C1BE9-AACF-EF4A-85B6-50D2730E5E83}"/>
              </a:ext>
            </a:extLst>
          </p:cNvPr>
          <p:cNvSpPr txBox="1">
            <a:spLocks/>
          </p:cNvSpPr>
          <p:nvPr/>
        </p:nvSpPr>
        <p:spPr>
          <a:xfrm>
            <a:off x="609049" y="3124179"/>
            <a:ext cx="10744751" cy="32517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”I Love Cats”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x[7] = ‘B’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dirty="0" err="1">
                <a:solidFill>
                  <a:srgbClr val="FF0000"/>
                </a:solidFill>
                <a:latin typeface="Courier New"/>
                <a:cs typeface="Courier New"/>
              </a:rPr>
              <a:t>TypeError</a:t>
            </a:r>
            <a:r>
              <a:rPr lang="en-CA" sz="2400" dirty="0">
                <a:solidFill>
                  <a:srgbClr val="FF0000"/>
                </a:solidFill>
                <a:latin typeface="Courier New"/>
                <a:cs typeface="Courier New"/>
              </a:rPr>
              <a:t>: 'str' object does not support item assignment</a:t>
            </a:r>
          </a:p>
        </p:txBody>
      </p:sp>
    </p:spTree>
    <p:extLst>
      <p:ext uri="{BB962C8B-B14F-4D97-AF65-F5344CB8AC3E}">
        <p14:creationId xmlns:p14="http://schemas.microsoft.com/office/powerpoint/2010/main" val="4181940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Modifying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91" y="1545083"/>
            <a:ext cx="11762553" cy="4835479"/>
          </a:xfrm>
        </p:spPr>
        <p:txBody>
          <a:bodyPr/>
          <a:lstStyle/>
          <a:p>
            <a:r>
              <a:rPr lang="en-US" dirty="0"/>
              <a:t>To “modify” a string, we must create a new one</a:t>
            </a:r>
          </a:p>
          <a:p>
            <a:pPr lvl="1"/>
            <a:r>
              <a:rPr lang="en-US" dirty="0"/>
              <a:t>Let’s change this to ”I Love Dogs”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A06070DE-F51A-6B4F-A127-E80C9EDF2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633491"/>
              </p:ext>
            </p:extLst>
          </p:nvPr>
        </p:nvGraphicFramePr>
        <p:xfrm>
          <a:off x="1597610" y="3066327"/>
          <a:ext cx="8996779" cy="15544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17889">
                  <a:extLst>
                    <a:ext uri="{9D8B030D-6E8A-4147-A177-3AD203B41FA5}">
                      <a16:colId xmlns:a16="http://schemas.microsoft.com/office/drawing/2014/main" val="3812440073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637702608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141936304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0917790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531086062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56567455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241428216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730812731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387692979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1834412860"/>
                    </a:ext>
                  </a:extLst>
                </a:gridCol>
                <a:gridCol w="817889">
                  <a:extLst>
                    <a:ext uri="{9D8B030D-6E8A-4147-A177-3AD203B41FA5}">
                      <a16:colId xmlns:a16="http://schemas.microsoft.com/office/drawing/2014/main" val="3953936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00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84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06779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6C1BE9-AACF-EF4A-85B6-50D2730E5E83}"/>
              </a:ext>
            </a:extLst>
          </p:cNvPr>
          <p:cNvSpPr txBox="1">
            <a:spLocks/>
          </p:cNvSpPr>
          <p:nvPr/>
        </p:nvSpPr>
        <p:spPr>
          <a:xfrm>
            <a:off x="230155" y="2560897"/>
            <a:ext cx="11731689" cy="41198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”I Love Cats”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x_new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 = x[:7] + ‘Dogs’    </a:t>
            </a:r>
            <a:r>
              <a:rPr lang="en-CA" sz="2400" spc="-15" dirty="0">
                <a:solidFill>
                  <a:srgbClr val="00B0F0"/>
                </a:solidFill>
                <a:latin typeface="Courier New"/>
                <a:cs typeface="Courier New"/>
              </a:rPr>
              <a:t>#</a:t>
            </a:r>
            <a:r>
              <a:rPr lang="en-CA" sz="2400" spc="-15" dirty="0" err="1">
                <a:solidFill>
                  <a:srgbClr val="00B0F0"/>
                </a:solidFill>
                <a:latin typeface="Courier New"/>
                <a:cs typeface="Courier New"/>
              </a:rPr>
              <a:t>x_new</a:t>
            </a:r>
            <a:r>
              <a:rPr lang="en-CA" sz="2400" spc="-15" dirty="0">
                <a:solidFill>
                  <a:srgbClr val="00B0F0"/>
                </a:solidFill>
                <a:latin typeface="Courier New"/>
                <a:cs typeface="Courier New"/>
              </a:rPr>
              <a:t> points to the new string object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x =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x_new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 		        </a:t>
            </a:r>
            <a:r>
              <a:rPr lang="en-CA" sz="2400" spc="-15" dirty="0">
                <a:solidFill>
                  <a:srgbClr val="00B0F0"/>
                </a:solidFill>
                <a:latin typeface="Courier New"/>
                <a:cs typeface="Courier New"/>
              </a:rPr>
              <a:t>#x points to the new object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print(x)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‘I Love Dogs’</a:t>
            </a:r>
          </a:p>
        </p:txBody>
      </p:sp>
    </p:spTree>
    <p:extLst>
      <p:ext uri="{BB962C8B-B14F-4D97-AF65-F5344CB8AC3E}">
        <p14:creationId xmlns:p14="http://schemas.microsoft.com/office/powerpoint/2010/main" val="3477132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666403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Modifying strings</a:t>
            </a:r>
          </a:p>
          <a:p>
            <a:pPr lvl="1"/>
            <a:r>
              <a:rPr lang="en-CA" dirty="0"/>
              <a:t>String immutability</a:t>
            </a: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Modifying Strings</a:t>
            </a:r>
          </a:p>
        </p:txBody>
      </p:sp>
    </p:spTree>
    <p:extLst>
      <p:ext uri="{BB962C8B-B14F-4D97-AF65-F5344CB8AC3E}">
        <p14:creationId xmlns:p14="http://schemas.microsoft.com/office/powerpoint/2010/main" val="785965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2" y="1822448"/>
            <a:ext cx="8129953" cy="4835479"/>
          </a:xfrm>
        </p:spPr>
        <p:txBody>
          <a:bodyPr/>
          <a:lstStyle/>
          <a:p>
            <a:r>
              <a:rPr lang="en-US" dirty="0"/>
              <a:t>The string (</a:t>
            </a:r>
            <a:r>
              <a:rPr lang="en-US" dirty="0">
                <a:solidFill>
                  <a:schemeClr val="accent6"/>
                </a:solidFill>
              </a:rPr>
              <a:t>str</a:t>
            </a:r>
            <a:r>
              <a:rPr lang="en-US" dirty="0"/>
              <a:t>) type was briefly introduced in previous weeks</a:t>
            </a:r>
          </a:p>
          <a:p>
            <a:r>
              <a:rPr lang="en-US" dirty="0"/>
              <a:t>Let’s take our string knowledge to the next level!</a:t>
            </a:r>
          </a:p>
          <a:p>
            <a:pPr lvl="1"/>
            <a:r>
              <a:rPr lang="en-US" dirty="0"/>
              <a:t>escape sequences</a:t>
            </a:r>
          </a:p>
          <a:p>
            <a:pPr lvl="1"/>
            <a:r>
              <a:rPr lang="en-US" dirty="0"/>
              <a:t>str operations</a:t>
            </a:r>
          </a:p>
          <a:p>
            <a:pPr lvl="1"/>
            <a:r>
              <a:rPr lang="en-US" dirty="0"/>
              <a:t>type conversion</a:t>
            </a:r>
          </a:p>
          <a:p>
            <a:pPr lvl="1"/>
            <a:r>
              <a:rPr lang="en-US" dirty="0"/>
              <a:t>str indexing and slicing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str methods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Graphic 4" descr="Tick with solid fill">
            <a:extLst>
              <a:ext uri="{FF2B5EF4-FFF2-40B4-BE49-F238E27FC236}">
                <a16:creationId xmlns:a16="http://schemas.microsoft.com/office/drawing/2014/main" id="{37BA7104-6152-0744-89F1-CF7778BFE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0197" y="3110460"/>
            <a:ext cx="457200" cy="457200"/>
          </a:xfrm>
          <a:prstGeom prst="rect">
            <a:avLst/>
          </a:prstGeom>
        </p:spPr>
      </p:pic>
      <p:pic>
        <p:nvPicPr>
          <p:cNvPr id="7" name="Graphic 6" descr="Tick with solid fill">
            <a:extLst>
              <a:ext uri="{FF2B5EF4-FFF2-40B4-BE49-F238E27FC236}">
                <a16:creationId xmlns:a16="http://schemas.microsoft.com/office/drawing/2014/main" id="{78A22A70-9FB8-E843-BD6E-FB5F463BA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2997" y="3519269"/>
            <a:ext cx="457200" cy="457200"/>
          </a:xfrm>
          <a:prstGeom prst="rect">
            <a:avLst/>
          </a:prstGeom>
        </p:spPr>
      </p:pic>
      <p:pic>
        <p:nvPicPr>
          <p:cNvPr id="8" name="Graphic 7" descr="Tick with solid fill">
            <a:extLst>
              <a:ext uri="{FF2B5EF4-FFF2-40B4-BE49-F238E27FC236}">
                <a16:creationId xmlns:a16="http://schemas.microsoft.com/office/drawing/2014/main" id="{20A9F539-0CF6-C541-B72F-F4D2A328F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597" y="3928078"/>
            <a:ext cx="457200" cy="457200"/>
          </a:xfrm>
          <a:prstGeom prst="rect">
            <a:avLst/>
          </a:prstGeom>
        </p:spPr>
      </p:pic>
      <p:pic>
        <p:nvPicPr>
          <p:cNvPr id="9" name="Graphic 8" descr="Tick with solid fill">
            <a:extLst>
              <a:ext uri="{FF2B5EF4-FFF2-40B4-BE49-F238E27FC236}">
                <a16:creationId xmlns:a16="http://schemas.microsoft.com/office/drawing/2014/main" id="{9E85A7AE-AEC7-5246-A97A-38F317102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5824" y="4303653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678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61A-E17B-D441-9A47-659DE5D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B960-1118-4C42-8919-04D0AD72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 are objects and just like other objects, the </a:t>
            </a:r>
            <a:r>
              <a:rPr lang="en-US" dirty="0">
                <a:solidFill>
                  <a:schemeClr val="accent6"/>
                </a:solidFill>
              </a:rPr>
              <a:t>str</a:t>
            </a:r>
            <a:r>
              <a:rPr lang="en-US" dirty="0"/>
              <a:t> type has associated methods that are only valid for strings</a:t>
            </a:r>
          </a:p>
          <a:p>
            <a:r>
              <a:rPr lang="en-US" dirty="0"/>
              <a:t>To find out which methods are associated with objects, use the built-in function </a:t>
            </a:r>
            <a:r>
              <a:rPr lang="en-US" dirty="0" err="1">
                <a:solidFill>
                  <a:srgbClr val="00B0F0"/>
                </a:solidFill>
              </a:rPr>
              <a:t>dir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88BD85-6339-D54E-9A75-9A7956CAAE6D}"/>
              </a:ext>
            </a:extLst>
          </p:cNvPr>
          <p:cNvSpPr txBox="1">
            <a:spLocks/>
          </p:cNvSpPr>
          <p:nvPr/>
        </p:nvSpPr>
        <p:spPr>
          <a:xfrm>
            <a:off x="838199" y="3691516"/>
            <a:ext cx="9109365" cy="296958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dir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(str)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['__add__', '__class__', '__contains__',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delattr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dir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'__doc__', '__eq__', '__format__',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ge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getattribute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getitem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getnewargs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gt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'__hash__',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init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init_subclass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iter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'__le__',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len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lt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'__mod__',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mul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'__ne__', '__new__', '__reduce__',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reduce_ex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repr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rmod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rmul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setattr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sizeof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'__str__', '__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subclasshook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__', 'capitalize',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casefold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'center', 'count', 'encode',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endswith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expandtabs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'find', 'format',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format_map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'index',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isalnum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isalpha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isascii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isdecimal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isdigit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isidentifier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islower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isnumeric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isprintable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isspace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istitle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isupper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'join',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ljust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'lower',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lstrip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maketrans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'partition', 'replace',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rfind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rindex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rjust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rpartition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rsplit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rstrip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'split',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splitlines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startswith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'strip',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swapcase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', 'title', 'translate', 'upper', '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zfill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3930113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61A-E17B-D441-9A47-659DE5D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Method: </a:t>
            </a:r>
            <a:r>
              <a:rPr lang="en-US" dirty="0">
                <a:solidFill>
                  <a:schemeClr val="accent6"/>
                </a:solidFill>
              </a:rPr>
              <a:t>upper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B960-1118-4C42-8919-04D0AD72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upper</a:t>
            </a:r>
            <a:r>
              <a:rPr lang="en-US" dirty="0"/>
              <a:t> is a string method that generates a new string that has all upper case characters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2FEE43-ED3E-6C4B-94C9-09B68F2057E7}"/>
              </a:ext>
            </a:extLst>
          </p:cNvPr>
          <p:cNvSpPr txBox="1">
            <a:spLocks/>
          </p:cNvSpPr>
          <p:nvPr/>
        </p:nvSpPr>
        <p:spPr>
          <a:xfrm>
            <a:off x="112986" y="3092426"/>
            <a:ext cx="11853042" cy="33184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white_rabbit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 = ”I’m late! I’m late! For a very important date!”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white_rabbit.upper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“I’M LATE! I’M LATE! FOR A VERY IMPORTANT DATE!”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white_rabbit</a:t>
            </a: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“I’m late! I’m late! For a very important date!”</a:t>
            </a:r>
          </a:p>
        </p:txBody>
      </p:sp>
      <p:pic>
        <p:nvPicPr>
          <p:cNvPr id="2050" name="Picture 2" descr="White Rabbit &amp;quot;I&amp;#39;m late!&amp;quot; Blank Template - Imgflip">
            <a:extLst>
              <a:ext uri="{FF2B5EF4-FFF2-40B4-BE49-F238E27FC236}">
                <a16:creationId xmlns:a16="http://schemas.microsoft.com/office/drawing/2014/main" id="{A96D8802-0227-E446-AEFA-595823BFB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447" y="3749580"/>
            <a:ext cx="3031353" cy="266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938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61A-E17B-D441-9A47-659DE5D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Method: </a:t>
            </a:r>
            <a:r>
              <a:rPr lang="en-US" dirty="0">
                <a:solidFill>
                  <a:schemeClr val="accent6"/>
                </a:solidFill>
              </a:rPr>
              <a:t>lower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B960-1118-4C42-8919-04D0AD72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lower</a:t>
            </a:r>
            <a:r>
              <a:rPr lang="en-US" dirty="0"/>
              <a:t> is a string method that generates a new string that has all lower case characters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2050" name="Picture 2" descr="White Rabbit &amp;quot;I&amp;#39;m late!&amp;quot; Blank Template - Imgflip">
            <a:extLst>
              <a:ext uri="{FF2B5EF4-FFF2-40B4-BE49-F238E27FC236}">
                <a16:creationId xmlns:a16="http://schemas.microsoft.com/office/drawing/2014/main" id="{A96D8802-0227-E446-AEFA-595823BFB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447" y="3749580"/>
            <a:ext cx="3031353" cy="266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2391A7-5272-AC4B-99EA-7E92B704046E}"/>
              </a:ext>
            </a:extLst>
          </p:cNvPr>
          <p:cNvSpPr txBox="1">
            <a:spLocks/>
          </p:cNvSpPr>
          <p:nvPr/>
        </p:nvSpPr>
        <p:spPr>
          <a:xfrm>
            <a:off x="112986" y="3092426"/>
            <a:ext cx="11853042" cy="33184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white_rabbit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 = ”I’m late! I’m late! For a very important date!”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white_rabbit.lower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”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i’m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 late!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i’m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 late! for a very important date!”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white_rabbit</a:t>
            </a: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“I’m late! I’m late! For a very important date!”</a:t>
            </a:r>
          </a:p>
        </p:txBody>
      </p:sp>
    </p:spTree>
    <p:extLst>
      <p:ext uri="{BB962C8B-B14F-4D97-AF65-F5344CB8AC3E}">
        <p14:creationId xmlns:p14="http://schemas.microsoft.com/office/powerpoint/2010/main" val="1227739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61A-E17B-D441-9A47-659DE5D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Method: </a:t>
            </a:r>
            <a:r>
              <a:rPr lang="en-US" dirty="0">
                <a:solidFill>
                  <a:schemeClr val="accent6"/>
                </a:solidFill>
              </a:rPr>
              <a:t>find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/>
              <a:t>and </a:t>
            </a:r>
            <a:r>
              <a:rPr lang="en-US" dirty="0" err="1">
                <a:solidFill>
                  <a:schemeClr val="accent6"/>
                </a:solidFill>
              </a:rPr>
              <a:t>rfind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B960-1118-4C42-8919-04D0AD72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393"/>
            <a:ext cx="11127828" cy="4835479"/>
          </a:xfrm>
        </p:spPr>
        <p:txBody>
          <a:bodyPr/>
          <a:lstStyle/>
          <a:p>
            <a:r>
              <a:rPr lang="en-US" dirty="0"/>
              <a:t>The method </a:t>
            </a:r>
            <a:r>
              <a:rPr lang="en-US" dirty="0">
                <a:solidFill>
                  <a:schemeClr val="accent6"/>
                </a:solidFill>
              </a:rPr>
              <a:t>find</a:t>
            </a:r>
            <a:r>
              <a:rPr lang="en-US" dirty="0"/>
              <a:t> returns first index where a substring is found</a:t>
            </a:r>
          </a:p>
          <a:p>
            <a:r>
              <a:rPr lang="en-US" dirty="0"/>
              <a:t>The method </a:t>
            </a:r>
            <a:r>
              <a:rPr lang="en-US" dirty="0" err="1">
                <a:solidFill>
                  <a:schemeClr val="accent6"/>
                </a:solidFill>
              </a:rPr>
              <a:t>rfind</a:t>
            </a:r>
            <a:r>
              <a:rPr lang="en-US" dirty="0"/>
              <a:t> returns the last index where a substring is found</a:t>
            </a:r>
          </a:p>
          <a:p>
            <a:r>
              <a:rPr lang="en-US" dirty="0"/>
              <a:t>Returns -1 if no such substring exists</a:t>
            </a:r>
          </a:p>
          <a:p>
            <a:endParaRPr lang="en-US" dirty="0"/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2FEE43-ED3E-6C4B-94C9-09B68F2057E7}"/>
              </a:ext>
            </a:extLst>
          </p:cNvPr>
          <p:cNvSpPr txBox="1">
            <a:spLocks/>
          </p:cNvSpPr>
          <p:nvPr/>
        </p:nvSpPr>
        <p:spPr>
          <a:xfrm>
            <a:off x="112986" y="3092426"/>
            <a:ext cx="11853042" cy="33184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white_rabbit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 = ”I’m late! I’m late! For a very important date!”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white_rabbit.find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(‘late’)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4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white_rabbit.rfind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(‘late’)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14</a:t>
            </a:r>
          </a:p>
        </p:txBody>
      </p:sp>
      <p:pic>
        <p:nvPicPr>
          <p:cNvPr id="2050" name="Picture 2" descr="White Rabbit &amp;quot;I&amp;#39;m late!&amp;quot; Blank Template - Imgflip">
            <a:extLst>
              <a:ext uri="{FF2B5EF4-FFF2-40B4-BE49-F238E27FC236}">
                <a16:creationId xmlns:a16="http://schemas.microsoft.com/office/drawing/2014/main" id="{A96D8802-0227-E446-AEFA-595823BFB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447" y="3749580"/>
            <a:ext cx="3031353" cy="266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5079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61A-E17B-D441-9A47-659DE5D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Method: </a:t>
            </a:r>
            <a:r>
              <a:rPr lang="en-US" dirty="0">
                <a:solidFill>
                  <a:schemeClr val="accent6"/>
                </a:solidFill>
              </a:rPr>
              <a:t>replace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B960-1118-4C42-8919-04D0AD72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393"/>
            <a:ext cx="11127828" cy="4835479"/>
          </a:xfrm>
        </p:spPr>
        <p:txBody>
          <a:bodyPr/>
          <a:lstStyle/>
          <a:p>
            <a:r>
              <a:rPr lang="en-US" dirty="0"/>
              <a:t>The method </a:t>
            </a:r>
            <a:r>
              <a:rPr lang="en-US" dirty="0">
                <a:solidFill>
                  <a:schemeClr val="accent6"/>
                </a:solidFill>
              </a:rPr>
              <a:t>replace(</a:t>
            </a:r>
            <a:r>
              <a:rPr lang="en-US" dirty="0">
                <a:solidFill>
                  <a:srgbClr val="00B0F0"/>
                </a:solidFill>
              </a:rPr>
              <a:t>old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>
                <a:solidFill>
                  <a:srgbClr val="FB7FE8"/>
                </a:solidFill>
              </a:rPr>
              <a:t>new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 returns a copy of the string in which the occurrences of old have been replaced with new.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2FEE43-ED3E-6C4B-94C9-09B68F2057E7}"/>
              </a:ext>
            </a:extLst>
          </p:cNvPr>
          <p:cNvSpPr txBox="1">
            <a:spLocks/>
          </p:cNvSpPr>
          <p:nvPr/>
        </p:nvSpPr>
        <p:spPr>
          <a:xfrm>
            <a:off x="112986" y="2688411"/>
            <a:ext cx="11853042" cy="3318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0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000" spc="-15" dirty="0" err="1">
                <a:solidFill>
                  <a:srgbClr val="00FF00"/>
                </a:solidFill>
                <a:latin typeface="Courier New"/>
                <a:cs typeface="Courier New"/>
              </a:rPr>
              <a:t>white_rabbit</a:t>
            </a:r>
            <a:r>
              <a:rPr lang="en-CA" sz="2000" spc="-15" dirty="0">
                <a:solidFill>
                  <a:srgbClr val="00FF00"/>
                </a:solidFill>
                <a:latin typeface="Courier New"/>
                <a:cs typeface="Courier New"/>
              </a:rPr>
              <a:t> = ”I’m late! I’m late! For a very important date!”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0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0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000" spc="-15" dirty="0" err="1">
                <a:solidFill>
                  <a:srgbClr val="00FF00"/>
                </a:solidFill>
                <a:latin typeface="Courier New"/>
                <a:cs typeface="Courier New"/>
              </a:rPr>
              <a:t>white_rabbit.replace</a:t>
            </a:r>
            <a:r>
              <a:rPr lang="en-CA" sz="2000" spc="-15" dirty="0">
                <a:solidFill>
                  <a:srgbClr val="00FF00"/>
                </a:solidFill>
                <a:latin typeface="Courier New"/>
                <a:cs typeface="Courier New"/>
              </a:rPr>
              <a:t>(‘</a:t>
            </a:r>
            <a:r>
              <a:rPr lang="en-CA" sz="2000" spc="-15" dirty="0" err="1">
                <a:solidFill>
                  <a:srgbClr val="00FF00"/>
                </a:solidFill>
                <a:latin typeface="Courier New"/>
                <a:cs typeface="Courier New"/>
              </a:rPr>
              <a:t>late’,’early</a:t>
            </a:r>
            <a:r>
              <a:rPr lang="en-CA" sz="2000" spc="-15" dirty="0">
                <a:solidFill>
                  <a:srgbClr val="00FF00"/>
                </a:solidFill>
                <a:latin typeface="Courier New"/>
                <a:cs typeface="Courier New"/>
              </a:rPr>
              <a:t>’)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000" spc="-15" dirty="0">
                <a:solidFill>
                  <a:srgbClr val="00FF00"/>
                </a:solidFill>
                <a:latin typeface="Courier New"/>
                <a:cs typeface="Courier New"/>
              </a:rPr>
              <a:t>“I’m early! I’m early! For a very important date!”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000" spc="-15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pic>
        <p:nvPicPr>
          <p:cNvPr id="2050" name="Picture 2" descr="White Rabbit &amp;quot;I&amp;#39;m late!&amp;quot; Blank Template - Imgflip">
            <a:extLst>
              <a:ext uri="{FF2B5EF4-FFF2-40B4-BE49-F238E27FC236}">
                <a16:creationId xmlns:a16="http://schemas.microsoft.com/office/drawing/2014/main" id="{A96D8802-0227-E446-AEFA-595823BFB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447" y="3749580"/>
            <a:ext cx="3031353" cy="266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17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61A-E17B-D441-9A47-659DE5D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Chaining Methods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B960-1118-4C42-8919-04D0AD72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393"/>
            <a:ext cx="11127828" cy="4835479"/>
          </a:xfrm>
        </p:spPr>
        <p:txBody>
          <a:bodyPr/>
          <a:lstStyle/>
          <a:p>
            <a:r>
              <a:rPr lang="en-US" dirty="0"/>
              <a:t>How would you replace the word “forward” with “backward”?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Methods can be chained together</a:t>
            </a:r>
          </a:p>
          <a:p>
            <a:pPr lvl="1"/>
            <a:r>
              <a:rPr lang="en-US" dirty="0"/>
              <a:t>Perform first operation, which returns an object</a:t>
            </a:r>
          </a:p>
          <a:p>
            <a:pPr lvl="1"/>
            <a:r>
              <a:rPr lang="en-US" dirty="0"/>
              <a:t>Use the returned object for the next method</a:t>
            </a: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2FEE43-ED3E-6C4B-94C9-09B68F2057E7}"/>
              </a:ext>
            </a:extLst>
          </p:cNvPr>
          <p:cNvSpPr txBox="1">
            <a:spLocks/>
          </p:cNvSpPr>
          <p:nvPr/>
        </p:nvSpPr>
        <p:spPr>
          <a:xfrm>
            <a:off x="112986" y="2333908"/>
            <a:ext cx="11853042" cy="4076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s = ‘Forward, forward we must go, for there is no other way to go!’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s.lower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().replace(‘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forward’,’backward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’)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‘backward, backward we must go, for there is no other way to go!’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s.lower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().replace(‘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forward’,’backward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’).capitalize()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‘Backward, backward we must go, for there is no other way to go!’</a:t>
            </a:r>
          </a:p>
          <a:p>
            <a:pPr marL="0" indent="0">
              <a:lnSpc>
                <a:spcPct val="100000"/>
              </a:lnSpc>
              <a:buNone/>
            </a:pPr>
            <a:endParaRPr lang="en-CA" sz="2400" spc="-15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49641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61A-E17B-D441-9A47-659DE5D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String Methods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B960-1118-4C42-8919-04D0AD72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393"/>
            <a:ext cx="11127828" cy="4835479"/>
          </a:xfrm>
        </p:spPr>
        <p:txBody>
          <a:bodyPr/>
          <a:lstStyle/>
          <a:p>
            <a:r>
              <a:rPr lang="en-US" dirty="0"/>
              <a:t>There are many more string methods available which you will explore in lab assignments and tutorials</a:t>
            </a:r>
          </a:p>
          <a:p>
            <a:pPr lvl="1"/>
            <a:r>
              <a:rPr lang="en-US" dirty="0" err="1">
                <a:latin typeface="Courier" pitchFamily="2" charset="0"/>
              </a:rPr>
              <a:t>str.islower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pPr lvl="1"/>
            <a:r>
              <a:rPr lang="en-US" dirty="0" err="1">
                <a:latin typeface="Courier" pitchFamily="2" charset="0"/>
              </a:rPr>
              <a:t>str.count</a:t>
            </a:r>
            <a:r>
              <a:rPr lang="en-US" dirty="0">
                <a:latin typeface="Courier" pitchFamily="2" charset="0"/>
              </a:rPr>
              <a:t>(sub)</a:t>
            </a:r>
          </a:p>
          <a:p>
            <a:pPr lvl="1"/>
            <a:r>
              <a:rPr lang="en-US" dirty="0" err="1">
                <a:latin typeface="Courier" pitchFamily="2" charset="0"/>
              </a:rPr>
              <a:t>str.ljust</a:t>
            </a:r>
            <a:r>
              <a:rPr lang="en-US" dirty="0">
                <a:latin typeface="Courier" pitchFamily="2" charset="0"/>
              </a:rPr>
              <a:t>(width)</a:t>
            </a:r>
          </a:p>
          <a:p>
            <a:pPr lvl="1"/>
            <a:r>
              <a:rPr lang="en-US" dirty="0" err="1">
                <a:latin typeface="Courier" pitchFamily="2" charset="0"/>
              </a:rPr>
              <a:t>str.lstrip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pPr lvl="1"/>
            <a:r>
              <a:rPr lang="en-US" dirty="0" err="1">
                <a:latin typeface="Courier" pitchFamily="2" charset="0"/>
              </a:rPr>
              <a:t>str.split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pPr lvl="1"/>
            <a:r>
              <a:rPr lang="en-US" dirty="0" err="1">
                <a:latin typeface="Courier" pitchFamily="2" charset="0"/>
              </a:rPr>
              <a:t>str.strip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pPr lvl="1"/>
            <a:endParaRPr lang="en-US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A33AD18-3938-B34F-AB99-58BA34C0EC4F}"/>
              </a:ext>
            </a:extLst>
          </p:cNvPr>
          <p:cNvSpPr txBox="1"/>
          <p:nvPr/>
        </p:nvSpPr>
        <p:spPr>
          <a:xfrm>
            <a:off x="4971042" y="2757479"/>
            <a:ext cx="6994986" cy="4131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70"/>
              </a:lnSpc>
            </a:pPr>
            <a:r>
              <a:rPr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</a:t>
            </a:r>
            <a:r>
              <a:rPr sz="2400" spc="-5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</a:t>
            </a:r>
            <a:r>
              <a:rPr sz="2400" spc="-1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 </a:t>
            </a:r>
            <a:r>
              <a:rPr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need</a:t>
            </a:r>
            <a:r>
              <a:rPr sz="2400" spc="-5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sz="2400" spc="-5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memorize</a:t>
            </a:r>
            <a:r>
              <a:rPr sz="2400" spc="-5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o</a:t>
            </a:r>
            <a:r>
              <a:rPr sz="2400" spc="-1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 </a:t>
            </a:r>
            <a:r>
              <a:rPr sz="2400" spc="-15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</a:t>
            </a:r>
            <a:r>
              <a:rPr sz="2400" spc="-5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ring</a:t>
            </a:r>
            <a:r>
              <a:rPr sz="2400" spc="-5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</a:t>
            </a:r>
            <a:r>
              <a:rPr sz="2400" spc="-15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hod</a:t>
            </a:r>
            <a:r>
              <a:rPr sz="2400" spc="-1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s!</a:t>
            </a:r>
            <a:endParaRPr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>
              <a:lnSpc>
                <a:spcPts val="2800"/>
              </a:lnSpc>
            </a:pPr>
            <a:r>
              <a:rPr sz="2400" spc="-25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sz="240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hould</a:t>
            </a:r>
            <a:r>
              <a:rPr sz="2400" spc="-5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know</a:t>
            </a:r>
            <a:r>
              <a:rPr sz="2400" spc="-1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>
              <a:lnSpc>
                <a:spcPts val="2875"/>
              </a:lnSpc>
            </a:pP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st</a:t>
            </a:r>
            <a:r>
              <a:rPr sz="2400" spc="-13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</a:t>
            </a: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.</a:t>
            </a:r>
            <a:r>
              <a:rPr sz="240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lowe</a:t>
            </a:r>
            <a:r>
              <a:rPr sz="2400" spc="-13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</a:t>
            </a:r>
            <a:r>
              <a:rPr lang="en-US" sz="2400" dirty="0">
                <a:solidFill>
                  <a:schemeClr val="accent6"/>
                </a:solidFill>
                <a:latin typeface="Courier" pitchFamily="2" charset="0"/>
                <a:cs typeface="Arial"/>
              </a:rPr>
              <a:t>()</a:t>
            </a:r>
            <a:r>
              <a:rPr sz="2400" spc="-10" dirty="0">
                <a:solidFill>
                  <a:schemeClr val="accent6"/>
                </a:solidFill>
                <a:latin typeface="Courier" pitchFamily="2" charset="0"/>
                <a:cs typeface="Arial"/>
              </a:rPr>
              <a:t> </a:t>
            </a:r>
            <a:endParaRPr lang="en-US" sz="2400" spc="-10" dirty="0">
              <a:solidFill>
                <a:schemeClr val="accent6"/>
              </a:solidFill>
              <a:latin typeface="Courier" pitchFamily="2" charset="0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st</a:t>
            </a:r>
            <a:r>
              <a:rPr sz="2400" spc="-13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</a:t>
            </a: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.</a:t>
            </a:r>
            <a:r>
              <a:rPr sz="240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uppe</a:t>
            </a:r>
            <a:r>
              <a:rPr sz="2400" spc="-13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</a:t>
            </a:r>
            <a:r>
              <a:rPr lang="en-US" sz="2400" dirty="0">
                <a:solidFill>
                  <a:schemeClr val="accent6"/>
                </a:solidFill>
                <a:latin typeface="Courier" pitchFamily="2" charset="0"/>
                <a:cs typeface="Arial"/>
              </a:rPr>
              <a:t>()</a:t>
            </a:r>
            <a:r>
              <a:rPr sz="2400" spc="-10" dirty="0">
                <a:solidFill>
                  <a:schemeClr val="accent6"/>
                </a:solidFill>
                <a:latin typeface="Courier" pitchFamily="2" charset="0"/>
                <a:cs typeface="Arial"/>
              </a:rPr>
              <a:t> </a:t>
            </a:r>
            <a:endParaRPr lang="en-US" sz="2400" spc="-10" dirty="0">
              <a:solidFill>
                <a:schemeClr val="accent6"/>
              </a:solidFill>
              <a:latin typeface="Courier" pitchFamily="2" charset="0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st</a:t>
            </a:r>
            <a:r>
              <a:rPr sz="2400" spc="-13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</a:t>
            </a: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.f</a:t>
            </a:r>
            <a:r>
              <a:rPr sz="240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ind</a:t>
            </a:r>
            <a:r>
              <a:rPr lang="en-US" sz="2400" dirty="0">
                <a:solidFill>
                  <a:schemeClr val="accent6"/>
                </a:solidFill>
                <a:latin typeface="Courier" pitchFamily="2" charset="0"/>
                <a:cs typeface="Arial"/>
              </a:rPr>
              <a:t>()</a:t>
            </a:r>
            <a:endParaRPr sz="2400" dirty="0">
              <a:solidFill>
                <a:schemeClr val="accent6"/>
              </a:solidFill>
              <a:latin typeface="Courier" pitchFamily="2" charset="0"/>
              <a:cs typeface="Arial"/>
            </a:endParaRPr>
          </a:p>
          <a:p>
            <a:pPr marL="12700" marR="21590">
              <a:lnSpc>
                <a:spcPts val="2870"/>
              </a:lnSpc>
              <a:spcBef>
                <a:spcPts val="125"/>
              </a:spcBef>
            </a:pP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st</a:t>
            </a:r>
            <a:r>
              <a:rPr sz="2400" spc="-13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</a:t>
            </a: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.</a:t>
            </a:r>
            <a:r>
              <a:rPr sz="240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</a:t>
            </a: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f</a:t>
            </a:r>
            <a:r>
              <a:rPr sz="240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ind</a:t>
            </a:r>
            <a:r>
              <a:rPr lang="en-US" sz="2400" dirty="0">
                <a:solidFill>
                  <a:schemeClr val="accent6"/>
                </a:solidFill>
                <a:latin typeface="Courier" pitchFamily="2" charset="0"/>
                <a:cs typeface="Arial"/>
              </a:rPr>
              <a:t>()</a:t>
            </a:r>
            <a:endParaRPr lang="en-US" sz="2400" spc="-10" dirty="0">
              <a:solidFill>
                <a:schemeClr val="accent6"/>
              </a:solidFill>
              <a:latin typeface="Courier" pitchFamily="2" charset="0"/>
              <a:cs typeface="Arial"/>
            </a:endParaRPr>
          </a:p>
          <a:p>
            <a:pPr marL="12700" marR="21590">
              <a:lnSpc>
                <a:spcPts val="2870"/>
              </a:lnSpc>
              <a:spcBef>
                <a:spcPts val="125"/>
              </a:spcBef>
            </a:pP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st</a:t>
            </a:r>
            <a:r>
              <a:rPr sz="2400" spc="-13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</a:t>
            </a: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.</a:t>
            </a:r>
            <a:r>
              <a:rPr sz="240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replace</a:t>
            </a:r>
            <a:r>
              <a:rPr lang="en-US" sz="2400" dirty="0">
                <a:solidFill>
                  <a:schemeClr val="accent6"/>
                </a:solidFill>
                <a:latin typeface="Courier" pitchFamily="2" charset="0"/>
                <a:cs typeface="Arial"/>
              </a:rPr>
              <a:t>()</a:t>
            </a:r>
            <a:endParaRPr lang="en-US" sz="2400" spc="-10" dirty="0">
              <a:solidFill>
                <a:schemeClr val="accent6"/>
              </a:solidFill>
              <a:latin typeface="Courier" pitchFamily="2" charset="0"/>
              <a:cs typeface="Arial"/>
            </a:endParaRPr>
          </a:p>
          <a:p>
            <a:pPr marL="12700" marR="21590">
              <a:lnSpc>
                <a:spcPts val="2870"/>
              </a:lnSpc>
              <a:spcBef>
                <a:spcPts val="125"/>
              </a:spcBef>
            </a:pPr>
            <a:r>
              <a:rPr sz="2400" spc="-1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s</a:t>
            </a: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t</a:t>
            </a:r>
            <a:r>
              <a:rPr sz="2400" spc="-13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</a:t>
            </a: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.</a:t>
            </a:r>
            <a:r>
              <a:rPr sz="240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capi</a:t>
            </a:r>
            <a:r>
              <a:rPr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t</a:t>
            </a:r>
            <a:r>
              <a:rPr sz="240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aliz</a:t>
            </a:r>
            <a:r>
              <a:rPr lang="en-US" sz="240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e</a:t>
            </a:r>
            <a:r>
              <a:rPr lang="en-US" sz="2400" dirty="0">
                <a:solidFill>
                  <a:schemeClr val="accent6"/>
                </a:solidFill>
                <a:latin typeface="Courier" pitchFamily="2" charset="0"/>
                <a:cs typeface="Arial"/>
              </a:rPr>
              <a:t>()</a:t>
            </a:r>
            <a:endParaRPr lang="en-US" sz="2400" spc="-5" dirty="0">
              <a:solidFill>
                <a:schemeClr val="accent6"/>
              </a:solidFill>
              <a:latin typeface="Courier" pitchFamily="2" charset="0"/>
              <a:cs typeface="Arial"/>
            </a:endParaRPr>
          </a:p>
          <a:p>
            <a:pPr marL="12700" marR="21590">
              <a:lnSpc>
                <a:spcPts val="2870"/>
              </a:lnSpc>
              <a:spcBef>
                <a:spcPts val="125"/>
              </a:spcBef>
            </a:pPr>
            <a:r>
              <a:rPr lang="en-US"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st</a:t>
            </a:r>
            <a:r>
              <a:rPr lang="en-US" sz="2400" spc="-13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</a:t>
            </a:r>
            <a:r>
              <a:rPr lang="en-US"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.</a:t>
            </a:r>
            <a:r>
              <a:rPr lang="en-US" sz="240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strip</a:t>
            </a:r>
            <a:r>
              <a:rPr lang="en-US" sz="2400" dirty="0">
                <a:solidFill>
                  <a:schemeClr val="accent6"/>
                </a:solidFill>
                <a:latin typeface="Courier" pitchFamily="2" charset="0"/>
                <a:cs typeface="Arial"/>
              </a:rPr>
              <a:t>()</a:t>
            </a:r>
            <a:endParaRPr lang="en-US" sz="2400" spc="-5" dirty="0">
              <a:solidFill>
                <a:schemeClr val="accent6"/>
              </a:solidFill>
              <a:latin typeface="Courier" pitchFamily="2" charset="0"/>
              <a:cs typeface="Arial"/>
            </a:endParaRPr>
          </a:p>
          <a:p>
            <a:pPr marL="12700" marR="21590">
              <a:lnSpc>
                <a:spcPts val="2870"/>
              </a:lnSpc>
              <a:spcBef>
                <a:spcPts val="125"/>
              </a:spcBef>
            </a:pPr>
            <a:r>
              <a:rPr lang="en-US"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st</a:t>
            </a:r>
            <a:r>
              <a:rPr lang="en-US" sz="2400" spc="-13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r</a:t>
            </a:r>
            <a:r>
              <a:rPr lang="en-US" sz="2400" spc="-15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.</a:t>
            </a:r>
            <a:r>
              <a:rPr lang="en-US" sz="2400" dirty="0" err="1">
                <a:solidFill>
                  <a:schemeClr val="accent6"/>
                </a:solidFill>
                <a:latin typeface="Courier" pitchFamily="2" charset="0"/>
                <a:cs typeface="Arial"/>
              </a:rPr>
              <a:t>split</a:t>
            </a:r>
            <a:r>
              <a:rPr lang="en-US" sz="2400" dirty="0">
                <a:solidFill>
                  <a:schemeClr val="accent6"/>
                </a:solidFill>
                <a:latin typeface="Courier" pitchFamily="2" charset="0"/>
                <a:cs typeface="Arial"/>
              </a:rPr>
              <a:t>()</a:t>
            </a:r>
            <a:endParaRPr lang="en-US" sz="2400" spc="-5" dirty="0">
              <a:solidFill>
                <a:schemeClr val="accent6"/>
              </a:solidFill>
              <a:latin typeface="Courier" pitchFamily="2" charset="0"/>
              <a:cs typeface="Arial"/>
            </a:endParaRPr>
          </a:p>
          <a:p>
            <a:pPr marL="12700" marR="21590">
              <a:lnSpc>
                <a:spcPts val="2870"/>
              </a:lnSpc>
              <a:spcBef>
                <a:spcPts val="125"/>
              </a:spcBef>
            </a:pPr>
            <a:r>
              <a:rPr sz="240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(any</a:t>
            </a:r>
            <a:r>
              <a:rPr sz="2400" spc="-5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sz="2400" spc="-15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z="240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hers</a:t>
            </a:r>
            <a:r>
              <a:rPr sz="2400" spc="-5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be</a:t>
            </a:r>
            <a:r>
              <a:rPr sz="2400" spc="-5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</a:t>
            </a:r>
            <a:r>
              <a:rPr sz="2400" spc="-15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z="240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</a:t>
            </a:r>
            <a:r>
              <a:rPr sz="2400" spc="-5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</a:t>
            </a:r>
            <a:r>
              <a:rPr sz="2400" spc="-5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spc="-15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sz="240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</a:t>
            </a:r>
            <a:r>
              <a:rPr sz="2400" spc="-5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2400" dirty="0">
                <a:solidFill>
                  <a:srgbClr val="0066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review</a:t>
            </a:r>
            <a:r>
              <a:rPr sz="2400" dirty="0">
                <a:solidFill>
                  <a:srgbClr val="0066FF"/>
                </a:solidFill>
                <a:latin typeface="Arial"/>
                <a:cs typeface="Arial"/>
              </a:rPr>
              <a:t>)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394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666403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String methods</a:t>
            </a:r>
          </a:p>
          <a:p>
            <a:pPr lvl="2"/>
            <a:r>
              <a:rPr lang="en-CA" dirty="0"/>
              <a:t>capitalize</a:t>
            </a:r>
          </a:p>
          <a:p>
            <a:pPr lvl="2"/>
            <a:r>
              <a:rPr lang="en-CA" dirty="0"/>
              <a:t>upper</a:t>
            </a:r>
          </a:p>
          <a:p>
            <a:pPr lvl="2"/>
            <a:r>
              <a:rPr lang="en-CA" dirty="0"/>
              <a:t>lower</a:t>
            </a:r>
          </a:p>
          <a:p>
            <a:pPr lvl="2"/>
            <a:r>
              <a:rPr lang="en-CA" dirty="0"/>
              <a:t>find</a:t>
            </a:r>
          </a:p>
          <a:p>
            <a:pPr lvl="2"/>
            <a:r>
              <a:rPr lang="en-CA" dirty="0" err="1"/>
              <a:t>rfind</a:t>
            </a:r>
            <a:endParaRPr lang="en-CA" dirty="0"/>
          </a:p>
          <a:p>
            <a:pPr lvl="2"/>
            <a:r>
              <a:rPr lang="en-CA" dirty="0"/>
              <a:t>And more…</a:t>
            </a: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String Methods</a:t>
            </a:r>
          </a:p>
        </p:txBody>
      </p:sp>
      <p:pic>
        <p:nvPicPr>
          <p:cNvPr id="1026" name="Picture 2" descr="Building Angular 2 applications with Immutable.js and Redux">
            <a:extLst>
              <a:ext uri="{FF2B5EF4-FFF2-40B4-BE49-F238E27FC236}">
                <a16:creationId xmlns:a16="http://schemas.microsoft.com/office/drawing/2014/main" id="{87DB8435-16EA-2F4D-A59E-BE519FC59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364" y="3850862"/>
            <a:ext cx="3311722" cy="2516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005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Strings: </a:t>
            </a:r>
            <a:br>
              <a:rPr lang="en-US" dirty="0"/>
            </a:br>
            <a:r>
              <a:rPr lang="en-US" dirty="0"/>
              <a:t>Conversions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Indexing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Slicing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Immutability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5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5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AC675-351C-4353-49B6-31F3E44CCC33}"/>
              </a:ext>
            </a:extLst>
          </p:cNvPr>
          <p:cNvSpPr txBox="1"/>
          <p:nvPr/>
        </p:nvSpPr>
        <p:spPr>
          <a:xfrm>
            <a:off x="335947" y="4426565"/>
            <a:ext cx="7580601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C99FF"/>
                </a:solidFill>
              </a:rPr>
              <a:t>While waiting, open the </a:t>
            </a:r>
            <a:r>
              <a:rPr lang="en-US" sz="2000" b="1" dirty="0" err="1">
                <a:solidFill>
                  <a:srgbClr val="CC99FF"/>
                </a:solidFill>
              </a:rPr>
              <a:t>Jupyter</a:t>
            </a:r>
            <a:r>
              <a:rPr lang="en-US" sz="2000" b="1" dirty="0">
                <a:solidFill>
                  <a:srgbClr val="CC99FF"/>
                </a:solidFill>
              </a:rPr>
              <a:t> Notebook for today’s lecture</a:t>
            </a:r>
          </a:p>
          <a:p>
            <a:endParaRPr lang="en-US" sz="2000" b="1" dirty="0">
              <a:solidFill>
                <a:srgbClr val="CC99FF"/>
              </a:solidFill>
            </a:endParaRPr>
          </a:p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3 Due Friday 11:59 PM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No Lab released Thursday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5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(Online), Practical, Office Hour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Looking for more practice</a:t>
            </a:r>
            <a:r>
              <a:rPr lang="en-US" sz="1600" dirty="0">
                <a:solidFill>
                  <a:srgbClr val="CC99FF"/>
                </a:solidFill>
              </a:rPr>
              <a:t>?</a:t>
            </a:r>
            <a:r>
              <a:rPr lang="en-US" sz="1600" dirty="0">
                <a:solidFill>
                  <a:srgbClr val="66FF99"/>
                </a:solidFill>
              </a:rPr>
              <a:t> Check out the textbook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91540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142.9|1.6|8.9"/>
</p:tagLst>
</file>

<file path=ppt/theme/theme1.xml><?xml version="1.0" encoding="utf-8"?>
<a:theme xmlns:a="http://schemas.openxmlformats.org/drawingml/2006/main" name="APS106_PPTX_Theme">
  <a:themeElements>
    <a:clrScheme name="Custom 5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17EE5"/>
      </a:accent1>
      <a:accent2>
        <a:srgbClr val="017EE5"/>
      </a:accent2>
      <a:accent3>
        <a:srgbClr val="017EE5"/>
      </a:accent3>
      <a:accent4>
        <a:srgbClr val="7B8994"/>
      </a:accent4>
      <a:accent5>
        <a:srgbClr val="7B8994"/>
      </a:accent5>
      <a:accent6>
        <a:srgbClr val="FF9933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PPTX_Theme" id="{D71ABBE9-7E6D-4E30-BD8F-2EB61EB32A2D}" vid="{056030BA-02C6-4208-ACCE-F1B550CC0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APS106_PPTX_Theme</Template>
  <TotalTime>23903</TotalTime>
  <Words>2403</Words>
  <Application>Microsoft Macintosh PowerPoint</Application>
  <PresentationFormat>Widescreen</PresentationFormat>
  <Paragraphs>499</Paragraphs>
  <Slides>27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Courier</vt:lpstr>
      <vt:lpstr>Courier New</vt:lpstr>
      <vt:lpstr>Segoe UI</vt:lpstr>
      <vt:lpstr>Wingdings</vt:lpstr>
      <vt:lpstr>APS106_PPTX_Theme</vt:lpstr>
      <vt:lpstr>Strings:  Conversions, Indexing, Slicing, Immutability.</vt:lpstr>
      <vt:lpstr>This Week’s Content</vt:lpstr>
      <vt:lpstr>Working with Strings</vt:lpstr>
      <vt:lpstr>Consider this…</vt:lpstr>
      <vt:lpstr>Consider this…</vt:lpstr>
      <vt:lpstr>Working with Strings</vt:lpstr>
      <vt:lpstr>String Indexing</vt:lpstr>
      <vt:lpstr>String Indexing</vt:lpstr>
      <vt:lpstr>String Slicing</vt:lpstr>
      <vt:lpstr>String Slicing</vt:lpstr>
      <vt:lpstr>String Length</vt:lpstr>
      <vt:lpstr>Extended Slicing</vt:lpstr>
      <vt:lpstr>Extended Slicing</vt:lpstr>
      <vt:lpstr>Let’s Code!</vt:lpstr>
      <vt:lpstr>Modifying Strings</vt:lpstr>
      <vt:lpstr>Modifying Strings</vt:lpstr>
      <vt:lpstr>Let’s Code!</vt:lpstr>
      <vt:lpstr>Working with Strings</vt:lpstr>
      <vt:lpstr>String Methods</vt:lpstr>
      <vt:lpstr>String Method: upper</vt:lpstr>
      <vt:lpstr>String Method: lower</vt:lpstr>
      <vt:lpstr>String Method: find (and rfind)</vt:lpstr>
      <vt:lpstr>String Method: replace</vt:lpstr>
      <vt:lpstr>Chaining Methods</vt:lpstr>
      <vt:lpstr>More String Methods</vt:lpstr>
      <vt:lpstr>Let’s Code!</vt:lpstr>
      <vt:lpstr>Strings:  Conversions, Indexing, Slicing, Immutability.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Sutton, Christopher</cp:lastModifiedBy>
  <cp:revision>192</cp:revision>
  <dcterms:created xsi:type="dcterms:W3CDTF">2021-11-03T00:49:37Z</dcterms:created>
  <dcterms:modified xsi:type="dcterms:W3CDTF">2026-02-02T15:17:29Z</dcterms:modified>
</cp:coreProperties>
</file>