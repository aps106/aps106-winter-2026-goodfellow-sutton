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0" r:id="rId1"/>
  </p:sldMasterIdLst>
  <p:notesMasterIdLst>
    <p:notesMasterId r:id="rId53"/>
  </p:notesMasterIdLst>
  <p:sldIdLst>
    <p:sldId id="256" r:id="rId2"/>
    <p:sldId id="379" r:id="rId3"/>
    <p:sldId id="372" r:id="rId4"/>
    <p:sldId id="952" r:id="rId5"/>
    <p:sldId id="951" r:id="rId6"/>
    <p:sldId id="929" r:id="rId7"/>
    <p:sldId id="930" r:id="rId8"/>
    <p:sldId id="357" r:id="rId9"/>
    <p:sldId id="381" r:id="rId10"/>
    <p:sldId id="382" r:id="rId11"/>
    <p:sldId id="380" r:id="rId12"/>
    <p:sldId id="954" r:id="rId13"/>
    <p:sldId id="931" r:id="rId14"/>
    <p:sldId id="932" r:id="rId15"/>
    <p:sldId id="933" r:id="rId16"/>
    <p:sldId id="934" r:id="rId17"/>
    <p:sldId id="936" r:id="rId18"/>
    <p:sldId id="937" r:id="rId19"/>
    <p:sldId id="941" r:id="rId20"/>
    <p:sldId id="942" r:id="rId21"/>
    <p:sldId id="955" r:id="rId22"/>
    <p:sldId id="940" r:id="rId23"/>
    <p:sldId id="943" r:id="rId24"/>
    <p:sldId id="949" r:id="rId25"/>
    <p:sldId id="948" r:id="rId26"/>
    <p:sldId id="950" r:id="rId27"/>
    <p:sldId id="962" r:id="rId28"/>
    <p:sldId id="964" r:id="rId29"/>
    <p:sldId id="965" r:id="rId30"/>
    <p:sldId id="944" r:id="rId31"/>
    <p:sldId id="946" r:id="rId32"/>
    <p:sldId id="956" r:id="rId33"/>
    <p:sldId id="945" r:id="rId34"/>
    <p:sldId id="957" r:id="rId35"/>
    <p:sldId id="947" r:id="rId36"/>
    <p:sldId id="958" r:id="rId37"/>
    <p:sldId id="959" r:id="rId38"/>
    <p:sldId id="938" r:id="rId39"/>
    <p:sldId id="961" r:id="rId40"/>
    <p:sldId id="963" r:id="rId41"/>
    <p:sldId id="966" r:id="rId42"/>
    <p:sldId id="968" r:id="rId43"/>
    <p:sldId id="969" r:id="rId44"/>
    <p:sldId id="970" r:id="rId45"/>
    <p:sldId id="976" r:id="rId46"/>
    <p:sldId id="975" r:id="rId47"/>
    <p:sldId id="977" r:id="rId48"/>
    <p:sldId id="974" r:id="rId49"/>
    <p:sldId id="971" r:id="rId50"/>
    <p:sldId id="928" r:id="rId51"/>
    <p:sldId id="973" r:id="rId5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FFFF"/>
    <a:srgbClr val="FF66CC"/>
    <a:srgbClr val="3EB049"/>
    <a:srgbClr val="CC99FF"/>
    <a:srgbClr val="2D2D2D"/>
    <a:srgbClr val="F7F7F7"/>
    <a:srgbClr val="D4CBC5"/>
    <a:srgbClr val="E2E3E7"/>
    <a:srgbClr val="E3E0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7386" autoAdjust="0"/>
  </p:normalViewPr>
  <p:slideViewPr>
    <p:cSldViewPr snapToGrid="0">
      <p:cViewPr varScale="1">
        <p:scale>
          <a:sx n="159" d="100"/>
          <a:sy n="159" d="100"/>
        </p:scale>
        <p:origin x="30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820200-9E3A-5545-9A12-AC8D76C4EB01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23D110-B33C-3E49-B5DC-7F1369944E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505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effectLst/>
                <a:latin typeface="Helvetica Neue" panose="02000503000000020004" pitchFamily="2" charset="0"/>
              </a:rPr>
              <a:t>Historical figures, history of computer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Extensions, terminal, </a:t>
            </a:r>
            <a:r>
              <a:rPr lang="en-GB" dirty="0" err="1">
                <a:effectLst/>
                <a:latin typeface="Helvetica Neue" panose="02000503000000020004" pitchFamily="2" charset="0"/>
              </a:rPr>
              <a:t>cPU</a:t>
            </a:r>
            <a:r>
              <a:rPr lang="en-GB" dirty="0">
                <a:effectLst/>
                <a:latin typeface="Helvetica Neue" panose="02000503000000020004" pitchFamily="2" charset="0"/>
              </a:rPr>
              <a:t>, RAM, GPU, memory, transistors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Maybe visualise how all the departments disciplines are involved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Tools in course: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Anaconda</a:t>
            </a:r>
          </a:p>
          <a:p>
            <a:r>
              <a:rPr lang="en-GB" dirty="0" err="1">
                <a:effectLst/>
                <a:latin typeface="Helvetica Neue" panose="02000503000000020004" pitchFamily="2" charset="0"/>
              </a:rPr>
              <a:t>Jupyter</a:t>
            </a:r>
            <a:r>
              <a:rPr lang="en-GB" dirty="0">
                <a:effectLst/>
                <a:latin typeface="Helvetica Neue" panose="02000503000000020004" pitchFamily="2" charset="0"/>
              </a:rPr>
              <a:t> 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Environments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Shortcuts on </a:t>
            </a:r>
            <a:r>
              <a:rPr lang="en-GB" dirty="0" err="1">
                <a:effectLst/>
                <a:latin typeface="Helvetica Neue" panose="02000503000000020004" pitchFamily="2" charset="0"/>
              </a:rPr>
              <a:t>Jupyter</a:t>
            </a:r>
            <a:r>
              <a:rPr lang="en-GB" dirty="0">
                <a:effectLst/>
                <a:latin typeface="Helvetica Neue" panose="02000503000000020004" pitchFamily="2" charset="0"/>
              </a:rPr>
              <a:t> (shift enter) markdown etc.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Cells are linked, variables common across cells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Update cells down doesn’t update cells above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Kernel restarting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Clear output and variables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951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This week’s plan will be a gentle easing into the world of programming.</a:t>
            </a:r>
          </a:p>
          <a:p>
            <a:endParaRPr lang="en-CA" dirty="0"/>
          </a:p>
          <a:p>
            <a:r>
              <a:rPr lang="en-CA" dirty="0"/>
              <a:t>Next class we will talk about the tools and programs we’ll be using in this course, please install these beforehand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1259E8-7FFF-4847-8B37-2CC85100CDD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7643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EE6D26-BEF8-A14C-5509-443DD3430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563A15-E78C-E98F-C7C1-CDE02BBBC9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838CE7-E5BE-D5C0-2F40-EA3DDA8D18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effectLst/>
                <a:latin typeface="Helvetica Neue" panose="02000503000000020004" pitchFamily="2" charset="0"/>
              </a:rPr>
              <a:t>Historical figures, history of computer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Extensions, terminal, </a:t>
            </a:r>
            <a:r>
              <a:rPr lang="en-GB" dirty="0" err="1">
                <a:effectLst/>
                <a:latin typeface="Helvetica Neue" panose="02000503000000020004" pitchFamily="2" charset="0"/>
              </a:rPr>
              <a:t>cPU</a:t>
            </a:r>
            <a:r>
              <a:rPr lang="en-GB" dirty="0">
                <a:effectLst/>
                <a:latin typeface="Helvetica Neue" panose="02000503000000020004" pitchFamily="2" charset="0"/>
              </a:rPr>
              <a:t>, RAM, GPU, memory, transistors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Maybe visualise how all the departments disciplines are involved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Tools in course: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Anaconda</a:t>
            </a:r>
          </a:p>
          <a:p>
            <a:r>
              <a:rPr lang="en-GB" dirty="0" err="1">
                <a:effectLst/>
                <a:latin typeface="Helvetica Neue" panose="02000503000000020004" pitchFamily="2" charset="0"/>
              </a:rPr>
              <a:t>Jupyter</a:t>
            </a:r>
            <a:r>
              <a:rPr lang="en-GB" dirty="0">
                <a:effectLst/>
                <a:latin typeface="Helvetica Neue" panose="02000503000000020004" pitchFamily="2" charset="0"/>
              </a:rPr>
              <a:t> 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Environments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Shortcuts on </a:t>
            </a:r>
            <a:r>
              <a:rPr lang="en-GB" dirty="0" err="1">
                <a:effectLst/>
                <a:latin typeface="Helvetica Neue" panose="02000503000000020004" pitchFamily="2" charset="0"/>
              </a:rPr>
              <a:t>Jupyter</a:t>
            </a:r>
            <a:r>
              <a:rPr lang="en-GB" dirty="0">
                <a:effectLst/>
                <a:latin typeface="Helvetica Neue" panose="02000503000000020004" pitchFamily="2" charset="0"/>
              </a:rPr>
              <a:t> (shift enter) markdown etc.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Cells are linked, variables common across cells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Update cells down doesn’t update cells above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Kernel restarting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Clear output and variables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8DDDE9-6F98-E32E-99FD-DF3793C664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7550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8F638-606D-A22E-8F9F-A4A6D858ED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47" y="3285779"/>
            <a:ext cx="11391065" cy="89358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B4BAB1-A261-2102-CEA9-063F697A42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47" y="4553849"/>
            <a:ext cx="11391065" cy="1655762"/>
          </a:xfrm>
        </p:spPr>
        <p:txBody>
          <a:bodyPr/>
          <a:lstStyle>
            <a:lvl1pPr marL="0" indent="0">
              <a:buNone/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04052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444445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444445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444445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444445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444445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444445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2405948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6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6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6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6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6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96962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6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6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6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6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6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274650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71717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171717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171717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171717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171717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171717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2171698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4454194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3421743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40C5A8-72D0-4B08-8FDA-49B8D1F97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7514"/>
            <a:ext cx="10515600" cy="656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E5D9C3-E281-4B14-8306-28D6CE33EC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4"/>
            <a:ext cx="10515600" cy="4842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3165728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007EE5"/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9.jpe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9.jpe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9.jpe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9.jpe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5.jpe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11" Type="http://schemas.openxmlformats.org/officeDocument/2006/relationships/image" Target="../media/image34.png"/><Relationship Id="rId5" Type="http://schemas.openxmlformats.org/officeDocument/2006/relationships/image" Target="../media/image29.png"/><Relationship Id="rId10" Type="http://schemas.openxmlformats.org/officeDocument/2006/relationships/image" Target="../media/image33.png"/><Relationship Id="rId4" Type="http://schemas.openxmlformats.org/officeDocument/2006/relationships/image" Target="../media/image28.png"/><Relationship Id="rId9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5.jpe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11" Type="http://schemas.openxmlformats.org/officeDocument/2006/relationships/image" Target="../media/image34.png"/><Relationship Id="rId5" Type="http://schemas.openxmlformats.org/officeDocument/2006/relationships/image" Target="../media/image29.png"/><Relationship Id="rId10" Type="http://schemas.openxmlformats.org/officeDocument/2006/relationships/image" Target="../media/image33.png"/><Relationship Id="rId4" Type="http://schemas.openxmlformats.org/officeDocument/2006/relationships/image" Target="../media/image28.png"/><Relationship Id="rId9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5.jpe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11" Type="http://schemas.openxmlformats.org/officeDocument/2006/relationships/image" Target="../media/image34.png"/><Relationship Id="rId5" Type="http://schemas.openxmlformats.org/officeDocument/2006/relationships/image" Target="../media/image29.png"/><Relationship Id="rId10" Type="http://schemas.openxmlformats.org/officeDocument/2006/relationships/image" Target="../media/image33.png"/><Relationship Id="rId4" Type="http://schemas.openxmlformats.org/officeDocument/2006/relationships/image" Target="../media/image28.png"/><Relationship Id="rId9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5.jpe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11" Type="http://schemas.openxmlformats.org/officeDocument/2006/relationships/image" Target="../media/image34.png"/><Relationship Id="rId5" Type="http://schemas.openxmlformats.org/officeDocument/2006/relationships/image" Target="../media/image29.png"/><Relationship Id="rId10" Type="http://schemas.openxmlformats.org/officeDocument/2006/relationships/image" Target="../media/image33.png"/><Relationship Id="rId4" Type="http://schemas.openxmlformats.org/officeDocument/2006/relationships/image" Target="../media/image28.png"/><Relationship Id="rId9" Type="http://schemas.openxmlformats.org/officeDocument/2006/relationships/image" Target="../media/image14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5.jpe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11" Type="http://schemas.openxmlformats.org/officeDocument/2006/relationships/image" Target="../media/image34.png"/><Relationship Id="rId5" Type="http://schemas.openxmlformats.org/officeDocument/2006/relationships/image" Target="../media/image29.png"/><Relationship Id="rId10" Type="http://schemas.openxmlformats.org/officeDocument/2006/relationships/image" Target="../media/image33.png"/><Relationship Id="rId4" Type="http://schemas.openxmlformats.org/officeDocument/2006/relationships/image" Target="../media/image28.png"/><Relationship Id="rId9" Type="http://schemas.openxmlformats.org/officeDocument/2006/relationships/image" Target="../media/image1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5.jpeg"/><Relationship Id="rId4" Type="http://schemas.openxmlformats.org/officeDocument/2006/relationships/image" Target="../media/image34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5.jpe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11" Type="http://schemas.openxmlformats.org/officeDocument/2006/relationships/image" Target="../media/image34.png"/><Relationship Id="rId5" Type="http://schemas.openxmlformats.org/officeDocument/2006/relationships/image" Target="../media/image29.png"/><Relationship Id="rId10" Type="http://schemas.openxmlformats.org/officeDocument/2006/relationships/image" Target="../media/image33.png"/><Relationship Id="rId4" Type="http://schemas.openxmlformats.org/officeDocument/2006/relationships/image" Target="../media/image28.png"/><Relationship Id="rId9" Type="http://schemas.openxmlformats.org/officeDocument/2006/relationships/image" Target="../media/image1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9.jpe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11" Type="http://schemas.openxmlformats.org/officeDocument/2006/relationships/image" Target="../media/image42.png"/><Relationship Id="rId5" Type="http://schemas.openxmlformats.org/officeDocument/2006/relationships/image" Target="../media/image14.png"/><Relationship Id="rId10" Type="http://schemas.openxmlformats.org/officeDocument/2006/relationships/image" Target="../media/image19.jpe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46.png"/><Relationship Id="rId3" Type="http://schemas.openxmlformats.org/officeDocument/2006/relationships/image" Target="../media/image18.png"/><Relationship Id="rId7" Type="http://schemas.openxmlformats.org/officeDocument/2006/relationships/image" Target="../media/image33.png"/><Relationship Id="rId12" Type="http://schemas.openxmlformats.org/officeDocument/2006/relationships/image" Target="../media/image45.png"/><Relationship Id="rId2" Type="http://schemas.openxmlformats.org/officeDocument/2006/relationships/image" Target="../media/image17.png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2.png"/><Relationship Id="rId11" Type="http://schemas.openxmlformats.org/officeDocument/2006/relationships/image" Target="../media/image44.png"/><Relationship Id="rId5" Type="http://schemas.openxmlformats.org/officeDocument/2006/relationships/image" Target="../media/image15.png"/><Relationship Id="rId15" Type="http://schemas.openxmlformats.org/officeDocument/2006/relationships/image" Target="../media/image48.png"/><Relationship Id="rId10" Type="http://schemas.openxmlformats.org/officeDocument/2006/relationships/image" Target="../media/image43.png"/><Relationship Id="rId4" Type="http://schemas.openxmlformats.org/officeDocument/2006/relationships/image" Target="../media/image14.png"/><Relationship Id="rId9" Type="http://schemas.openxmlformats.org/officeDocument/2006/relationships/image" Target="../media/image31.png"/><Relationship Id="rId14" Type="http://schemas.openxmlformats.org/officeDocument/2006/relationships/image" Target="../media/image47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4.png"/><Relationship Id="rId7" Type="http://schemas.openxmlformats.org/officeDocument/2006/relationships/image" Target="../media/image30.png"/><Relationship Id="rId12" Type="http://schemas.openxmlformats.org/officeDocument/2006/relationships/image" Target="../media/image4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3.png"/><Relationship Id="rId11" Type="http://schemas.openxmlformats.org/officeDocument/2006/relationships/image" Target="../media/image48.png"/><Relationship Id="rId5" Type="http://schemas.openxmlformats.org/officeDocument/2006/relationships/image" Target="../media/image32.png"/><Relationship Id="rId10" Type="http://schemas.openxmlformats.org/officeDocument/2006/relationships/image" Target="../media/image47.png"/><Relationship Id="rId4" Type="http://schemas.openxmlformats.org/officeDocument/2006/relationships/image" Target="../media/image15.png"/><Relationship Id="rId9" Type="http://schemas.openxmlformats.org/officeDocument/2006/relationships/image" Target="../media/image46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46.png"/><Relationship Id="rId3" Type="http://schemas.openxmlformats.org/officeDocument/2006/relationships/image" Target="../media/image18.png"/><Relationship Id="rId7" Type="http://schemas.openxmlformats.org/officeDocument/2006/relationships/image" Target="../media/image33.png"/><Relationship Id="rId12" Type="http://schemas.openxmlformats.org/officeDocument/2006/relationships/image" Target="../media/image45.png"/><Relationship Id="rId2" Type="http://schemas.openxmlformats.org/officeDocument/2006/relationships/image" Target="../media/image17.png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2.png"/><Relationship Id="rId11" Type="http://schemas.openxmlformats.org/officeDocument/2006/relationships/image" Target="../media/image44.png"/><Relationship Id="rId5" Type="http://schemas.openxmlformats.org/officeDocument/2006/relationships/image" Target="../media/image15.png"/><Relationship Id="rId15" Type="http://schemas.openxmlformats.org/officeDocument/2006/relationships/image" Target="../media/image48.png"/><Relationship Id="rId10" Type="http://schemas.openxmlformats.org/officeDocument/2006/relationships/image" Target="../media/image43.png"/><Relationship Id="rId4" Type="http://schemas.openxmlformats.org/officeDocument/2006/relationships/image" Target="../media/image14.png"/><Relationship Id="rId9" Type="http://schemas.openxmlformats.org/officeDocument/2006/relationships/image" Target="../media/image31.png"/><Relationship Id="rId14" Type="http://schemas.openxmlformats.org/officeDocument/2006/relationships/image" Target="../media/image47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46.png"/><Relationship Id="rId3" Type="http://schemas.openxmlformats.org/officeDocument/2006/relationships/image" Target="../media/image18.png"/><Relationship Id="rId7" Type="http://schemas.openxmlformats.org/officeDocument/2006/relationships/image" Target="../media/image33.png"/><Relationship Id="rId12" Type="http://schemas.openxmlformats.org/officeDocument/2006/relationships/image" Target="../media/image45.png"/><Relationship Id="rId2" Type="http://schemas.openxmlformats.org/officeDocument/2006/relationships/image" Target="../media/image17.png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2.png"/><Relationship Id="rId11" Type="http://schemas.openxmlformats.org/officeDocument/2006/relationships/image" Target="../media/image44.png"/><Relationship Id="rId5" Type="http://schemas.openxmlformats.org/officeDocument/2006/relationships/image" Target="../media/image15.png"/><Relationship Id="rId15" Type="http://schemas.openxmlformats.org/officeDocument/2006/relationships/image" Target="../media/image48.png"/><Relationship Id="rId10" Type="http://schemas.openxmlformats.org/officeDocument/2006/relationships/image" Target="../media/image43.png"/><Relationship Id="rId4" Type="http://schemas.openxmlformats.org/officeDocument/2006/relationships/image" Target="../media/image14.png"/><Relationship Id="rId9" Type="http://schemas.openxmlformats.org/officeDocument/2006/relationships/image" Target="../media/image31.png"/><Relationship Id="rId14" Type="http://schemas.openxmlformats.org/officeDocument/2006/relationships/image" Target="../media/image47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46.png"/><Relationship Id="rId3" Type="http://schemas.openxmlformats.org/officeDocument/2006/relationships/image" Target="../media/image18.png"/><Relationship Id="rId7" Type="http://schemas.openxmlformats.org/officeDocument/2006/relationships/image" Target="../media/image33.png"/><Relationship Id="rId12" Type="http://schemas.openxmlformats.org/officeDocument/2006/relationships/image" Target="../media/image45.png"/><Relationship Id="rId2" Type="http://schemas.openxmlformats.org/officeDocument/2006/relationships/image" Target="../media/image17.png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2.png"/><Relationship Id="rId11" Type="http://schemas.openxmlformats.org/officeDocument/2006/relationships/image" Target="../media/image44.png"/><Relationship Id="rId5" Type="http://schemas.openxmlformats.org/officeDocument/2006/relationships/image" Target="../media/image15.png"/><Relationship Id="rId15" Type="http://schemas.openxmlformats.org/officeDocument/2006/relationships/image" Target="../media/image48.png"/><Relationship Id="rId10" Type="http://schemas.openxmlformats.org/officeDocument/2006/relationships/image" Target="../media/image43.png"/><Relationship Id="rId4" Type="http://schemas.openxmlformats.org/officeDocument/2006/relationships/image" Target="../media/image14.png"/><Relationship Id="rId9" Type="http://schemas.openxmlformats.org/officeDocument/2006/relationships/image" Target="../media/image31.png"/><Relationship Id="rId14" Type="http://schemas.openxmlformats.org/officeDocument/2006/relationships/image" Target="../media/image47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46.png"/><Relationship Id="rId3" Type="http://schemas.openxmlformats.org/officeDocument/2006/relationships/image" Target="../media/image18.png"/><Relationship Id="rId7" Type="http://schemas.openxmlformats.org/officeDocument/2006/relationships/image" Target="../media/image33.png"/><Relationship Id="rId12" Type="http://schemas.openxmlformats.org/officeDocument/2006/relationships/image" Target="../media/image45.png"/><Relationship Id="rId2" Type="http://schemas.openxmlformats.org/officeDocument/2006/relationships/image" Target="../media/image17.png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2.png"/><Relationship Id="rId11" Type="http://schemas.openxmlformats.org/officeDocument/2006/relationships/image" Target="../media/image44.png"/><Relationship Id="rId5" Type="http://schemas.openxmlformats.org/officeDocument/2006/relationships/image" Target="../media/image15.png"/><Relationship Id="rId15" Type="http://schemas.openxmlformats.org/officeDocument/2006/relationships/image" Target="../media/image48.png"/><Relationship Id="rId10" Type="http://schemas.openxmlformats.org/officeDocument/2006/relationships/image" Target="../media/image43.png"/><Relationship Id="rId4" Type="http://schemas.openxmlformats.org/officeDocument/2006/relationships/image" Target="../media/image14.png"/><Relationship Id="rId9" Type="http://schemas.openxmlformats.org/officeDocument/2006/relationships/image" Target="../media/image31.png"/><Relationship Id="rId14" Type="http://schemas.openxmlformats.org/officeDocument/2006/relationships/image" Target="../media/image47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46.png"/><Relationship Id="rId3" Type="http://schemas.openxmlformats.org/officeDocument/2006/relationships/image" Target="../media/image18.png"/><Relationship Id="rId7" Type="http://schemas.openxmlformats.org/officeDocument/2006/relationships/image" Target="../media/image33.png"/><Relationship Id="rId12" Type="http://schemas.openxmlformats.org/officeDocument/2006/relationships/image" Target="../media/image45.png"/><Relationship Id="rId2" Type="http://schemas.openxmlformats.org/officeDocument/2006/relationships/image" Target="../media/image17.png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2.png"/><Relationship Id="rId11" Type="http://schemas.openxmlformats.org/officeDocument/2006/relationships/image" Target="../media/image44.png"/><Relationship Id="rId5" Type="http://schemas.openxmlformats.org/officeDocument/2006/relationships/image" Target="../media/image15.png"/><Relationship Id="rId15" Type="http://schemas.openxmlformats.org/officeDocument/2006/relationships/image" Target="../media/image48.png"/><Relationship Id="rId10" Type="http://schemas.openxmlformats.org/officeDocument/2006/relationships/image" Target="../media/image43.png"/><Relationship Id="rId4" Type="http://schemas.openxmlformats.org/officeDocument/2006/relationships/image" Target="../media/image14.png"/><Relationship Id="rId9" Type="http://schemas.openxmlformats.org/officeDocument/2006/relationships/image" Target="../media/image31.png"/><Relationship Id="rId14" Type="http://schemas.openxmlformats.org/officeDocument/2006/relationships/image" Target="../media/image47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9.jpe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9.jpe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F06F2-AC3E-484E-9926-59D4F59092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Coding Toolbox</a:t>
            </a:r>
            <a:r>
              <a:rPr lang="en-US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07687-F068-40FC-84A1-E7860490CA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1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2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1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2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7D8801-EEBB-19B0-7AD1-B98703232BDE}"/>
              </a:ext>
            </a:extLst>
          </p:cNvPr>
          <p:cNvSpPr txBox="1"/>
          <p:nvPr/>
        </p:nvSpPr>
        <p:spPr>
          <a:xfrm>
            <a:off x="335947" y="5102715"/>
            <a:ext cx="3824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rgbClr val="CC99FF"/>
                </a:solidFill>
              </a:rPr>
              <a:t>Upcoming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Lab 0 Released 6 pm Thursday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Reflection 1 Released Friday 6:00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Tutorial sessions running all week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0643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9A57B-21DC-4557-9D2E-36BBF1E92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This Week</a:t>
            </a:r>
            <a:r>
              <a:rPr lang="en-US" b="1" dirty="0">
                <a:solidFill>
                  <a:schemeClr val="accent1"/>
                </a:solidFill>
              </a:rPr>
              <a:t>’</a:t>
            </a:r>
            <a:r>
              <a:rPr lang="en-US" b="1" dirty="0"/>
              <a:t>s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50049-8F6C-4DF3-BA59-31343B218C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Lecture </a:t>
            </a:r>
            <a:r>
              <a:rPr lang="en-US" b="1" dirty="0">
                <a:solidFill>
                  <a:srgbClr val="00FF00"/>
                </a:solidFill>
              </a:rPr>
              <a:t>1.1</a:t>
            </a:r>
          </a:p>
          <a:p>
            <a:pPr lvl="1"/>
            <a:r>
              <a:rPr lang="en-US" dirty="0"/>
              <a:t>Introduction to APS106</a:t>
            </a:r>
          </a:p>
          <a:p>
            <a:r>
              <a:rPr lang="en-US" b="1" dirty="0"/>
              <a:t>Lecture </a:t>
            </a:r>
            <a:r>
              <a:rPr lang="en-US" b="1" dirty="0">
                <a:solidFill>
                  <a:srgbClr val="00FF00"/>
                </a:solidFill>
              </a:rPr>
              <a:t>1.2</a:t>
            </a:r>
          </a:p>
          <a:p>
            <a:pPr lvl="1"/>
            <a:r>
              <a:rPr lang="en-US" b="1" dirty="0"/>
              <a:t>Computers, Programs, and The Coding Toolbox</a:t>
            </a:r>
          </a:p>
          <a:p>
            <a:r>
              <a:rPr lang="en-US" b="1" dirty="0"/>
              <a:t>Lecture </a:t>
            </a:r>
            <a:r>
              <a:rPr lang="en-US" b="1" dirty="0">
                <a:solidFill>
                  <a:srgbClr val="00FF00"/>
                </a:solidFill>
              </a:rPr>
              <a:t>1.3</a:t>
            </a:r>
          </a:p>
          <a:p>
            <a:pPr lvl="1"/>
            <a:r>
              <a:rPr lang="en-US" dirty="0"/>
              <a:t>Variables, Expressions, and Operators</a:t>
            </a:r>
          </a:p>
        </p:txBody>
      </p:sp>
      <p:pic>
        <p:nvPicPr>
          <p:cNvPr id="4" name="Picture 3" descr="A diagram of a computer system&#10;&#10;Description automatically generated">
            <a:extLst>
              <a:ext uri="{FF2B5EF4-FFF2-40B4-BE49-F238E27FC236}">
                <a16:creationId xmlns:a16="http://schemas.microsoft.com/office/drawing/2014/main" id="{C7A6DFE2-3D45-4531-FAC4-7BF3243AE6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6441" y="623227"/>
            <a:ext cx="3453060" cy="3417968"/>
          </a:xfrm>
          <a:prstGeom prst="rect">
            <a:avLst/>
          </a:prstGeom>
          <a:ln>
            <a:solidFill>
              <a:schemeClr val="accent6"/>
            </a:solidFill>
          </a:ln>
        </p:spPr>
      </p:pic>
    </p:spTree>
    <p:extLst>
      <p:ext uri="{BB962C8B-B14F-4D97-AF65-F5344CB8AC3E}">
        <p14:creationId xmlns:p14="http://schemas.microsoft.com/office/powerpoint/2010/main" val="134861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E36A7-1A8A-6686-947F-D8C99677D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What you will get out of today</a:t>
            </a:r>
            <a:r>
              <a:rPr lang="en-CA" b="1" dirty="0">
                <a:solidFill>
                  <a:schemeClr val="accent6"/>
                </a:solidFill>
              </a:rPr>
              <a:t>’</a:t>
            </a:r>
            <a:r>
              <a:rPr lang="en-CA" b="1" dirty="0"/>
              <a:t>s lecture</a:t>
            </a:r>
            <a:r>
              <a:rPr lang="en-CA" b="1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F74D01-8626-C4C2-03C3-47C721C27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A" dirty="0"/>
              <a:t>Everything you need to begin coding in APS106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r>
              <a:rPr lang="en-CA" dirty="0"/>
              <a:t>Learn about the core building blocks of a computer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r>
              <a:rPr lang="en-CA" dirty="0"/>
              <a:t>Develop computational language and vocabulary for the files and programs used in </a:t>
            </a:r>
            <a:r>
              <a:rPr lang="en-CA" b="1" dirty="0">
                <a:solidFill>
                  <a:srgbClr val="00FF00"/>
                </a:solidFill>
              </a:rPr>
              <a:t>APS106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r>
              <a:rPr lang="en-CA" dirty="0"/>
              <a:t>Learn about the key differences in the software and tools used in APS106</a:t>
            </a:r>
            <a:r>
              <a:rPr lang="en-CA" dirty="0">
                <a:solidFill>
                  <a:schemeClr val="accent6"/>
                </a:solidFill>
              </a:rPr>
              <a:t>. </a:t>
            </a:r>
          </a:p>
          <a:p>
            <a:r>
              <a:rPr lang="en-CA" dirty="0"/>
              <a:t>Get experience opening and using the most important tools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r>
              <a:rPr lang="en-CA" dirty="0"/>
              <a:t>Execute your first files of APS106</a:t>
            </a:r>
            <a:r>
              <a:rPr lang="en-CA" dirty="0">
                <a:solidFill>
                  <a:schemeClr val="accent6"/>
                </a:solidFill>
              </a:rPr>
              <a:t>!</a:t>
            </a:r>
          </a:p>
          <a:p>
            <a:r>
              <a:rPr lang="en-CA" dirty="0"/>
              <a:t>Create a folder structure for APS106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r>
              <a:rPr lang="en-CA" b="1" dirty="0">
                <a:solidFill>
                  <a:srgbClr val="CC99FF"/>
                </a:solidFill>
              </a:rPr>
              <a:t>Assuming You Have Installed </a:t>
            </a:r>
            <a:r>
              <a:rPr lang="en-CA" b="1" dirty="0">
                <a:solidFill>
                  <a:srgbClr val="00FF00"/>
                </a:solidFill>
              </a:rPr>
              <a:t>Anaconda</a:t>
            </a:r>
            <a:r>
              <a:rPr lang="en-CA" b="1" dirty="0">
                <a:solidFill>
                  <a:srgbClr val="CC99FF"/>
                </a:solidFill>
              </a:rPr>
              <a:t> and </a:t>
            </a:r>
            <a:r>
              <a:rPr lang="en-CA" b="1" dirty="0" err="1">
                <a:solidFill>
                  <a:srgbClr val="00FF00"/>
                </a:solidFill>
              </a:rPr>
              <a:t>VSCode</a:t>
            </a:r>
            <a:r>
              <a:rPr lang="en-CA" b="1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CA" b="1" dirty="0">
                <a:solidFill>
                  <a:schemeClr val="accent6"/>
                </a:solidFill>
              </a:rPr>
              <a:t>If not</a:t>
            </a:r>
            <a:r>
              <a:rPr lang="en-CA" b="1" dirty="0">
                <a:solidFill>
                  <a:srgbClr val="CC99FF"/>
                </a:solidFill>
              </a:rPr>
              <a:t>,</a:t>
            </a:r>
            <a:r>
              <a:rPr lang="en-CA" b="1" dirty="0">
                <a:solidFill>
                  <a:schemeClr val="accent6"/>
                </a:solidFill>
              </a:rPr>
              <a:t> try to raise your hand for support</a:t>
            </a:r>
            <a:r>
              <a:rPr lang="en-CA" b="1" dirty="0">
                <a:solidFill>
                  <a:srgbClr val="CC99FF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91940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52180-1680-6C37-676D-49B30AF6D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78B16-2B8D-CAF9-EA61-D47385862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APS106 Folder Structure</a:t>
            </a:r>
            <a:r>
              <a:rPr lang="en-CA" b="1" dirty="0">
                <a:solidFill>
                  <a:schemeClr val="accent6"/>
                </a:solidFill>
              </a:rPr>
              <a:t>.</a:t>
            </a:r>
            <a:endParaRPr lang="en-CA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92A201-9108-D88F-C455-40CE8EB6F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708465" cy="4835479"/>
          </a:xfrm>
        </p:spPr>
        <p:txBody>
          <a:bodyPr>
            <a:normAutofit fontScale="85000" lnSpcReduction="20000"/>
          </a:bodyPr>
          <a:lstStyle/>
          <a:p>
            <a:pPr>
              <a:buBlip>
                <a:blip r:embed="rId2"/>
              </a:buBlip>
            </a:pPr>
            <a:r>
              <a:rPr lang="en-CA" dirty="0"/>
              <a:t> Downloads</a:t>
            </a:r>
          </a:p>
          <a:p>
            <a:pPr lvl="1">
              <a:buBlip>
                <a:blip r:embed="rId3"/>
              </a:buBlip>
            </a:pPr>
            <a:r>
              <a:rPr lang="en-CA" dirty="0"/>
              <a:t>34567543.jpg</a:t>
            </a:r>
          </a:p>
          <a:p>
            <a:pPr lvl="1">
              <a:buBlip>
                <a:blip r:embed="rId3"/>
              </a:buBlip>
            </a:pPr>
            <a:r>
              <a:rPr lang="en-CA" dirty="0"/>
              <a:t>aaaaaaaaaaaaaaaa.py</a:t>
            </a:r>
          </a:p>
          <a:p>
            <a:pPr lvl="1">
              <a:buBlip>
                <a:blip r:embed="rId3"/>
              </a:buBlip>
            </a:pPr>
            <a:r>
              <a:rPr lang="en-CA" dirty="0"/>
              <a:t>week1_lecture2.ipynb</a:t>
            </a:r>
          </a:p>
          <a:p>
            <a:pPr lvl="1">
              <a:buBlip>
                <a:blip r:embed="rId3"/>
              </a:buBlip>
            </a:pPr>
            <a:r>
              <a:rPr lang="en-CA" dirty="0"/>
              <a:t>week1_lecture1.pdf</a:t>
            </a:r>
          </a:p>
          <a:p>
            <a:pPr lvl="1">
              <a:buBlip>
                <a:blip r:embed="rId3"/>
              </a:buBlip>
            </a:pPr>
            <a:r>
              <a:rPr lang="en-CA" dirty="0"/>
              <a:t>week1_lecture2(1).</a:t>
            </a:r>
            <a:r>
              <a:rPr lang="en-CA" dirty="0" err="1"/>
              <a:t>ipynb</a:t>
            </a:r>
            <a:endParaRPr lang="en-CA" dirty="0"/>
          </a:p>
          <a:p>
            <a:pPr lvl="1">
              <a:buBlip>
                <a:blip r:embed="rId3"/>
              </a:buBlip>
            </a:pPr>
            <a:r>
              <a:rPr lang="en-CA" dirty="0"/>
              <a:t>week1_lecture3.ipynb</a:t>
            </a:r>
          </a:p>
          <a:p>
            <a:pPr lvl="1">
              <a:buBlip>
                <a:blip r:embed="rId3"/>
              </a:buBlip>
            </a:pPr>
            <a:r>
              <a:rPr lang="en-CA" dirty="0"/>
              <a:t>please_work2.py</a:t>
            </a:r>
          </a:p>
          <a:p>
            <a:pPr lvl="1">
              <a:buBlip>
                <a:blip r:embed="rId3"/>
              </a:buBlip>
            </a:pPr>
            <a:r>
              <a:rPr lang="fr-FR" dirty="0"/>
              <a:t>taxes_2024_please_dont_audit_me.xlsx</a:t>
            </a:r>
            <a:endParaRPr lang="en-CA" dirty="0"/>
          </a:p>
          <a:p>
            <a:pPr lvl="1">
              <a:buBlip>
                <a:blip r:embed="rId3"/>
              </a:buBlip>
            </a:pPr>
            <a:r>
              <a:rPr lang="en-CA" dirty="0"/>
              <a:t>week12_lecture3(5).ipynb</a:t>
            </a:r>
          </a:p>
          <a:p>
            <a:pPr lvl="1">
              <a:buBlip>
                <a:blip r:embed="rId3"/>
              </a:buBlip>
            </a:pPr>
            <a:r>
              <a:rPr lang="en-CA" dirty="0"/>
              <a:t>APS111_Slides.pptx</a:t>
            </a:r>
          </a:p>
          <a:p>
            <a:pPr lvl="1">
              <a:buBlip>
                <a:blip r:embed="rId3"/>
              </a:buBlip>
            </a:pPr>
            <a:r>
              <a:rPr lang="en-US" dirty="0"/>
              <a:t>group_project_final_by_me_because_no_one_else_did_it.py</a:t>
            </a:r>
            <a:endParaRPr lang="en-CA" dirty="0"/>
          </a:p>
          <a:p>
            <a:pPr lvl="1">
              <a:buBlip>
                <a:blip r:embed="rId3"/>
              </a:buBlip>
            </a:pPr>
            <a:r>
              <a:rPr lang="en-CA" dirty="0"/>
              <a:t>crypto_strategy_guaranteed_profit.docx</a:t>
            </a:r>
          </a:p>
          <a:p>
            <a:pPr lvl="1">
              <a:buBlip>
                <a:blip r:embed="rId3"/>
              </a:buBlip>
            </a:pPr>
            <a:r>
              <a:rPr lang="en-CA" dirty="0"/>
              <a:t>screenshot_2026-01-04_1315.png</a:t>
            </a:r>
          </a:p>
          <a:p>
            <a:pPr lvl="1">
              <a:buBlip>
                <a:blip r:embed="rId3"/>
              </a:buBlip>
            </a:pPr>
            <a:r>
              <a:rPr lang="en-CA" dirty="0"/>
              <a:t>python_stuff.zip</a:t>
            </a:r>
          </a:p>
          <a:p>
            <a:pPr lvl="1">
              <a:buBlip>
                <a:blip r:embed="rId3"/>
              </a:buBlip>
            </a:pPr>
            <a:r>
              <a:rPr lang="en-US" dirty="0"/>
              <a:t>lab2_fixed_FIXED2_actuallyfixed.py</a:t>
            </a:r>
          </a:p>
          <a:p>
            <a:pPr lvl="1">
              <a:buBlip>
                <a:blip r:embed="rId3"/>
              </a:buBlip>
            </a:pPr>
            <a:r>
              <a:rPr lang="en-US" dirty="0"/>
              <a:t>passwords.txt </a:t>
            </a:r>
            <a:r>
              <a:rPr lang="en-US" b="1" dirty="0">
                <a:solidFill>
                  <a:schemeClr val="accent6"/>
                </a:solidFill>
              </a:rPr>
              <a:t>(“Don’t do this.”)</a:t>
            </a:r>
            <a:endParaRPr lang="en-CA" b="1" dirty="0">
              <a:solidFill>
                <a:schemeClr val="accent6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9BAB95-6258-EE76-1997-C3FBBB0B71A4}"/>
              </a:ext>
            </a:extLst>
          </p:cNvPr>
          <p:cNvSpPr txBox="1"/>
          <p:nvPr/>
        </p:nvSpPr>
        <p:spPr>
          <a:xfrm>
            <a:off x="8751490" y="1859339"/>
            <a:ext cx="289239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600" b="1">
                <a:solidFill>
                  <a:srgbClr val="FFFFFF"/>
                </a:solidFill>
              </a:rPr>
              <a:t>DON</a:t>
            </a:r>
            <a:r>
              <a:rPr lang="en-CA" sz="6600" b="1">
                <a:solidFill>
                  <a:srgbClr val="00FF00"/>
                </a:solidFill>
              </a:rPr>
              <a:t>’</a:t>
            </a:r>
            <a:r>
              <a:rPr lang="en-CA" sz="6600" b="1">
                <a:solidFill>
                  <a:srgbClr val="FFFFFF"/>
                </a:solidFill>
              </a:rPr>
              <a:t>T</a:t>
            </a:r>
          </a:p>
          <a:p>
            <a:r>
              <a:rPr lang="en-CA" sz="6600" b="1">
                <a:solidFill>
                  <a:srgbClr val="FFFFFF"/>
                </a:solidFill>
              </a:rPr>
              <a:t>DO</a:t>
            </a:r>
          </a:p>
          <a:p>
            <a:r>
              <a:rPr lang="en-CA" sz="6600" b="1">
                <a:solidFill>
                  <a:srgbClr val="FFFFFF"/>
                </a:solidFill>
              </a:rPr>
              <a:t>THIS</a:t>
            </a:r>
            <a:r>
              <a:rPr lang="en-CA" sz="6600" b="1">
                <a:solidFill>
                  <a:srgbClr val="00FF00"/>
                </a:solidFill>
              </a:rPr>
              <a:t>.</a:t>
            </a:r>
            <a:endParaRPr lang="en-CA" sz="6600" b="1" dirty="0">
              <a:solidFill>
                <a:srgbClr val="00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28580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2BB67-7A08-E18A-9633-A3948C2C6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APS106 Folder Structure</a:t>
            </a:r>
            <a:r>
              <a:rPr lang="en-CA" b="1" dirty="0">
                <a:solidFill>
                  <a:schemeClr val="accent6"/>
                </a:solidFill>
              </a:rPr>
              <a:t>.</a:t>
            </a:r>
            <a:endParaRPr lang="en-CA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F4464C-534C-C2CB-6BBF-D61B5551F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631968" cy="4835479"/>
          </a:xfrm>
        </p:spPr>
        <p:txBody>
          <a:bodyPr>
            <a:normAutofit fontScale="92500" lnSpcReduction="20000"/>
          </a:bodyPr>
          <a:lstStyle/>
          <a:p>
            <a:pPr>
              <a:buBlip>
                <a:blip r:embed="rId2"/>
              </a:buBlip>
            </a:pPr>
            <a:r>
              <a:rPr lang="en-CA" dirty="0"/>
              <a:t> Year 1 Courses</a:t>
            </a:r>
          </a:p>
          <a:p>
            <a:pPr lvl="1">
              <a:buBlip>
                <a:blip r:embed="rId2"/>
              </a:buBlip>
            </a:pPr>
            <a:r>
              <a:rPr lang="en-CA" dirty="0"/>
              <a:t> APS106</a:t>
            </a:r>
          </a:p>
          <a:p>
            <a:pPr lvl="2">
              <a:buBlip>
                <a:blip r:embed="rId2"/>
              </a:buBlip>
            </a:pPr>
            <a:r>
              <a:rPr lang="en-CA" dirty="0"/>
              <a:t> Lecture</a:t>
            </a:r>
          </a:p>
          <a:p>
            <a:pPr lvl="3">
              <a:buBlip>
                <a:blip r:embed="rId2"/>
              </a:buBlip>
            </a:pPr>
            <a:r>
              <a:rPr lang="en-CA" dirty="0"/>
              <a:t> Week 1</a:t>
            </a:r>
          </a:p>
          <a:p>
            <a:pPr lvl="4">
              <a:buBlip>
                <a:blip r:embed="rId2"/>
              </a:buBlip>
            </a:pPr>
            <a:r>
              <a:rPr lang="en-CA" dirty="0"/>
              <a:t> Lecture 1</a:t>
            </a:r>
          </a:p>
          <a:p>
            <a:pPr lvl="4">
              <a:buBlip>
                <a:blip r:embed="rId2"/>
              </a:buBlip>
            </a:pPr>
            <a:r>
              <a:rPr lang="en-CA" dirty="0"/>
              <a:t> Lecture 2</a:t>
            </a:r>
          </a:p>
          <a:p>
            <a:pPr lvl="5">
              <a:buBlip>
                <a:blip r:embed="rId3"/>
              </a:buBlip>
            </a:pPr>
            <a:r>
              <a:rPr lang="en-CA" dirty="0">
                <a:solidFill>
                  <a:srgbClr val="FFFFFF"/>
                </a:solidFill>
              </a:rPr>
              <a:t>week1_lecture2_starter.ipynb</a:t>
            </a:r>
          </a:p>
          <a:p>
            <a:pPr lvl="5">
              <a:buBlip>
                <a:blip r:embed="rId3"/>
              </a:buBlip>
            </a:pPr>
            <a:r>
              <a:rPr lang="en-CA" dirty="0">
                <a:solidFill>
                  <a:srgbClr val="FFFFFF"/>
                </a:solidFill>
              </a:rPr>
              <a:t>week1_lecture2.py</a:t>
            </a:r>
          </a:p>
          <a:p>
            <a:pPr lvl="4">
              <a:buBlip>
                <a:blip r:embed="rId2"/>
              </a:buBlip>
            </a:pPr>
            <a:r>
              <a:rPr lang="en-CA" dirty="0"/>
              <a:t> Lecture 3</a:t>
            </a:r>
          </a:p>
          <a:p>
            <a:pPr lvl="2">
              <a:buBlip>
                <a:blip r:embed="rId2"/>
              </a:buBlip>
            </a:pPr>
            <a:r>
              <a:rPr lang="en-CA" dirty="0"/>
              <a:t> Tutorial</a:t>
            </a:r>
          </a:p>
          <a:p>
            <a:pPr lvl="2">
              <a:buBlip>
                <a:blip r:embed="rId2"/>
              </a:buBlip>
            </a:pPr>
            <a:r>
              <a:rPr lang="en-CA" dirty="0"/>
              <a:t> Lab</a:t>
            </a:r>
          </a:p>
          <a:p>
            <a:pPr lvl="2">
              <a:buBlip>
                <a:blip r:embed="rId2"/>
              </a:buBlip>
            </a:pPr>
            <a:r>
              <a:rPr lang="en-CA" dirty="0"/>
              <a:t> Practice Problems</a:t>
            </a:r>
          </a:p>
          <a:p>
            <a:pPr lvl="2">
              <a:buBlip>
                <a:blip r:embed="rId2"/>
              </a:buBlip>
            </a:pPr>
            <a:r>
              <a:rPr lang="en-CA" dirty="0"/>
              <a:t> Studying</a:t>
            </a:r>
          </a:p>
          <a:p>
            <a:pPr lvl="3">
              <a:buBlip>
                <a:blip r:embed="rId2"/>
              </a:buBlip>
            </a:pPr>
            <a:r>
              <a:rPr lang="en-CA" dirty="0"/>
              <a:t> Term Test 1</a:t>
            </a:r>
          </a:p>
          <a:p>
            <a:pPr lvl="3">
              <a:buBlip>
                <a:blip r:embed="rId2"/>
              </a:buBlip>
            </a:pPr>
            <a:r>
              <a:rPr lang="en-CA" dirty="0"/>
              <a:t> Term Test 2</a:t>
            </a:r>
          </a:p>
          <a:p>
            <a:pPr lvl="3">
              <a:buBlip>
                <a:blip r:embed="rId2"/>
              </a:buBlip>
            </a:pPr>
            <a:r>
              <a:rPr lang="en-CA" dirty="0"/>
              <a:t> Final Exam</a:t>
            </a:r>
          </a:p>
          <a:p>
            <a:pPr lvl="1">
              <a:buBlip>
                <a:blip r:embed="rId2"/>
              </a:buBlip>
            </a:pPr>
            <a:r>
              <a:rPr lang="en-CA" dirty="0"/>
              <a:t> APS111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C2A67E-1D14-811F-29E7-0D93965A7997}"/>
              </a:ext>
            </a:extLst>
          </p:cNvPr>
          <p:cNvSpPr txBox="1"/>
          <p:nvPr/>
        </p:nvSpPr>
        <p:spPr>
          <a:xfrm>
            <a:off x="8751490" y="1859339"/>
            <a:ext cx="2523896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600" b="1" dirty="0">
                <a:solidFill>
                  <a:srgbClr val="FFFFFF"/>
                </a:solidFill>
              </a:rPr>
              <a:t>DO</a:t>
            </a:r>
          </a:p>
          <a:p>
            <a:r>
              <a:rPr lang="en-CA" sz="6600" b="1" dirty="0">
                <a:solidFill>
                  <a:srgbClr val="FFFFFF"/>
                </a:solidFill>
              </a:rPr>
              <a:t>THIS</a:t>
            </a:r>
            <a:r>
              <a:rPr lang="en-CA" sz="6600" b="1" dirty="0">
                <a:solidFill>
                  <a:srgbClr val="00FF00"/>
                </a:solidFill>
              </a:rPr>
              <a:t>.</a:t>
            </a:r>
          </a:p>
          <a:p>
            <a:r>
              <a:rPr lang="en-CA" sz="6600" b="1" dirty="0">
                <a:solidFill>
                  <a:srgbClr val="00FF00"/>
                </a:solidFill>
              </a:rPr>
              <a:t>NOW</a:t>
            </a:r>
            <a:r>
              <a:rPr lang="en-CA" sz="6600" b="1" dirty="0">
                <a:solidFill>
                  <a:srgbClr val="FFFFFF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157706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8A2C8-BAF7-DF1D-DE90-2B3833862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Developer Toolkit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5122" name="Picture 2" descr="Github White Icon SVG Vector &amp; PNG Free Download | UXWing">
            <a:extLst>
              <a:ext uri="{FF2B5EF4-FFF2-40B4-BE49-F238E27FC236}">
                <a16:creationId xmlns:a16="http://schemas.microsoft.com/office/drawing/2014/main" id="{B35F07EB-ABD9-A11B-836E-0F2F5BFFCA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1826" y="2213555"/>
            <a:ext cx="1471974" cy="1471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BF94A07-4EA9-4CC7-0E4A-E0ADB4533FE5}"/>
              </a:ext>
            </a:extLst>
          </p:cNvPr>
          <p:cNvSpPr txBox="1"/>
          <p:nvPr/>
        </p:nvSpPr>
        <p:spPr>
          <a:xfrm>
            <a:off x="9597342" y="3703592"/>
            <a:ext cx="2040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Git </a:t>
            </a:r>
            <a:r>
              <a:rPr lang="en-CA" sz="2400" b="1" dirty="0">
                <a:solidFill>
                  <a:srgbClr val="00FF00"/>
                </a:solidFill>
              </a:rPr>
              <a:t>+ </a:t>
            </a:r>
            <a:r>
              <a:rPr lang="en-CA" sz="2400" b="1" dirty="0">
                <a:solidFill>
                  <a:srgbClr val="FFFFFF"/>
                </a:solidFill>
              </a:rPr>
              <a:t>GitHub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CE5F8A-7D51-0C85-CDA8-F6FD0BBD161C}"/>
              </a:ext>
            </a:extLst>
          </p:cNvPr>
          <p:cNvSpPr txBox="1"/>
          <p:nvPr/>
        </p:nvSpPr>
        <p:spPr>
          <a:xfrm>
            <a:off x="9364200" y="1752748"/>
            <a:ext cx="25072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Version Control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46" name="Picture 2" descr="Download Laptop Clipart Transparent Background - Laptop Png PNG Image with No  Background - PNGkey.com">
            <a:extLst>
              <a:ext uri="{FF2B5EF4-FFF2-40B4-BE49-F238E27FC236}">
                <a16:creationId xmlns:a16="http://schemas.microsoft.com/office/drawing/2014/main" id="{83D8E25E-D179-2111-0A13-D7F64C3DA1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5674" y="943979"/>
            <a:ext cx="2321210" cy="1544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CF12445-9C79-DC80-CC68-651E15D2B8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5835" y="1004529"/>
            <a:ext cx="1847718" cy="104215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F9EB63C-B72C-DCC5-7375-88278FAC83DE}"/>
              </a:ext>
            </a:extLst>
          </p:cNvPr>
          <p:cNvSpPr txBox="1"/>
          <p:nvPr/>
        </p:nvSpPr>
        <p:spPr>
          <a:xfrm>
            <a:off x="6941434" y="433121"/>
            <a:ext cx="16896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Computer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0" name="Picture 6">
            <a:extLst>
              <a:ext uri="{FF2B5EF4-FFF2-40B4-BE49-F238E27FC236}">
                <a16:creationId xmlns:a16="http://schemas.microsoft.com/office/drawing/2014/main" id="{A69BECB3-0610-2A3A-ADEC-03FBCECA22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6307" y="5209115"/>
            <a:ext cx="965375" cy="965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0FF4E11-D1E8-8B88-34D9-832A562BCFB1}"/>
              </a:ext>
            </a:extLst>
          </p:cNvPr>
          <p:cNvSpPr txBox="1"/>
          <p:nvPr/>
        </p:nvSpPr>
        <p:spPr>
          <a:xfrm>
            <a:off x="8099353" y="4604908"/>
            <a:ext cx="17640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Editor</a:t>
            </a:r>
            <a:r>
              <a:rPr lang="en-CA" sz="2400" b="1" dirty="0">
                <a:solidFill>
                  <a:srgbClr val="00FF00"/>
                </a:solidFill>
              </a:rPr>
              <a:t>/</a:t>
            </a:r>
            <a:r>
              <a:rPr lang="en-CA" sz="2400" b="1" dirty="0">
                <a:solidFill>
                  <a:schemeClr val="accent6"/>
                </a:solidFill>
              </a:rPr>
              <a:t>IDE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4" name="Picture 10">
            <a:extLst>
              <a:ext uri="{FF2B5EF4-FFF2-40B4-BE49-F238E27FC236}">
                <a16:creationId xmlns:a16="http://schemas.microsoft.com/office/drawing/2014/main" id="{BE8F2F94-3182-D845-D094-74B165753E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5670" y="5164068"/>
            <a:ext cx="910097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33DF8D8-0164-2F4A-C0D5-79D0C5323A87}"/>
              </a:ext>
            </a:extLst>
          </p:cNvPr>
          <p:cNvSpPr txBox="1"/>
          <p:nvPr/>
        </p:nvSpPr>
        <p:spPr>
          <a:xfrm>
            <a:off x="7565150" y="6241961"/>
            <a:ext cx="27730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 err="1">
                <a:solidFill>
                  <a:srgbClr val="FFFFFF"/>
                </a:solidFill>
              </a:rPr>
              <a:t>VSCode</a:t>
            </a:r>
            <a:r>
              <a:rPr lang="en-CA" sz="2400" b="1" dirty="0">
                <a:solidFill>
                  <a:srgbClr val="FFFFFF"/>
                </a:solidFill>
              </a:rPr>
              <a:t> </a:t>
            </a:r>
            <a:r>
              <a:rPr lang="en-CA" sz="2400" b="1" dirty="0">
                <a:solidFill>
                  <a:srgbClr val="00FF00"/>
                </a:solidFill>
              </a:rPr>
              <a:t>+ </a:t>
            </a:r>
            <a:r>
              <a:rPr lang="en-CA" sz="2400" b="1" dirty="0" err="1">
                <a:solidFill>
                  <a:srgbClr val="FFFFFF"/>
                </a:solidFill>
              </a:rPr>
              <a:t>Jupyter</a:t>
            </a:r>
            <a:endParaRPr lang="en-CA" sz="2400" b="1" dirty="0">
              <a:solidFill>
                <a:srgbClr val="FFFFFF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97EB70-D6D3-EDF4-9BB9-C9204DDEE205}"/>
              </a:ext>
            </a:extLst>
          </p:cNvPr>
          <p:cNvSpPr txBox="1"/>
          <p:nvPr/>
        </p:nvSpPr>
        <p:spPr>
          <a:xfrm>
            <a:off x="2044847" y="1585397"/>
            <a:ext cx="2939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Python Interpreter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4624A-9D06-5039-A731-B81A871394CD}"/>
              </a:ext>
            </a:extLst>
          </p:cNvPr>
          <p:cNvSpPr txBox="1"/>
          <p:nvPr/>
        </p:nvSpPr>
        <p:spPr>
          <a:xfrm>
            <a:off x="32498" y="2949542"/>
            <a:ext cx="29415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Packages Manager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25F22B-81D1-BF8C-427D-C13A655694BD}"/>
              </a:ext>
            </a:extLst>
          </p:cNvPr>
          <p:cNvSpPr txBox="1"/>
          <p:nvPr/>
        </p:nvSpPr>
        <p:spPr>
          <a:xfrm>
            <a:off x="2527430" y="4664888"/>
            <a:ext cx="15204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Terminal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8" name="Picture 14" descr="Console Command-Line Icons Terminal Computer Linux Interface Transparent HQ  PNG Download | FreePNGimg">
            <a:extLst>
              <a:ext uri="{FF2B5EF4-FFF2-40B4-BE49-F238E27FC236}">
                <a16:creationId xmlns:a16="http://schemas.microsoft.com/office/drawing/2014/main" id="{2422FFD8-E93C-E700-C50D-BB8E5A369E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5505" y="5066573"/>
            <a:ext cx="1280029" cy="1280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778C40C-9D02-D3AA-1241-453DCFDBA72E}"/>
              </a:ext>
            </a:extLst>
          </p:cNvPr>
          <p:cNvSpPr txBox="1"/>
          <p:nvPr/>
        </p:nvSpPr>
        <p:spPr>
          <a:xfrm>
            <a:off x="1804474" y="6275931"/>
            <a:ext cx="29663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Anaconda Terminal</a:t>
            </a:r>
          </a:p>
        </p:txBody>
      </p:sp>
      <p:pic>
        <p:nvPicPr>
          <p:cNvPr id="6164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18CE5EF6-53A5-FFC6-E7DA-B841E987E4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900" y="3400094"/>
            <a:ext cx="2314770" cy="1154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D3466AEA-15CC-4C6D-1E6E-34E5A1338B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264" r="32032" b="35377"/>
          <a:stretch>
            <a:fillRect/>
          </a:stretch>
        </p:blipFill>
        <p:spPr bwMode="auto">
          <a:xfrm>
            <a:off x="3309807" y="5143536"/>
            <a:ext cx="1280029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8" name="Picture 24" descr="Python icon transparent background 48332144 PNG">
            <a:extLst>
              <a:ext uri="{FF2B5EF4-FFF2-40B4-BE49-F238E27FC236}">
                <a16:creationId xmlns:a16="http://schemas.microsoft.com/office/drawing/2014/main" id="{1A2C468B-4A8C-5B29-C289-3924F48DA5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6828" y="1908646"/>
            <a:ext cx="1155818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F0E5282-6C7B-9130-BDAA-54F4144F11BE}"/>
              </a:ext>
            </a:extLst>
          </p:cNvPr>
          <p:cNvCxnSpPr/>
          <p:nvPr/>
        </p:nvCxnSpPr>
        <p:spPr>
          <a:xfrm flipH="1" flipV="1">
            <a:off x="3998135" y="2711669"/>
            <a:ext cx="2097865" cy="1135117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F175EB6-04C4-4D2E-B626-2568842B2311}"/>
              </a:ext>
            </a:extLst>
          </p:cNvPr>
          <p:cNvCxnSpPr>
            <a:cxnSpLocks/>
          </p:cNvCxnSpPr>
          <p:nvPr/>
        </p:nvCxnSpPr>
        <p:spPr>
          <a:xfrm flipH="1" flipV="1">
            <a:off x="2208541" y="3812807"/>
            <a:ext cx="3946317" cy="489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8418E4B-84BA-56FE-0D5F-E9771666A494}"/>
              </a:ext>
            </a:extLst>
          </p:cNvPr>
          <p:cNvCxnSpPr>
            <a:cxnSpLocks/>
          </p:cNvCxnSpPr>
          <p:nvPr/>
        </p:nvCxnSpPr>
        <p:spPr>
          <a:xfrm flipH="1">
            <a:off x="4439570" y="3845775"/>
            <a:ext cx="1656430" cy="141333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D671FBE-03DC-A44D-82B3-536E00910CCD}"/>
              </a:ext>
            </a:extLst>
          </p:cNvPr>
          <p:cNvCxnSpPr>
            <a:cxnSpLocks/>
          </p:cNvCxnSpPr>
          <p:nvPr/>
        </p:nvCxnSpPr>
        <p:spPr>
          <a:xfrm flipV="1">
            <a:off x="6201332" y="2575588"/>
            <a:ext cx="1127562" cy="128617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7E02E9C-CAB8-EAED-D26E-AAF27BB2EF7A}"/>
              </a:ext>
            </a:extLst>
          </p:cNvPr>
          <p:cNvCxnSpPr>
            <a:cxnSpLocks/>
          </p:cNvCxnSpPr>
          <p:nvPr/>
        </p:nvCxnSpPr>
        <p:spPr>
          <a:xfrm flipV="1">
            <a:off x="6142474" y="3064464"/>
            <a:ext cx="3573178" cy="84577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99A9ADA-C55F-D464-37E9-684510EB730A}"/>
              </a:ext>
            </a:extLst>
          </p:cNvPr>
          <p:cNvCxnSpPr>
            <a:cxnSpLocks/>
          </p:cNvCxnSpPr>
          <p:nvPr/>
        </p:nvCxnSpPr>
        <p:spPr>
          <a:xfrm>
            <a:off x="6172906" y="3898203"/>
            <a:ext cx="1672318" cy="142577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Sebastian Goodfellow">
            <a:extLst>
              <a:ext uri="{FF2B5EF4-FFF2-40B4-BE49-F238E27FC236}">
                <a16:creationId xmlns:a16="http://schemas.microsoft.com/office/drawing/2014/main" id="{5607EF35-8EAF-DB74-E9C2-BC781D0FD0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5923" y="2583915"/>
            <a:ext cx="2580153" cy="2580153"/>
          </a:xfrm>
          <a:prstGeom prst="ellipse">
            <a:avLst/>
          </a:prstGeom>
          <a:ln w="63500" cap="rnd">
            <a:solidFill>
              <a:schemeClr val="accent1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E1E62E-B002-B64D-0751-2BF8400D5A66}"/>
              </a:ext>
            </a:extLst>
          </p:cNvPr>
          <p:cNvSpPr txBox="1"/>
          <p:nvPr/>
        </p:nvSpPr>
        <p:spPr>
          <a:xfrm>
            <a:off x="4924748" y="5391806"/>
            <a:ext cx="2342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Developer Seb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4160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F8A5E-8107-658A-8571-C75ED357B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049D0-D07A-01DC-8600-8E4C442C5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Developer Toolkit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5122" name="Picture 2" descr="Github White Icon SVG Vector &amp; PNG Free Download | UXWing">
            <a:extLst>
              <a:ext uri="{FF2B5EF4-FFF2-40B4-BE49-F238E27FC236}">
                <a16:creationId xmlns:a16="http://schemas.microsoft.com/office/drawing/2014/main" id="{74C0BE16-C948-CCA1-6E43-A445AAA796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1826" y="2213555"/>
            <a:ext cx="1471974" cy="1471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76F46A0-5D39-B2A4-2C50-99C2AC190B60}"/>
              </a:ext>
            </a:extLst>
          </p:cNvPr>
          <p:cNvSpPr txBox="1"/>
          <p:nvPr/>
        </p:nvSpPr>
        <p:spPr>
          <a:xfrm>
            <a:off x="9597342" y="3703592"/>
            <a:ext cx="2040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Git </a:t>
            </a:r>
            <a:r>
              <a:rPr lang="en-CA" sz="2400" b="1" dirty="0">
                <a:solidFill>
                  <a:srgbClr val="00FF00"/>
                </a:solidFill>
              </a:rPr>
              <a:t>+ </a:t>
            </a:r>
            <a:r>
              <a:rPr lang="en-CA" sz="2400" b="1" dirty="0">
                <a:solidFill>
                  <a:srgbClr val="FFFFFF"/>
                </a:solidFill>
              </a:rPr>
              <a:t>GitHub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6610BF-4E8A-FD63-47E4-138CD033C1EE}"/>
              </a:ext>
            </a:extLst>
          </p:cNvPr>
          <p:cNvSpPr txBox="1"/>
          <p:nvPr/>
        </p:nvSpPr>
        <p:spPr>
          <a:xfrm>
            <a:off x="9364200" y="1752748"/>
            <a:ext cx="25072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Version Control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46" name="Picture 2" descr="Download Laptop Clipart Transparent Background - Laptop Png PNG Image with No  Background - PNGkey.com">
            <a:extLst>
              <a:ext uri="{FF2B5EF4-FFF2-40B4-BE49-F238E27FC236}">
                <a16:creationId xmlns:a16="http://schemas.microsoft.com/office/drawing/2014/main" id="{04DFCFEC-84DC-7E4E-B2D8-CEA8C2FFC3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5674" y="943979"/>
            <a:ext cx="2321210" cy="1544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0AC0A7A-79C0-44E7-07EC-23D552470B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5835" y="1004529"/>
            <a:ext cx="1847718" cy="104215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5B48152-BB86-162A-CB24-CD5588F1AC39}"/>
              </a:ext>
            </a:extLst>
          </p:cNvPr>
          <p:cNvSpPr txBox="1"/>
          <p:nvPr/>
        </p:nvSpPr>
        <p:spPr>
          <a:xfrm>
            <a:off x="6941434" y="433121"/>
            <a:ext cx="16896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Computer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0" name="Picture 6">
            <a:extLst>
              <a:ext uri="{FF2B5EF4-FFF2-40B4-BE49-F238E27FC236}">
                <a16:creationId xmlns:a16="http://schemas.microsoft.com/office/drawing/2014/main" id="{6856773D-B3F2-8949-6591-078446415C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6307" y="5209115"/>
            <a:ext cx="965375" cy="965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75F8B26-8228-90BA-8EB6-47D56B2F202A}"/>
              </a:ext>
            </a:extLst>
          </p:cNvPr>
          <p:cNvSpPr txBox="1"/>
          <p:nvPr/>
        </p:nvSpPr>
        <p:spPr>
          <a:xfrm>
            <a:off x="8099353" y="4604908"/>
            <a:ext cx="17640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Editor</a:t>
            </a:r>
            <a:r>
              <a:rPr lang="en-CA" sz="2400" b="1" dirty="0">
                <a:solidFill>
                  <a:srgbClr val="00FF00"/>
                </a:solidFill>
              </a:rPr>
              <a:t>/</a:t>
            </a:r>
            <a:r>
              <a:rPr lang="en-CA" sz="2400" b="1" dirty="0">
                <a:solidFill>
                  <a:schemeClr val="accent6"/>
                </a:solidFill>
              </a:rPr>
              <a:t>IDE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4" name="Picture 10">
            <a:extLst>
              <a:ext uri="{FF2B5EF4-FFF2-40B4-BE49-F238E27FC236}">
                <a16:creationId xmlns:a16="http://schemas.microsoft.com/office/drawing/2014/main" id="{BCC96BDE-267B-1E29-F80F-79E420911C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5670" y="5164068"/>
            <a:ext cx="910097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53E67D4-57B5-28E3-7AC5-6BA6FA7E5DCB}"/>
              </a:ext>
            </a:extLst>
          </p:cNvPr>
          <p:cNvSpPr txBox="1"/>
          <p:nvPr/>
        </p:nvSpPr>
        <p:spPr>
          <a:xfrm>
            <a:off x="7565150" y="6241961"/>
            <a:ext cx="27730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 err="1">
                <a:solidFill>
                  <a:srgbClr val="FFFFFF"/>
                </a:solidFill>
              </a:rPr>
              <a:t>VSCode</a:t>
            </a:r>
            <a:r>
              <a:rPr lang="en-CA" sz="2400" b="1" dirty="0">
                <a:solidFill>
                  <a:srgbClr val="FFFFFF"/>
                </a:solidFill>
              </a:rPr>
              <a:t> </a:t>
            </a:r>
            <a:r>
              <a:rPr lang="en-CA" sz="2400" b="1" dirty="0">
                <a:solidFill>
                  <a:srgbClr val="00FF00"/>
                </a:solidFill>
              </a:rPr>
              <a:t>+ </a:t>
            </a:r>
            <a:r>
              <a:rPr lang="en-CA" sz="2400" b="1" dirty="0" err="1">
                <a:solidFill>
                  <a:srgbClr val="FFFFFF"/>
                </a:solidFill>
              </a:rPr>
              <a:t>Jupyter</a:t>
            </a:r>
            <a:endParaRPr lang="en-CA" sz="2400" b="1" dirty="0">
              <a:solidFill>
                <a:srgbClr val="FFFFFF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3EDD72-0F1C-8B50-647D-7A32A20BA9EA}"/>
              </a:ext>
            </a:extLst>
          </p:cNvPr>
          <p:cNvSpPr txBox="1"/>
          <p:nvPr/>
        </p:nvSpPr>
        <p:spPr>
          <a:xfrm>
            <a:off x="2044847" y="1585397"/>
            <a:ext cx="2939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Python Interpreter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562276-1093-1529-EC9C-2E7D8CEF1E75}"/>
              </a:ext>
            </a:extLst>
          </p:cNvPr>
          <p:cNvSpPr txBox="1"/>
          <p:nvPr/>
        </p:nvSpPr>
        <p:spPr>
          <a:xfrm>
            <a:off x="32498" y="2949542"/>
            <a:ext cx="29415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Packages Manager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EE30C4-0915-F64F-25BF-D532498274AD}"/>
              </a:ext>
            </a:extLst>
          </p:cNvPr>
          <p:cNvSpPr txBox="1"/>
          <p:nvPr/>
        </p:nvSpPr>
        <p:spPr>
          <a:xfrm>
            <a:off x="2527430" y="4664888"/>
            <a:ext cx="15204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Terminal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8" name="Picture 14" descr="Console Command-Line Icons Terminal Computer Linux Interface Transparent HQ  PNG Download | FreePNGimg">
            <a:extLst>
              <a:ext uri="{FF2B5EF4-FFF2-40B4-BE49-F238E27FC236}">
                <a16:creationId xmlns:a16="http://schemas.microsoft.com/office/drawing/2014/main" id="{A6980087-A2BA-F0C2-5349-8676518E65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5505" y="5066573"/>
            <a:ext cx="1280029" cy="1280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AFD4982-241E-5D78-6F9F-4563B18CD2F6}"/>
              </a:ext>
            </a:extLst>
          </p:cNvPr>
          <p:cNvSpPr txBox="1"/>
          <p:nvPr/>
        </p:nvSpPr>
        <p:spPr>
          <a:xfrm>
            <a:off x="1804474" y="6275931"/>
            <a:ext cx="29663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Anaconda Terminal</a:t>
            </a:r>
          </a:p>
        </p:txBody>
      </p:sp>
      <p:pic>
        <p:nvPicPr>
          <p:cNvPr id="6164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5CFDFF65-E225-3FAB-48DF-AA27711E92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900" y="3400094"/>
            <a:ext cx="2314770" cy="1154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B4C02F31-7256-1024-F53C-2859EA02EE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264" r="32032" b="35377"/>
          <a:stretch>
            <a:fillRect/>
          </a:stretch>
        </p:blipFill>
        <p:spPr bwMode="auto">
          <a:xfrm>
            <a:off x="3309807" y="5143536"/>
            <a:ext cx="1280029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8" name="Picture 24" descr="Python icon transparent background 48332144 PNG">
            <a:extLst>
              <a:ext uri="{FF2B5EF4-FFF2-40B4-BE49-F238E27FC236}">
                <a16:creationId xmlns:a16="http://schemas.microsoft.com/office/drawing/2014/main" id="{13E29447-B565-E1F6-0853-5F6AE633FB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6828" y="1908646"/>
            <a:ext cx="1155818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5737266-C10B-2877-3C83-E8F09B8C42DB}"/>
              </a:ext>
            </a:extLst>
          </p:cNvPr>
          <p:cNvCxnSpPr>
            <a:cxnSpLocks/>
          </p:cNvCxnSpPr>
          <p:nvPr/>
        </p:nvCxnSpPr>
        <p:spPr>
          <a:xfrm flipV="1">
            <a:off x="6201332" y="2575588"/>
            <a:ext cx="1127562" cy="128617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Sebastian Goodfellow">
            <a:extLst>
              <a:ext uri="{FF2B5EF4-FFF2-40B4-BE49-F238E27FC236}">
                <a16:creationId xmlns:a16="http://schemas.microsoft.com/office/drawing/2014/main" id="{ED421389-B6A2-0095-6708-0E97BF006F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5923" y="2583915"/>
            <a:ext cx="2580153" cy="2580153"/>
          </a:xfrm>
          <a:prstGeom prst="ellipse">
            <a:avLst/>
          </a:prstGeom>
          <a:ln w="63500" cap="rnd">
            <a:solidFill>
              <a:schemeClr val="accent1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9E45A81-53CD-F210-EA06-28036B4AC2A4}"/>
              </a:ext>
            </a:extLst>
          </p:cNvPr>
          <p:cNvSpPr/>
          <p:nvPr/>
        </p:nvSpPr>
        <p:spPr>
          <a:xfrm>
            <a:off x="32498" y="2869324"/>
            <a:ext cx="3277309" cy="1835970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57ECE5C-6242-0D8F-2A54-F2710B70C60C}"/>
              </a:ext>
            </a:extLst>
          </p:cNvPr>
          <p:cNvSpPr/>
          <p:nvPr/>
        </p:nvSpPr>
        <p:spPr>
          <a:xfrm>
            <a:off x="1252043" y="4705294"/>
            <a:ext cx="3518820" cy="1991896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8ACE58B-0CE1-04FC-35AB-84B8B8BD8A62}"/>
              </a:ext>
            </a:extLst>
          </p:cNvPr>
          <p:cNvSpPr/>
          <p:nvPr/>
        </p:nvSpPr>
        <p:spPr>
          <a:xfrm>
            <a:off x="1888990" y="1378905"/>
            <a:ext cx="3035758" cy="1570637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DFE457E-5328-0DD9-CC1C-B7F2B70A1332}"/>
              </a:ext>
            </a:extLst>
          </p:cNvPr>
          <p:cNvSpPr/>
          <p:nvPr/>
        </p:nvSpPr>
        <p:spPr>
          <a:xfrm>
            <a:off x="9156242" y="1693304"/>
            <a:ext cx="3035758" cy="2490016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5B0EF56-C942-EDFC-39CB-DED14BC64756}"/>
              </a:ext>
            </a:extLst>
          </p:cNvPr>
          <p:cNvSpPr/>
          <p:nvPr/>
        </p:nvSpPr>
        <p:spPr>
          <a:xfrm>
            <a:off x="7539961" y="4198502"/>
            <a:ext cx="3035758" cy="2490016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C2F47F-C0FA-0991-5B88-E2E656579E33}"/>
              </a:ext>
            </a:extLst>
          </p:cNvPr>
          <p:cNvSpPr txBox="1"/>
          <p:nvPr/>
        </p:nvSpPr>
        <p:spPr>
          <a:xfrm>
            <a:off x="4924748" y="5391806"/>
            <a:ext cx="2342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Developer Seb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457532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749FCED-7506-1272-74E1-AD41AA64469A}"/>
              </a:ext>
            </a:extLst>
          </p:cNvPr>
          <p:cNvSpPr txBox="1"/>
          <p:nvPr/>
        </p:nvSpPr>
        <p:spPr>
          <a:xfrm>
            <a:off x="660540" y="5396736"/>
            <a:ext cx="6544235" cy="1200329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CA" dirty="0">
                <a:solidFill>
                  <a:srgbClr val="FFFFFF"/>
                </a:solidFill>
              </a:rPr>
              <a:t>Software programs are usually stored and executed from RAM</a:t>
            </a:r>
            <a:r>
              <a:rPr lang="en-CA" dirty="0">
                <a:solidFill>
                  <a:srgbClr val="00FF00"/>
                </a:solidFill>
              </a:rPr>
              <a:t>.</a:t>
            </a:r>
          </a:p>
          <a:p>
            <a:pPr algn="ctr"/>
            <a:endParaRPr lang="en-CA" dirty="0">
              <a:solidFill>
                <a:srgbClr val="FFFFFF"/>
              </a:solidFill>
            </a:endParaRPr>
          </a:p>
          <a:p>
            <a:pPr algn="ctr"/>
            <a:r>
              <a:rPr lang="en-CA" dirty="0">
                <a:solidFill>
                  <a:srgbClr val="FFFFFF"/>
                </a:solidFill>
              </a:rPr>
              <a:t>Later this term</a:t>
            </a:r>
            <a:r>
              <a:rPr lang="en-CA" dirty="0">
                <a:solidFill>
                  <a:srgbClr val="00FF00"/>
                </a:solidFill>
              </a:rPr>
              <a:t>,</a:t>
            </a:r>
            <a:r>
              <a:rPr lang="en-CA" dirty="0">
                <a:solidFill>
                  <a:srgbClr val="FFFFFF"/>
                </a:solidFill>
              </a:rPr>
              <a:t> we will learn how to read from and write to long</a:t>
            </a:r>
            <a:r>
              <a:rPr lang="en-CA" dirty="0">
                <a:solidFill>
                  <a:srgbClr val="00FF00"/>
                </a:solidFill>
              </a:rPr>
              <a:t>-</a:t>
            </a:r>
            <a:r>
              <a:rPr lang="en-CA" dirty="0">
                <a:solidFill>
                  <a:srgbClr val="FFFFFF"/>
                </a:solidFill>
              </a:rPr>
              <a:t>term storage</a:t>
            </a:r>
            <a:r>
              <a:rPr lang="en-CA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157B79A-4715-7357-0F68-7E398ADD0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7075"/>
            <a:ext cx="10515600" cy="657225"/>
          </a:xfrm>
        </p:spPr>
        <p:txBody>
          <a:bodyPr>
            <a:normAutofit fontScale="90000"/>
          </a:bodyPr>
          <a:lstStyle/>
          <a:p>
            <a:r>
              <a:rPr lang="en-CA" b="1" dirty="0"/>
              <a:t>Inside your computer</a:t>
            </a:r>
            <a:r>
              <a:rPr lang="en-CA" b="1" dirty="0">
                <a:solidFill>
                  <a:schemeClr val="accent6"/>
                </a:solidFill>
              </a:rPr>
              <a:t>?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D73EF6B-AA1C-07D9-8558-6AAD6B2E39FE}"/>
              </a:ext>
            </a:extLst>
          </p:cNvPr>
          <p:cNvSpPr txBox="1">
            <a:spLocks/>
          </p:cNvSpPr>
          <p:nvPr/>
        </p:nvSpPr>
        <p:spPr>
          <a:xfrm>
            <a:off x="838200" y="1548040"/>
            <a:ext cx="5849470" cy="37365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sz="2400" b="1" dirty="0"/>
              <a:t>Storage</a:t>
            </a:r>
            <a:r>
              <a:rPr lang="en-CA" sz="2400" b="1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CA" sz="2000" dirty="0"/>
              <a:t>Disks</a:t>
            </a:r>
            <a:r>
              <a:rPr lang="en-CA" sz="2000" dirty="0">
                <a:solidFill>
                  <a:schemeClr val="accent6"/>
                </a:solidFill>
              </a:rPr>
              <a:t>,</a:t>
            </a:r>
            <a:r>
              <a:rPr lang="en-CA" sz="2000" dirty="0"/>
              <a:t> hard drives</a:t>
            </a:r>
            <a:r>
              <a:rPr lang="en-CA" sz="2000" dirty="0">
                <a:solidFill>
                  <a:schemeClr val="accent6"/>
                </a:solidFill>
              </a:rPr>
              <a:t>,</a:t>
            </a:r>
            <a:r>
              <a:rPr lang="en-CA" sz="2000" dirty="0"/>
              <a:t> thumb drives</a:t>
            </a:r>
            <a:r>
              <a:rPr lang="en-CA" sz="2000" dirty="0">
                <a:solidFill>
                  <a:schemeClr val="accent6"/>
                </a:solidFill>
              </a:rPr>
              <a:t>,</a:t>
            </a:r>
            <a:r>
              <a:rPr lang="en-CA" sz="2000" dirty="0"/>
              <a:t> etc</a:t>
            </a:r>
            <a:r>
              <a:rPr lang="en-CA" sz="2000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CA" sz="2000" dirty="0"/>
              <a:t>Stores long</a:t>
            </a:r>
            <a:r>
              <a:rPr lang="en-CA" sz="2000" dirty="0">
                <a:solidFill>
                  <a:schemeClr val="accent6"/>
                </a:solidFill>
              </a:rPr>
              <a:t>-</a:t>
            </a:r>
            <a:r>
              <a:rPr lang="en-CA" sz="2000" dirty="0"/>
              <a:t>term data (files</a:t>
            </a:r>
            <a:r>
              <a:rPr lang="en-CA" sz="2000" dirty="0">
                <a:solidFill>
                  <a:schemeClr val="accent6"/>
                </a:solidFill>
              </a:rPr>
              <a:t>,</a:t>
            </a:r>
            <a:r>
              <a:rPr lang="en-CA" sz="2000" dirty="0"/>
              <a:t> programs</a:t>
            </a:r>
            <a:r>
              <a:rPr lang="en-CA" sz="2000" dirty="0">
                <a:solidFill>
                  <a:schemeClr val="accent6"/>
                </a:solidFill>
              </a:rPr>
              <a:t>,</a:t>
            </a:r>
            <a:r>
              <a:rPr lang="en-CA" sz="2000" dirty="0"/>
              <a:t> movies</a:t>
            </a:r>
            <a:r>
              <a:rPr lang="en-CA" sz="2000" dirty="0">
                <a:solidFill>
                  <a:schemeClr val="accent6"/>
                </a:solidFill>
              </a:rPr>
              <a:t>,</a:t>
            </a:r>
            <a:r>
              <a:rPr lang="en-CA" sz="2000" dirty="0"/>
              <a:t> etc</a:t>
            </a:r>
            <a:r>
              <a:rPr lang="en-CA" sz="2000" dirty="0">
                <a:solidFill>
                  <a:schemeClr val="accent6"/>
                </a:solidFill>
              </a:rPr>
              <a:t>.</a:t>
            </a:r>
            <a:r>
              <a:rPr lang="en-CA" sz="2000" dirty="0"/>
              <a:t>)</a:t>
            </a:r>
            <a:r>
              <a:rPr lang="en-CA" sz="2000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CA" sz="2000" dirty="0"/>
              <a:t>Non</a:t>
            </a:r>
            <a:r>
              <a:rPr lang="en-CA" sz="2000" dirty="0">
                <a:solidFill>
                  <a:schemeClr val="accent6"/>
                </a:solidFill>
              </a:rPr>
              <a:t>-</a:t>
            </a:r>
            <a:r>
              <a:rPr lang="en-CA" sz="2000" dirty="0"/>
              <a:t>volatile</a:t>
            </a:r>
            <a:r>
              <a:rPr lang="en-CA" sz="2000" dirty="0">
                <a:solidFill>
                  <a:schemeClr val="accent6"/>
                </a:solidFill>
              </a:rPr>
              <a:t>:</a:t>
            </a:r>
            <a:r>
              <a:rPr lang="en-CA" sz="2000" dirty="0"/>
              <a:t> maintains contents when powered off</a:t>
            </a:r>
            <a:r>
              <a:rPr lang="en-CA" sz="2000" dirty="0">
                <a:solidFill>
                  <a:schemeClr val="accent6"/>
                </a:solidFill>
              </a:rPr>
              <a:t>.</a:t>
            </a:r>
          </a:p>
          <a:p>
            <a:r>
              <a:rPr lang="en-CA" sz="2400" b="1" dirty="0"/>
              <a:t>Memory</a:t>
            </a:r>
            <a:r>
              <a:rPr lang="en-CA" sz="2400" b="1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CA" sz="2000" dirty="0"/>
              <a:t>Random Access Memory </a:t>
            </a:r>
            <a:r>
              <a:rPr lang="en-CA" sz="2000" dirty="0">
                <a:solidFill>
                  <a:srgbClr val="00FF00"/>
                </a:solidFill>
              </a:rPr>
              <a:t>(</a:t>
            </a:r>
            <a:r>
              <a:rPr lang="en-CA" sz="2000" dirty="0"/>
              <a:t>RAM</a:t>
            </a:r>
            <a:r>
              <a:rPr lang="en-CA" sz="2000" dirty="0">
                <a:solidFill>
                  <a:srgbClr val="00FF00"/>
                </a:solidFill>
              </a:rPr>
              <a:t>)</a:t>
            </a:r>
            <a:r>
              <a:rPr lang="en-CA" sz="2000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CA" sz="2000" dirty="0"/>
              <a:t>Stores short</a:t>
            </a:r>
            <a:r>
              <a:rPr lang="en-CA" sz="2000" dirty="0">
                <a:solidFill>
                  <a:schemeClr val="accent6"/>
                </a:solidFill>
              </a:rPr>
              <a:t>-</a:t>
            </a:r>
            <a:r>
              <a:rPr lang="en-CA" sz="2000" dirty="0"/>
              <a:t>term data required to open programs and run processes</a:t>
            </a:r>
            <a:r>
              <a:rPr lang="en-CA" sz="2000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CA" sz="2000" dirty="0"/>
              <a:t>Volatile</a:t>
            </a:r>
            <a:r>
              <a:rPr lang="en-CA" sz="2000" dirty="0">
                <a:solidFill>
                  <a:schemeClr val="accent6"/>
                </a:solidFill>
              </a:rPr>
              <a:t>:</a:t>
            </a:r>
            <a:r>
              <a:rPr lang="en-CA" sz="2000" dirty="0"/>
              <a:t> loses contents when powered off</a:t>
            </a:r>
            <a:r>
              <a:rPr lang="en-CA" sz="2000" dirty="0">
                <a:solidFill>
                  <a:schemeClr val="accent6"/>
                </a:solidFill>
              </a:rPr>
              <a:t>.</a:t>
            </a:r>
            <a:r>
              <a:rPr lang="en-CA" sz="2000" dirty="0"/>
              <a:t> </a:t>
            </a:r>
          </a:p>
          <a:p>
            <a:pPr lvl="1"/>
            <a:endParaRPr lang="en-CA" dirty="0">
              <a:solidFill>
                <a:schemeClr val="accent6"/>
              </a:solidFill>
            </a:endParaRPr>
          </a:p>
        </p:txBody>
      </p:sp>
      <p:pic>
        <p:nvPicPr>
          <p:cNvPr id="1030" name="Picture 6" descr="Image Collections Laptop Best PNG Transparent Background, Free Download  #6776 - FreeIconsPNG">
            <a:extLst>
              <a:ext uri="{FF2B5EF4-FFF2-40B4-BE49-F238E27FC236}">
                <a16:creationId xmlns:a16="http://schemas.microsoft.com/office/drawing/2014/main" id="{CC2B6204-1DE7-8B7C-2CA6-4261A5748F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7066" y="1242324"/>
            <a:ext cx="5411499" cy="5411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207151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7404C4-6AF6-D226-BD04-78FC52AE3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C46BFD9A-DDDC-096F-123D-F5DE4B84B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7075"/>
            <a:ext cx="10515600" cy="657225"/>
          </a:xfrm>
        </p:spPr>
        <p:txBody>
          <a:bodyPr>
            <a:normAutofit fontScale="90000"/>
          </a:bodyPr>
          <a:lstStyle/>
          <a:p>
            <a:r>
              <a:rPr lang="en-CA" b="1" dirty="0"/>
              <a:t>Inside your computer</a:t>
            </a:r>
            <a:r>
              <a:rPr lang="en-CA" b="1" dirty="0">
                <a:solidFill>
                  <a:schemeClr val="accent6"/>
                </a:solidFill>
              </a:rPr>
              <a:t>?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36FFC4-ECD6-BE82-90B3-469ADF9F5639}"/>
              </a:ext>
            </a:extLst>
          </p:cNvPr>
          <p:cNvSpPr txBox="1">
            <a:spLocks/>
          </p:cNvSpPr>
          <p:nvPr/>
        </p:nvSpPr>
        <p:spPr>
          <a:xfrm>
            <a:off x="838200" y="1548039"/>
            <a:ext cx="5849470" cy="51057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sz="2400" b="1" dirty="0"/>
              <a:t>Central Processing Unit  </a:t>
            </a:r>
            <a:r>
              <a:rPr lang="en-CA" sz="2400" b="1" dirty="0">
                <a:solidFill>
                  <a:srgbClr val="00FF00"/>
                </a:solidFill>
              </a:rPr>
              <a:t>(</a:t>
            </a:r>
            <a:r>
              <a:rPr lang="en-CA" sz="2400" b="1" dirty="0"/>
              <a:t>CPU</a:t>
            </a:r>
            <a:r>
              <a:rPr lang="en-CA" sz="2400" b="1" dirty="0">
                <a:solidFill>
                  <a:srgbClr val="00FF00"/>
                </a:solidFill>
              </a:rPr>
              <a:t>)</a:t>
            </a:r>
            <a:r>
              <a:rPr lang="en-CA" sz="2400" b="1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sz="2000" dirty="0"/>
              <a:t>Runs the programs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including the operating system</a:t>
            </a:r>
            <a:r>
              <a:rPr lang="en-CA" sz="2000" dirty="0">
                <a:solidFill>
                  <a:schemeClr val="accent6"/>
                </a:solidFill>
              </a:rPr>
              <a:t>.</a:t>
            </a:r>
            <a:endParaRPr lang="en-US" sz="2000" dirty="0"/>
          </a:p>
          <a:p>
            <a:pPr lvl="1"/>
            <a:r>
              <a:rPr lang="en-US" sz="2000" dirty="0"/>
              <a:t>Reads and writes the data between storage and memory</a:t>
            </a:r>
            <a:r>
              <a:rPr lang="en-CA" sz="2000" dirty="0">
                <a:solidFill>
                  <a:schemeClr val="accent6"/>
                </a:solidFill>
              </a:rPr>
              <a:t>.</a:t>
            </a:r>
            <a:endParaRPr lang="en-US" sz="2000" dirty="0"/>
          </a:p>
          <a:p>
            <a:pPr lvl="1"/>
            <a:r>
              <a:rPr lang="en-US" sz="2000" dirty="0"/>
              <a:t>Composed of billions of miniature electronic switches called transistors</a:t>
            </a:r>
            <a:r>
              <a:rPr lang="en-CA" sz="2000" dirty="0">
                <a:solidFill>
                  <a:schemeClr val="accent6"/>
                </a:solidFill>
              </a:rPr>
              <a:t>.</a:t>
            </a:r>
            <a:endParaRPr lang="en-US" sz="2000" dirty="0"/>
          </a:p>
          <a:p>
            <a:pPr lvl="1"/>
            <a:r>
              <a:rPr lang="en-US" sz="2000" dirty="0"/>
              <a:t>Popular examples include Intel</a:t>
            </a:r>
            <a:r>
              <a:rPr lang="en-US" sz="2000" dirty="0">
                <a:solidFill>
                  <a:schemeClr val="accent6"/>
                </a:solidFill>
              </a:rPr>
              <a:t>’</a:t>
            </a:r>
            <a:r>
              <a:rPr lang="en-US" sz="2000" dirty="0"/>
              <a:t>s Core i7 and AMD</a:t>
            </a:r>
            <a:r>
              <a:rPr lang="en-US" sz="2000" dirty="0">
                <a:solidFill>
                  <a:schemeClr val="accent6"/>
                </a:solidFill>
              </a:rPr>
              <a:t>’</a:t>
            </a:r>
            <a:r>
              <a:rPr lang="en-US" sz="2000" dirty="0"/>
              <a:t>s Ryzen 7</a:t>
            </a:r>
            <a:r>
              <a:rPr lang="en-CA" sz="2000" dirty="0">
                <a:solidFill>
                  <a:schemeClr val="accent6"/>
                </a:solidFill>
              </a:rPr>
              <a:t>.</a:t>
            </a:r>
          </a:p>
          <a:p>
            <a:r>
              <a:rPr lang="en-CA" sz="2400" b="1" dirty="0"/>
              <a:t>Clock</a:t>
            </a:r>
            <a:r>
              <a:rPr lang="en-CA" sz="2400" b="1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sz="2000" dirty="0"/>
              <a:t>Controls the rate at which processors execute instructions </a:t>
            </a:r>
            <a:r>
              <a:rPr lang="en-US" sz="2000" dirty="0">
                <a:solidFill>
                  <a:srgbClr val="00FF00"/>
                </a:solidFill>
              </a:rPr>
              <a:t>(</a:t>
            </a:r>
            <a:r>
              <a:rPr lang="en-US" sz="2000" dirty="0"/>
              <a:t>recall</a:t>
            </a:r>
            <a:r>
              <a:rPr lang="en-US" sz="2000" dirty="0">
                <a:solidFill>
                  <a:schemeClr val="accent6"/>
                </a:solidFill>
              </a:rPr>
              <a:t>:</a:t>
            </a:r>
            <a:r>
              <a:rPr lang="en-US" sz="2000" dirty="0"/>
              <a:t> programming is just a series of instructions</a:t>
            </a:r>
            <a:r>
              <a:rPr lang="en-US" sz="2000" dirty="0">
                <a:solidFill>
                  <a:srgbClr val="00FF00"/>
                </a:solidFill>
              </a:rPr>
              <a:t>)</a:t>
            </a:r>
            <a:r>
              <a:rPr lang="en-CA" sz="2000" dirty="0">
                <a:solidFill>
                  <a:schemeClr val="accent6"/>
                </a:solidFill>
              </a:rPr>
              <a:t>.</a:t>
            </a:r>
            <a:endParaRPr lang="en-US" sz="2000" dirty="0"/>
          </a:p>
          <a:p>
            <a:pPr lvl="1"/>
            <a:r>
              <a:rPr lang="en-US" sz="2000" dirty="0"/>
              <a:t>Modern computers have clocks that beat around 4 GHz </a:t>
            </a:r>
            <a:r>
              <a:rPr lang="en-US" sz="2000" dirty="0">
                <a:solidFill>
                  <a:srgbClr val="00FF00"/>
                </a:solidFill>
              </a:rPr>
              <a:t>(</a:t>
            </a:r>
            <a:r>
              <a:rPr lang="en-US" sz="2000" dirty="0"/>
              <a:t>4 billion times per second</a:t>
            </a:r>
            <a:r>
              <a:rPr lang="en-US" sz="2000" dirty="0">
                <a:solidFill>
                  <a:schemeClr val="accent6"/>
                </a:solidFill>
              </a:rPr>
              <a:t>!</a:t>
            </a:r>
            <a:r>
              <a:rPr lang="en-US" sz="2000" dirty="0">
                <a:solidFill>
                  <a:srgbClr val="00FF00"/>
                </a:solidFill>
              </a:rPr>
              <a:t>)</a:t>
            </a:r>
            <a:r>
              <a:rPr lang="en-CA" sz="2000" dirty="0">
                <a:solidFill>
                  <a:schemeClr val="accent6"/>
                </a:solidFill>
              </a:rPr>
              <a:t>.</a:t>
            </a:r>
            <a:r>
              <a:rPr lang="en-CA" sz="2000" dirty="0"/>
              <a:t> </a:t>
            </a:r>
          </a:p>
          <a:p>
            <a:pPr lvl="1"/>
            <a:endParaRPr lang="en-CA" dirty="0">
              <a:solidFill>
                <a:schemeClr val="accent6"/>
              </a:solidFill>
            </a:endParaRPr>
          </a:p>
        </p:txBody>
      </p:sp>
      <p:pic>
        <p:nvPicPr>
          <p:cNvPr id="1030" name="Picture 6" descr="Image Collections Laptop Best PNG Transparent Background, Free Download  #6776 - FreeIconsPNG">
            <a:extLst>
              <a:ext uri="{FF2B5EF4-FFF2-40B4-BE49-F238E27FC236}">
                <a16:creationId xmlns:a16="http://schemas.microsoft.com/office/drawing/2014/main" id="{9C6100D4-C38C-58C2-AC2D-437C211CC2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7066" y="1242324"/>
            <a:ext cx="5411499" cy="5411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CFEA6F3-BEA8-85DF-517F-247E3B990FEB}"/>
              </a:ext>
            </a:extLst>
          </p:cNvPr>
          <p:cNvSpPr txBox="1"/>
          <p:nvPr/>
        </p:nvSpPr>
        <p:spPr>
          <a:xfrm>
            <a:off x="8034108" y="658560"/>
            <a:ext cx="3935073" cy="1015663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CA" sz="2000" dirty="0">
                <a:solidFill>
                  <a:srgbClr val="FFFFFF"/>
                </a:solidFill>
              </a:rPr>
              <a:t>World records for the number of transistors on a chip are held by U of T researchers in ECE</a:t>
            </a:r>
            <a:r>
              <a:rPr lang="en-CA" sz="2000" dirty="0">
                <a:solidFill>
                  <a:srgbClr val="00FF0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542854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3BD80-DFC6-3F7D-6FE6-A9FBF3F27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EDE9A12-01B1-0D51-C1A4-258EABC67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Inside your computer</a:t>
            </a:r>
            <a:r>
              <a:rPr lang="en-CA" b="1" dirty="0">
                <a:solidFill>
                  <a:schemeClr val="accent6"/>
                </a:solidFill>
              </a:rPr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528BB0-CE0F-6F04-2AF9-60BC1B6554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166760" cy="3616633"/>
          </a:xfrm>
        </p:spPr>
        <p:txBody>
          <a:bodyPr>
            <a:normAutofit fontScale="92500" lnSpcReduction="10000"/>
          </a:bodyPr>
          <a:lstStyle/>
          <a:p>
            <a:r>
              <a:rPr lang="en-CA" sz="2400" b="1" dirty="0"/>
              <a:t>Graphics Processing Unit  </a:t>
            </a:r>
            <a:r>
              <a:rPr lang="en-CA" sz="2400" b="1" dirty="0">
                <a:solidFill>
                  <a:srgbClr val="00FF00"/>
                </a:solidFill>
              </a:rPr>
              <a:t>(</a:t>
            </a:r>
            <a:r>
              <a:rPr lang="en-CA" sz="2400" b="1" dirty="0"/>
              <a:t>GPU</a:t>
            </a:r>
            <a:r>
              <a:rPr lang="en-CA" sz="2400" b="1" dirty="0">
                <a:solidFill>
                  <a:srgbClr val="00FF00"/>
                </a:solidFill>
              </a:rPr>
              <a:t>)</a:t>
            </a:r>
            <a:r>
              <a:rPr lang="en-CA" sz="2400" b="1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sz="2000" dirty="0"/>
              <a:t>A processor originally designed to render images by doing the same math operation on many pixels at once</a:t>
            </a:r>
            <a:r>
              <a:rPr lang="en-CA" sz="2000" dirty="0">
                <a:solidFill>
                  <a:schemeClr val="accent2"/>
                </a:solidFill>
              </a:rPr>
              <a:t>.</a:t>
            </a:r>
          </a:p>
          <a:p>
            <a:pPr lvl="1"/>
            <a:r>
              <a:rPr lang="en-US" sz="2000" dirty="0">
                <a:solidFill>
                  <a:schemeClr val="tx1"/>
                </a:solidFill>
              </a:rPr>
              <a:t>Training neural networks is dominated by matrix multiplications and vector operations </a:t>
            </a:r>
            <a:r>
              <a:rPr lang="en-US" sz="2000" dirty="0">
                <a:solidFill>
                  <a:srgbClr val="00FF00"/>
                </a:solidFill>
              </a:rPr>
              <a:t>(</a:t>
            </a:r>
            <a:r>
              <a:rPr lang="en-US" sz="2000" dirty="0">
                <a:solidFill>
                  <a:schemeClr val="tx1"/>
                </a:solidFill>
              </a:rPr>
              <a:t>linear algebra</a:t>
            </a:r>
            <a:r>
              <a:rPr lang="en-US" sz="2000" dirty="0">
                <a:solidFill>
                  <a:srgbClr val="00FF00"/>
                </a:solidFill>
              </a:rPr>
              <a:t>)</a:t>
            </a:r>
            <a:r>
              <a:rPr lang="en-US" sz="2000" dirty="0">
                <a:solidFill>
                  <a:schemeClr val="accent2"/>
                </a:solidFill>
              </a:rPr>
              <a:t>,</a:t>
            </a:r>
            <a:r>
              <a:rPr lang="en-US" sz="2000" dirty="0">
                <a:solidFill>
                  <a:schemeClr val="tx1"/>
                </a:solidFill>
              </a:rPr>
              <a:t> which map extremely well to GPU parallel hardware</a:t>
            </a:r>
            <a:r>
              <a:rPr lang="en-US" sz="2000" dirty="0">
                <a:solidFill>
                  <a:schemeClr val="accent2"/>
                </a:solidFill>
              </a:rPr>
              <a:t>.</a:t>
            </a:r>
            <a:endParaRPr lang="en-CA" sz="2000" dirty="0">
              <a:solidFill>
                <a:schemeClr val="accent2"/>
              </a:solidFill>
            </a:endParaRPr>
          </a:p>
          <a:p>
            <a:pPr lvl="1"/>
            <a:r>
              <a:rPr lang="en-US" sz="2000" dirty="0">
                <a:solidFill>
                  <a:schemeClr val="tx1"/>
                </a:solidFill>
              </a:rPr>
              <a:t>A CPU has a small number of powerful cores optimized for general</a:t>
            </a:r>
            <a:r>
              <a:rPr lang="en-US" sz="2000" dirty="0">
                <a:solidFill>
                  <a:schemeClr val="accent2"/>
                </a:solidFill>
              </a:rPr>
              <a:t>-</a:t>
            </a:r>
            <a:r>
              <a:rPr lang="en-US" sz="2000" dirty="0">
                <a:solidFill>
                  <a:schemeClr val="tx1"/>
                </a:solidFill>
              </a:rPr>
              <a:t>purpose</a:t>
            </a:r>
            <a:r>
              <a:rPr lang="en-US" sz="2000" dirty="0">
                <a:solidFill>
                  <a:schemeClr val="accent2"/>
                </a:solidFill>
              </a:rPr>
              <a:t>,</a:t>
            </a:r>
            <a:r>
              <a:rPr lang="en-US" sz="2000" dirty="0">
                <a:solidFill>
                  <a:schemeClr val="tx1"/>
                </a:solidFill>
              </a:rPr>
              <a:t> branching tasks </a:t>
            </a:r>
            <a:r>
              <a:rPr lang="en-US" sz="2000" dirty="0">
                <a:solidFill>
                  <a:srgbClr val="00FF00"/>
                </a:solidFill>
              </a:rPr>
              <a:t>(</a:t>
            </a:r>
            <a:r>
              <a:rPr lang="en-US" sz="2000" dirty="0">
                <a:solidFill>
                  <a:schemeClr val="tx1"/>
                </a:solidFill>
              </a:rPr>
              <a:t>running an OS</a:t>
            </a:r>
            <a:r>
              <a:rPr lang="en-US" sz="2000" dirty="0">
                <a:solidFill>
                  <a:schemeClr val="accent2"/>
                </a:solidFill>
              </a:rPr>
              <a:t>,</a:t>
            </a:r>
            <a:r>
              <a:rPr lang="en-US" sz="2000" dirty="0">
                <a:solidFill>
                  <a:schemeClr val="tx1"/>
                </a:solidFill>
              </a:rPr>
              <a:t> game logic</a:t>
            </a:r>
            <a:r>
              <a:rPr lang="en-US" sz="2000" dirty="0">
                <a:solidFill>
                  <a:schemeClr val="accent2"/>
                </a:solidFill>
              </a:rPr>
              <a:t>,</a:t>
            </a:r>
            <a:r>
              <a:rPr lang="en-US" sz="2000" dirty="0">
                <a:solidFill>
                  <a:schemeClr val="tx1"/>
                </a:solidFill>
              </a:rPr>
              <a:t> control flow</a:t>
            </a:r>
            <a:r>
              <a:rPr lang="en-US" sz="2000" dirty="0">
                <a:solidFill>
                  <a:srgbClr val="00FF00"/>
                </a:solidFill>
              </a:rPr>
              <a:t>)</a:t>
            </a:r>
            <a:r>
              <a:rPr lang="en-US" sz="2000" dirty="0">
                <a:solidFill>
                  <a:schemeClr val="accent2"/>
                </a:solidFill>
              </a:rPr>
              <a:t>,</a:t>
            </a:r>
            <a:r>
              <a:rPr lang="en-US" sz="2000" dirty="0">
                <a:solidFill>
                  <a:schemeClr val="tx1"/>
                </a:solidFill>
              </a:rPr>
              <a:t> while a GPU has many more smaller cores optimized for massively parallel math </a:t>
            </a:r>
            <a:r>
              <a:rPr lang="en-US" sz="2000" dirty="0">
                <a:solidFill>
                  <a:srgbClr val="00FF00"/>
                </a:solidFill>
              </a:rPr>
              <a:t>(</a:t>
            </a:r>
            <a:r>
              <a:rPr lang="en-US" sz="2000" dirty="0">
                <a:solidFill>
                  <a:schemeClr val="tx1"/>
                </a:solidFill>
              </a:rPr>
              <a:t>like the matrix operations that dominate deep learning</a:t>
            </a:r>
            <a:r>
              <a:rPr lang="en-US" sz="2000" dirty="0">
                <a:solidFill>
                  <a:srgbClr val="00FF00"/>
                </a:solidFill>
              </a:rPr>
              <a:t>)</a:t>
            </a:r>
            <a:r>
              <a:rPr lang="en-US" sz="2000" dirty="0">
                <a:solidFill>
                  <a:schemeClr val="accent2"/>
                </a:solidFill>
              </a:rPr>
              <a:t>.</a:t>
            </a:r>
            <a:endParaRPr lang="en-CA" sz="2000" dirty="0">
              <a:solidFill>
                <a:schemeClr val="accent2"/>
              </a:solidFill>
            </a:endParaRPr>
          </a:p>
        </p:txBody>
      </p:sp>
      <p:pic>
        <p:nvPicPr>
          <p:cNvPr id="3074" name="Picture 2" descr="Nvidia RTX Graphic Card PNG Image Background">
            <a:extLst>
              <a:ext uri="{FF2B5EF4-FFF2-40B4-BE49-F238E27FC236}">
                <a16:creationId xmlns:a16="http://schemas.microsoft.com/office/drawing/2014/main" id="{9006FD92-B802-B12D-3813-055CF7FFAEB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42" t="8066" r="6726" b="9512"/>
          <a:stretch>
            <a:fillRect/>
          </a:stretch>
        </p:blipFill>
        <p:spPr bwMode="auto">
          <a:xfrm>
            <a:off x="7011430" y="555118"/>
            <a:ext cx="4672899" cy="2907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36B0B8C5-239B-3AC8-418E-C89A0C059C7F}"/>
              </a:ext>
            </a:extLst>
          </p:cNvPr>
          <p:cNvGrpSpPr/>
          <p:nvPr/>
        </p:nvGrpSpPr>
        <p:grpSpPr>
          <a:xfrm>
            <a:off x="7005124" y="3429000"/>
            <a:ext cx="4951442" cy="3263633"/>
            <a:chOff x="7005124" y="3429000"/>
            <a:chExt cx="4951442" cy="326363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13F1C9E-4B2B-F0F5-30F8-DACCE91B1C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05124" y="3508490"/>
              <a:ext cx="4951442" cy="3184143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09E8BB5-4A88-E8E1-B2A3-D402FF517B34}"/>
                </a:ext>
              </a:extLst>
            </p:cNvPr>
            <p:cNvSpPr/>
            <p:nvPr/>
          </p:nvSpPr>
          <p:spPr>
            <a:xfrm>
              <a:off x="11016944" y="3429000"/>
              <a:ext cx="870256" cy="51080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62BDE00C-5F50-9D0B-B505-F90EA85E9C6D}"/>
              </a:ext>
            </a:extLst>
          </p:cNvPr>
          <p:cNvSpPr txBox="1"/>
          <p:nvPr/>
        </p:nvSpPr>
        <p:spPr>
          <a:xfrm>
            <a:off x="9480845" y="3648803"/>
            <a:ext cx="23083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/>
              <a:t>Nvidia RTX 2080 Ti</a:t>
            </a:r>
            <a:r>
              <a:rPr lang="en-CA" b="1" dirty="0">
                <a:solidFill>
                  <a:schemeClr val="accent6"/>
                </a:solidFill>
              </a:rPr>
              <a:t>.</a:t>
            </a:r>
          </a:p>
          <a:p>
            <a:r>
              <a:rPr lang="en-CA" b="1" dirty="0">
                <a:solidFill>
                  <a:schemeClr val="accent6"/>
                </a:solidFill>
              </a:rPr>
              <a:t>(</a:t>
            </a:r>
            <a:r>
              <a:rPr lang="en-CA" b="1" dirty="0"/>
              <a:t>11 GB</a:t>
            </a:r>
            <a:r>
              <a:rPr lang="en-CA" b="1" dirty="0">
                <a:solidFill>
                  <a:schemeClr val="accent6"/>
                </a:solidFill>
              </a:rPr>
              <a:t>)</a:t>
            </a:r>
          </a:p>
        </p:txBody>
      </p:sp>
      <p:pic>
        <p:nvPicPr>
          <p:cNvPr id="3076" name="Picture 4" descr="GPU box art in the 90's was utterly crazy : r/pcmasterrace">
            <a:extLst>
              <a:ext uri="{FF2B5EF4-FFF2-40B4-BE49-F238E27FC236}">
                <a16:creationId xmlns:a16="http://schemas.microsoft.com/office/drawing/2014/main" id="{E2628694-209B-8DE2-2516-25BE4BA194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4625" y="5475280"/>
            <a:ext cx="1871176" cy="1242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9E35F83-A1C3-5DB9-0E82-ACC01529BA87}"/>
              </a:ext>
            </a:extLst>
          </p:cNvPr>
          <p:cNvSpPr txBox="1"/>
          <p:nvPr/>
        </p:nvSpPr>
        <p:spPr>
          <a:xfrm>
            <a:off x="3434237" y="5471543"/>
            <a:ext cx="17843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/>
              <a:t>3dfx Voodoo2</a:t>
            </a:r>
            <a:r>
              <a:rPr lang="en-CA" b="1" dirty="0">
                <a:solidFill>
                  <a:schemeClr val="accent6"/>
                </a:solidFill>
              </a:rPr>
              <a:t>.</a:t>
            </a:r>
          </a:p>
          <a:p>
            <a:r>
              <a:rPr lang="en-CA" b="1" dirty="0">
                <a:solidFill>
                  <a:schemeClr val="accent6"/>
                </a:solidFill>
              </a:rPr>
              <a:t>(</a:t>
            </a:r>
            <a:r>
              <a:rPr lang="en-CA" b="1" dirty="0"/>
              <a:t>8 MB</a:t>
            </a:r>
            <a:r>
              <a:rPr lang="en-CA" b="1" dirty="0">
                <a:solidFill>
                  <a:schemeClr val="accent6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095726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07942-236B-596E-2248-A9C51F938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3796DF3E-2347-869F-4B73-C0019308D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7075"/>
            <a:ext cx="10515600" cy="657225"/>
          </a:xfrm>
        </p:spPr>
        <p:txBody>
          <a:bodyPr>
            <a:normAutofit fontScale="90000"/>
          </a:bodyPr>
          <a:lstStyle/>
          <a:p>
            <a:r>
              <a:rPr lang="en-CA" b="1" dirty="0"/>
              <a:t>Outside your computer</a:t>
            </a:r>
            <a:r>
              <a:rPr lang="en-CA" b="1" dirty="0">
                <a:solidFill>
                  <a:schemeClr val="accent6"/>
                </a:solidFill>
              </a:rPr>
              <a:t>?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375A518-7421-9F3E-5C7E-9FF6CC22EAD9}"/>
              </a:ext>
            </a:extLst>
          </p:cNvPr>
          <p:cNvSpPr txBox="1">
            <a:spLocks/>
          </p:cNvSpPr>
          <p:nvPr/>
        </p:nvSpPr>
        <p:spPr>
          <a:xfrm>
            <a:off x="838200" y="1548040"/>
            <a:ext cx="5849470" cy="506086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sz="2400" b="1" dirty="0"/>
              <a:t>Input Devices</a:t>
            </a:r>
            <a:r>
              <a:rPr lang="en-CA" sz="2400" b="1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sz="2000" dirty="0"/>
              <a:t>Keyboard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sz="2000" dirty="0"/>
              <a:t>Mouse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sz="2000" dirty="0"/>
              <a:t>Trackpad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sz="2000" dirty="0"/>
              <a:t>Touch screen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sz="2000" dirty="0"/>
              <a:t>Webcam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sz="2000" dirty="0"/>
              <a:t>Gesture trackers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sz="2000" dirty="0"/>
              <a:t>Eye trackers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  <a:endParaRPr lang="en-CA" sz="2000" dirty="0">
              <a:solidFill>
                <a:schemeClr val="accent6"/>
              </a:solidFill>
            </a:endParaRPr>
          </a:p>
          <a:p>
            <a:r>
              <a:rPr lang="en-CA" sz="2400" b="1" dirty="0"/>
              <a:t>Output Devices</a:t>
            </a:r>
            <a:r>
              <a:rPr lang="en-CA" sz="2400" b="1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sz="2000" dirty="0"/>
              <a:t>Monitors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sz="2000" dirty="0"/>
              <a:t>Printers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sz="2000" dirty="0"/>
              <a:t>Headphones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sz="2000" dirty="0"/>
              <a:t>Speakers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sz="2000" dirty="0"/>
              <a:t>Video</a:t>
            </a:r>
            <a:r>
              <a:rPr lang="en-US" sz="2000" dirty="0">
                <a:solidFill>
                  <a:schemeClr val="accent6"/>
                </a:solidFill>
              </a:rPr>
              <a:t>/</a:t>
            </a:r>
            <a:r>
              <a:rPr lang="en-US" sz="2000" dirty="0"/>
              <a:t>sound cards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sz="2000" dirty="0"/>
              <a:t>Braille readers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  <a:endParaRPr lang="en-CA" sz="2000" dirty="0">
              <a:solidFill>
                <a:schemeClr val="accent6"/>
              </a:solidFill>
            </a:endParaRPr>
          </a:p>
          <a:p>
            <a:pPr lvl="1"/>
            <a:endParaRPr lang="en-CA" dirty="0">
              <a:solidFill>
                <a:schemeClr val="accent6"/>
              </a:solidFill>
            </a:endParaRPr>
          </a:p>
        </p:txBody>
      </p:sp>
      <p:pic>
        <p:nvPicPr>
          <p:cNvPr id="1030" name="Picture 6" descr="Image Collections Laptop Best PNG Transparent Background, Free Download  #6776 - FreeIconsPNG">
            <a:extLst>
              <a:ext uri="{FF2B5EF4-FFF2-40B4-BE49-F238E27FC236}">
                <a16:creationId xmlns:a16="http://schemas.microsoft.com/office/drawing/2014/main" id="{AA93681D-9207-492C-3562-9805D9E303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7066" y="1242324"/>
            <a:ext cx="5411499" cy="5411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Computer Mouse PNG Vector Images with Transparent background -  TransparentPNG">
            <a:extLst>
              <a:ext uri="{FF2B5EF4-FFF2-40B4-BE49-F238E27FC236}">
                <a16:creationId xmlns:a16="http://schemas.microsoft.com/office/drawing/2014/main" id="{1597CDA5-51A1-B197-EBB7-1EAFD4E527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4608" y="1822494"/>
            <a:ext cx="1840358" cy="2019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Printer PNG image transparent image download, size: 1000x795px">
            <a:extLst>
              <a:ext uri="{FF2B5EF4-FFF2-40B4-BE49-F238E27FC236}">
                <a16:creationId xmlns:a16="http://schemas.microsoft.com/office/drawing/2014/main" id="{9D293C38-AF80-4416-D871-580D779E6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9787" y="4499153"/>
            <a:ext cx="2710296" cy="2154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96290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6A98D-2956-FE98-5C65-FCF7ABD16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File Formats and Extensions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9AC7D7-B68B-DD37-128E-6B2A0F54C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Files store data in different formats based on specific definitions.</a:t>
            </a:r>
          </a:p>
          <a:p>
            <a:r>
              <a:rPr lang="en-CA" dirty="0"/>
              <a:t>An </a:t>
            </a:r>
            <a:r>
              <a:rPr lang="en-CA" dirty="0">
                <a:solidFill>
                  <a:srgbClr val="00FF00"/>
                </a:solidFill>
              </a:rPr>
              <a:t>“</a:t>
            </a:r>
            <a:r>
              <a:rPr lang="en-CA" dirty="0"/>
              <a:t>extension</a:t>
            </a:r>
            <a:r>
              <a:rPr lang="en-CA" dirty="0">
                <a:solidFill>
                  <a:srgbClr val="00FF00"/>
                </a:solidFill>
              </a:rPr>
              <a:t>”</a:t>
            </a:r>
            <a:r>
              <a:rPr lang="en-CA" dirty="0"/>
              <a:t> is the file name</a:t>
            </a:r>
            <a:r>
              <a:rPr lang="en-CA" dirty="0">
                <a:solidFill>
                  <a:schemeClr val="accent6"/>
                </a:solidFill>
              </a:rPr>
              <a:t>’</a:t>
            </a:r>
            <a:r>
              <a:rPr lang="en-CA" dirty="0"/>
              <a:t>s suffix</a:t>
            </a:r>
            <a:r>
              <a:rPr lang="en-CA" dirty="0">
                <a:solidFill>
                  <a:schemeClr val="accent6"/>
                </a:solidFill>
              </a:rPr>
              <a:t>,</a:t>
            </a:r>
            <a:r>
              <a:rPr lang="en-CA" dirty="0"/>
              <a:t> or the set of characters </a:t>
            </a:r>
            <a:r>
              <a:rPr lang="en-CA" dirty="0">
                <a:solidFill>
                  <a:srgbClr val="00FF00"/>
                </a:solidFill>
              </a:rPr>
              <a:t>(</a:t>
            </a:r>
            <a:r>
              <a:rPr lang="en-CA" dirty="0"/>
              <a:t>usually 2</a:t>
            </a:r>
            <a:r>
              <a:rPr lang="en-CA" dirty="0">
                <a:solidFill>
                  <a:schemeClr val="accent6"/>
                </a:solidFill>
              </a:rPr>
              <a:t>-</a:t>
            </a:r>
            <a:r>
              <a:rPr lang="en-CA" dirty="0"/>
              <a:t>4</a:t>
            </a:r>
            <a:r>
              <a:rPr lang="en-CA" dirty="0">
                <a:solidFill>
                  <a:srgbClr val="00FF00"/>
                </a:solidFill>
              </a:rPr>
              <a:t>)</a:t>
            </a:r>
            <a:r>
              <a:rPr lang="en-CA" dirty="0"/>
              <a:t> at the end of a file name</a:t>
            </a:r>
            <a:r>
              <a:rPr lang="en-CA" dirty="0">
                <a:solidFill>
                  <a:schemeClr val="accent6"/>
                </a:solidFill>
              </a:rPr>
              <a:t>,</a:t>
            </a:r>
            <a:r>
              <a:rPr lang="en-CA" dirty="0"/>
              <a:t> separated by a period </a:t>
            </a:r>
            <a:r>
              <a:rPr lang="en-CA" dirty="0">
                <a:solidFill>
                  <a:srgbClr val="00FF00"/>
                </a:solidFill>
              </a:rPr>
              <a:t>(</a:t>
            </a:r>
            <a:r>
              <a:rPr lang="en-CA" dirty="0">
                <a:solidFill>
                  <a:schemeClr val="accent6"/>
                </a:solidFill>
              </a:rPr>
              <a:t>.</a:t>
            </a:r>
            <a:r>
              <a:rPr lang="en-CA" dirty="0">
                <a:solidFill>
                  <a:srgbClr val="00FF00"/>
                </a:solidFill>
              </a:rPr>
              <a:t>)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endParaRPr lang="en-CA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FB859EC-F176-9066-94F4-EC675DA4A8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3547632"/>
              </p:ext>
            </p:extLst>
          </p:nvPr>
        </p:nvGraphicFramePr>
        <p:xfrm>
          <a:off x="1185043" y="3280530"/>
          <a:ext cx="6999704" cy="3352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99852">
                  <a:extLst>
                    <a:ext uri="{9D8B030D-6E8A-4147-A177-3AD203B41FA5}">
                      <a16:colId xmlns:a16="http://schemas.microsoft.com/office/drawing/2014/main" val="3306604620"/>
                    </a:ext>
                  </a:extLst>
                </a:gridCol>
                <a:gridCol w="3499852">
                  <a:extLst>
                    <a:ext uri="{9D8B030D-6E8A-4147-A177-3AD203B41FA5}">
                      <a16:colId xmlns:a16="http://schemas.microsoft.com/office/drawing/2014/main" val="2726236578"/>
                    </a:ext>
                  </a:extLst>
                </a:gridCol>
              </a:tblGrid>
              <a:tr h="286871">
                <a:tc>
                  <a:txBody>
                    <a:bodyPr/>
                    <a:lstStyle/>
                    <a:p>
                      <a:r>
                        <a:rPr lang="en-CA" sz="1600" dirty="0"/>
                        <a:t>File Types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dirty="0"/>
                        <a:t>Common Extension Examples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6181090"/>
                  </a:ext>
                </a:extLst>
              </a:tr>
              <a:tr h="286871">
                <a:tc>
                  <a:txBody>
                    <a:bodyPr/>
                    <a:lstStyle/>
                    <a:p>
                      <a:r>
                        <a:rPr lang="en-CA" sz="1600" b="1" dirty="0">
                          <a:solidFill>
                            <a:srgbClr val="7030A0"/>
                          </a:solidFill>
                        </a:rPr>
                        <a:t>Plain text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b="1" dirty="0">
                          <a:solidFill>
                            <a:srgbClr val="7030A0"/>
                          </a:solidFill>
                        </a:rPr>
                        <a:t>.txt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4475943"/>
                  </a:ext>
                </a:extLst>
              </a:tr>
              <a:tr h="286871">
                <a:tc>
                  <a:txBody>
                    <a:bodyPr/>
                    <a:lstStyle/>
                    <a:p>
                      <a:r>
                        <a:rPr lang="en-CA" sz="1600" b="1" dirty="0">
                          <a:solidFill>
                            <a:srgbClr val="7030A0"/>
                          </a:solidFill>
                        </a:rPr>
                        <a:t>Document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dirty="0"/>
                        <a:t>.doc, .docx, </a:t>
                      </a:r>
                      <a:r>
                        <a:rPr lang="en-CA" sz="1600" b="1" dirty="0">
                          <a:solidFill>
                            <a:srgbClr val="7030A0"/>
                          </a:solidFill>
                        </a:rPr>
                        <a:t>.pdf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8717322"/>
                  </a:ext>
                </a:extLst>
              </a:tr>
              <a:tr h="286871">
                <a:tc>
                  <a:txBody>
                    <a:bodyPr/>
                    <a:lstStyle/>
                    <a:p>
                      <a:r>
                        <a:rPr lang="en-CA" sz="1600" dirty="0"/>
                        <a:t>Image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dirty="0"/>
                        <a:t>.jpg, .gif, .</a:t>
                      </a:r>
                      <a:r>
                        <a:rPr lang="en-CA" sz="1600" dirty="0" err="1"/>
                        <a:t>png</a:t>
                      </a:r>
                      <a:endParaRPr lang="en-CA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340209"/>
                  </a:ext>
                </a:extLst>
              </a:tr>
              <a:tr h="286871">
                <a:tc>
                  <a:txBody>
                    <a:bodyPr/>
                    <a:lstStyle/>
                    <a:p>
                      <a:r>
                        <a:rPr lang="en-CA" sz="1600" b="1" dirty="0">
                          <a:solidFill>
                            <a:srgbClr val="7030A0"/>
                          </a:solidFill>
                        </a:rPr>
                        <a:t>Compressed/Archive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b="1" dirty="0">
                          <a:solidFill>
                            <a:srgbClr val="7030A0"/>
                          </a:solidFill>
                        </a:rPr>
                        <a:t>.zip</a:t>
                      </a:r>
                      <a:r>
                        <a:rPr lang="en-CA" sz="1600" dirty="0"/>
                        <a:t>, .</a:t>
                      </a:r>
                      <a:r>
                        <a:rPr lang="en-CA" sz="1600" dirty="0" err="1"/>
                        <a:t>rar</a:t>
                      </a:r>
                      <a:r>
                        <a:rPr lang="en-CA" sz="1600" dirty="0"/>
                        <a:t>, .7z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4256541"/>
                  </a:ext>
                </a:extLst>
              </a:tr>
              <a:tr h="286871">
                <a:tc>
                  <a:txBody>
                    <a:bodyPr/>
                    <a:lstStyle/>
                    <a:p>
                      <a:r>
                        <a:rPr lang="en-CA" sz="1600" dirty="0"/>
                        <a:t>Video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dirty="0"/>
                        <a:t>.mpg, .mp4, .</a:t>
                      </a:r>
                      <a:r>
                        <a:rPr lang="en-CA" sz="1600" dirty="0" err="1"/>
                        <a:t>avi</a:t>
                      </a:r>
                      <a:endParaRPr lang="en-CA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820206"/>
                  </a:ext>
                </a:extLst>
              </a:tr>
              <a:tr h="286871">
                <a:tc>
                  <a:txBody>
                    <a:bodyPr/>
                    <a:lstStyle/>
                    <a:p>
                      <a:r>
                        <a:rPr lang="en-CA" sz="1600" dirty="0"/>
                        <a:t>Executable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dirty="0"/>
                        <a:t>.exe, .bat, .bin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3570213"/>
                  </a:ext>
                </a:extLst>
              </a:tr>
              <a:tr h="286871">
                <a:tc>
                  <a:txBody>
                    <a:bodyPr/>
                    <a:lstStyle/>
                    <a:p>
                      <a:r>
                        <a:rPr lang="en-CA" sz="1600" b="1" dirty="0">
                          <a:solidFill>
                            <a:srgbClr val="7030A0"/>
                          </a:solidFill>
                        </a:rPr>
                        <a:t>Python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b="1" dirty="0">
                          <a:solidFill>
                            <a:srgbClr val="7030A0"/>
                          </a:solidFill>
                        </a:rPr>
                        <a:t>.</a:t>
                      </a:r>
                      <a:r>
                        <a:rPr lang="en-CA" sz="1600" b="1" dirty="0" err="1">
                          <a:solidFill>
                            <a:srgbClr val="7030A0"/>
                          </a:solidFill>
                        </a:rPr>
                        <a:t>py</a:t>
                      </a:r>
                      <a:endParaRPr lang="en-CA" sz="1600" b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7966126"/>
                  </a:ext>
                </a:extLst>
              </a:tr>
              <a:tr h="286871">
                <a:tc>
                  <a:txBody>
                    <a:bodyPr/>
                    <a:lstStyle/>
                    <a:p>
                      <a:r>
                        <a:rPr lang="en-CA" sz="1600" b="1" dirty="0" err="1">
                          <a:solidFill>
                            <a:srgbClr val="7030A0"/>
                          </a:solidFill>
                        </a:rPr>
                        <a:t>Jupyter</a:t>
                      </a:r>
                      <a:r>
                        <a:rPr lang="en-CA" sz="1600" b="1" dirty="0">
                          <a:solidFill>
                            <a:srgbClr val="7030A0"/>
                          </a:solidFill>
                        </a:rPr>
                        <a:t> Notebook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b="1" dirty="0">
                          <a:solidFill>
                            <a:srgbClr val="7030A0"/>
                          </a:solidFill>
                        </a:rPr>
                        <a:t>.</a:t>
                      </a:r>
                      <a:r>
                        <a:rPr lang="en-CA" sz="1600" b="1" dirty="0" err="1">
                          <a:solidFill>
                            <a:srgbClr val="7030A0"/>
                          </a:solidFill>
                        </a:rPr>
                        <a:t>ipynb</a:t>
                      </a:r>
                      <a:endParaRPr lang="en-CA" sz="1600" b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4306700"/>
                  </a:ext>
                </a:extLst>
              </a:tr>
              <a:tr h="286871">
                <a:tc>
                  <a:txBody>
                    <a:bodyPr/>
                    <a:lstStyle/>
                    <a:p>
                      <a:r>
                        <a:rPr lang="en-CA" sz="1600" b="1" dirty="0">
                          <a:solidFill>
                            <a:srgbClr val="7030A0"/>
                          </a:solidFill>
                        </a:rPr>
                        <a:t>Comma Separated Value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b="1" dirty="0">
                          <a:solidFill>
                            <a:srgbClr val="7030A0"/>
                          </a:solidFill>
                        </a:rPr>
                        <a:t>.csv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277442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CB2E1A5-B97D-5DDF-8D1C-8570C3C10830}"/>
              </a:ext>
            </a:extLst>
          </p:cNvPr>
          <p:cNvSpPr txBox="1"/>
          <p:nvPr/>
        </p:nvSpPr>
        <p:spPr>
          <a:xfrm>
            <a:off x="8481140" y="4356765"/>
            <a:ext cx="3443897" cy="1200329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CA" b="1" dirty="0">
                <a:solidFill>
                  <a:srgbClr val="FFFFFF"/>
                </a:solidFill>
              </a:rPr>
              <a:t>File extensions help indicate</a:t>
            </a:r>
            <a:r>
              <a:rPr lang="en-CA" b="1" dirty="0">
                <a:solidFill>
                  <a:schemeClr val="accent6"/>
                </a:solidFill>
              </a:rPr>
              <a:t>:</a:t>
            </a:r>
            <a:r>
              <a:rPr lang="en-CA" dirty="0">
                <a:solidFill>
                  <a:srgbClr val="FFFFFF"/>
                </a:solidFill>
              </a:rPr>
              <a:t> </a:t>
            </a:r>
          </a:p>
          <a:p>
            <a:pPr marL="285750" indent="-285750">
              <a:buClr>
                <a:schemeClr val="accent6"/>
              </a:buClr>
              <a:buFont typeface="Wingdings" panose="05000000000000000000" pitchFamily="2" charset="2"/>
              <a:buChar char="§"/>
              <a:tabLst>
                <a:tab pos="79375" algn="l"/>
              </a:tabLst>
            </a:pPr>
            <a:r>
              <a:rPr lang="en-CA" dirty="0">
                <a:solidFill>
                  <a:srgbClr val="FFFFFF"/>
                </a:solidFill>
              </a:rPr>
              <a:t>The file format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pPr marL="285750" indent="-285750">
              <a:buClr>
                <a:schemeClr val="accent6"/>
              </a:buClr>
              <a:buFont typeface="Wingdings" panose="05000000000000000000" pitchFamily="2" charset="2"/>
              <a:buChar char="§"/>
              <a:tabLst>
                <a:tab pos="79375" algn="l"/>
              </a:tabLst>
            </a:pPr>
            <a:r>
              <a:rPr lang="en-CA" dirty="0">
                <a:solidFill>
                  <a:srgbClr val="FFFFFF"/>
                </a:solidFill>
              </a:rPr>
              <a:t>How the data is structured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pPr marL="285750" indent="-285750">
              <a:buClr>
                <a:schemeClr val="accent6"/>
              </a:buClr>
              <a:buFont typeface="Wingdings" panose="05000000000000000000" pitchFamily="2" charset="2"/>
              <a:buChar char="§"/>
              <a:tabLst>
                <a:tab pos="79375" algn="l"/>
              </a:tabLst>
            </a:pPr>
            <a:r>
              <a:rPr lang="en-CA" dirty="0">
                <a:solidFill>
                  <a:srgbClr val="FFFFFF"/>
                </a:solidFill>
              </a:rPr>
              <a:t>Which programs can open it</a:t>
            </a:r>
            <a:r>
              <a:rPr lang="en-CA" dirty="0">
                <a:solidFill>
                  <a:schemeClr val="accent6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2302194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E416D-DB04-8271-FD87-C22884A10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EFE0E-6B22-D9B1-70C8-E0F3E1D82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Developer Toolkit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5122" name="Picture 2" descr="Github White Icon SVG Vector &amp; PNG Free Download | UXWing">
            <a:extLst>
              <a:ext uri="{FF2B5EF4-FFF2-40B4-BE49-F238E27FC236}">
                <a16:creationId xmlns:a16="http://schemas.microsoft.com/office/drawing/2014/main" id="{83C9AEC6-362A-8AE5-0088-17F11EC9FC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1826" y="2213555"/>
            <a:ext cx="1471974" cy="1471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4AB9C7D-1D5B-2F26-3A32-25D8442ECA4E}"/>
              </a:ext>
            </a:extLst>
          </p:cNvPr>
          <p:cNvSpPr txBox="1"/>
          <p:nvPr/>
        </p:nvSpPr>
        <p:spPr>
          <a:xfrm>
            <a:off x="9597342" y="3703592"/>
            <a:ext cx="2040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Git </a:t>
            </a:r>
            <a:r>
              <a:rPr lang="en-CA" sz="2400" b="1" dirty="0">
                <a:solidFill>
                  <a:srgbClr val="00FF00"/>
                </a:solidFill>
              </a:rPr>
              <a:t>+ </a:t>
            </a:r>
            <a:r>
              <a:rPr lang="en-CA" sz="2400" b="1" dirty="0">
                <a:solidFill>
                  <a:srgbClr val="FFFFFF"/>
                </a:solidFill>
              </a:rPr>
              <a:t>GitHub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D97C44-21E3-52E6-41B3-41C6509B1C77}"/>
              </a:ext>
            </a:extLst>
          </p:cNvPr>
          <p:cNvSpPr txBox="1"/>
          <p:nvPr/>
        </p:nvSpPr>
        <p:spPr>
          <a:xfrm>
            <a:off x="9364200" y="1752748"/>
            <a:ext cx="25072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Version Control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46" name="Picture 2" descr="Download Laptop Clipart Transparent Background - Laptop Png PNG Image with No  Background - PNGkey.com">
            <a:extLst>
              <a:ext uri="{FF2B5EF4-FFF2-40B4-BE49-F238E27FC236}">
                <a16:creationId xmlns:a16="http://schemas.microsoft.com/office/drawing/2014/main" id="{3491540C-ABEB-709B-CA74-47AD03213F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5674" y="943979"/>
            <a:ext cx="2321210" cy="1544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3D96BC5-585E-64F1-AF8D-38FD688F81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5835" y="1004529"/>
            <a:ext cx="1847718" cy="104215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BEBADD9-516D-8081-E523-EC2FEF90201B}"/>
              </a:ext>
            </a:extLst>
          </p:cNvPr>
          <p:cNvSpPr txBox="1"/>
          <p:nvPr/>
        </p:nvSpPr>
        <p:spPr>
          <a:xfrm>
            <a:off x="6941434" y="433121"/>
            <a:ext cx="16896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Computer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0" name="Picture 6">
            <a:extLst>
              <a:ext uri="{FF2B5EF4-FFF2-40B4-BE49-F238E27FC236}">
                <a16:creationId xmlns:a16="http://schemas.microsoft.com/office/drawing/2014/main" id="{6AFA4412-F9C4-1438-B023-ED9005C646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6307" y="5209115"/>
            <a:ext cx="965375" cy="965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76CEC68-2A90-7B7A-903A-6606C9B57DE2}"/>
              </a:ext>
            </a:extLst>
          </p:cNvPr>
          <p:cNvSpPr txBox="1"/>
          <p:nvPr/>
        </p:nvSpPr>
        <p:spPr>
          <a:xfrm>
            <a:off x="8099353" y="4604908"/>
            <a:ext cx="17640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Editor</a:t>
            </a:r>
            <a:r>
              <a:rPr lang="en-CA" sz="2400" b="1" dirty="0">
                <a:solidFill>
                  <a:srgbClr val="00FF00"/>
                </a:solidFill>
              </a:rPr>
              <a:t>/</a:t>
            </a:r>
            <a:r>
              <a:rPr lang="en-CA" sz="2400" b="1" dirty="0">
                <a:solidFill>
                  <a:schemeClr val="accent6"/>
                </a:solidFill>
              </a:rPr>
              <a:t>IDE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4" name="Picture 10">
            <a:extLst>
              <a:ext uri="{FF2B5EF4-FFF2-40B4-BE49-F238E27FC236}">
                <a16:creationId xmlns:a16="http://schemas.microsoft.com/office/drawing/2014/main" id="{DF45AA9B-F0AE-C464-E102-7D8A79260D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5670" y="5164068"/>
            <a:ext cx="910097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532746-8889-26B8-A712-970E4FFDCB2B}"/>
              </a:ext>
            </a:extLst>
          </p:cNvPr>
          <p:cNvSpPr txBox="1"/>
          <p:nvPr/>
        </p:nvSpPr>
        <p:spPr>
          <a:xfrm>
            <a:off x="7565150" y="6241961"/>
            <a:ext cx="27730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 err="1">
                <a:solidFill>
                  <a:srgbClr val="FFFFFF"/>
                </a:solidFill>
              </a:rPr>
              <a:t>VSCode</a:t>
            </a:r>
            <a:r>
              <a:rPr lang="en-CA" sz="2400" b="1" dirty="0">
                <a:solidFill>
                  <a:srgbClr val="FFFFFF"/>
                </a:solidFill>
              </a:rPr>
              <a:t> </a:t>
            </a:r>
            <a:r>
              <a:rPr lang="en-CA" sz="2400" b="1" dirty="0">
                <a:solidFill>
                  <a:srgbClr val="00FF00"/>
                </a:solidFill>
              </a:rPr>
              <a:t>+ </a:t>
            </a:r>
            <a:r>
              <a:rPr lang="en-CA" sz="2400" b="1" dirty="0" err="1">
                <a:solidFill>
                  <a:srgbClr val="FFFFFF"/>
                </a:solidFill>
              </a:rPr>
              <a:t>Jupyter</a:t>
            </a:r>
            <a:endParaRPr lang="en-CA" sz="2400" b="1" dirty="0">
              <a:solidFill>
                <a:srgbClr val="FFFFFF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1176B9-33F9-66C4-804B-6232E046D656}"/>
              </a:ext>
            </a:extLst>
          </p:cNvPr>
          <p:cNvSpPr txBox="1"/>
          <p:nvPr/>
        </p:nvSpPr>
        <p:spPr>
          <a:xfrm>
            <a:off x="2044847" y="1585397"/>
            <a:ext cx="2939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Python Interpreter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15653D-DA0B-A75E-8BCC-59A0393F4B1B}"/>
              </a:ext>
            </a:extLst>
          </p:cNvPr>
          <p:cNvSpPr txBox="1"/>
          <p:nvPr/>
        </p:nvSpPr>
        <p:spPr>
          <a:xfrm>
            <a:off x="32498" y="2949542"/>
            <a:ext cx="29415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Packages Manager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404ECB-62D2-B419-4603-9621CAF5AA74}"/>
              </a:ext>
            </a:extLst>
          </p:cNvPr>
          <p:cNvSpPr txBox="1"/>
          <p:nvPr/>
        </p:nvSpPr>
        <p:spPr>
          <a:xfrm>
            <a:off x="2527430" y="4664888"/>
            <a:ext cx="15204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Terminal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8" name="Picture 14" descr="Console Command-Line Icons Terminal Computer Linux Interface Transparent HQ  PNG Download | FreePNGimg">
            <a:extLst>
              <a:ext uri="{FF2B5EF4-FFF2-40B4-BE49-F238E27FC236}">
                <a16:creationId xmlns:a16="http://schemas.microsoft.com/office/drawing/2014/main" id="{CFE02B8C-64A4-EC91-3C45-C57C791CD0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5505" y="5066573"/>
            <a:ext cx="1280029" cy="1280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DA90A4E-E67A-BDC8-DFA3-AF0BF939F327}"/>
              </a:ext>
            </a:extLst>
          </p:cNvPr>
          <p:cNvSpPr txBox="1"/>
          <p:nvPr/>
        </p:nvSpPr>
        <p:spPr>
          <a:xfrm>
            <a:off x="1804474" y="6275931"/>
            <a:ext cx="29663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Anaconda Terminal</a:t>
            </a:r>
          </a:p>
        </p:txBody>
      </p:sp>
      <p:pic>
        <p:nvPicPr>
          <p:cNvPr id="6164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A9720E27-2BD9-2887-E481-5A979AE2C3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900" y="3400094"/>
            <a:ext cx="2314770" cy="1154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F206FC4C-0647-AEC6-4B48-09F9E2F80F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264" r="32032" b="35377"/>
          <a:stretch>
            <a:fillRect/>
          </a:stretch>
        </p:blipFill>
        <p:spPr bwMode="auto">
          <a:xfrm>
            <a:off x="3309807" y="5143536"/>
            <a:ext cx="1280029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8" name="Picture 24" descr="Python icon transparent background 48332144 PNG">
            <a:extLst>
              <a:ext uri="{FF2B5EF4-FFF2-40B4-BE49-F238E27FC236}">
                <a16:creationId xmlns:a16="http://schemas.microsoft.com/office/drawing/2014/main" id="{2BA825B0-67D5-66D7-8B9C-8B8D06EFFC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6828" y="1908646"/>
            <a:ext cx="1155818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692E21E-BA08-9053-401E-8C19B1244CF0}"/>
              </a:ext>
            </a:extLst>
          </p:cNvPr>
          <p:cNvCxnSpPr/>
          <p:nvPr/>
        </p:nvCxnSpPr>
        <p:spPr>
          <a:xfrm flipH="1" flipV="1">
            <a:off x="3998135" y="2711669"/>
            <a:ext cx="2097865" cy="1135117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Sebastian Goodfellow">
            <a:extLst>
              <a:ext uri="{FF2B5EF4-FFF2-40B4-BE49-F238E27FC236}">
                <a16:creationId xmlns:a16="http://schemas.microsoft.com/office/drawing/2014/main" id="{C7B29002-D16C-CB6A-8A9A-E251DFB0C8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5923" y="2583915"/>
            <a:ext cx="2580153" cy="2580153"/>
          </a:xfrm>
          <a:prstGeom prst="ellipse">
            <a:avLst/>
          </a:prstGeom>
          <a:ln w="63500" cap="rnd">
            <a:solidFill>
              <a:schemeClr val="accent1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07D9B26-5E5D-94A1-06AD-6B446ED6FD57}"/>
              </a:ext>
            </a:extLst>
          </p:cNvPr>
          <p:cNvSpPr/>
          <p:nvPr/>
        </p:nvSpPr>
        <p:spPr>
          <a:xfrm>
            <a:off x="32498" y="2869324"/>
            <a:ext cx="3277309" cy="1835970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D698107-74ED-BAD7-D030-4252F80224E2}"/>
              </a:ext>
            </a:extLst>
          </p:cNvPr>
          <p:cNvSpPr/>
          <p:nvPr/>
        </p:nvSpPr>
        <p:spPr>
          <a:xfrm>
            <a:off x="1252043" y="4705294"/>
            <a:ext cx="3518820" cy="1991896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934E6DC-DED4-DA4F-A65E-1C5736DE38B1}"/>
              </a:ext>
            </a:extLst>
          </p:cNvPr>
          <p:cNvSpPr/>
          <p:nvPr/>
        </p:nvSpPr>
        <p:spPr>
          <a:xfrm>
            <a:off x="9156242" y="1693304"/>
            <a:ext cx="3035758" cy="2490016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9941275-4E72-807B-F7C1-4294DDE5EAE1}"/>
              </a:ext>
            </a:extLst>
          </p:cNvPr>
          <p:cNvSpPr/>
          <p:nvPr/>
        </p:nvSpPr>
        <p:spPr>
          <a:xfrm>
            <a:off x="7539961" y="4198502"/>
            <a:ext cx="3035758" cy="2490016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4D37AEE-BAB0-D2C8-551F-11CAADC08797}"/>
              </a:ext>
            </a:extLst>
          </p:cNvPr>
          <p:cNvSpPr/>
          <p:nvPr/>
        </p:nvSpPr>
        <p:spPr>
          <a:xfrm>
            <a:off x="6521431" y="517916"/>
            <a:ext cx="2733742" cy="2005544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2E0E15-B498-568D-D0E8-F0F0D47D085C}"/>
              </a:ext>
            </a:extLst>
          </p:cNvPr>
          <p:cNvSpPr txBox="1"/>
          <p:nvPr/>
        </p:nvSpPr>
        <p:spPr>
          <a:xfrm>
            <a:off x="4924748" y="5391806"/>
            <a:ext cx="2342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Developer Seb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07861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rrow: Right 10">
            <a:extLst>
              <a:ext uri="{FF2B5EF4-FFF2-40B4-BE49-F238E27FC236}">
                <a16:creationId xmlns:a16="http://schemas.microsoft.com/office/drawing/2014/main" id="{A654E30E-7D4C-8041-936F-8E22EBADDA5D}"/>
              </a:ext>
            </a:extLst>
          </p:cNvPr>
          <p:cNvSpPr/>
          <p:nvPr/>
        </p:nvSpPr>
        <p:spPr>
          <a:xfrm rot="5400000">
            <a:off x="8863898" y="4937176"/>
            <a:ext cx="1069336" cy="513956"/>
          </a:xfrm>
          <a:prstGeom prst="rightArrow">
            <a:avLst>
              <a:gd name="adj1" fmla="val 52454"/>
              <a:gd name="adj2" fmla="val 86123"/>
            </a:avLst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4E27F3-EBE2-4534-F15C-3948FD688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Python Interpreter</a:t>
            </a:r>
            <a:r>
              <a:rPr lang="en-CA" b="1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05FC4-4E22-5CFA-8630-FE4108FA1B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5132243" cy="4835479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You write code in a </a:t>
            </a:r>
            <a:r>
              <a:rPr lang="en-US" b="1" dirty="0">
                <a:solidFill>
                  <a:srgbClr val="00FF00"/>
                </a:solidFill>
                <a:latin typeface="Consolas" panose="020B0609020204030204" pitchFamily="49" charset="0"/>
              </a:rPr>
              <a:t>.</a:t>
            </a:r>
            <a:r>
              <a:rPr lang="en-US" b="1" dirty="0" err="1">
                <a:solidFill>
                  <a:srgbClr val="00FF00"/>
                </a:solidFill>
                <a:latin typeface="Consolas" panose="020B0609020204030204" pitchFamily="49" charset="0"/>
              </a:rPr>
              <a:t>py</a:t>
            </a:r>
            <a:r>
              <a:rPr lang="en-US" b="1" dirty="0">
                <a:solidFill>
                  <a:srgbClr val="00FF00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file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plain text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dirty="0"/>
              <a:t>In the terminal you run</a:t>
            </a:r>
            <a:r>
              <a:rPr lang="en-US" dirty="0">
                <a:solidFill>
                  <a:schemeClr val="accent6"/>
                </a:solidFill>
              </a:rPr>
              <a:t>:</a:t>
            </a:r>
            <a:r>
              <a:rPr lang="en-US" dirty="0"/>
              <a:t> </a:t>
            </a:r>
          </a:p>
          <a:p>
            <a:pPr lvl="1"/>
            <a:r>
              <a:rPr lang="en-US" b="1" dirty="0">
                <a:solidFill>
                  <a:srgbClr val="00FF00"/>
                </a:solidFill>
                <a:latin typeface="Consolas" panose="020B0609020204030204" pitchFamily="49" charset="0"/>
              </a:rPr>
              <a:t>python myfile.py</a:t>
            </a:r>
            <a:endParaRPr lang="en-US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r>
              <a:rPr lang="en-US" dirty="0"/>
              <a:t>The Python interpreter reads your file top to bottom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translating it into actions as it goes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dirty="0"/>
              <a:t>It executes the instructions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does calculations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calls functions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reads input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etc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dirty="0"/>
              <a:t>Results appear as output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printed text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files saved, graphs shown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and if something is wrong you get an error message</a:t>
            </a:r>
            <a:r>
              <a:rPr lang="en-US" dirty="0">
                <a:solidFill>
                  <a:schemeClr val="accent6"/>
                </a:solidFill>
              </a:rPr>
              <a:t>/</a:t>
            </a:r>
            <a:r>
              <a:rPr lang="en-US" dirty="0"/>
              <a:t>traceback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endParaRPr lang="en-CA" dirty="0">
              <a:solidFill>
                <a:schemeClr val="accent6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FB6C512-E822-CBC7-66F6-BA17B343CF78}"/>
              </a:ext>
            </a:extLst>
          </p:cNvPr>
          <p:cNvSpPr/>
          <p:nvPr/>
        </p:nvSpPr>
        <p:spPr>
          <a:xfrm>
            <a:off x="6861153" y="964846"/>
            <a:ext cx="4874698" cy="1254939"/>
          </a:xfrm>
          <a:prstGeom prst="roundRect">
            <a:avLst/>
          </a:prstGeom>
          <a:noFill/>
          <a:ln w="57150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319A94-CBA5-0EFF-C830-155FC8E6D1F4}"/>
              </a:ext>
            </a:extLst>
          </p:cNvPr>
          <p:cNvSpPr txBox="1"/>
          <p:nvPr/>
        </p:nvSpPr>
        <p:spPr>
          <a:xfrm>
            <a:off x="6732927" y="564287"/>
            <a:ext cx="1358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rgbClr val="FFFFFF"/>
                </a:solidFill>
              </a:rPr>
              <a:t>test_file</a:t>
            </a:r>
            <a:r>
              <a:rPr lang="en-CA" b="1" dirty="0">
                <a:solidFill>
                  <a:srgbClr val="00FF00"/>
                </a:solidFill>
              </a:rPr>
              <a:t>.</a:t>
            </a:r>
            <a:r>
              <a:rPr lang="en-CA" b="1" dirty="0">
                <a:solidFill>
                  <a:srgbClr val="FFFFFF"/>
                </a:solidFill>
              </a:rPr>
              <a:t>py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634CFB-550B-68A5-CFEA-3D4638D7BD30}"/>
              </a:ext>
            </a:extLst>
          </p:cNvPr>
          <p:cNvSpPr txBox="1"/>
          <p:nvPr/>
        </p:nvSpPr>
        <p:spPr>
          <a:xfrm>
            <a:off x="7037727" y="1129178"/>
            <a:ext cx="2360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rgbClr val="FFFFFF"/>
                </a:solidFill>
              </a:rPr>
              <a:t>print(“Hello Class!”)</a:t>
            </a:r>
          </a:p>
        </p:txBody>
      </p:sp>
      <p:pic>
        <p:nvPicPr>
          <p:cNvPr id="9" name="Picture 24" descr="Python icon transparent background 48332144 PNG">
            <a:extLst>
              <a:ext uri="{FF2B5EF4-FFF2-40B4-BE49-F238E27FC236}">
                <a16:creationId xmlns:a16="http://schemas.microsoft.com/office/drawing/2014/main" id="{013066DB-358B-E0BC-341E-A9005B0BDC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0877" y="2810433"/>
            <a:ext cx="2295378" cy="2295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C7970953-0979-9CEF-6818-E640D9E66E69}"/>
              </a:ext>
            </a:extLst>
          </p:cNvPr>
          <p:cNvSpPr/>
          <p:nvPr/>
        </p:nvSpPr>
        <p:spPr>
          <a:xfrm rot="5400000">
            <a:off x="8977263" y="2363057"/>
            <a:ext cx="842606" cy="513956"/>
          </a:xfrm>
          <a:prstGeom prst="rightArrow">
            <a:avLst>
              <a:gd name="adj1" fmla="val 52454"/>
              <a:gd name="adj2" fmla="val 86123"/>
            </a:avLst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AF58EAC-AD65-60D4-DAFD-5383CF288B80}"/>
              </a:ext>
            </a:extLst>
          </p:cNvPr>
          <p:cNvSpPr/>
          <p:nvPr/>
        </p:nvSpPr>
        <p:spPr>
          <a:xfrm>
            <a:off x="6861153" y="5789092"/>
            <a:ext cx="4874698" cy="775669"/>
          </a:xfrm>
          <a:prstGeom prst="roundRect">
            <a:avLst/>
          </a:prstGeom>
          <a:noFill/>
          <a:ln w="57150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FEBA94-CF16-132F-2230-D79F439E4017}"/>
              </a:ext>
            </a:extLst>
          </p:cNvPr>
          <p:cNvSpPr txBox="1"/>
          <p:nvPr/>
        </p:nvSpPr>
        <p:spPr>
          <a:xfrm>
            <a:off x="6732927" y="5111062"/>
            <a:ext cx="19438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rgbClr val="FFFFFF"/>
                </a:solidFill>
              </a:rPr>
              <a:t>standard output</a:t>
            </a:r>
          </a:p>
          <a:p>
            <a:r>
              <a:rPr lang="en-CA" b="1" dirty="0">
                <a:solidFill>
                  <a:srgbClr val="00FF00"/>
                </a:solidFill>
              </a:rPr>
              <a:t>(</a:t>
            </a:r>
            <a:r>
              <a:rPr lang="en-CA" b="1" dirty="0" err="1">
                <a:solidFill>
                  <a:srgbClr val="FFFFFF"/>
                </a:solidFill>
              </a:rPr>
              <a:t>stdout</a:t>
            </a:r>
            <a:r>
              <a:rPr lang="en-CA" b="1" dirty="0">
                <a:solidFill>
                  <a:srgbClr val="00FF00"/>
                </a:solidFill>
              </a:rPr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50E53B-C77E-3227-70E9-CF35AA457124}"/>
              </a:ext>
            </a:extLst>
          </p:cNvPr>
          <p:cNvSpPr txBox="1"/>
          <p:nvPr/>
        </p:nvSpPr>
        <p:spPr>
          <a:xfrm>
            <a:off x="7037727" y="5953424"/>
            <a:ext cx="1433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rgbClr val="FFFFFF"/>
                </a:solidFill>
              </a:rPr>
              <a:t>Hello Class!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6D56BE96-E372-0AAF-17B0-35EDD06B5FF4}"/>
              </a:ext>
            </a:extLst>
          </p:cNvPr>
          <p:cNvSpPr/>
          <p:nvPr/>
        </p:nvSpPr>
        <p:spPr>
          <a:xfrm>
            <a:off x="5459075" y="1616900"/>
            <a:ext cx="2029317" cy="4902335"/>
          </a:xfrm>
          <a:prstGeom prst="rightBrace">
            <a:avLst>
              <a:gd name="adj1" fmla="val 42455"/>
              <a:gd name="adj2" fmla="val 48950"/>
            </a:avLst>
          </a:prstGeom>
          <a:ln w="38100">
            <a:solidFill>
              <a:srgbClr val="CC99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599001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8C20D-41B3-C1F3-0C09-D37E6AFB1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F621B-528A-3BEF-4566-4FC607021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Python Interpreter</a:t>
            </a:r>
            <a:r>
              <a:rPr lang="en-CA" b="1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50B8B-337B-BEE3-03F8-07C983EBEE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5132243" cy="4835479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You write code in a </a:t>
            </a:r>
            <a:r>
              <a:rPr lang="en-US" b="1" dirty="0">
                <a:solidFill>
                  <a:srgbClr val="00FF00"/>
                </a:solidFill>
                <a:latin typeface="Consolas" panose="020B0609020204030204" pitchFamily="49" charset="0"/>
              </a:rPr>
              <a:t>.</a:t>
            </a:r>
            <a:r>
              <a:rPr lang="en-US" b="1" dirty="0" err="1">
                <a:solidFill>
                  <a:srgbClr val="00FF00"/>
                </a:solidFill>
                <a:latin typeface="Consolas" panose="020B0609020204030204" pitchFamily="49" charset="0"/>
              </a:rPr>
              <a:t>py</a:t>
            </a:r>
            <a:r>
              <a:rPr lang="en-US" b="1" dirty="0">
                <a:solidFill>
                  <a:srgbClr val="00FF00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file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plain text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dirty="0"/>
              <a:t>In the terminal you run</a:t>
            </a:r>
            <a:r>
              <a:rPr lang="en-US" dirty="0">
                <a:solidFill>
                  <a:schemeClr val="accent6"/>
                </a:solidFill>
              </a:rPr>
              <a:t>:</a:t>
            </a:r>
            <a:r>
              <a:rPr lang="en-US" dirty="0"/>
              <a:t> </a:t>
            </a:r>
          </a:p>
          <a:p>
            <a:pPr lvl="1"/>
            <a:r>
              <a:rPr lang="en-US" b="1" dirty="0">
                <a:solidFill>
                  <a:srgbClr val="00FF00"/>
                </a:solidFill>
                <a:latin typeface="Consolas" panose="020B0609020204030204" pitchFamily="49" charset="0"/>
              </a:rPr>
              <a:t>python myfile.py</a:t>
            </a:r>
            <a:endParaRPr lang="en-US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r>
              <a:rPr lang="en-US" dirty="0"/>
              <a:t>The Python interpreter reads your file top to bottom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translating it into actions as it goes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dirty="0"/>
              <a:t>It executes the instructions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does calculations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calls functions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reads input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etc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dirty="0"/>
              <a:t>Results appear as output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printed text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files saved, graphs shown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and if something is wrong you get an error message</a:t>
            </a:r>
            <a:r>
              <a:rPr lang="en-US" dirty="0">
                <a:solidFill>
                  <a:schemeClr val="accent6"/>
                </a:solidFill>
              </a:rPr>
              <a:t>/</a:t>
            </a:r>
            <a:r>
              <a:rPr lang="en-US" dirty="0"/>
              <a:t>traceback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endParaRPr lang="en-CA" dirty="0">
              <a:solidFill>
                <a:schemeClr val="accent6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5CFD129-BC11-2049-0D2C-9E2F8C4CC062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Let</a:t>
            </a:r>
            <a:r>
              <a:rPr lang="en-US" sz="4400" b="1" dirty="0">
                <a:solidFill>
                  <a:srgbClr val="00FF00"/>
                </a:solidFill>
              </a:rPr>
              <a:t>’</a:t>
            </a:r>
            <a:r>
              <a:rPr lang="en-US" sz="4400" b="1" dirty="0">
                <a:solidFill>
                  <a:srgbClr val="FFFFFF"/>
                </a:solidFill>
              </a:rPr>
              <a:t>s Code</a:t>
            </a:r>
            <a:r>
              <a:rPr lang="en-US" sz="4400" b="1" dirty="0">
                <a:solidFill>
                  <a:srgbClr val="00FF00"/>
                </a:solidFill>
              </a:rPr>
              <a:t>!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Open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pPr marL="514350" indent="-514350">
              <a:buAutoNum type="arabicPeriod"/>
            </a:pPr>
            <a:r>
              <a:rPr lang="en-US" sz="2400" b="1" dirty="0">
                <a:solidFill>
                  <a:schemeClr val="accent6"/>
                </a:solidFill>
              </a:rPr>
              <a:t>Anaconda Prompt</a:t>
            </a:r>
          </a:p>
          <a:p>
            <a:pPr marL="514350" indent="-514350">
              <a:buAutoNum type="arabicPeriod"/>
            </a:pPr>
            <a:r>
              <a:rPr lang="en-US" sz="2400" b="1" dirty="0">
                <a:solidFill>
                  <a:schemeClr val="accent6"/>
                </a:solidFill>
              </a:rPr>
              <a:t>A Text Editor</a:t>
            </a:r>
          </a:p>
        </p:txBody>
      </p:sp>
    </p:spTree>
    <p:extLst>
      <p:ext uri="{BB962C8B-B14F-4D97-AF65-F5344CB8AC3E}">
        <p14:creationId xmlns:p14="http://schemas.microsoft.com/office/powerpoint/2010/main" val="29399948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F40B3-3BC9-992B-4A7E-738FD4E1D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64A49-06F0-891A-AA32-1FC560C1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Developer Toolkit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5122" name="Picture 2" descr="Github White Icon SVG Vector &amp; PNG Free Download | UXWing">
            <a:extLst>
              <a:ext uri="{FF2B5EF4-FFF2-40B4-BE49-F238E27FC236}">
                <a16:creationId xmlns:a16="http://schemas.microsoft.com/office/drawing/2014/main" id="{1F832B72-DACB-1055-A650-DE7E30D103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1826" y="2213555"/>
            <a:ext cx="1471974" cy="1471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C4566F-C5E8-2D91-B580-B272D9104208}"/>
              </a:ext>
            </a:extLst>
          </p:cNvPr>
          <p:cNvSpPr txBox="1"/>
          <p:nvPr/>
        </p:nvSpPr>
        <p:spPr>
          <a:xfrm>
            <a:off x="9597342" y="3703592"/>
            <a:ext cx="2040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Git </a:t>
            </a:r>
            <a:r>
              <a:rPr lang="en-CA" sz="2400" b="1" dirty="0">
                <a:solidFill>
                  <a:srgbClr val="00FF00"/>
                </a:solidFill>
              </a:rPr>
              <a:t>+ </a:t>
            </a:r>
            <a:r>
              <a:rPr lang="en-CA" sz="2400" b="1" dirty="0">
                <a:solidFill>
                  <a:srgbClr val="FFFFFF"/>
                </a:solidFill>
              </a:rPr>
              <a:t>GitHub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C00024-4201-2B0A-C3A0-EAA009DEA0C1}"/>
              </a:ext>
            </a:extLst>
          </p:cNvPr>
          <p:cNvSpPr txBox="1"/>
          <p:nvPr/>
        </p:nvSpPr>
        <p:spPr>
          <a:xfrm>
            <a:off x="9364200" y="1752748"/>
            <a:ext cx="25072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Version Control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46" name="Picture 2" descr="Download Laptop Clipart Transparent Background - Laptop Png PNG Image with No  Background - PNGkey.com">
            <a:extLst>
              <a:ext uri="{FF2B5EF4-FFF2-40B4-BE49-F238E27FC236}">
                <a16:creationId xmlns:a16="http://schemas.microsoft.com/office/drawing/2014/main" id="{7950FA1A-716A-7B8D-976C-33B0C45FB6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5674" y="943979"/>
            <a:ext cx="2321210" cy="1544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2542DC1-B216-BAD9-BC74-5ACE1B9D69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5835" y="1004529"/>
            <a:ext cx="1847718" cy="104215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E4724A2-2068-DF8E-E093-ADA11AA11F5F}"/>
              </a:ext>
            </a:extLst>
          </p:cNvPr>
          <p:cNvSpPr txBox="1"/>
          <p:nvPr/>
        </p:nvSpPr>
        <p:spPr>
          <a:xfrm>
            <a:off x="6941434" y="433121"/>
            <a:ext cx="16896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Computer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0" name="Picture 6">
            <a:extLst>
              <a:ext uri="{FF2B5EF4-FFF2-40B4-BE49-F238E27FC236}">
                <a16:creationId xmlns:a16="http://schemas.microsoft.com/office/drawing/2014/main" id="{07A81E16-FCF8-B102-4B13-F1B31E1194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6307" y="5209115"/>
            <a:ext cx="965375" cy="965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71A914D-3532-5B06-50A8-32068D7B3E82}"/>
              </a:ext>
            </a:extLst>
          </p:cNvPr>
          <p:cNvSpPr txBox="1"/>
          <p:nvPr/>
        </p:nvSpPr>
        <p:spPr>
          <a:xfrm>
            <a:off x="8099353" y="4604908"/>
            <a:ext cx="17640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Editor</a:t>
            </a:r>
            <a:r>
              <a:rPr lang="en-CA" sz="2400" b="1" dirty="0">
                <a:solidFill>
                  <a:srgbClr val="00FF00"/>
                </a:solidFill>
              </a:rPr>
              <a:t>/</a:t>
            </a:r>
            <a:r>
              <a:rPr lang="en-CA" sz="2400" b="1" dirty="0">
                <a:solidFill>
                  <a:schemeClr val="accent6"/>
                </a:solidFill>
              </a:rPr>
              <a:t>IDE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4" name="Picture 10">
            <a:extLst>
              <a:ext uri="{FF2B5EF4-FFF2-40B4-BE49-F238E27FC236}">
                <a16:creationId xmlns:a16="http://schemas.microsoft.com/office/drawing/2014/main" id="{D8B7E274-9C54-AF23-79A0-889FAEAEB8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5670" y="5164068"/>
            <a:ext cx="910097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570E78F-BECD-FBF7-1F35-4636328D895E}"/>
              </a:ext>
            </a:extLst>
          </p:cNvPr>
          <p:cNvSpPr txBox="1"/>
          <p:nvPr/>
        </p:nvSpPr>
        <p:spPr>
          <a:xfrm>
            <a:off x="7565150" y="6241961"/>
            <a:ext cx="27730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 err="1">
                <a:solidFill>
                  <a:srgbClr val="FFFFFF"/>
                </a:solidFill>
              </a:rPr>
              <a:t>VSCode</a:t>
            </a:r>
            <a:r>
              <a:rPr lang="en-CA" sz="2400" b="1" dirty="0">
                <a:solidFill>
                  <a:srgbClr val="FFFFFF"/>
                </a:solidFill>
              </a:rPr>
              <a:t> </a:t>
            </a:r>
            <a:r>
              <a:rPr lang="en-CA" sz="2400" b="1" dirty="0">
                <a:solidFill>
                  <a:srgbClr val="00FF00"/>
                </a:solidFill>
              </a:rPr>
              <a:t>+ </a:t>
            </a:r>
            <a:r>
              <a:rPr lang="en-CA" sz="2400" b="1" dirty="0" err="1">
                <a:solidFill>
                  <a:srgbClr val="FFFFFF"/>
                </a:solidFill>
              </a:rPr>
              <a:t>Jupyter</a:t>
            </a:r>
            <a:endParaRPr lang="en-CA" sz="2400" b="1" dirty="0">
              <a:solidFill>
                <a:srgbClr val="FFFFFF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B1899E-9866-65F4-CA83-D23E46C9FA9A}"/>
              </a:ext>
            </a:extLst>
          </p:cNvPr>
          <p:cNvSpPr txBox="1"/>
          <p:nvPr/>
        </p:nvSpPr>
        <p:spPr>
          <a:xfrm>
            <a:off x="2044847" y="1585397"/>
            <a:ext cx="2939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Python Interpreter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790A7A1-1E81-FEC2-56AE-ABF18D93A14C}"/>
              </a:ext>
            </a:extLst>
          </p:cNvPr>
          <p:cNvSpPr txBox="1"/>
          <p:nvPr/>
        </p:nvSpPr>
        <p:spPr>
          <a:xfrm>
            <a:off x="32498" y="2949542"/>
            <a:ext cx="29415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Packages Manager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E05F72-E1E5-AEB8-376A-1B9239BEC232}"/>
              </a:ext>
            </a:extLst>
          </p:cNvPr>
          <p:cNvSpPr txBox="1"/>
          <p:nvPr/>
        </p:nvSpPr>
        <p:spPr>
          <a:xfrm>
            <a:off x="2527430" y="4664888"/>
            <a:ext cx="15204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Terminal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8" name="Picture 14" descr="Console Command-Line Icons Terminal Computer Linux Interface Transparent HQ  PNG Download | FreePNGimg">
            <a:extLst>
              <a:ext uri="{FF2B5EF4-FFF2-40B4-BE49-F238E27FC236}">
                <a16:creationId xmlns:a16="http://schemas.microsoft.com/office/drawing/2014/main" id="{7623BED2-B4C9-D61A-E0CF-3FD928A0DA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5505" y="5066573"/>
            <a:ext cx="1280029" cy="1280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3A5FA4F-3E1D-770A-EA6C-79A78ADD41AE}"/>
              </a:ext>
            </a:extLst>
          </p:cNvPr>
          <p:cNvSpPr txBox="1"/>
          <p:nvPr/>
        </p:nvSpPr>
        <p:spPr>
          <a:xfrm>
            <a:off x="1804474" y="6275931"/>
            <a:ext cx="29663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Anaconda Terminal</a:t>
            </a:r>
          </a:p>
        </p:txBody>
      </p:sp>
      <p:pic>
        <p:nvPicPr>
          <p:cNvPr id="6164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34613C8F-0216-1914-E077-E53C48AC62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900" y="3400094"/>
            <a:ext cx="2314770" cy="1154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FD91CF61-4A7B-2BB9-E4EC-BB493B95A6B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264" r="32032" b="35377"/>
          <a:stretch>
            <a:fillRect/>
          </a:stretch>
        </p:blipFill>
        <p:spPr bwMode="auto">
          <a:xfrm>
            <a:off x="3309807" y="5143536"/>
            <a:ext cx="1280029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8" name="Picture 24" descr="Python icon transparent background 48332144 PNG">
            <a:extLst>
              <a:ext uri="{FF2B5EF4-FFF2-40B4-BE49-F238E27FC236}">
                <a16:creationId xmlns:a16="http://schemas.microsoft.com/office/drawing/2014/main" id="{C29FC4FC-0941-8A99-B69B-2A8D9C8710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6828" y="1908646"/>
            <a:ext cx="1155818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41EDAC9-1EB6-2AD9-FC01-264F6D9711F5}"/>
              </a:ext>
            </a:extLst>
          </p:cNvPr>
          <p:cNvCxnSpPr>
            <a:cxnSpLocks/>
          </p:cNvCxnSpPr>
          <p:nvPr/>
        </p:nvCxnSpPr>
        <p:spPr>
          <a:xfrm>
            <a:off x="6172906" y="3898203"/>
            <a:ext cx="1672318" cy="142577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Sebastian Goodfellow">
            <a:extLst>
              <a:ext uri="{FF2B5EF4-FFF2-40B4-BE49-F238E27FC236}">
                <a16:creationId xmlns:a16="http://schemas.microsoft.com/office/drawing/2014/main" id="{85CF09A5-892E-43BB-AF68-8A2AFD71A9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5923" y="2583915"/>
            <a:ext cx="2580153" cy="2580153"/>
          </a:xfrm>
          <a:prstGeom prst="ellipse">
            <a:avLst/>
          </a:prstGeom>
          <a:ln w="63500" cap="rnd">
            <a:solidFill>
              <a:schemeClr val="accent1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194AA0E-D4E9-8DE0-9E6F-E61D8E795A09}"/>
              </a:ext>
            </a:extLst>
          </p:cNvPr>
          <p:cNvSpPr/>
          <p:nvPr/>
        </p:nvSpPr>
        <p:spPr>
          <a:xfrm>
            <a:off x="32498" y="2869324"/>
            <a:ext cx="3277309" cy="1835970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04BF0-2FB3-51E5-720D-AC4A75DBD1C3}"/>
              </a:ext>
            </a:extLst>
          </p:cNvPr>
          <p:cNvSpPr/>
          <p:nvPr/>
        </p:nvSpPr>
        <p:spPr>
          <a:xfrm>
            <a:off x="1252043" y="4705294"/>
            <a:ext cx="3518820" cy="1991896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53E6DB1-CA28-E619-FAC5-4E8FBADBE57B}"/>
              </a:ext>
            </a:extLst>
          </p:cNvPr>
          <p:cNvSpPr/>
          <p:nvPr/>
        </p:nvSpPr>
        <p:spPr>
          <a:xfrm>
            <a:off x="9156242" y="1693304"/>
            <a:ext cx="3035758" cy="2490016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2549394-F93E-51B0-4A51-5D1537DDA71A}"/>
              </a:ext>
            </a:extLst>
          </p:cNvPr>
          <p:cNvSpPr/>
          <p:nvPr/>
        </p:nvSpPr>
        <p:spPr>
          <a:xfrm>
            <a:off x="6521431" y="517916"/>
            <a:ext cx="2733742" cy="2005544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EEE5B0A-7DA4-74A6-09CA-54ACB1845E25}"/>
              </a:ext>
            </a:extLst>
          </p:cNvPr>
          <p:cNvSpPr/>
          <p:nvPr/>
        </p:nvSpPr>
        <p:spPr>
          <a:xfrm>
            <a:off x="1888990" y="1378905"/>
            <a:ext cx="3035758" cy="1570637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CCA707-BD5E-E49B-4EDA-E561A9074924}"/>
              </a:ext>
            </a:extLst>
          </p:cNvPr>
          <p:cNvSpPr txBox="1"/>
          <p:nvPr/>
        </p:nvSpPr>
        <p:spPr>
          <a:xfrm>
            <a:off x="4924748" y="5391806"/>
            <a:ext cx="2342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Developer Seb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18772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DAF4A-ECA0-BFDB-2FCA-B061D8563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Editors </a:t>
            </a:r>
            <a:r>
              <a:rPr lang="en-CA" b="1" dirty="0">
                <a:solidFill>
                  <a:srgbClr val="00FF00"/>
                </a:solidFill>
              </a:rPr>
              <a:t>&amp;</a:t>
            </a:r>
            <a:r>
              <a:rPr lang="en-CA" b="1" dirty="0"/>
              <a:t> IDEs</a:t>
            </a:r>
            <a:r>
              <a:rPr lang="en-CA" b="1" dirty="0">
                <a:solidFill>
                  <a:srgbClr val="00FF00"/>
                </a:solidFill>
              </a:rPr>
              <a:t>.</a:t>
            </a:r>
            <a:endParaRPr lang="en-CA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BA24C9D-2304-9D36-A308-E2BD0620FAC7}"/>
              </a:ext>
            </a:extLst>
          </p:cNvPr>
          <p:cNvSpPr/>
          <p:nvPr/>
        </p:nvSpPr>
        <p:spPr>
          <a:xfrm>
            <a:off x="611177" y="2826154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8EA6DE9-AC0F-9415-D0E4-87DBB0BB788E}"/>
              </a:ext>
            </a:extLst>
          </p:cNvPr>
          <p:cNvSpPr/>
          <p:nvPr/>
        </p:nvSpPr>
        <p:spPr>
          <a:xfrm>
            <a:off x="3431102" y="2826153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8A67333-C2CF-3487-05F6-48219EE7C14B}"/>
              </a:ext>
            </a:extLst>
          </p:cNvPr>
          <p:cNvSpPr/>
          <p:nvPr/>
        </p:nvSpPr>
        <p:spPr>
          <a:xfrm>
            <a:off x="6251027" y="2826152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CD96314-6447-F901-A5E8-D5740BE11AAE}"/>
              </a:ext>
            </a:extLst>
          </p:cNvPr>
          <p:cNvSpPr/>
          <p:nvPr/>
        </p:nvSpPr>
        <p:spPr>
          <a:xfrm>
            <a:off x="9070952" y="2826151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294DD4A0-07AB-3970-F522-A137E15362D6}"/>
              </a:ext>
            </a:extLst>
          </p:cNvPr>
          <p:cNvSpPr/>
          <p:nvPr/>
        </p:nvSpPr>
        <p:spPr>
          <a:xfrm>
            <a:off x="3140967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96F6D11-733B-57D6-6430-460900D5B8D0}"/>
              </a:ext>
            </a:extLst>
          </p:cNvPr>
          <p:cNvSpPr/>
          <p:nvPr/>
        </p:nvSpPr>
        <p:spPr>
          <a:xfrm>
            <a:off x="5960391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70BA5CE0-FC3B-721E-18DB-335D84CFBB30}"/>
              </a:ext>
            </a:extLst>
          </p:cNvPr>
          <p:cNvSpPr/>
          <p:nvPr/>
        </p:nvSpPr>
        <p:spPr>
          <a:xfrm>
            <a:off x="8781316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D1361E-B73D-0238-A457-E3E00D6CC4BA}"/>
              </a:ext>
            </a:extLst>
          </p:cNvPr>
          <p:cNvSpPr txBox="1"/>
          <p:nvPr/>
        </p:nvSpPr>
        <p:spPr>
          <a:xfrm>
            <a:off x="503573" y="2350193"/>
            <a:ext cx="1970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Text Editors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98CC83-FAA3-9FC3-0019-E28BA25CD27A}"/>
              </a:ext>
            </a:extLst>
          </p:cNvPr>
          <p:cNvSpPr txBox="1"/>
          <p:nvPr/>
        </p:nvSpPr>
        <p:spPr>
          <a:xfrm>
            <a:off x="3303370" y="1609608"/>
            <a:ext cx="31525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Interactive Computing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Environment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FDACEF-5D3E-B6E4-4615-F125EC2B5CDF}"/>
              </a:ext>
            </a:extLst>
          </p:cNvPr>
          <p:cNvSpPr txBox="1"/>
          <p:nvPr/>
        </p:nvSpPr>
        <p:spPr>
          <a:xfrm>
            <a:off x="6121750" y="1233994"/>
            <a:ext cx="213090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Integrated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Development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Environment</a:t>
            </a:r>
          </a:p>
          <a:p>
            <a:r>
              <a:rPr lang="en-CA" sz="2400" b="1" dirty="0">
                <a:solidFill>
                  <a:srgbClr val="CC99FF"/>
                </a:solidFill>
              </a:rPr>
              <a:t>(</a:t>
            </a:r>
            <a:r>
              <a:rPr lang="en-CA" sz="2400" b="1" dirty="0">
                <a:solidFill>
                  <a:srgbClr val="FFFFFF"/>
                </a:solidFill>
              </a:rPr>
              <a:t>IDE</a:t>
            </a:r>
            <a:r>
              <a:rPr lang="en-CA" sz="2400" b="1" dirty="0">
                <a:solidFill>
                  <a:srgbClr val="CC99FF"/>
                </a:solidFill>
              </a:rPr>
              <a:t>)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6EF2E65-C878-CD2B-77E1-FA378C0C84C7}"/>
              </a:ext>
            </a:extLst>
          </p:cNvPr>
          <p:cNvSpPr txBox="1"/>
          <p:nvPr/>
        </p:nvSpPr>
        <p:spPr>
          <a:xfrm>
            <a:off x="8940585" y="1981938"/>
            <a:ext cx="12508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AI</a:t>
            </a:r>
            <a:r>
              <a:rPr lang="en-CA" sz="2400" b="1" dirty="0">
                <a:solidFill>
                  <a:srgbClr val="CC99FF"/>
                </a:solidFill>
              </a:rPr>
              <a:t>-</a:t>
            </a:r>
            <a:r>
              <a:rPr lang="en-CA" sz="2400" b="1" dirty="0">
                <a:solidFill>
                  <a:srgbClr val="FFFFFF"/>
                </a:solidFill>
              </a:rPr>
              <a:t>First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IDE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4757F322-2D5A-BE3B-5FA7-8C725D2145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115" y="3094008"/>
            <a:ext cx="1160342" cy="1160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6" descr="Sublimetext Icon icon - Free Download PNG &amp; SVG | Streamline">
            <a:extLst>
              <a:ext uri="{FF2B5EF4-FFF2-40B4-BE49-F238E27FC236}">
                <a16:creationId xmlns:a16="http://schemas.microsoft.com/office/drawing/2014/main" id="{72C7FCFE-CA66-D28F-B996-F6661A2C4C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8208" y="3942032"/>
            <a:ext cx="1160343" cy="1160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6" name="Picture 8" descr="Emacs Logo Sticker Pack | FSF Shop">
            <a:extLst>
              <a:ext uri="{FF2B5EF4-FFF2-40B4-BE49-F238E27FC236}">
                <a16:creationId xmlns:a16="http://schemas.microsoft.com/office/drawing/2014/main" id="{162373A5-8375-AFAE-5BB3-15D0042D0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606" y="4988555"/>
            <a:ext cx="1368972" cy="1368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0" descr="Jupyter Notebooks. Amazing Tools For Data Science">
            <a:extLst>
              <a:ext uri="{FF2B5EF4-FFF2-40B4-BE49-F238E27FC236}">
                <a16:creationId xmlns:a16="http://schemas.microsoft.com/office/drawing/2014/main" id="{F4B42A65-49EB-8971-B3B2-5D98C40B23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0701" y="3020270"/>
            <a:ext cx="1162345" cy="1348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6" descr="macOS app icon doesn't follow human interface guidelines · Issue #613 ·  jupyterlab/jupyterlab-desktop">
            <a:extLst>
              <a:ext uri="{FF2B5EF4-FFF2-40B4-BE49-F238E27FC236}">
                <a16:creationId xmlns:a16="http://schemas.microsoft.com/office/drawing/2014/main" id="{4B8CC963-8761-57E9-52EC-EF2D853050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2746" y="4061404"/>
            <a:ext cx="1368972" cy="1368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0">
            <a:extLst>
              <a:ext uri="{FF2B5EF4-FFF2-40B4-BE49-F238E27FC236}">
                <a16:creationId xmlns:a16="http://schemas.microsoft.com/office/drawing/2014/main" id="{9FCAB061-4F6C-8B68-10B7-854DC90B46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0982" y="5504002"/>
            <a:ext cx="1927638" cy="67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6" descr="PyCharm Logo Update – IDEs Support (IntelliJ Platform) | JetBrains">
            <a:extLst>
              <a:ext uri="{FF2B5EF4-FFF2-40B4-BE49-F238E27FC236}">
                <a16:creationId xmlns:a16="http://schemas.microsoft.com/office/drawing/2014/main" id="{29D18C76-E537-0BA5-07BA-286EC1D5D5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9523" y="3020270"/>
            <a:ext cx="1404473" cy="1404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6">
            <a:extLst>
              <a:ext uri="{FF2B5EF4-FFF2-40B4-BE49-F238E27FC236}">
                <a16:creationId xmlns:a16="http://schemas.microsoft.com/office/drawing/2014/main" id="{98E6AFB3-629A-A402-B2C0-C7C360EA68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5806" y="4283214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8">
            <a:extLst>
              <a:ext uri="{FF2B5EF4-FFF2-40B4-BE49-F238E27FC236}">
                <a16:creationId xmlns:a16="http://schemas.microsoft.com/office/drawing/2014/main" id="{D33A9879-E5C9-E1C8-33BF-6C9D6A2CEE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6656" y="5044165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4" name="Picture 2" descr="Cursor AI Logo Icon for Modern Designs">
            <a:extLst>
              <a:ext uri="{FF2B5EF4-FFF2-40B4-BE49-F238E27FC236}">
                <a16:creationId xmlns:a16="http://schemas.microsoft.com/office/drawing/2014/main" id="{9B2F2182-82E5-13A5-9480-924806A6D5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9558" y="3043560"/>
            <a:ext cx="1583261" cy="1583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24" name="Picture 12" descr="Windsurf Plugin (formerly Codeium): AI Coding Autocomplete and Chat for  Python, JavaScript, TypeScript, and more - Visual Studio Marketplace">
            <a:extLst>
              <a:ext uri="{FF2B5EF4-FFF2-40B4-BE49-F238E27FC236}">
                <a16:creationId xmlns:a16="http://schemas.microsoft.com/office/drawing/2014/main" id="{E0BC45C4-4DA1-E94E-1A2C-DDD9F7D4C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8101" y="4888385"/>
            <a:ext cx="1083982" cy="108398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13403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30CF7-8FE5-2596-950E-722F082DF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183CF-4CD5-3A9F-C0FD-447550C61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Editors </a:t>
            </a:r>
            <a:r>
              <a:rPr lang="en-CA" b="1" dirty="0">
                <a:solidFill>
                  <a:srgbClr val="00FF00"/>
                </a:solidFill>
              </a:rPr>
              <a:t>&amp;</a:t>
            </a:r>
            <a:r>
              <a:rPr lang="en-CA" b="1" dirty="0"/>
              <a:t> IDEs</a:t>
            </a:r>
            <a:r>
              <a:rPr lang="en-CA" b="1" dirty="0">
                <a:solidFill>
                  <a:srgbClr val="00FF00"/>
                </a:solidFill>
              </a:rPr>
              <a:t>.</a:t>
            </a:r>
            <a:endParaRPr lang="en-CA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74E5606-4C1F-AC7B-CD6D-3C87CC45FD1B}"/>
              </a:ext>
            </a:extLst>
          </p:cNvPr>
          <p:cNvSpPr/>
          <p:nvPr/>
        </p:nvSpPr>
        <p:spPr>
          <a:xfrm>
            <a:off x="611177" y="2826154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FD136AB-4846-DE60-1414-A46D8944C8E8}"/>
              </a:ext>
            </a:extLst>
          </p:cNvPr>
          <p:cNvSpPr/>
          <p:nvPr/>
        </p:nvSpPr>
        <p:spPr>
          <a:xfrm>
            <a:off x="3431102" y="2826153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D0456EB-AE4B-A774-3C8D-707779DC0E04}"/>
              </a:ext>
            </a:extLst>
          </p:cNvPr>
          <p:cNvSpPr/>
          <p:nvPr/>
        </p:nvSpPr>
        <p:spPr>
          <a:xfrm>
            <a:off x="6251027" y="2826152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C8378FE-FEE8-1E5D-207B-8C2A0E487A3B}"/>
              </a:ext>
            </a:extLst>
          </p:cNvPr>
          <p:cNvSpPr/>
          <p:nvPr/>
        </p:nvSpPr>
        <p:spPr>
          <a:xfrm>
            <a:off x="9070952" y="2826151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42E42FC0-8C59-53CD-F5D6-6F90FD25BC2F}"/>
              </a:ext>
            </a:extLst>
          </p:cNvPr>
          <p:cNvSpPr/>
          <p:nvPr/>
        </p:nvSpPr>
        <p:spPr>
          <a:xfrm>
            <a:off x="3140967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B38973C-786C-54F7-8C04-19A18691B3C2}"/>
              </a:ext>
            </a:extLst>
          </p:cNvPr>
          <p:cNvSpPr/>
          <p:nvPr/>
        </p:nvSpPr>
        <p:spPr>
          <a:xfrm>
            <a:off x="5960391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1B549139-41DF-7B41-C0CC-13E9A5FC8EF7}"/>
              </a:ext>
            </a:extLst>
          </p:cNvPr>
          <p:cNvSpPr/>
          <p:nvPr/>
        </p:nvSpPr>
        <p:spPr>
          <a:xfrm>
            <a:off x="8781316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8E98E3-E219-5499-FAB9-1437521DF421}"/>
              </a:ext>
            </a:extLst>
          </p:cNvPr>
          <p:cNvSpPr txBox="1"/>
          <p:nvPr/>
        </p:nvSpPr>
        <p:spPr>
          <a:xfrm>
            <a:off x="503573" y="2350193"/>
            <a:ext cx="1970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Text Editors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BF5806-048B-4700-E17C-5C5CF8AD2BAC}"/>
              </a:ext>
            </a:extLst>
          </p:cNvPr>
          <p:cNvSpPr txBox="1"/>
          <p:nvPr/>
        </p:nvSpPr>
        <p:spPr>
          <a:xfrm>
            <a:off x="3303370" y="1609608"/>
            <a:ext cx="31525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Interactive Computing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Environment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726DBF-0387-36D4-BFA6-7C5AE6365FB3}"/>
              </a:ext>
            </a:extLst>
          </p:cNvPr>
          <p:cNvSpPr txBox="1"/>
          <p:nvPr/>
        </p:nvSpPr>
        <p:spPr>
          <a:xfrm>
            <a:off x="6121750" y="1233994"/>
            <a:ext cx="213090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Integrated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Development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Environment</a:t>
            </a:r>
          </a:p>
          <a:p>
            <a:r>
              <a:rPr lang="en-CA" sz="2400" b="1" dirty="0">
                <a:solidFill>
                  <a:srgbClr val="CC99FF"/>
                </a:solidFill>
              </a:rPr>
              <a:t>(</a:t>
            </a:r>
            <a:r>
              <a:rPr lang="en-CA" sz="2400" b="1" dirty="0">
                <a:solidFill>
                  <a:srgbClr val="FFFFFF"/>
                </a:solidFill>
              </a:rPr>
              <a:t>IDE</a:t>
            </a:r>
            <a:r>
              <a:rPr lang="en-CA" sz="2400" b="1" dirty="0">
                <a:solidFill>
                  <a:srgbClr val="CC99FF"/>
                </a:solidFill>
              </a:rPr>
              <a:t>)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219C51-6EF1-00D5-E08E-8DED2E2969D5}"/>
              </a:ext>
            </a:extLst>
          </p:cNvPr>
          <p:cNvSpPr txBox="1"/>
          <p:nvPr/>
        </p:nvSpPr>
        <p:spPr>
          <a:xfrm>
            <a:off x="8940585" y="1981938"/>
            <a:ext cx="12508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AI</a:t>
            </a:r>
            <a:r>
              <a:rPr lang="en-CA" sz="2400" b="1" dirty="0">
                <a:solidFill>
                  <a:srgbClr val="CC99FF"/>
                </a:solidFill>
              </a:rPr>
              <a:t>-</a:t>
            </a:r>
            <a:r>
              <a:rPr lang="en-CA" sz="2400" b="1" dirty="0">
                <a:solidFill>
                  <a:srgbClr val="FFFFFF"/>
                </a:solidFill>
              </a:rPr>
              <a:t>First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IDE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D12EBB17-493A-33E1-C527-7CF4AFE0E5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115" y="3094008"/>
            <a:ext cx="1160342" cy="1160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6" descr="Sublimetext Icon icon - Free Download PNG &amp; SVG | Streamline">
            <a:extLst>
              <a:ext uri="{FF2B5EF4-FFF2-40B4-BE49-F238E27FC236}">
                <a16:creationId xmlns:a16="http://schemas.microsoft.com/office/drawing/2014/main" id="{B6350DFE-DFA3-919B-19CC-96191F5A98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8208" y="3942032"/>
            <a:ext cx="1160343" cy="1160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6" name="Picture 8" descr="Emacs Logo Sticker Pack | FSF Shop">
            <a:extLst>
              <a:ext uri="{FF2B5EF4-FFF2-40B4-BE49-F238E27FC236}">
                <a16:creationId xmlns:a16="http://schemas.microsoft.com/office/drawing/2014/main" id="{78E0AE9A-2940-5FBA-E784-2589FC23EF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606" y="4988555"/>
            <a:ext cx="1368972" cy="1368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0" descr="Jupyter Notebooks. Amazing Tools For Data Science">
            <a:extLst>
              <a:ext uri="{FF2B5EF4-FFF2-40B4-BE49-F238E27FC236}">
                <a16:creationId xmlns:a16="http://schemas.microsoft.com/office/drawing/2014/main" id="{7EEB106E-2E1D-F1E3-5ECA-60FABF79B8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0701" y="3020270"/>
            <a:ext cx="1162345" cy="1348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6" descr="macOS app icon doesn't follow human interface guidelines · Issue #613 ·  jupyterlab/jupyterlab-desktop">
            <a:extLst>
              <a:ext uri="{FF2B5EF4-FFF2-40B4-BE49-F238E27FC236}">
                <a16:creationId xmlns:a16="http://schemas.microsoft.com/office/drawing/2014/main" id="{BD6A5DDE-B597-51C8-57DB-DD10DD3ECF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2746" y="4061404"/>
            <a:ext cx="1368972" cy="1368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0">
            <a:extLst>
              <a:ext uri="{FF2B5EF4-FFF2-40B4-BE49-F238E27FC236}">
                <a16:creationId xmlns:a16="http://schemas.microsoft.com/office/drawing/2014/main" id="{9257B9C4-4A6A-02C2-3F67-2F66C2F51E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0982" y="5504002"/>
            <a:ext cx="1927638" cy="67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6" descr="PyCharm Logo Update – IDEs Support (IntelliJ Platform) | JetBrains">
            <a:extLst>
              <a:ext uri="{FF2B5EF4-FFF2-40B4-BE49-F238E27FC236}">
                <a16:creationId xmlns:a16="http://schemas.microsoft.com/office/drawing/2014/main" id="{9B8D334F-1A6B-8B7D-1F65-6776BE0A7B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9523" y="3020270"/>
            <a:ext cx="1404473" cy="1404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6">
            <a:extLst>
              <a:ext uri="{FF2B5EF4-FFF2-40B4-BE49-F238E27FC236}">
                <a16:creationId xmlns:a16="http://schemas.microsoft.com/office/drawing/2014/main" id="{CC7C1D2F-02E5-8AAC-E8D5-30696BE70C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5806" y="4283214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8">
            <a:extLst>
              <a:ext uri="{FF2B5EF4-FFF2-40B4-BE49-F238E27FC236}">
                <a16:creationId xmlns:a16="http://schemas.microsoft.com/office/drawing/2014/main" id="{451C15FE-3550-47BC-56DF-355C648EDD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6656" y="5044165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4" name="Picture 2" descr="Cursor AI Logo Icon for Modern Designs">
            <a:extLst>
              <a:ext uri="{FF2B5EF4-FFF2-40B4-BE49-F238E27FC236}">
                <a16:creationId xmlns:a16="http://schemas.microsoft.com/office/drawing/2014/main" id="{E7DD398C-286C-8A48-CEA8-3A7AF28C1B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9558" y="3043560"/>
            <a:ext cx="1583261" cy="1583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24" name="Picture 12" descr="Windsurf Plugin (formerly Codeium): AI Coding Autocomplete and Chat for  Python, JavaScript, TypeScript, and more - Visual Studio Marketplace">
            <a:extLst>
              <a:ext uri="{FF2B5EF4-FFF2-40B4-BE49-F238E27FC236}">
                <a16:creationId xmlns:a16="http://schemas.microsoft.com/office/drawing/2014/main" id="{AC9F9725-6391-ADBE-6B42-79B93793C2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8101" y="4888385"/>
            <a:ext cx="1083982" cy="108398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58A3F03-C8CC-229B-5E49-158EA557C273}"/>
              </a:ext>
            </a:extLst>
          </p:cNvPr>
          <p:cNvSpPr/>
          <p:nvPr/>
        </p:nvSpPr>
        <p:spPr>
          <a:xfrm>
            <a:off x="3163278" y="1286466"/>
            <a:ext cx="8723922" cy="5290908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146158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7D25D-23BA-A199-6435-708154194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6991-D2F1-9EBD-58A3-236785323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Text Editor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6570C5-44D8-138E-3DE2-38D782FE13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833767" cy="4835479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>
                <a:solidFill>
                  <a:srgbClr val="CC99FF"/>
                </a:solidFill>
              </a:rPr>
              <a:t>What it is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A lightweight app for writing and editing plain</a:t>
            </a:r>
            <a:r>
              <a:rPr lang="en-US" dirty="0">
                <a:solidFill>
                  <a:schemeClr val="accent6"/>
                </a:solidFill>
              </a:rPr>
              <a:t>-</a:t>
            </a:r>
            <a:r>
              <a:rPr lang="en-US" dirty="0"/>
              <a:t>text files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including code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with minimal setup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What you get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Fast startup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syntax highlighting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find</a:t>
            </a:r>
            <a:r>
              <a:rPr lang="en-US" dirty="0">
                <a:solidFill>
                  <a:schemeClr val="accent6"/>
                </a:solidFill>
              </a:rPr>
              <a:t>/</a:t>
            </a:r>
            <a:r>
              <a:rPr lang="en-US" dirty="0"/>
              <a:t>replace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multiple files</a:t>
            </a:r>
            <a:r>
              <a:rPr lang="en-US" dirty="0">
                <a:solidFill>
                  <a:schemeClr val="accent6"/>
                </a:solidFill>
              </a:rPr>
              <a:t>/</a:t>
            </a:r>
            <a:r>
              <a:rPr lang="en-US" dirty="0"/>
              <a:t>tabs</a:t>
            </a:r>
            <a:r>
              <a:rPr lang="en-US" dirty="0">
                <a:solidFill>
                  <a:schemeClr val="accent6"/>
                </a:solidFill>
              </a:rPr>
              <a:t>, </a:t>
            </a:r>
            <a:r>
              <a:rPr lang="en-US" dirty="0"/>
              <a:t>basic project folders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What you don</a:t>
            </a:r>
            <a:r>
              <a:rPr lang="en-US" b="1" dirty="0">
                <a:solidFill>
                  <a:srgbClr val="00FF00"/>
                </a:solidFill>
              </a:rPr>
              <a:t>’</a:t>
            </a:r>
            <a:r>
              <a:rPr lang="en-US" b="1" dirty="0">
                <a:solidFill>
                  <a:srgbClr val="CC99FF"/>
                </a:solidFill>
              </a:rPr>
              <a:t>t </a:t>
            </a:r>
            <a:r>
              <a:rPr lang="en-US" b="1" dirty="0">
                <a:solidFill>
                  <a:srgbClr val="00FF00"/>
                </a:solidFill>
              </a:rPr>
              <a:t>(</a:t>
            </a:r>
            <a:r>
              <a:rPr lang="en-US" b="1" dirty="0">
                <a:solidFill>
                  <a:srgbClr val="CC99FF"/>
                </a:solidFill>
              </a:rPr>
              <a:t>usually</a:t>
            </a:r>
            <a:r>
              <a:rPr lang="en-US" b="1" dirty="0">
                <a:solidFill>
                  <a:srgbClr val="00FF00"/>
                </a:solidFill>
              </a:rPr>
              <a:t>)</a:t>
            </a:r>
            <a:r>
              <a:rPr lang="en-US" b="1" dirty="0">
                <a:solidFill>
                  <a:srgbClr val="CC99FF"/>
                </a:solidFill>
              </a:rPr>
              <a:t> get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Integrated debugging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deep refactoring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environment management</a:t>
            </a:r>
            <a:r>
              <a:rPr lang="en-US" dirty="0">
                <a:solidFill>
                  <a:schemeClr val="accent6"/>
                </a:solidFill>
              </a:rPr>
              <a:t>, </a:t>
            </a:r>
            <a:r>
              <a:rPr lang="en-US" dirty="0"/>
              <a:t>and one</a:t>
            </a:r>
            <a:r>
              <a:rPr lang="en-US" dirty="0">
                <a:solidFill>
                  <a:schemeClr val="accent6"/>
                </a:solidFill>
              </a:rPr>
              <a:t>-</a:t>
            </a:r>
            <a:r>
              <a:rPr lang="en-US" dirty="0"/>
              <a:t>click test runners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Typical workflow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Edit code in the editor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then run it in a separate terminal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b="1" dirty="0">
                <a:latin typeface="Consolas" panose="020B0609020204030204" pitchFamily="49" charset="0"/>
              </a:rPr>
              <a:t>python myfile</a:t>
            </a:r>
            <a:r>
              <a:rPr lang="en-US" b="1" dirty="0">
                <a:solidFill>
                  <a:schemeClr val="accent6"/>
                </a:solidFill>
                <a:latin typeface="Consolas" panose="020B0609020204030204" pitchFamily="49" charset="0"/>
              </a:rPr>
              <a:t>.</a:t>
            </a:r>
            <a:r>
              <a:rPr lang="en-US" b="1" dirty="0">
                <a:latin typeface="Consolas" panose="020B0609020204030204" pitchFamily="49" charset="0"/>
              </a:rPr>
              <a:t>py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Best for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Quick edits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small scripts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configuration files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and learning fundamentals without heavy tooling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37EBD3-953B-8763-832B-A8A94F36F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9668" y="572653"/>
            <a:ext cx="5161944" cy="6082144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7F3F4A18-1FB7-61A0-0F83-961AA3F49C3B}"/>
              </a:ext>
            </a:extLst>
          </p:cNvPr>
          <p:cNvSpPr/>
          <p:nvPr/>
        </p:nvSpPr>
        <p:spPr>
          <a:xfrm>
            <a:off x="7176463" y="630620"/>
            <a:ext cx="769358" cy="321617"/>
          </a:xfrm>
          <a:prstGeom prst="ellipse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0E73556B-150A-6354-6893-AD4EE064385B}"/>
              </a:ext>
            </a:extLst>
          </p:cNvPr>
          <p:cNvSpPr/>
          <p:nvPr/>
        </p:nvSpPr>
        <p:spPr>
          <a:xfrm flipH="1">
            <a:off x="5817788" y="714902"/>
            <a:ext cx="1358675" cy="17166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D298AC-5580-0828-7CAA-DD598CCC35B5}"/>
              </a:ext>
            </a:extLst>
          </p:cNvPr>
          <p:cNvSpPr txBox="1"/>
          <p:nvPr/>
        </p:nvSpPr>
        <p:spPr>
          <a:xfrm>
            <a:off x="3941717" y="210731"/>
            <a:ext cx="186345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chemeClr val="accent6"/>
                </a:solidFill>
              </a:rPr>
              <a:t>APS106</a:t>
            </a:r>
          </a:p>
          <a:p>
            <a:r>
              <a:rPr lang="en-CA" b="1" dirty="0">
                <a:solidFill>
                  <a:srgbClr val="FFFFFF"/>
                </a:solidFill>
              </a:rPr>
              <a:t>File Type </a:t>
            </a:r>
            <a:r>
              <a:rPr lang="en-CA" b="1" dirty="0">
                <a:solidFill>
                  <a:schemeClr val="accent6"/>
                </a:solidFill>
              </a:rPr>
              <a:t>#</a:t>
            </a:r>
            <a:r>
              <a:rPr lang="en-CA" b="1" dirty="0">
                <a:solidFill>
                  <a:srgbClr val="FFFFFF"/>
                </a:solidFill>
              </a:rPr>
              <a:t>1</a:t>
            </a:r>
            <a:r>
              <a:rPr lang="en-CA" b="1" dirty="0">
                <a:solidFill>
                  <a:schemeClr val="accent6"/>
                </a:solidFill>
              </a:rPr>
              <a:t>.</a:t>
            </a:r>
          </a:p>
          <a:p>
            <a:r>
              <a:rPr lang="en-CA" b="1" dirty="0">
                <a:solidFill>
                  <a:srgbClr val="FFFFFF"/>
                </a:solidFill>
              </a:rPr>
              <a:t>The Python File</a:t>
            </a:r>
          </a:p>
          <a:p>
            <a:r>
              <a:rPr lang="en-CA" b="1" dirty="0">
                <a:solidFill>
                  <a:srgbClr val="00FF00"/>
                </a:solidFill>
                <a:latin typeface="Consolas" panose="020B0609020204030204" pitchFamily="49" charset="0"/>
              </a:rPr>
              <a:t>.</a:t>
            </a:r>
            <a:r>
              <a:rPr lang="en-CA" b="1" dirty="0" err="1">
                <a:solidFill>
                  <a:srgbClr val="00FF00"/>
                </a:solidFill>
                <a:latin typeface="Consolas" panose="020B0609020204030204" pitchFamily="49" charset="0"/>
              </a:rPr>
              <a:t>py</a:t>
            </a:r>
            <a:endParaRPr lang="en-CA" b="1" dirty="0">
              <a:solidFill>
                <a:srgbClr val="00FF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15548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952B1-1A1D-F8CB-D31A-F10512FFD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0289C-6360-1AB6-054B-B7CD477C5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Text Editor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FFB2FA-D9BC-0274-7D1A-5FD9EB125E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833767" cy="4835479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>
                <a:solidFill>
                  <a:srgbClr val="CC99FF"/>
                </a:solidFill>
              </a:rPr>
              <a:t>What it is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A lightweight app for writing and editing plain</a:t>
            </a:r>
            <a:r>
              <a:rPr lang="en-US" dirty="0">
                <a:solidFill>
                  <a:schemeClr val="accent6"/>
                </a:solidFill>
              </a:rPr>
              <a:t>-</a:t>
            </a:r>
            <a:r>
              <a:rPr lang="en-US" dirty="0"/>
              <a:t>text files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including code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with minimal setup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What you get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Fast startup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syntax highlighting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find</a:t>
            </a:r>
            <a:r>
              <a:rPr lang="en-US" dirty="0">
                <a:solidFill>
                  <a:schemeClr val="accent6"/>
                </a:solidFill>
              </a:rPr>
              <a:t>/</a:t>
            </a:r>
            <a:r>
              <a:rPr lang="en-US" dirty="0"/>
              <a:t>replace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multiple files</a:t>
            </a:r>
            <a:r>
              <a:rPr lang="en-US" dirty="0">
                <a:solidFill>
                  <a:schemeClr val="accent6"/>
                </a:solidFill>
              </a:rPr>
              <a:t>/</a:t>
            </a:r>
            <a:r>
              <a:rPr lang="en-US" dirty="0"/>
              <a:t>tabs</a:t>
            </a:r>
            <a:r>
              <a:rPr lang="en-US" dirty="0">
                <a:solidFill>
                  <a:schemeClr val="accent6"/>
                </a:solidFill>
              </a:rPr>
              <a:t>, </a:t>
            </a:r>
            <a:r>
              <a:rPr lang="en-US" dirty="0"/>
              <a:t>basic project folders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What you don</a:t>
            </a:r>
            <a:r>
              <a:rPr lang="en-US" b="1" dirty="0">
                <a:solidFill>
                  <a:srgbClr val="00FF00"/>
                </a:solidFill>
              </a:rPr>
              <a:t>’</a:t>
            </a:r>
            <a:r>
              <a:rPr lang="en-US" b="1" dirty="0">
                <a:solidFill>
                  <a:srgbClr val="CC99FF"/>
                </a:solidFill>
              </a:rPr>
              <a:t>t </a:t>
            </a:r>
            <a:r>
              <a:rPr lang="en-US" b="1" dirty="0">
                <a:solidFill>
                  <a:srgbClr val="00FF00"/>
                </a:solidFill>
              </a:rPr>
              <a:t>(</a:t>
            </a:r>
            <a:r>
              <a:rPr lang="en-US" b="1" dirty="0">
                <a:solidFill>
                  <a:srgbClr val="CC99FF"/>
                </a:solidFill>
              </a:rPr>
              <a:t>usually</a:t>
            </a:r>
            <a:r>
              <a:rPr lang="en-US" b="1" dirty="0">
                <a:solidFill>
                  <a:srgbClr val="00FF00"/>
                </a:solidFill>
              </a:rPr>
              <a:t>)</a:t>
            </a:r>
            <a:r>
              <a:rPr lang="en-US" b="1" dirty="0">
                <a:solidFill>
                  <a:srgbClr val="CC99FF"/>
                </a:solidFill>
              </a:rPr>
              <a:t> get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Integrated debugging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deep refactoring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environment management</a:t>
            </a:r>
            <a:r>
              <a:rPr lang="en-US" dirty="0">
                <a:solidFill>
                  <a:schemeClr val="accent6"/>
                </a:solidFill>
              </a:rPr>
              <a:t>, </a:t>
            </a:r>
            <a:r>
              <a:rPr lang="en-US" dirty="0"/>
              <a:t>and one</a:t>
            </a:r>
            <a:r>
              <a:rPr lang="en-US" dirty="0">
                <a:solidFill>
                  <a:schemeClr val="accent6"/>
                </a:solidFill>
              </a:rPr>
              <a:t>-</a:t>
            </a:r>
            <a:r>
              <a:rPr lang="en-US" dirty="0"/>
              <a:t>click test runners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Typical workflow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Edit code in the editor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then run it in a separate terminal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b="1" dirty="0">
                <a:latin typeface="Consolas" panose="020B0609020204030204" pitchFamily="49" charset="0"/>
              </a:rPr>
              <a:t>python myfile</a:t>
            </a:r>
            <a:r>
              <a:rPr lang="en-US" b="1" dirty="0">
                <a:solidFill>
                  <a:schemeClr val="accent6"/>
                </a:solidFill>
                <a:latin typeface="Consolas" panose="020B0609020204030204" pitchFamily="49" charset="0"/>
              </a:rPr>
              <a:t>.</a:t>
            </a:r>
            <a:r>
              <a:rPr lang="en-US" b="1" dirty="0">
                <a:latin typeface="Consolas" panose="020B0609020204030204" pitchFamily="49" charset="0"/>
              </a:rPr>
              <a:t>py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Best for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Quick edits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small scripts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configuration files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and learning fundamentals without heavy tooling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D39B338-12CF-8468-725B-977FEE3A1B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8808" y="504497"/>
            <a:ext cx="5165902" cy="622896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16FD3A5-8788-476A-7845-230B81EE4D57}"/>
              </a:ext>
            </a:extLst>
          </p:cNvPr>
          <p:cNvSpPr/>
          <p:nvPr/>
        </p:nvSpPr>
        <p:spPr>
          <a:xfrm>
            <a:off x="6900175" y="303085"/>
            <a:ext cx="136303" cy="6495190"/>
          </a:xfrm>
          <a:prstGeom prst="rect">
            <a:avLst/>
          </a:prstGeom>
          <a:solidFill>
            <a:srgbClr val="1717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52B7F9-DC31-B7AB-0B70-781D5B63317E}"/>
              </a:ext>
            </a:extLst>
          </p:cNvPr>
          <p:cNvSpPr txBox="1"/>
          <p:nvPr/>
        </p:nvSpPr>
        <p:spPr>
          <a:xfrm>
            <a:off x="10273885" y="3422694"/>
            <a:ext cx="186345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chemeClr val="accent1"/>
                </a:solidFill>
              </a:rPr>
              <a:t>APS106</a:t>
            </a:r>
          </a:p>
          <a:p>
            <a:r>
              <a:rPr lang="en-CA" b="1" dirty="0"/>
              <a:t>File Type </a:t>
            </a:r>
            <a:r>
              <a:rPr lang="en-CA" b="1" dirty="0">
                <a:solidFill>
                  <a:schemeClr val="accent1"/>
                </a:solidFill>
              </a:rPr>
              <a:t>#</a:t>
            </a:r>
            <a:r>
              <a:rPr lang="en-CA" b="1" dirty="0"/>
              <a:t>1</a:t>
            </a:r>
            <a:r>
              <a:rPr lang="en-CA" b="1" dirty="0">
                <a:solidFill>
                  <a:schemeClr val="accent1"/>
                </a:solidFill>
              </a:rPr>
              <a:t>.</a:t>
            </a:r>
          </a:p>
          <a:p>
            <a:r>
              <a:rPr lang="en-CA" b="1" dirty="0"/>
              <a:t>The Python File</a:t>
            </a:r>
          </a:p>
          <a:p>
            <a:r>
              <a:rPr lang="en-CA" b="1" dirty="0">
                <a:solidFill>
                  <a:schemeClr val="accent1"/>
                </a:solidFill>
                <a:latin typeface="Consolas" panose="020B0609020204030204" pitchFamily="49" charset="0"/>
              </a:rPr>
              <a:t>.</a:t>
            </a:r>
            <a:r>
              <a:rPr lang="en-CA" b="1" dirty="0" err="1">
                <a:solidFill>
                  <a:schemeClr val="accent1"/>
                </a:solidFill>
                <a:latin typeface="Consolas" panose="020B0609020204030204" pitchFamily="49" charset="0"/>
              </a:rPr>
              <a:t>py</a:t>
            </a:r>
            <a:endParaRPr lang="en-CA" b="1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8A7E199B-D4FD-6785-5C72-5B14F53EB6CC}"/>
              </a:ext>
            </a:extLst>
          </p:cNvPr>
          <p:cNvSpPr/>
          <p:nvPr/>
        </p:nvSpPr>
        <p:spPr>
          <a:xfrm flipH="1">
            <a:off x="9052872" y="3839775"/>
            <a:ext cx="1264082" cy="17166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185965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3FE2C-C026-DB00-C68E-FF2AC2D41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5A3C5-63BC-8CA6-A253-1DE296D45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Text Editor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A4F99-2031-3001-0508-1722099B5B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833767" cy="4835479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>
                <a:solidFill>
                  <a:srgbClr val="CC99FF"/>
                </a:solidFill>
              </a:rPr>
              <a:t>What it is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A lightweight app for writing and editing plain</a:t>
            </a:r>
            <a:r>
              <a:rPr lang="en-US" dirty="0">
                <a:solidFill>
                  <a:schemeClr val="accent6"/>
                </a:solidFill>
              </a:rPr>
              <a:t>-</a:t>
            </a:r>
            <a:r>
              <a:rPr lang="en-US" dirty="0"/>
              <a:t>text files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including code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with minimal setup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What you get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Fast startup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syntax highlighting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find</a:t>
            </a:r>
            <a:r>
              <a:rPr lang="en-US" dirty="0">
                <a:solidFill>
                  <a:schemeClr val="accent6"/>
                </a:solidFill>
              </a:rPr>
              <a:t>/</a:t>
            </a:r>
            <a:r>
              <a:rPr lang="en-US" dirty="0"/>
              <a:t>replace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multiple files</a:t>
            </a:r>
            <a:r>
              <a:rPr lang="en-US" dirty="0">
                <a:solidFill>
                  <a:schemeClr val="accent6"/>
                </a:solidFill>
              </a:rPr>
              <a:t>/</a:t>
            </a:r>
            <a:r>
              <a:rPr lang="en-US" dirty="0"/>
              <a:t>tabs</a:t>
            </a:r>
            <a:r>
              <a:rPr lang="en-US" dirty="0">
                <a:solidFill>
                  <a:schemeClr val="accent6"/>
                </a:solidFill>
              </a:rPr>
              <a:t>, </a:t>
            </a:r>
            <a:r>
              <a:rPr lang="en-US" dirty="0"/>
              <a:t>basic project folders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What you don</a:t>
            </a:r>
            <a:r>
              <a:rPr lang="en-US" b="1" dirty="0">
                <a:solidFill>
                  <a:srgbClr val="00FF00"/>
                </a:solidFill>
              </a:rPr>
              <a:t>’</a:t>
            </a:r>
            <a:r>
              <a:rPr lang="en-US" b="1" dirty="0">
                <a:solidFill>
                  <a:srgbClr val="CC99FF"/>
                </a:solidFill>
              </a:rPr>
              <a:t>t </a:t>
            </a:r>
            <a:r>
              <a:rPr lang="en-US" b="1" dirty="0">
                <a:solidFill>
                  <a:srgbClr val="00FF00"/>
                </a:solidFill>
              </a:rPr>
              <a:t>(</a:t>
            </a:r>
            <a:r>
              <a:rPr lang="en-US" b="1" dirty="0">
                <a:solidFill>
                  <a:srgbClr val="CC99FF"/>
                </a:solidFill>
              </a:rPr>
              <a:t>usually</a:t>
            </a:r>
            <a:r>
              <a:rPr lang="en-US" b="1" dirty="0">
                <a:solidFill>
                  <a:srgbClr val="00FF00"/>
                </a:solidFill>
              </a:rPr>
              <a:t>)</a:t>
            </a:r>
            <a:r>
              <a:rPr lang="en-US" b="1" dirty="0">
                <a:solidFill>
                  <a:srgbClr val="CC99FF"/>
                </a:solidFill>
              </a:rPr>
              <a:t> get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Integrated debugging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deep refactoring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environment management</a:t>
            </a:r>
            <a:r>
              <a:rPr lang="en-US" dirty="0">
                <a:solidFill>
                  <a:schemeClr val="accent6"/>
                </a:solidFill>
              </a:rPr>
              <a:t>, </a:t>
            </a:r>
            <a:r>
              <a:rPr lang="en-US" dirty="0"/>
              <a:t>and one</a:t>
            </a:r>
            <a:r>
              <a:rPr lang="en-US" dirty="0">
                <a:solidFill>
                  <a:schemeClr val="accent6"/>
                </a:solidFill>
              </a:rPr>
              <a:t>-</a:t>
            </a:r>
            <a:r>
              <a:rPr lang="en-US" dirty="0"/>
              <a:t>click test runners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Typical workflow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Edit code in the editor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then run it in a separate terminal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b="1" dirty="0">
                <a:latin typeface="Consolas" panose="020B0609020204030204" pitchFamily="49" charset="0"/>
              </a:rPr>
              <a:t>python myfile</a:t>
            </a:r>
            <a:r>
              <a:rPr lang="en-US" b="1" dirty="0">
                <a:solidFill>
                  <a:schemeClr val="accent6"/>
                </a:solidFill>
                <a:latin typeface="Consolas" panose="020B0609020204030204" pitchFamily="49" charset="0"/>
              </a:rPr>
              <a:t>.</a:t>
            </a:r>
            <a:r>
              <a:rPr lang="en-US" b="1" dirty="0">
                <a:latin typeface="Consolas" panose="020B0609020204030204" pitchFamily="49" charset="0"/>
              </a:rPr>
              <a:t>py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Best for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Quick edits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small scripts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configuration files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and learning fundamentals without heavy tooling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AF06082-BDD6-2500-E80D-18E13E716569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Let</a:t>
            </a:r>
            <a:r>
              <a:rPr lang="en-US" sz="4400" b="1" dirty="0">
                <a:solidFill>
                  <a:srgbClr val="00FF00"/>
                </a:solidFill>
              </a:rPr>
              <a:t>’</a:t>
            </a:r>
            <a:r>
              <a:rPr lang="en-US" sz="4400" b="1" dirty="0">
                <a:solidFill>
                  <a:srgbClr val="FFFFFF"/>
                </a:solidFill>
              </a:rPr>
              <a:t>s Code</a:t>
            </a:r>
            <a:r>
              <a:rPr lang="en-US" sz="4400" b="1" dirty="0">
                <a:solidFill>
                  <a:srgbClr val="00FF00"/>
                </a:solidFill>
              </a:rPr>
              <a:t>!</a:t>
            </a:r>
            <a:endParaRPr lang="en-US" sz="4400" b="1" dirty="0">
              <a:solidFill>
                <a:srgbClr val="FFFFFF"/>
              </a:solidFill>
            </a:endParaRPr>
          </a:p>
          <a:p>
            <a:endParaRPr lang="en-US" sz="28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DO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pPr marL="514350" indent="-514350">
              <a:buAutoNum type="arabicPeriod"/>
            </a:pPr>
            <a:r>
              <a:rPr lang="en-US" sz="2400" b="1" dirty="0">
                <a:solidFill>
                  <a:schemeClr val="accent6"/>
                </a:solidFill>
              </a:rPr>
              <a:t>Download </a:t>
            </a:r>
            <a:r>
              <a:rPr lang="en-US" sz="2400" b="1" dirty="0">
                <a:solidFill>
                  <a:srgbClr val="00FF00"/>
                </a:solidFill>
              </a:rPr>
              <a:t>week1_lecture2.py</a:t>
            </a:r>
          </a:p>
          <a:p>
            <a:pPr marL="514350" indent="-514350">
              <a:buFontTx/>
              <a:buAutoNum type="arabicPeriod"/>
            </a:pPr>
            <a:r>
              <a:rPr lang="en-US" sz="2400" b="1" dirty="0">
                <a:solidFill>
                  <a:schemeClr val="accent6"/>
                </a:solidFill>
              </a:rPr>
              <a:t>Open in a Text Editor</a:t>
            </a:r>
          </a:p>
          <a:p>
            <a:pPr marL="514350" indent="-514350">
              <a:buAutoNum type="arabicPeriod"/>
            </a:pPr>
            <a:r>
              <a:rPr lang="en-US" sz="2400" b="1" dirty="0">
                <a:solidFill>
                  <a:schemeClr val="accent6"/>
                </a:solidFill>
              </a:rPr>
              <a:t>Open Anaconda Prompt</a:t>
            </a:r>
          </a:p>
          <a:p>
            <a:pPr marL="514350" indent="-514350">
              <a:buAutoNum type="arabicPeriod"/>
            </a:pPr>
            <a:r>
              <a:rPr lang="en-US" sz="2400" b="1" dirty="0">
                <a:solidFill>
                  <a:schemeClr val="accent6"/>
                </a:solidFill>
              </a:rPr>
              <a:t>Run the file</a:t>
            </a:r>
          </a:p>
        </p:txBody>
      </p:sp>
    </p:spTree>
    <p:extLst>
      <p:ext uri="{BB962C8B-B14F-4D97-AF65-F5344CB8AC3E}">
        <p14:creationId xmlns:p14="http://schemas.microsoft.com/office/powerpoint/2010/main" val="1831169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E7DE0-44D9-9607-46A7-DEAEEC982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3EE8E-9DEE-A9C3-4ECB-1D792F7B3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Editors </a:t>
            </a:r>
            <a:r>
              <a:rPr lang="en-CA" b="1" dirty="0">
                <a:solidFill>
                  <a:srgbClr val="00FF00"/>
                </a:solidFill>
              </a:rPr>
              <a:t>&amp;</a:t>
            </a:r>
            <a:r>
              <a:rPr lang="en-CA" b="1" dirty="0"/>
              <a:t> IDEs</a:t>
            </a:r>
            <a:r>
              <a:rPr lang="en-CA" b="1" dirty="0">
                <a:solidFill>
                  <a:srgbClr val="00FF00"/>
                </a:solidFill>
              </a:rPr>
              <a:t>.</a:t>
            </a:r>
            <a:endParaRPr lang="en-CA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C723084-EC4E-8C83-F2F0-E9C73594E189}"/>
              </a:ext>
            </a:extLst>
          </p:cNvPr>
          <p:cNvSpPr/>
          <p:nvPr/>
        </p:nvSpPr>
        <p:spPr>
          <a:xfrm>
            <a:off x="611177" y="2826154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E0CAE6F-E613-238E-1102-5C4B9363B222}"/>
              </a:ext>
            </a:extLst>
          </p:cNvPr>
          <p:cNvSpPr/>
          <p:nvPr/>
        </p:nvSpPr>
        <p:spPr>
          <a:xfrm>
            <a:off x="3431102" y="2826153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43BBDC7-6F1F-BD70-DC0A-BB8CA3490981}"/>
              </a:ext>
            </a:extLst>
          </p:cNvPr>
          <p:cNvSpPr/>
          <p:nvPr/>
        </p:nvSpPr>
        <p:spPr>
          <a:xfrm>
            <a:off x="6251027" y="2826152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F40A76C-A7DA-3C92-2A74-63AC04D73CCF}"/>
              </a:ext>
            </a:extLst>
          </p:cNvPr>
          <p:cNvSpPr/>
          <p:nvPr/>
        </p:nvSpPr>
        <p:spPr>
          <a:xfrm>
            <a:off x="9070952" y="2826151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90F53D4-38DC-BDE1-8545-261F74CE19C9}"/>
              </a:ext>
            </a:extLst>
          </p:cNvPr>
          <p:cNvSpPr/>
          <p:nvPr/>
        </p:nvSpPr>
        <p:spPr>
          <a:xfrm>
            <a:off x="3140967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02B8D8C3-20C0-0D0A-12D3-6B8E6C9FBF8F}"/>
              </a:ext>
            </a:extLst>
          </p:cNvPr>
          <p:cNvSpPr/>
          <p:nvPr/>
        </p:nvSpPr>
        <p:spPr>
          <a:xfrm>
            <a:off x="5960391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45FDE981-53FE-2037-285A-6FF09CC4367E}"/>
              </a:ext>
            </a:extLst>
          </p:cNvPr>
          <p:cNvSpPr/>
          <p:nvPr/>
        </p:nvSpPr>
        <p:spPr>
          <a:xfrm>
            <a:off x="8781316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1BFB4B-6CEA-D027-7E91-99915187481A}"/>
              </a:ext>
            </a:extLst>
          </p:cNvPr>
          <p:cNvSpPr txBox="1"/>
          <p:nvPr/>
        </p:nvSpPr>
        <p:spPr>
          <a:xfrm>
            <a:off x="503573" y="2350193"/>
            <a:ext cx="1970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Text Editors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15F630-0039-45E8-CA55-0A0018967A4D}"/>
              </a:ext>
            </a:extLst>
          </p:cNvPr>
          <p:cNvSpPr txBox="1"/>
          <p:nvPr/>
        </p:nvSpPr>
        <p:spPr>
          <a:xfrm>
            <a:off x="3303370" y="1609608"/>
            <a:ext cx="31525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Interactive Computing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Environment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CAA6C9-5D61-5ECB-ECF7-0D3E9191891B}"/>
              </a:ext>
            </a:extLst>
          </p:cNvPr>
          <p:cNvSpPr txBox="1"/>
          <p:nvPr/>
        </p:nvSpPr>
        <p:spPr>
          <a:xfrm>
            <a:off x="6121750" y="1233994"/>
            <a:ext cx="213090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Integrated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Development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Environment</a:t>
            </a:r>
          </a:p>
          <a:p>
            <a:r>
              <a:rPr lang="en-CA" sz="2400" b="1" dirty="0">
                <a:solidFill>
                  <a:srgbClr val="CC99FF"/>
                </a:solidFill>
              </a:rPr>
              <a:t>(</a:t>
            </a:r>
            <a:r>
              <a:rPr lang="en-CA" sz="2400" b="1" dirty="0">
                <a:solidFill>
                  <a:srgbClr val="FFFFFF"/>
                </a:solidFill>
              </a:rPr>
              <a:t>IDE</a:t>
            </a:r>
            <a:r>
              <a:rPr lang="en-CA" sz="2400" b="1" dirty="0">
                <a:solidFill>
                  <a:srgbClr val="CC99FF"/>
                </a:solidFill>
              </a:rPr>
              <a:t>)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59CE7D6-AB72-C863-477B-6805B49812B6}"/>
              </a:ext>
            </a:extLst>
          </p:cNvPr>
          <p:cNvSpPr txBox="1"/>
          <p:nvPr/>
        </p:nvSpPr>
        <p:spPr>
          <a:xfrm>
            <a:off x="8940585" y="1981938"/>
            <a:ext cx="12508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AI</a:t>
            </a:r>
            <a:r>
              <a:rPr lang="en-CA" sz="2400" b="1" dirty="0">
                <a:solidFill>
                  <a:srgbClr val="CC99FF"/>
                </a:solidFill>
              </a:rPr>
              <a:t>-</a:t>
            </a:r>
            <a:r>
              <a:rPr lang="en-CA" sz="2400" b="1" dirty="0">
                <a:solidFill>
                  <a:srgbClr val="FFFFFF"/>
                </a:solidFill>
              </a:rPr>
              <a:t>First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IDE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62AC6501-77E2-4614-A52D-A3BF5F1EEC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115" y="3094008"/>
            <a:ext cx="1160342" cy="1160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6" descr="Sublimetext Icon icon - Free Download PNG &amp; SVG | Streamline">
            <a:extLst>
              <a:ext uri="{FF2B5EF4-FFF2-40B4-BE49-F238E27FC236}">
                <a16:creationId xmlns:a16="http://schemas.microsoft.com/office/drawing/2014/main" id="{E50B0CE0-81D7-1937-D237-425273E41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8208" y="3942032"/>
            <a:ext cx="1160343" cy="1160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6" name="Picture 8" descr="Emacs Logo Sticker Pack | FSF Shop">
            <a:extLst>
              <a:ext uri="{FF2B5EF4-FFF2-40B4-BE49-F238E27FC236}">
                <a16:creationId xmlns:a16="http://schemas.microsoft.com/office/drawing/2014/main" id="{503CA6F6-4752-4DC6-DBCD-2D5DE3D41D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606" y="4988555"/>
            <a:ext cx="1368972" cy="1368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0" descr="Jupyter Notebooks. Amazing Tools For Data Science">
            <a:extLst>
              <a:ext uri="{FF2B5EF4-FFF2-40B4-BE49-F238E27FC236}">
                <a16:creationId xmlns:a16="http://schemas.microsoft.com/office/drawing/2014/main" id="{6DC7DD6B-C2B6-04B9-329A-9F8F7E18B4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0701" y="3020270"/>
            <a:ext cx="1162345" cy="1348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6" descr="macOS app icon doesn't follow human interface guidelines · Issue #613 ·  jupyterlab/jupyterlab-desktop">
            <a:extLst>
              <a:ext uri="{FF2B5EF4-FFF2-40B4-BE49-F238E27FC236}">
                <a16:creationId xmlns:a16="http://schemas.microsoft.com/office/drawing/2014/main" id="{2A05B96E-405A-9505-C2BC-8E4869C8FA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2746" y="4061404"/>
            <a:ext cx="1368972" cy="1368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0">
            <a:extLst>
              <a:ext uri="{FF2B5EF4-FFF2-40B4-BE49-F238E27FC236}">
                <a16:creationId xmlns:a16="http://schemas.microsoft.com/office/drawing/2014/main" id="{467CC221-2F44-097A-A3CF-91A8D96825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0982" y="5504002"/>
            <a:ext cx="1927638" cy="67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6" descr="PyCharm Logo Update – IDEs Support (IntelliJ Platform) | JetBrains">
            <a:extLst>
              <a:ext uri="{FF2B5EF4-FFF2-40B4-BE49-F238E27FC236}">
                <a16:creationId xmlns:a16="http://schemas.microsoft.com/office/drawing/2014/main" id="{0A1CFED3-DD69-7154-6F70-666A14CDF6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9523" y="3020270"/>
            <a:ext cx="1404473" cy="1404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6">
            <a:extLst>
              <a:ext uri="{FF2B5EF4-FFF2-40B4-BE49-F238E27FC236}">
                <a16:creationId xmlns:a16="http://schemas.microsoft.com/office/drawing/2014/main" id="{DA298D5E-68E2-8D76-10F8-5169D69424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5806" y="4283214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8">
            <a:extLst>
              <a:ext uri="{FF2B5EF4-FFF2-40B4-BE49-F238E27FC236}">
                <a16:creationId xmlns:a16="http://schemas.microsoft.com/office/drawing/2014/main" id="{9C563CA4-2235-C53A-636B-C4CB0CCA73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6656" y="5044165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4" name="Picture 2" descr="Cursor AI Logo Icon for Modern Designs">
            <a:extLst>
              <a:ext uri="{FF2B5EF4-FFF2-40B4-BE49-F238E27FC236}">
                <a16:creationId xmlns:a16="http://schemas.microsoft.com/office/drawing/2014/main" id="{B0CED7A2-8912-B1C6-06D2-2CE6DC1EA2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9558" y="3043560"/>
            <a:ext cx="1583261" cy="1583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24" name="Picture 12" descr="Windsurf Plugin (formerly Codeium): AI Coding Autocomplete and Chat for  Python, JavaScript, TypeScript, and more - Visual Studio Marketplace">
            <a:extLst>
              <a:ext uri="{FF2B5EF4-FFF2-40B4-BE49-F238E27FC236}">
                <a16:creationId xmlns:a16="http://schemas.microsoft.com/office/drawing/2014/main" id="{DA4157A4-7D8B-6345-BA3A-921BFF42D2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8101" y="4888385"/>
            <a:ext cx="1083982" cy="108398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E032F0F-3702-6794-3BF8-7B22C9D650BA}"/>
              </a:ext>
            </a:extLst>
          </p:cNvPr>
          <p:cNvSpPr/>
          <p:nvPr/>
        </p:nvSpPr>
        <p:spPr>
          <a:xfrm>
            <a:off x="5985888" y="1286466"/>
            <a:ext cx="5888700" cy="5290908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B447F0-6574-6F91-0435-AB60B22CD3DB}"/>
              </a:ext>
            </a:extLst>
          </p:cNvPr>
          <p:cNvSpPr/>
          <p:nvPr/>
        </p:nvSpPr>
        <p:spPr>
          <a:xfrm>
            <a:off x="323718" y="2434196"/>
            <a:ext cx="3094999" cy="4143178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267135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F439EA-8019-8629-C3B9-5577E13BB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9AF00-0A5A-8980-FB23-104E69F2E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5798"/>
            <a:ext cx="3462633" cy="656148"/>
          </a:xfrm>
        </p:spPr>
        <p:txBody>
          <a:bodyPr>
            <a:noAutofit/>
          </a:bodyPr>
          <a:lstStyle/>
          <a:p>
            <a:r>
              <a:rPr lang="en-CA" sz="2800" b="1" dirty="0"/>
              <a:t>Interactive Computing</a:t>
            </a:r>
            <a:br>
              <a:rPr lang="en-CA" sz="2800" b="1" dirty="0"/>
            </a:br>
            <a:r>
              <a:rPr lang="en-CA" sz="2800" b="1" dirty="0"/>
              <a:t>Environment</a:t>
            </a:r>
            <a:r>
              <a:rPr lang="en-CA" sz="28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E303DE-45CE-A932-911E-FC4D040335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978810" cy="4835479"/>
          </a:xfrm>
        </p:spPr>
        <p:txBody>
          <a:bodyPr>
            <a:normAutofit fontScale="70000" lnSpcReduction="20000"/>
          </a:bodyPr>
          <a:lstStyle/>
          <a:p>
            <a:r>
              <a:rPr lang="en-US" b="1" dirty="0">
                <a:solidFill>
                  <a:srgbClr val="CC99FF"/>
                </a:solidFill>
              </a:rPr>
              <a:t>What it is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An environment for running code interactively in small chunks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cells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/>
              <a:t> while keeping notes and results in the same document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How it works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A notebook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b="1" dirty="0">
                <a:solidFill>
                  <a:schemeClr val="accent6"/>
                </a:solidFill>
                <a:latin typeface="Consolas" panose="020B0609020204030204" pitchFamily="49" charset="0"/>
              </a:rPr>
              <a:t>.</a:t>
            </a:r>
            <a:r>
              <a:rPr lang="en-US" b="1" dirty="0" err="1">
                <a:solidFill>
                  <a:srgbClr val="FF66CC"/>
                </a:solidFill>
                <a:latin typeface="Consolas" panose="020B0609020204030204" pitchFamily="49" charset="0"/>
              </a:rPr>
              <a:t>ipynb</a:t>
            </a:r>
            <a:r>
              <a:rPr lang="en-US" dirty="0">
                <a:solidFill>
                  <a:srgbClr val="00FF00"/>
                </a:solidFill>
              </a:rPr>
              <a:t>) </a:t>
            </a:r>
            <a:r>
              <a:rPr lang="en-US" dirty="0"/>
              <a:t>connects to a live kernel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a running Python process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/>
              <a:t> that remembers variables between cells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What you get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Immediate output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text</a:t>
            </a:r>
            <a:r>
              <a:rPr lang="en-US" dirty="0">
                <a:solidFill>
                  <a:schemeClr val="accent6"/>
                </a:solidFill>
              </a:rPr>
              <a:t>/</a:t>
            </a:r>
            <a:r>
              <a:rPr lang="en-US" dirty="0"/>
              <a:t>tables</a:t>
            </a:r>
            <a:r>
              <a:rPr lang="en-US" dirty="0">
                <a:solidFill>
                  <a:schemeClr val="accent6"/>
                </a:solidFill>
              </a:rPr>
              <a:t>/</a:t>
            </a:r>
            <a:r>
              <a:rPr lang="en-US" dirty="0"/>
              <a:t>plots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easy experimentation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and a natural format for explanation </a:t>
            </a:r>
            <a:r>
              <a:rPr lang="en-US" dirty="0">
                <a:solidFill>
                  <a:schemeClr val="accent6"/>
                </a:solidFill>
              </a:rPr>
              <a:t>+</a:t>
            </a:r>
            <a:r>
              <a:rPr lang="en-US" dirty="0"/>
              <a:t> code </a:t>
            </a:r>
            <a:r>
              <a:rPr lang="en-US" dirty="0">
                <a:solidFill>
                  <a:schemeClr val="accent6"/>
                </a:solidFill>
              </a:rPr>
              <a:t>+</a:t>
            </a:r>
            <a:r>
              <a:rPr lang="en-US" dirty="0"/>
              <a:t> results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Typical workflow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Write a cell </a:t>
            </a:r>
            <a:r>
              <a:rPr lang="en-US" dirty="0">
                <a:solidFill>
                  <a:schemeClr val="accent6"/>
                </a:solidFill>
              </a:rPr>
              <a:t>→</a:t>
            </a:r>
            <a:r>
              <a:rPr lang="en-US" dirty="0"/>
              <a:t> run it </a:t>
            </a:r>
            <a:r>
              <a:rPr lang="en-US" dirty="0">
                <a:solidFill>
                  <a:schemeClr val="accent6"/>
                </a:solidFill>
              </a:rPr>
              <a:t>→</a:t>
            </a:r>
            <a:r>
              <a:rPr lang="en-US" dirty="0"/>
              <a:t> inspect output </a:t>
            </a:r>
            <a:r>
              <a:rPr lang="en-US" dirty="0">
                <a:solidFill>
                  <a:schemeClr val="accent6"/>
                </a:solidFill>
              </a:rPr>
              <a:t>→</a:t>
            </a:r>
            <a:r>
              <a:rPr lang="en-US" dirty="0"/>
              <a:t> iterate</a:t>
            </a:r>
            <a:r>
              <a:rPr lang="en-US" dirty="0">
                <a:solidFill>
                  <a:schemeClr val="accent6"/>
                </a:solidFill>
              </a:rPr>
              <a:t>;</a:t>
            </a:r>
            <a:r>
              <a:rPr lang="en-US" dirty="0"/>
              <a:t> often used for data analysis, visualization, and demos.</a:t>
            </a:r>
          </a:p>
          <a:p>
            <a:r>
              <a:rPr lang="en-US" b="1" dirty="0">
                <a:solidFill>
                  <a:srgbClr val="CC99FF"/>
                </a:solidFill>
              </a:rPr>
              <a:t>Best for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b="1" u="sng" dirty="0">
                <a:solidFill>
                  <a:srgbClr val="FF66CC"/>
                </a:solidFill>
              </a:rPr>
              <a:t>Learning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prototyping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data science</a:t>
            </a:r>
            <a:r>
              <a:rPr lang="en-US" dirty="0">
                <a:solidFill>
                  <a:schemeClr val="accent6"/>
                </a:solidFill>
              </a:rPr>
              <a:t>/</a:t>
            </a:r>
            <a:r>
              <a:rPr lang="en-US" dirty="0"/>
              <a:t>ML workflows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and reproducible </a:t>
            </a:r>
            <a:r>
              <a:rPr lang="en-US" dirty="0">
                <a:solidFill>
                  <a:srgbClr val="00FF00"/>
                </a:solidFill>
              </a:rPr>
              <a:t>“</a:t>
            </a:r>
            <a:r>
              <a:rPr lang="en-US" dirty="0"/>
              <a:t>computational narratives</a:t>
            </a:r>
            <a:r>
              <a:rPr lang="en-US" dirty="0">
                <a:solidFill>
                  <a:srgbClr val="00FF00"/>
                </a:solidFill>
              </a:rPr>
              <a:t>”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endParaRPr lang="en-US" dirty="0">
              <a:solidFill>
                <a:srgbClr val="00FF00"/>
              </a:solidFill>
            </a:endParaRPr>
          </a:p>
          <a:p>
            <a:r>
              <a:rPr lang="en-US" b="1" dirty="0">
                <a:solidFill>
                  <a:srgbClr val="CC99FF"/>
                </a:solidFill>
              </a:rPr>
              <a:t>Key caution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Execution order matters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running cells out of order can create confusing hidden state</a:t>
            </a:r>
            <a:r>
              <a:rPr lang="en-US" dirty="0">
                <a:solidFill>
                  <a:schemeClr val="accent6"/>
                </a:solidFill>
              </a:rPr>
              <a:t>;</a:t>
            </a:r>
            <a:r>
              <a:rPr lang="en-US" dirty="0"/>
              <a:t> </a:t>
            </a:r>
            <a:r>
              <a:rPr lang="en-US" dirty="0">
                <a:solidFill>
                  <a:srgbClr val="00FF00"/>
                </a:solidFill>
              </a:rPr>
              <a:t>“</a:t>
            </a:r>
            <a:r>
              <a:rPr lang="en-US" dirty="0"/>
              <a:t>Restart Kernel </a:t>
            </a:r>
            <a:r>
              <a:rPr lang="en-US" dirty="0">
                <a:solidFill>
                  <a:schemeClr val="accent6"/>
                </a:solidFill>
              </a:rPr>
              <a:t>+</a:t>
            </a:r>
            <a:r>
              <a:rPr lang="en-US" dirty="0"/>
              <a:t> Run All</a:t>
            </a:r>
            <a:r>
              <a:rPr lang="en-US" dirty="0">
                <a:solidFill>
                  <a:srgbClr val="00FF00"/>
                </a:solidFill>
              </a:rPr>
              <a:t>”</a:t>
            </a:r>
            <a:r>
              <a:rPr lang="en-US" dirty="0"/>
              <a:t> helps verify correctness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8425E2-252B-FAD7-81DB-5DBD381B8CC0}"/>
              </a:ext>
            </a:extLst>
          </p:cNvPr>
          <p:cNvSpPr txBox="1"/>
          <p:nvPr/>
        </p:nvSpPr>
        <p:spPr>
          <a:xfrm>
            <a:off x="4217481" y="127349"/>
            <a:ext cx="186345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chemeClr val="accent6"/>
                </a:solidFill>
              </a:rPr>
              <a:t>APS106</a:t>
            </a:r>
          </a:p>
          <a:p>
            <a:r>
              <a:rPr lang="en-CA" b="1" dirty="0">
                <a:solidFill>
                  <a:srgbClr val="FFFFFF"/>
                </a:solidFill>
              </a:rPr>
              <a:t>File Type </a:t>
            </a:r>
            <a:r>
              <a:rPr lang="en-CA" b="1" dirty="0">
                <a:solidFill>
                  <a:schemeClr val="accent6"/>
                </a:solidFill>
              </a:rPr>
              <a:t>#</a:t>
            </a:r>
            <a:r>
              <a:rPr lang="en-CA" b="1" dirty="0">
                <a:solidFill>
                  <a:srgbClr val="FFFFFF"/>
                </a:solidFill>
              </a:rPr>
              <a:t>2</a:t>
            </a:r>
            <a:r>
              <a:rPr lang="en-CA" b="1" dirty="0">
                <a:solidFill>
                  <a:schemeClr val="accent6"/>
                </a:solidFill>
              </a:rPr>
              <a:t>.</a:t>
            </a:r>
          </a:p>
          <a:p>
            <a:r>
              <a:rPr lang="en-CA" b="1" dirty="0">
                <a:solidFill>
                  <a:srgbClr val="FFFFFF"/>
                </a:solidFill>
              </a:rPr>
              <a:t>The Python File</a:t>
            </a:r>
          </a:p>
          <a:p>
            <a:r>
              <a:rPr lang="en-CA" b="1" dirty="0">
                <a:solidFill>
                  <a:srgbClr val="00FF00"/>
                </a:solidFill>
                <a:latin typeface="Consolas" panose="020B0609020204030204" pitchFamily="49" charset="0"/>
              </a:rPr>
              <a:t>.</a:t>
            </a:r>
            <a:r>
              <a:rPr lang="en-CA" b="1" dirty="0" err="1">
                <a:solidFill>
                  <a:srgbClr val="00FF00"/>
                </a:solidFill>
                <a:latin typeface="Consolas" panose="020B0609020204030204" pitchFamily="49" charset="0"/>
              </a:rPr>
              <a:t>ipynb</a:t>
            </a:r>
            <a:endParaRPr lang="en-CA" b="1" dirty="0">
              <a:solidFill>
                <a:srgbClr val="00FF00"/>
              </a:solidFill>
              <a:latin typeface="Consolas" panose="020B06090202040302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5E1D434-EB6E-6838-D448-842EF4A87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3043" y="501629"/>
            <a:ext cx="5118958" cy="622709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A496C4FA-EE58-574C-71BF-ED0FDA74CF08}"/>
              </a:ext>
            </a:extLst>
          </p:cNvPr>
          <p:cNvSpPr/>
          <p:nvPr/>
        </p:nvSpPr>
        <p:spPr>
          <a:xfrm>
            <a:off x="6938011" y="303085"/>
            <a:ext cx="136303" cy="6495190"/>
          </a:xfrm>
          <a:prstGeom prst="rect">
            <a:avLst/>
          </a:prstGeom>
          <a:solidFill>
            <a:srgbClr val="1717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0F6C4BB-EDE0-4DB9-F6B2-06C96CFAC47D}"/>
              </a:ext>
            </a:extLst>
          </p:cNvPr>
          <p:cNvSpPr/>
          <p:nvPr/>
        </p:nvSpPr>
        <p:spPr>
          <a:xfrm>
            <a:off x="7185659" y="428670"/>
            <a:ext cx="848449" cy="321617"/>
          </a:xfrm>
          <a:prstGeom prst="ellipse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FA0F656C-D8DA-31ED-C714-3D0070DBA142}"/>
              </a:ext>
            </a:extLst>
          </p:cNvPr>
          <p:cNvSpPr/>
          <p:nvPr/>
        </p:nvSpPr>
        <p:spPr>
          <a:xfrm flipH="1">
            <a:off x="5816080" y="501629"/>
            <a:ext cx="1358675" cy="17166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557015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31C2D-286A-111A-D926-E37436757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3A537-C622-2580-FE80-AC4E8F52B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5799"/>
            <a:ext cx="10515600" cy="656148"/>
          </a:xfrm>
        </p:spPr>
        <p:txBody>
          <a:bodyPr>
            <a:normAutofit fontScale="90000"/>
          </a:bodyPr>
          <a:lstStyle/>
          <a:p>
            <a:r>
              <a:rPr lang="en-CA" b="1" dirty="0"/>
              <a:t>Interactive Computing</a:t>
            </a:r>
            <a:br>
              <a:rPr lang="en-CA" b="1" dirty="0"/>
            </a:br>
            <a:r>
              <a:rPr lang="en-CA" b="1" dirty="0"/>
              <a:t>Environment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4B6C4-A369-1DE6-3D8C-677137020E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978810" cy="4835479"/>
          </a:xfrm>
        </p:spPr>
        <p:txBody>
          <a:bodyPr>
            <a:normAutofit fontScale="70000" lnSpcReduction="20000"/>
          </a:bodyPr>
          <a:lstStyle/>
          <a:p>
            <a:r>
              <a:rPr lang="en-US" b="1" dirty="0">
                <a:solidFill>
                  <a:srgbClr val="CC99FF"/>
                </a:solidFill>
              </a:rPr>
              <a:t>What it is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An environment for running code interactively in small chunks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cells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/>
              <a:t> while keeping notes and results in the same document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How it works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A notebook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b="1" dirty="0">
                <a:solidFill>
                  <a:schemeClr val="accent6"/>
                </a:solidFill>
                <a:latin typeface="Consolas" panose="020B0609020204030204" pitchFamily="49" charset="0"/>
              </a:rPr>
              <a:t>.</a:t>
            </a:r>
            <a:r>
              <a:rPr lang="en-US" b="1" dirty="0" err="1">
                <a:solidFill>
                  <a:srgbClr val="FF66CC"/>
                </a:solidFill>
                <a:latin typeface="Consolas" panose="020B0609020204030204" pitchFamily="49" charset="0"/>
              </a:rPr>
              <a:t>ipynb</a:t>
            </a:r>
            <a:r>
              <a:rPr lang="en-US" dirty="0">
                <a:solidFill>
                  <a:srgbClr val="00FF00"/>
                </a:solidFill>
              </a:rPr>
              <a:t>) </a:t>
            </a:r>
            <a:r>
              <a:rPr lang="en-US" dirty="0"/>
              <a:t>connects to a live kernel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a running Python process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/>
              <a:t> that remembers variables between cells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What you get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Immediate output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text</a:t>
            </a:r>
            <a:r>
              <a:rPr lang="en-US" dirty="0">
                <a:solidFill>
                  <a:schemeClr val="accent6"/>
                </a:solidFill>
              </a:rPr>
              <a:t>/</a:t>
            </a:r>
            <a:r>
              <a:rPr lang="en-US" dirty="0"/>
              <a:t>tables</a:t>
            </a:r>
            <a:r>
              <a:rPr lang="en-US" dirty="0">
                <a:solidFill>
                  <a:schemeClr val="accent6"/>
                </a:solidFill>
              </a:rPr>
              <a:t>/</a:t>
            </a:r>
            <a:r>
              <a:rPr lang="en-US" dirty="0"/>
              <a:t>plots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easy experimentation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and a natural format for explanation </a:t>
            </a:r>
            <a:r>
              <a:rPr lang="en-US" dirty="0">
                <a:solidFill>
                  <a:schemeClr val="accent6"/>
                </a:solidFill>
              </a:rPr>
              <a:t>+</a:t>
            </a:r>
            <a:r>
              <a:rPr lang="en-US" dirty="0"/>
              <a:t> code </a:t>
            </a:r>
            <a:r>
              <a:rPr lang="en-US" dirty="0">
                <a:solidFill>
                  <a:schemeClr val="accent6"/>
                </a:solidFill>
              </a:rPr>
              <a:t>+</a:t>
            </a:r>
            <a:r>
              <a:rPr lang="en-US" dirty="0"/>
              <a:t> results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Typical workflow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Write a cell </a:t>
            </a:r>
            <a:r>
              <a:rPr lang="en-US" dirty="0">
                <a:solidFill>
                  <a:schemeClr val="accent6"/>
                </a:solidFill>
              </a:rPr>
              <a:t>→</a:t>
            </a:r>
            <a:r>
              <a:rPr lang="en-US" dirty="0"/>
              <a:t> run it </a:t>
            </a:r>
            <a:r>
              <a:rPr lang="en-US" dirty="0">
                <a:solidFill>
                  <a:schemeClr val="accent6"/>
                </a:solidFill>
              </a:rPr>
              <a:t>→</a:t>
            </a:r>
            <a:r>
              <a:rPr lang="en-US" dirty="0"/>
              <a:t> inspect output </a:t>
            </a:r>
            <a:r>
              <a:rPr lang="en-US" dirty="0">
                <a:solidFill>
                  <a:schemeClr val="accent6"/>
                </a:solidFill>
              </a:rPr>
              <a:t>→</a:t>
            </a:r>
            <a:r>
              <a:rPr lang="en-US" dirty="0"/>
              <a:t> iterate</a:t>
            </a:r>
            <a:r>
              <a:rPr lang="en-US" dirty="0">
                <a:solidFill>
                  <a:schemeClr val="accent6"/>
                </a:solidFill>
              </a:rPr>
              <a:t>;</a:t>
            </a:r>
            <a:r>
              <a:rPr lang="en-US" dirty="0"/>
              <a:t> often used for data analysis, visualization, and demos.</a:t>
            </a:r>
          </a:p>
          <a:p>
            <a:r>
              <a:rPr lang="en-US" b="1" dirty="0">
                <a:solidFill>
                  <a:srgbClr val="CC99FF"/>
                </a:solidFill>
              </a:rPr>
              <a:t>Best for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b="1" u="sng" dirty="0">
                <a:solidFill>
                  <a:srgbClr val="FF66CC"/>
                </a:solidFill>
              </a:rPr>
              <a:t>Learning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prototyping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data science</a:t>
            </a:r>
            <a:r>
              <a:rPr lang="en-US" dirty="0">
                <a:solidFill>
                  <a:schemeClr val="accent6"/>
                </a:solidFill>
              </a:rPr>
              <a:t>/</a:t>
            </a:r>
            <a:r>
              <a:rPr lang="en-US" dirty="0"/>
              <a:t>ML workflows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and reproducible </a:t>
            </a:r>
            <a:r>
              <a:rPr lang="en-US" dirty="0">
                <a:solidFill>
                  <a:srgbClr val="00FF00"/>
                </a:solidFill>
              </a:rPr>
              <a:t>“</a:t>
            </a:r>
            <a:r>
              <a:rPr lang="en-US" dirty="0"/>
              <a:t>computational narratives</a:t>
            </a:r>
            <a:r>
              <a:rPr lang="en-US" dirty="0">
                <a:solidFill>
                  <a:srgbClr val="00FF00"/>
                </a:solidFill>
              </a:rPr>
              <a:t>”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endParaRPr lang="en-US" dirty="0">
              <a:solidFill>
                <a:srgbClr val="00FF00"/>
              </a:solidFill>
            </a:endParaRPr>
          </a:p>
          <a:p>
            <a:r>
              <a:rPr lang="en-US" b="1" dirty="0">
                <a:solidFill>
                  <a:srgbClr val="CC99FF"/>
                </a:solidFill>
              </a:rPr>
              <a:t>Key caution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Execution order matters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running cells out of order can create confusing hidden state</a:t>
            </a:r>
            <a:r>
              <a:rPr lang="en-US" dirty="0">
                <a:solidFill>
                  <a:schemeClr val="accent6"/>
                </a:solidFill>
              </a:rPr>
              <a:t>;</a:t>
            </a:r>
            <a:r>
              <a:rPr lang="en-US" dirty="0"/>
              <a:t> </a:t>
            </a:r>
            <a:r>
              <a:rPr lang="en-US" dirty="0">
                <a:solidFill>
                  <a:srgbClr val="00FF00"/>
                </a:solidFill>
              </a:rPr>
              <a:t>“</a:t>
            </a:r>
            <a:r>
              <a:rPr lang="en-US" dirty="0"/>
              <a:t>Restart Kernel </a:t>
            </a:r>
            <a:r>
              <a:rPr lang="en-US" dirty="0">
                <a:solidFill>
                  <a:schemeClr val="accent6"/>
                </a:solidFill>
              </a:rPr>
              <a:t>+</a:t>
            </a:r>
            <a:r>
              <a:rPr lang="en-US" dirty="0"/>
              <a:t> Run All</a:t>
            </a:r>
            <a:r>
              <a:rPr lang="en-US" dirty="0">
                <a:solidFill>
                  <a:srgbClr val="00FF00"/>
                </a:solidFill>
              </a:rPr>
              <a:t>”</a:t>
            </a:r>
            <a:r>
              <a:rPr lang="en-US" dirty="0"/>
              <a:t> helps verify correctness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43BB1C-F888-2E6C-8312-59FF1FF149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8808" y="504497"/>
            <a:ext cx="5165902" cy="622896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C794263-832A-7986-C95D-6F703BE36E0E}"/>
              </a:ext>
            </a:extLst>
          </p:cNvPr>
          <p:cNvSpPr/>
          <p:nvPr/>
        </p:nvSpPr>
        <p:spPr>
          <a:xfrm>
            <a:off x="6900175" y="303085"/>
            <a:ext cx="136303" cy="6495190"/>
          </a:xfrm>
          <a:prstGeom prst="rect">
            <a:avLst/>
          </a:prstGeom>
          <a:solidFill>
            <a:srgbClr val="1717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BADBC8-DAE0-B981-ABCF-FAFDE7CF58E1}"/>
              </a:ext>
            </a:extLst>
          </p:cNvPr>
          <p:cNvSpPr txBox="1"/>
          <p:nvPr/>
        </p:nvSpPr>
        <p:spPr>
          <a:xfrm>
            <a:off x="10444152" y="3866493"/>
            <a:ext cx="172682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>
                <a:solidFill>
                  <a:schemeClr val="accent1"/>
                </a:solidFill>
              </a:rPr>
              <a:t>APS106</a:t>
            </a:r>
          </a:p>
          <a:p>
            <a:r>
              <a:rPr lang="en-CA" b="1" dirty="0"/>
              <a:t>File Type </a:t>
            </a:r>
            <a:r>
              <a:rPr lang="en-CA" b="1" dirty="0">
                <a:solidFill>
                  <a:schemeClr val="accent1"/>
                </a:solidFill>
              </a:rPr>
              <a:t>#</a:t>
            </a:r>
            <a:r>
              <a:rPr lang="en-CA" b="1" dirty="0"/>
              <a:t>2</a:t>
            </a:r>
            <a:r>
              <a:rPr lang="en-CA" b="1" dirty="0">
                <a:solidFill>
                  <a:schemeClr val="accent1"/>
                </a:solidFill>
              </a:rPr>
              <a:t>.</a:t>
            </a:r>
          </a:p>
          <a:p>
            <a:r>
              <a:rPr lang="en-CA" b="1" dirty="0"/>
              <a:t>The Python Notebook File</a:t>
            </a:r>
          </a:p>
          <a:p>
            <a:r>
              <a:rPr lang="en-CA" b="1" dirty="0">
                <a:solidFill>
                  <a:schemeClr val="accent1"/>
                </a:solidFill>
                <a:latin typeface="Consolas" panose="020B0609020204030204" pitchFamily="49" charset="0"/>
              </a:rPr>
              <a:t>.</a:t>
            </a:r>
            <a:r>
              <a:rPr lang="en-CA" b="1" dirty="0" err="1">
                <a:solidFill>
                  <a:schemeClr val="accent1"/>
                </a:solidFill>
                <a:latin typeface="Consolas" panose="020B0609020204030204" pitchFamily="49" charset="0"/>
              </a:rPr>
              <a:t>ipynb</a:t>
            </a:r>
            <a:endParaRPr lang="en-CA" b="1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9DB228D4-1B7A-5958-6F8E-C0E11442E012}"/>
              </a:ext>
            </a:extLst>
          </p:cNvPr>
          <p:cNvSpPr/>
          <p:nvPr/>
        </p:nvSpPr>
        <p:spPr>
          <a:xfrm flipH="1">
            <a:off x="9998241" y="4557160"/>
            <a:ext cx="526817" cy="17166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717984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675B3-B970-7527-A14D-8BAA42FFF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8E01A5-CBF5-1464-CB32-6510E84C7F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764399" cy="4835479"/>
          </a:xfrm>
        </p:spPr>
        <p:txBody>
          <a:bodyPr>
            <a:normAutofit/>
          </a:bodyPr>
          <a:lstStyle/>
          <a:p>
            <a:r>
              <a:rPr lang="en-US" b="1" dirty="0"/>
              <a:t>Three Kinds Of Cells</a:t>
            </a:r>
            <a:r>
              <a:rPr lang="en-US" b="1" dirty="0">
                <a:solidFill>
                  <a:srgbClr val="CC99FF"/>
                </a:solidFill>
              </a:rPr>
              <a:t>.</a:t>
            </a:r>
          </a:p>
          <a:p>
            <a:pPr lvl="1"/>
            <a:r>
              <a:rPr lang="en-US" b="1" dirty="0">
                <a:solidFill>
                  <a:schemeClr val="accent3"/>
                </a:solidFill>
              </a:rPr>
              <a:t>Markdown</a:t>
            </a:r>
            <a:r>
              <a:rPr lang="en-US" b="1" dirty="0"/>
              <a:t>.</a:t>
            </a:r>
          </a:p>
          <a:p>
            <a:pPr lvl="2"/>
            <a:r>
              <a:rPr lang="en-US" dirty="0"/>
              <a:t>Write formatted notes</a:t>
            </a:r>
            <a:r>
              <a:rPr lang="en-US" dirty="0">
                <a:solidFill>
                  <a:srgbClr val="00FF00"/>
                </a:solidFill>
              </a:rPr>
              <a:t>:</a:t>
            </a:r>
            <a:r>
              <a:rPr lang="en-US" dirty="0"/>
              <a:t> headings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bullet lists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links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equations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and explanations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no code execution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b="1" dirty="0">
                <a:solidFill>
                  <a:srgbClr val="00B050"/>
                </a:solidFill>
              </a:rPr>
              <a:t>Code</a:t>
            </a:r>
            <a:r>
              <a:rPr lang="en-US" b="1" dirty="0"/>
              <a:t>.</a:t>
            </a:r>
          </a:p>
          <a:p>
            <a:pPr lvl="2"/>
            <a:r>
              <a:rPr lang="en-US" dirty="0"/>
              <a:t>Write and run Python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or other languages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/>
              <a:t> in a cell</a:t>
            </a:r>
            <a:r>
              <a:rPr lang="en-US" dirty="0">
                <a:solidFill>
                  <a:schemeClr val="accent6"/>
                </a:solidFill>
              </a:rPr>
              <a:t>;</a:t>
            </a:r>
            <a:r>
              <a:rPr lang="en-US" dirty="0"/>
              <a:t> the kernel executes it and keeps variables in memory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b="1" dirty="0">
                <a:solidFill>
                  <a:srgbClr val="FF66CC"/>
                </a:solidFill>
              </a:rPr>
              <a:t>Output</a:t>
            </a:r>
            <a:r>
              <a:rPr lang="en-US" b="1" dirty="0"/>
              <a:t>.</a:t>
            </a:r>
          </a:p>
          <a:p>
            <a:pPr lvl="2"/>
            <a:r>
              <a:rPr lang="en-US" dirty="0"/>
              <a:t>The results produced by running a code cell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printed text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tables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plots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or error messages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are shown directly under the cell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98BAB78-E41F-890C-AF31-7D7278E41A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3043" y="501629"/>
            <a:ext cx="5118958" cy="6227093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812705C-1BC3-36A7-81D4-F5D23E61871C}"/>
              </a:ext>
            </a:extLst>
          </p:cNvPr>
          <p:cNvSpPr/>
          <p:nvPr/>
        </p:nvSpPr>
        <p:spPr>
          <a:xfrm>
            <a:off x="7609268" y="1557633"/>
            <a:ext cx="4420651" cy="1025311"/>
          </a:xfrm>
          <a:prstGeom prst="roundRect">
            <a:avLst>
              <a:gd name="adj" fmla="val 5838"/>
            </a:avLst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1D09AEF-BDF1-9B28-B388-69F5A5E3FEA4}"/>
              </a:ext>
            </a:extLst>
          </p:cNvPr>
          <p:cNvSpPr/>
          <p:nvPr/>
        </p:nvSpPr>
        <p:spPr>
          <a:xfrm>
            <a:off x="7609267" y="2608170"/>
            <a:ext cx="4420651" cy="186059"/>
          </a:xfrm>
          <a:prstGeom prst="roundRect">
            <a:avLst>
              <a:gd name="adj" fmla="val 5838"/>
            </a:avLst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30EACDC-7987-C767-05F1-B0AA19936AAE}"/>
              </a:ext>
            </a:extLst>
          </p:cNvPr>
          <p:cNvSpPr/>
          <p:nvPr/>
        </p:nvSpPr>
        <p:spPr>
          <a:xfrm>
            <a:off x="7609266" y="2819454"/>
            <a:ext cx="4420651" cy="182881"/>
          </a:xfrm>
          <a:prstGeom prst="roundRect">
            <a:avLst>
              <a:gd name="adj" fmla="val 5838"/>
            </a:avLst>
          </a:prstGeom>
          <a:noFill/>
          <a:ln w="38100">
            <a:solidFill>
              <a:srgbClr val="FF6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B967079-C84C-3F3D-E3D2-A325BBE32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5799"/>
            <a:ext cx="10515600" cy="656148"/>
          </a:xfrm>
        </p:spPr>
        <p:txBody>
          <a:bodyPr>
            <a:normAutofit fontScale="90000"/>
          </a:bodyPr>
          <a:lstStyle/>
          <a:p>
            <a:r>
              <a:rPr lang="en-CA" b="1" dirty="0"/>
              <a:t>Interactive Computing</a:t>
            </a:r>
            <a:br>
              <a:rPr lang="en-CA" b="1" dirty="0"/>
            </a:br>
            <a:r>
              <a:rPr lang="en-CA" b="1" dirty="0"/>
              <a:t>Environment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FC3F12-3D4D-2BF8-55F2-F25D43844A45}"/>
              </a:ext>
            </a:extLst>
          </p:cNvPr>
          <p:cNvSpPr/>
          <p:nvPr/>
        </p:nvSpPr>
        <p:spPr>
          <a:xfrm>
            <a:off x="6950043" y="303085"/>
            <a:ext cx="136303" cy="6495190"/>
          </a:xfrm>
          <a:prstGeom prst="rect">
            <a:avLst/>
          </a:prstGeom>
          <a:solidFill>
            <a:srgbClr val="1717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1884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9E691-7737-B10C-2D0C-DFB9ECE1C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7F6D03-3F28-4C91-2E19-18BD61E78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764399" cy="4835479"/>
          </a:xfrm>
        </p:spPr>
        <p:txBody>
          <a:bodyPr>
            <a:normAutofit/>
          </a:bodyPr>
          <a:lstStyle/>
          <a:p>
            <a:r>
              <a:rPr lang="en-US" b="1" dirty="0"/>
              <a:t>Three Kinds Of Cells</a:t>
            </a:r>
            <a:r>
              <a:rPr lang="en-US" b="1" dirty="0">
                <a:solidFill>
                  <a:srgbClr val="CC99FF"/>
                </a:solidFill>
              </a:rPr>
              <a:t>.</a:t>
            </a:r>
          </a:p>
          <a:p>
            <a:pPr lvl="1"/>
            <a:r>
              <a:rPr lang="en-US" b="1" dirty="0">
                <a:solidFill>
                  <a:schemeClr val="accent3"/>
                </a:solidFill>
              </a:rPr>
              <a:t>Markdown</a:t>
            </a:r>
            <a:r>
              <a:rPr lang="en-US" b="1" dirty="0"/>
              <a:t>.</a:t>
            </a:r>
          </a:p>
          <a:p>
            <a:pPr lvl="2"/>
            <a:r>
              <a:rPr lang="en-US" dirty="0"/>
              <a:t>Write formatted notes</a:t>
            </a:r>
            <a:r>
              <a:rPr lang="en-US" dirty="0">
                <a:solidFill>
                  <a:srgbClr val="00FF00"/>
                </a:solidFill>
              </a:rPr>
              <a:t>:</a:t>
            </a:r>
            <a:r>
              <a:rPr lang="en-US" dirty="0"/>
              <a:t> headings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bullet lists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links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equations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and explanations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no code execution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b="1" dirty="0">
                <a:solidFill>
                  <a:srgbClr val="00B050"/>
                </a:solidFill>
              </a:rPr>
              <a:t>Code</a:t>
            </a:r>
            <a:r>
              <a:rPr lang="en-US" b="1" dirty="0"/>
              <a:t>.</a:t>
            </a:r>
          </a:p>
          <a:p>
            <a:pPr lvl="2"/>
            <a:r>
              <a:rPr lang="en-US" dirty="0"/>
              <a:t>Write and run Python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or other languages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/>
              <a:t> in a cell</a:t>
            </a:r>
            <a:r>
              <a:rPr lang="en-US" dirty="0">
                <a:solidFill>
                  <a:schemeClr val="accent6"/>
                </a:solidFill>
              </a:rPr>
              <a:t>;</a:t>
            </a:r>
            <a:r>
              <a:rPr lang="en-US" dirty="0"/>
              <a:t> the kernel executes it and keeps variables in memory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b="1" dirty="0">
                <a:solidFill>
                  <a:srgbClr val="FF66CC"/>
                </a:solidFill>
              </a:rPr>
              <a:t>Output</a:t>
            </a:r>
            <a:r>
              <a:rPr lang="en-US" b="1" dirty="0"/>
              <a:t>.</a:t>
            </a:r>
          </a:p>
          <a:p>
            <a:pPr lvl="2"/>
            <a:r>
              <a:rPr lang="en-US" dirty="0"/>
              <a:t>The results produced by running a code cell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printed text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tables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plots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or error messages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are shown directly under the cell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E541B75-5695-98A1-899C-7900EE41F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5799"/>
            <a:ext cx="10515600" cy="656148"/>
          </a:xfrm>
        </p:spPr>
        <p:txBody>
          <a:bodyPr>
            <a:normAutofit fontScale="90000"/>
          </a:bodyPr>
          <a:lstStyle/>
          <a:p>
            <a:r>
              <a:rPr lang="en-CA" b="1" dirty="0"/>
              <a:t>Interactive Computing</a:t>
            </a:r>
            <a:br>
              <a:rPr lang="en-CA" b="1" dirty="0"/>
            </a:br>
            <a:r>
              <a:rPr lang="en-CA" b="1" dirty="0"/>
              <a:t>Environment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DF46140-71A8-511E-7DD2-2FCBC18117A7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Let</a:t>
            </a:r>
            <a:r>
              <a:rPr lang="en-US" sz="4400" b="1" dirty="0">
                <a:solidFill>
                  <a:srgbClr val="00FF00"/>
                </a:solidFill>
              </a:rPr>
              <a:t>’</a:t>
            </a:r>
            <a:r>
              <a:rPr lang="en-US" sz="4400" b="1" dirty="0">
                <a:solidFill>
                  <a:srgbClr val="FFFFFF"/>
                </a:solidFill>
              </a:rPr>
              <a:t>s Code</a:t>
            </a:r>
            <a:r>
              <a:rPr lang="en-US" sz="4400" b="1" dirty="0">
                <a:solidFill>
                  <a:srgbClr val="00FF00"/>
                </a:solidFill>
              </a:rPr>
              <a:t>!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Download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pPr marL="514350" indent="-514350">
              <a:buClr>
                <a:schemeClr val="accent6"/>
              </a:buClr>
              <a:buAutoNum type="arabicPeriod"/>
            </a:pPr>
            <a:r>
              <a:rPr lang="en-US" sz="1600" b="1" dirty="0">
                <a:solidFill>
                  <a:srgbClr val="00FF00"/>
                </a:solidFill>
              </a:rPr>
              <a:t>week1_lecture2_starter.ipynb</a:t>
            </a:r>
            <a:endParaRPr lang="en-US" b="1" dirty="0">
              <a:solidFill>
                <a:srgbClr val="00FF00"/>
              </a:solidFill>
            </a:endParaRPr>
          </a:p>
          <a:p>
            <a:endParaRPr lang="en-US" sz="28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Open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pPr marL="514350" indent="-514350">
              <a:buAutoNum type="arabicPeriod"/>
            </a:pPr>
            <a:r>
              <a:rPr lang="en-US" sz="2400" b="1" dirty="0" err="1">
                <a:solidFill>
                  <a:schemeClr val="accent6"/>
                </a:solidFill>
              </a:rPr>
              <a:t>Jupyter</a:t>
            </a:r>
            <a:r>
              <a:rPr lang="en-US" sz="2400" b="1" dirty="0">
                <a:solidFill>
                  <a:schemeClr val="accent6"/>
                </a:solidFill>
              </a:rPr>
              <a:t> App</a:t>
            </a:r>
          </a:p>
          <a:p>
            <a:pPr marL="514350" indent="-514350">
              <a:buAutoNum type="arabicPeriod"/>
            </a:pPr>
            <a:endParaRPr lang="en-US" sz="2400" b="1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05532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5AB76-C8BA-4A78-3DA2-1EE6DA4B2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506F4-54F8-2CF7-C651-4E4B604D0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5799"/>
            <a:ext cx="10515600" cy="656148"/>
          </a:xfrm>
        </p:spPr>
        <p:txBody>
          <a:bodyPr>
            <a:normAutofit fontScale="90000"/>
          </a:bodyPr>
          <a:lstStyle/>
          <a:p>
            <a:r>
              <a:rPr lang="en-CA" b="1" dirty="0"/>
              <a:t>JupyterHub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3290C5-F58A-029A-AE82-0C3CE534C2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978810" cy="4835479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CC99FF"/>
                </a:solidFill>
              </a:rPr>
              <a:t>Jupyter</a:t>
            </a:r>
            <a:r>
              <a:rPr lang="en-US" b="1" dirty="0">
                <a:solidFill>
                  <a:srgbClr val="CC99FF"/>
                </a:solidFill>
              </a:rPr>
              <a:t> Notebook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The notebook application itself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an interface to create and run </a:t>
            </a:r>
            <a:r>
              <a:rPr lang="en-US" b="1" dirty="0">
                <a:solidFill>
                  <a:schemeClr val="accent6"/>
                </a:solidFill>
                <a:latin typeface="Consolas" panose="020B0609020204030204" pitchFamily="49" charset="0"/>
              </a:rPr>
              <a:t>.</a:t>
            </a:r>
            <a:r>
              <a:rPr lang="en-US" b="1" dirty="0" err="1">
                <a:solidFill>
                  <a:srgbClr val="FF66CC"/>
                </a:solidFill>
                <a:latin typeface="Consolas" panose="020B0609020204030204" pitchFamily="49" charset="0"/>
              </a:rPr>
              <a:t>ipynb</a:t>
            </a:r>
            <a:r>
              <a:rPr lang="en-US" b="1" dirty="0">
                <a:solidFill>
                  <a:srgbClr val="FF66CC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files on a machine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your </a:t>
            </a:r>
            <a:r>
              <a:rPr lang="en-US" b="1" u="sng" dirty="0">
                <a:solidFill>
                  <a:srgbClr val="00FF00"/>
                </a:solidFill>
              </a:rPr>
              <a:t>laptop</a:t>
            </a:r>
            <a:r>
              <a:rPr lang="en-US" dirty="0"/>
              <a:t> or a server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typically for a single user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JupyterHub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A multi</a:t>
            </a:r>
            <a:r>
              <a:rPr lang="en-US" dirty="0">
                <a:solidFill>
                  <a:schemeClr val="accent6"/>
                </a:solidFill>
              </a:rPr>
              <a:t>-</a:t>
            </a:r>
            <a:r>
              <a:rPr lang="en-US" dirty="0"/>
              <a:t>user platform that hosts </a:t>
            </a:r>
            <a:r>
              <a:rPr lang="en-US" dirty="0" err="1"/>
              <a:t>Jupyter</a:t>
            </a:r>
            <a:r>
              <a:rPr lang="en-US" dirty="0"/>
              <a:t> Notebook</a:t>
            </a:r>
            <a:r>
              <a:rPr lang="en-US" dirty="0">
                <a:solidFill>
                  <a:schemeClr val="accent6"/>
                </a:solidFill>
              </a:rPr>
              <a:t>/</a:t>
            </a:r>
            <a:r>
              <a:rPr lang="en-US" dirty="0"/>
              <a:t>Lab for a class or organization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handles logins, starts a separate notebook server for each user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and runs everything on </a:t>
            </a:r>
            <a:r>
              <a:rPr lang="en-US" b="1" u="sng" dirty="0">
                <a:solidFill>
                  <a:srgbClr val="00FF00"/>
                </a:solidFill>
              </a:rPr>
              <a:t>shared infrastructure</a:t>
            </a:r>
            <a:r>
              <a:rPr lang="en-US" b="1" dirty="0">
                <a:solidFill>
                  <a:srgbClr val="00FF00"/>
                </a:solidFill>
              </a:rPr>
              <a:t> </a:t>
            </a:r>
            <a:r>
              <a:rPr lang="en-US" b="1" dirty="0">
                <a:solidFill>
                  <a:srgbClr val="FF66CC"/>
                </a:solidFill>
              </a:rPr>
              <a:t>(Cloud)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228CA3-8FB6-1B89-E09B-6BC5287D31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8808" y="504497"/>
            <a:ext cx="5165902" cy="622896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9AACEDE-48E0-DF1C-4D57-397A113E97FC}"/>
              </a:ext>
            </a:extLst>
          </p:cNvPr>
          <p:cNvSpPr/>
          <p:nvPr/>
        </p:nvSpPr>
        <p:spPr>
          <a:xfrm>
            <a:off x="6900175" y="303085"/>
            <a:ext cx="136303" cy="6495190"/>
          </a:xfrm>
          <a:prstGeom prst="rect">
            <a:avLst/>
          </a:prstGeom>
          <a:solidFill>
            <a:srgbClr val="1717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62DC2D-A6F1-9416-F379-F03770DDAC72}"/>
              </a:ext>
            </a:extLst>
          </p:cNvPr>
          <p:cNvSpPr txBox="1"/>
          <p:nvPr/>
        </p:nvSpPr>
        <p:spPr>
          <a:xfrm>
            <a:off x="10534390" y="3836413"/>
            <a:ext cx="14851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What is this JupyterHub thing</a:t>
            </a:r>
            <a:r>
              <a:rPr lang="en-CA" b="1" dirty="0">
                <a:solidFill>
                  <a:schemeClr val="accent2"/>
                </a:solidFill>
              </a:rPr>
              <a:t>?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227036F0-1116-3837-9105-DD6079EEE915}"/>
              </a:ext>
            </a:extLst>
          </p:cNvPr>
          <p:cNvSpPr/>
          <p:nvPr/>
        </p:nvSpPr>
        <p:spPr>
          <a:xfrm flipH="1">
            <a:off x="10224684" y="4214258"/>
            <a:ext cx="300375" cy="17166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297092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1DB0A-3FE8-538B-D207-5B47FF916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BC4B9-5ACA-7D9B-DF06-7348CFC7C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364" y="593215"/>
            <a:ext cx="4690311" cy="656148"/>
          </a:xfrm>
        </p:spPr>
        <p:txBody>
          <a:bodyPr>
            <a:normAutofit fontScale="90000"/>
          </a:bodyPr>
          <a:lstStyle/>
          <a:p>
            <a:pPr algn="ctr"/>
            <a:r>
              <a:rPr lang="en-CA" b="1" dirty="0" err="1"/>
              <a:t>Jupyter</a:t>
            </a:r>
            <a:r>
              <a:rPr lang="en-CA" b="1" dirty="0"/>
              <a:t> Notebook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F1555DD-6171-9C55-E985-A2F9D41B243A}"/>
              </a:ext>
            </a:extLst>
          </p:cNvPr>
          <p:cNvSpPr txBox="1">
            <a:spLocks/>
          </p:cNvSpPr>
          <p:nvPr/>
        </p:nvSpPr>
        <p:spPr>
          <a:xfrm>
            <a:off x="8124327" y="593215"/>
            <a:ext cx="3174332" cy="656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b="1" dirty="0"/>
              <a:t>JupyterHub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55A4B2B-5CD7-2CED-3578-D4957282C1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0164"/>
          <a:stretch>
            <a:fillRect/>
          </a:stretch>
        </p:blipFill>
        <p:spPr>
          <a:xfrm>
            <a:off x="90237" y="1434947"/>
            <a:ext cx="4788566" cy="5211775"/>
          </a:xfrm>
          <a:prstGeom prst="rect">
            <a:avLst/>
          </a:prstGeom>
          <a:ln>
            <a:solidFill>
              <a:schemeClr val="accent6"/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7A2753-F70A-500F-BC23-0103AC8D3E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167" r="-2"/>
          <a:stretch>
            <a:fillRect/>
          </a:stretch>
        </p:blipFill>
        <p:spPr>
          <a:xfrm>
            <a:off x="7317211" y="1434947"/>
            <a:ext cx="4788565" cy="5211775"/>
          </a:xfrm>
          <a:prstGeom prst="rect">
            <a:avLst/>
          </a:prstGeom>
          <a:ln>
            <a:solidFill>
              <a:schemeClr val="accent6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4C600A-B2E4-B151-53B7-BED3985E35FD}"/>
              </a:ext>
            </a:extLst>
          </p:cNvPr>
          <p:cNvSpPr txBox="1"/>
          <p:nvPr/>
        </p:nvSpPr>
        <p:spPr>
          <a:xfrm>
            <a:off x="4892838" y="1798720"/>
            <a:ext cx="218373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>
                <a:solidFill>
                  <a:srgbClr val="FF66CC"/>
                </a:solidFill>
              </a:rPr>
              <a:t>localhost</a:t>
            </a:r>
            <a:r>
              <a:rPr lang="en-CA" dirty="0">
                <a:solidFill>
                  <a:srgbClr val="FFFFFF"/>
                </a:solidFill>
              </a:rPr>
              <a:t> means the computation is happening on your computer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r>
              <a:rPr lang="en-CA" sz="1200" dirty="0">
                <a:solidFill>
                  <a:schemeClr val="accent6"/>
                </a:solidFill>
              </a:rPr>
              <a:t>http://localhost:8888/notebooks/lectures/week1/lecture2/notebooks/week1_lecture2_starter.ipynb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AD8745D-BEAA-39E8-B03B-1CD372AD9A01}"/>
              </a:ext>
            </a:extLst>
          </p:cNvPr>
          <p:cNvCxnSpPr>
            <a:cxnSpLocks/>
          </p:cNvCxnSpPr>
          <p:nvPr/>
        </p:nvCxnSpPr>
        <p:spPr>
          <a:xfrm flipH="1" flipV="1">
            <a:off x="1028700" y="1672389"/>
            <a:ext cx="3928311" cy="318837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ADD2341-67DA-CB0C-E4E2-76DA9AD58D19}"/>
              </a:ext>
            </a:extLst>
          </p:cNvPr>
          <p:cNvSpPr txBox="1"/>
          <p:nvPr/>
        </p:nvSpPr>
        <p:spPr>
          <a:xfrm>
            <a:off x="5355056" y="628901"/>
            <a:ext cx="1481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600" b="1" dirty="0">
                <a:solidFill>
                  <a:schemeClr val="accent6"/>
                </a:solidFill>
              </a:rPr>
              <a:t>Running in the browser</a:t>
            </a:r>
            <a:r>
              <a:rPr lang="en-CA" sz="1600" b="1" dirty="0">
                <a:solidFill>
                  <a:srgbClr val="FF66CC"/>
                </a:solidFill>
              </a:rPr>
              <a:t>.</a:t>
            </a:r>
            <a:endParaRPr lang="en-CA" sz="1600" dirty="0">
              <a:solidFill>
                <a:srgbClr val="FF66CC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2677175-38F6-AAE6-2C2A-3AB6C136E1DD}"/>
              </a:ext>
            </a:extLst>
          </p:cNvPr>
          <p:cNvCxnSpPr>
            <a:stCxn id="19" idx="2"/>
          </p:cNvCxnSpPr>
          <p:nvPr/>
        </p:nvCxnSpPr>
        <p:spPr>
          <a:xfrm flipH="1">
            <a:off x="4770521" y="1213676"/>
            <a:ext cx="1325479" cy="30230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C9A0044-DF29-80A4-EF2C-34F6DFEB64F9}"/>
              </a:ext>
            </a:extLst>
          </p:cNvPr>
          <p:cNvCxnSpPr>
            <a:cxnSpLocks/>
            <a:stCxn id="19" idx="2"/>
          </p:cNvCxnSpPr>
          <p:nvPr/>
        </p:nvCxnSpPr>
        <p:spPr>
          <a:xfrm>
            <a:off x="6096000" y="1213676"/>
            <a:ext cx="1266324" cy="30230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A181B0F-BBFB-DC86-01B6-DB2D5C77DA39}"/>
              </a:ext>
            </a:extLst>
          </p:cNvPr>
          <p:cNvSpPr txBox="1"/>
          <p:nvPr/>
        </p:nvSpPr>
        <p:spPr>
          <a:xfrm>
            <a:off x="5110420" y="4014708"/>
            <a:ext cx="2183731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CA" sz="1600" b="1" dirty="0">
                <a:solidFill>
                  <a:srgbClr val="FF66CC"/>
                </a:solidFill>
              </a:rPr>
              <a:t>jupyter.utoronto.ca</a:t>
            </a:r>
            <a:r>
              <a:rPr lang="en-CA" sz="1600" dirty="0">
                <a:solidFill>
                  <a:srgbClr val="FFFFFF"/>
                </a:solidFill>
              </a:rPr>
              <a:t> </a:t>
            </a:r>
            <a:r>
              <a:rPr lang="en-CA" dirty="0">
                <a:solidFill>
                  <a:srgbClr val="FFFFFF"/>
                </a:solidFill>
              </a:rPr>
              <a:t>means the computation is happening on another server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pPr algn="r"/>
            <a:r>
              <a:rPr lang="en-CA" sz="1200" dirty="0">
                <a:solidFill>
                  <a:schemeClr val="accent6"/>
                </a:solidFill>
              </a:rPr>
              <a:t>https://jupyter.utoronto.ca/user/sebastian.goodfellow@utoronto.ca/notebooks/APS106-winter-2026-goodfellow-sutton/lectures/week1/lecture2/notebooks/week1_lecture2_starter.ipynb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671F4DC-B476-B018-BCAE-52F68164E9E2}"/>
              </a:ext>
            </a:extLst>
          </p:cNvPr>
          <p:cNvCxnSpPr>
            <a:cxnSpLocks/>
          </p:cNvCxnSpPr>
          <p:nvPr/>
        </p:nvCxnSpPr>
        <p:spPr>
          <a:xfrm flipV="1">
            <a:off x="7188868" y="1701563"/>
            <a:ext cx="1275348" cy="2431284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02640DB-A5C4-20E8-5A75-E8FD207D4042}"/>
              </a:ext>
            </a:extLst>
          </p:cNvPr>
          <p:cNvCxnSpPr>
            <a:cxnSpLocks/>
          </p:cNvCxnSpPr>
          <p:nvPr/>
        </p:nvCxnSpPr>
        <p:spPr>
          <a:xfrm flipV="1">
            <a:off x="7188868" y="1991226"/>
            <a:ext cx="421106" cy="2141621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13532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B1C74-8100-F5E0-05F0-49129E6DF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D5E64BA-1A28-F28C-F2E8-FADB30A3FFE5}"/>
              </a:ext>
            </a:extLst>
          </p:cNvPr>
          <p:cNvSpPr txBox="1">
            <a:spLocks/>
          </p:cNvSpPr>
          <p:nvPr/>
        </p:nvSpPr>
        <p:spPr>
          <a:xfrm>
            <a:off x="8124327" y="593215"/>
            <a:ext cx="3174332" cy="656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b="1" dirty="0"/>
              <a:t>JupyterHub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8DE8C03-6492-5BDC-C7B5-84F4D81044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167" r="-2"/>
          <a:stretch>
            <a:fillRect/>
          </a:stretch>
        </p:blipFill>
        <p:spPr>
          <a:xfrm>
            <a:off x="7317211" y="1434947"/>
            <a:ext cx="4788565" cy="5211775"/>
          </a:xfrm>
          <a:prstGeom prst="rect">
            <a:avLst/>
          </a:prstGeom>
          <a:ln>
            <a:solidFill>
              <a:schemeClr val="accent6"/>
            </a:solidFill>
          </a:ln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BC43304-F827-6D22-21CD-39D02EFEDD7A}"/>
              </a:ext>
            </a:extLst>
          </p:cNvPr>
          <p:cNvSpPr txBox="1"/>
          <p:nvPr/>
        </p:nvSpPr>
        <p:spPr>
          <a:xfrm>
            <a:off x="5355056" y="628901"/>
            <a:ext cx="1481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600" b="1" dirty="0">
                <a:solidFill>
                  <a:schemeClr val="accent6"/>
                </a:solidFill>
              </a:rPr>
              <a:t>Running in the browser</a:t>
            </a:r>
            <a:r>
              <a:rPr lang="en-CA" sz="1600" b="1" dirty="0">
                <a:solidFill>
                  <a:srgbClr val="FF66CC"/>
                </a:solidFill>
              </a:rPr>
              <a:t>.</a:t>
            </a:r>
            <a:endParaRPr lang="en-CA" sz="1600" dirty="0">
              <a:solidFill>
                <a:srgbClr val="FF66CC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6479B7C-81C3-6EEB-15B1-CC2B5D910816}"/>
              </a:ext>
            </a:extLst>
          </p:cNvPr>
          <p:cNvCxnSpPr>
            <a:cxnSpLocks/>
            <a:stCxn id="19" idx="2"/>
          </p:cNvCxnSpPr>
          <p:nvPr/>
        </p:nvCxnSpPr>
        <p:spPr>
          <a:xfrm>
            <a:off x="6096000" y="1213676"/>
            <a:ext cx="1266324" cy="30230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41C4B48-7F9D-2525-2414-3B8C29B1EA7F}"/>
              </a:ext>
            </a:extLst>
          </p:cNvPr>
          <p:cNvSpPr txBox="1"/>
          <p:nvPr/>
        </p:nvSpPr>
        <p:spPr>
          <a:xfrm>
            <a:off x="5110420" y="4014708"/>
            <a:ext cx="2183731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CA" sz="1600" b="1" dirty="0">
                <a:solidFill>
                  <a:srgbClr val="FF66CC"/>
                </a:solidFill>
              </a:rPr>
              <a:t>jupyter.utoronto.ca</a:t>
            </a:r>
            <a:r>
              <a:rPr lang="en-CA" sz="1600" dirty="0">
                <a:solidFill>
                  <a:srgbClr val="FFFFFF"/>
                </a:solidFill>
              </a:rPr>
              <a:t> </a:t>
            </a:r>
            <a:r>
              <a:rPr lang="en-CA" dirty="0">
                <a:solidFill>
                  <a:srgbClr val="FFFFFF"/>
                </a:solidFill>
              </a:rPr>
              <a:t>means the computation is happening on another server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pPr algn="r"/>
            <a:r>
              <a:rPr lang="en-CA" sz="1200" dirty="0">
                <a:solidFill>
                  <a:schemeClr val="accent6"/>
                </a:solidFill>
              </a:rPr>
              <a:t>https://jupyter.utoronto.ca/user/sebastian.goodfellow@utoronto.ca/notebooks/APS106-winter-2026-goodfellow-sutton/lectures/week1/lecture2/notebooks/week1_lecture2_starter.ipynb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37D1769-DD06-76CE-4784-9C3F3A27CABC}"/>
              </a:ext>
            </a:extLst>
          </p:cNvPr>
          <p:cNvCxnSpPr>
            <a:cxnSpLocks/>
          </p:cNvCxnSpPr>
          <p:nvPr/>
        </p:nvCxnSpPr>
        <p:spPr>
          <a:xfrm flipV="1">
            <a:off x="7188868" y="1701563"/>
            <a:ext cx="1275348" cy="2431284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7DF5146-BCD4-D1D7-43CD-0190C663A89E}"/>
              </a:ext>
            </a:extLst>
          </p:cNvPr>
          <p:cNvCxnSpPr>
            <a:cxnSpLocks/>
          </p:cNvCxnSpPr>
          <p:nvPr/>
        </p:nvCxnSpPr>
        <p:spPr>
          <a:xfrm flipV="1">
            <a:off x="7188868" y="1991226"/>
            <a:ext cx="421106" cy="2141621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7108584-6A70-2EEE-9AC2-F2FB958E6CC9}"/>
              </a:ext>
            </a:extLst>
          </p:cNvPr>
          <p:cNvSpPr/>
          <p:nvPr/>
        </p:nvSpPr>
        <p:spPr>
          <a:xfrm>
            <a:off x="49328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Let</a:t>
            </a:r>
            <a:r>
              <a:rPr lang="en-US" sz="4400" b="1" dirty="0">
                <a:solidFill>
                  <a:srgbClr val="00FF00"/>
                </a:solidFill>
              </a:rPr>
              <a:t>’</a:t>
            </a:r>
            <a:r>
              <a:rPr lang="en-US" sz="4400" b="1" dirty="0">
                <a:solidFill>
                  <a:srgbClr val="FFFFFF"/>
                </a:solidFill>
              </a:rPr>
              <a:t>s Code</a:t>
            </a:r>
            <a:r>
              <a:rPr lang="en-US" sz="4400" b="1" dirty="0">
                <a:solidFill>
                  <a:srgbClr val="00FF00"/>
                </a:solidFill>
              </a:rPr>
              <a:t>!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endParaRPr lang="en-US" sz="4400" b="1" dirty="0">
              <a:solidFill>
                <a:srgbClr val="FFFFFF"/>
              </a:solidFill>
            </a:endParaRP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Demo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pPr marL="514350" indent="-514350">
              <a:buAutoNum type="arabicPeriod"/>
            </a:pPr>
            <a:r>
              <a:rPr lang="en-US" sz="2400" b="1" dirty="0">
                <a:solidFill>
                  <a:schemeClr val="accent6"/>
                </a:solidFill>
              </a:rPr>
              <a:t>JupyterHub</a:t>
            </a:r>
          </a:p>
          <a:p>
            <a:pPr marL="514350" indent="-514350">
              <a:buAutoNum type="arabicPeriod"/>
            </a:pPr>
            <a:endParaRPr lang="en-US" sz="2400" b="1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3576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B9B2D-E9B8-3145-8808-301E837C5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FCFFF-7CB0-9A2C-5AF5-681E53C4D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Editors </a:t>
            </a:r>
            <a:r>
              <a:rPr lang="en-CA" b="1" dirty="0">
                <a:solidFill>
                  <a:srgbClr val="00FF00"/>
                </a:solidFill>
              </a:rPr>
              <a:t>&amp;</a:t>
            </a:r>
            <a:r>
              <a:rPr lang="en-CA" b="1" dirty="0"/>
              <a:t> IDEs</a:t>
            </a:r>
            <a:r>
              <a:rPr lang="en-CA" b="1" dirty="0">
                <a:solidFill>
                  <a:srgbClr val="00FF00"/>
                </a:solidFill>
              </a:rPr>
              <a:t>.</a:t>
            </a:r>
            <a:endParaRPr lang="en-CA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7C2995D-72FF-F109-25C4-8263BE34FD72}"/>
              </a:ext>
            </a:extLst>
          </p:cNvPr>
          <p:cNvSpPr/>
          <p:nvPr/>
        </p:nvSpPr>
        <p:spPr>
          <a:xfrm>
            <a:off x="611177" y="2826154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913B6C8-9F71-CA9B-F9F9-3C987C1DFCDC}"/>
              </a:ext>
            </a:extLst>
          </p:cNvPr>
          <p:cNvSpPr/>
          <p:nvPr/>
        </p:nvSpPr>
        <p:spPr>
          <a:xfrm>
            <a:off x="3431102" y="2826153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961C3C5-4F77-9076-9BA7-6565633A0346}"/>
              </a:ext>
            </a:extLst>
          </p:cNvPr>
          <p:cNvSpPr/>
          <p:nvPr/>
        </p:nvSpPr>
        <p:spPr>
          <a:xfrm>
            <a:off x="6251027" y="2826152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38E7C41-3731-118B-4120-551D82E252EC}"/>
              </a:ext>
            </a:extLst>
          </p:cNvPr>
          <p:cNvSpPr/>
          <p:nvPr/>
        </p:nvSpPr>
        <p:spPr>
          <a:xfrm>
            <a:off x="9070952" y="2826151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21A96AA-A2A0-43E6-B3C8-D73A41EFB676}"/>
              </a:ext>
            </a:extLst>
          </p:cNvPr>
          <p:cNvSpPr/>
          <p:nvPr/>
        </p:nvSpPr>
        <p:spPr>
          <a:xfrm>
            <a:off x="3140967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02A4F942-6734-40EB-5CF9-C59DEB27F368}"/>
              </a:ext>
            </a:extLst>
          </p:cNvPr>
          <p:cNvSpPr/>
          <p:nvPr/>
        </p:nvSpPr>
        <p:spPr>
          <a:xfrm>
            <a:off x="5960391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7E023903-14DC-383F-00FD-A97DAB5A06FF}"/>
              </a:ext>
            </a:extLst>
          </p:cNvPr>
          <p:cNvSpPr/>
          <p:nvPr/>
        </p:nvSpPr>
        <p:spPr>
          <a:xfrm>
            <a:off x="8781316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258F20-4358-CDAD-00A8-CFEA947E087B}"/>
              </a:ext>
            </a:extLst>
          </p:cNvPr>
          <p:cNvSpPr txBox="1"/>
          <p:nvPr/>
        </p:nvSpPr>
        <p:spPr>
          <a:xfrm>
            <a:off x="503573" y="2350193"/>
            <a:ext cx="1970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Text Editors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7160BC-1CFB-C916-ED1D-AF39285CAB83}"/>
              </a:ext>
            </a:extLst>
          </p:cNvPr>
          <p:cNvSpPr txBox="1"/>
          <p:nvPr/>
        </p:nvSpPr>
        <p:spPr>
          <a:xfrm>
            <a:off x="3303370" y="1609608"/>
            <a:ext cx="31525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Interactive Computing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Environment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947714-F748-0687-CD4D-8331CCE1147D}"/>
              </a:ext>
            </a:extLst>
          </p:cNvPr>
          <p:cNvSpPr txBox="1"/>
          <p:nvPr/>
        </p:nvSpPr>
        <p:spPr>
          <a:xfrm>
            <a:off x="6121750" y="1233994"/>
            <a:ext cx="213090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Integrated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Development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Environment</a:t>
            </a:r>
          </a:p>
          <a:p>
            <a:r>
              <a:rPr lang="en-CA" sz="2400" b="1" dirty="0">
                <a:solidFill>
                  <a:srgbClr val="CC99FF"/>
                </a:solidFill>
              </a:rPr>
              <a:t>(</a:t>
            </a:r>
            <a:r>
              <a:rPr lang="en-CA" sz="2400" b="1" dirty="0">
                <a:solidFill>
                  <a:srgbClr val="FFFFFF"/>
                </a:solidFill>
              </a:rPr>
              <a:t>IDE</a:t>
            </a:r>
            <a:r>
              <a:rPr lang="en-CA" sz="2400" b="1" dirty="0">
                <a:solidFill>
                  <a:srgbClr val="CC99FF"/>
                </a:solidFill>
              </a:rPr>
              <a:t>)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F5BC1B-A18F-56E6-FE8D-82CC7A15CDC2}"/>
              </a:ext>
            </a:extLst>
          </p:cNvPr>
          <p:cNvSpPr txBox="1"/>
          <p:nvPr/>
        </p:nvSpPr>
        <p:spPr>
          <a:xfrm>
            <a:off x="8940585" y="1981938"/>
            <a:ext cx="12508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AI</a:t>
            </a:r>
            <a:r>
              <a:rPr lang="en-CA" sz="2400" b="1" dirty="0">
                <a:solidFill>
                  <a:srgbClr val="CC99FF"/>
                </a:solidFill>
              </a:rPr>
              <a:t>-</a:t>
            </a:r>
            <a:r>
              <a:rPr lang="en-CA" sz="2400" b="1" dirty="0">
                <a:solidFill>
                  <a:srgbClr val="FFFFFF"/>
                </a:solidFill>
              </a:rPr>
              <a:t>First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IDE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0704D2CE-76ED-9776-6038-C5B281FB34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115" y="3094008"/>
            <a:ext cx="1160342" cy="1160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6" descr="Sublimetext Icon icon - Free Download PNG &amp; SVG | Streamline">
            <a:extLst>
              <a:ext uri="{FF2B5EF4-FFF2-40B4-BE49-F238E27FC236}">
                <a16:creationId xmlns:a16="http://schemas.microsoft.com/office/drawing/2014/main" id="{46AE25D2-A0CC-3495-9515-F0C646EBD8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8208" y="3942032"/>
            <a:ext cx="1160343" cy="1160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6" name="Picture 8" descr="Emacs Logo Sticker Pack | FSF Shop">
            <a:extLst>
              <a:ext uri="{FF2B5EF4-FFF2-40B4-BE49-F238E27FC236}">
                <a16:creationId xmlns:a16="http://schemas.microsoft.com/office/drawing/2014/main" id="{1B4DF8E4-E77D-8793-CCAA-4669C831DC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606" y="4988555"/>
            <a:ext cx="1368972" cy="1368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0" descr="Jupyter Notebooks. Amazing Tools For Data Science">
            <a:extLst>
              <a:ext uri="{FF2B5EF4-FFF2-40B4-BE49-F238E27FC236}">
                <a16:creationId xmlns:a16="http://schemas.microsoft.com/office/drawing/2014/main" id="{DFEA766D-C880-2C25-321D-A7774621E3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0701" y="3020270"/>
            <a:ext cx="1162345" cy="1348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6" descr="macOS app icon doesn't follow human interface guidelines · Issue #613 ·  jupyterlab/jupyterlab-desktop">
            <a:extLst>
              <a:ext uri="{FF2B5EF4-FFF2-40B4-BE49-F238E27FC236}">
                <a16:creationId xmlns:a16="http://schemas.microsoft.com/office/drawing/2014/main" id="{E2FA929E-4616-8DF3-CCB4-A3E3C0CC91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2746" y="4061404"/>
            <a:ext cx="1368972" cy="1368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0">
            <a:extLst>
              <a:ext uri="{FF2B5EF4-FFF2-40B4-BE49-F238E27FC236}">
                <a16:creationId xmlns:a16="http://schemas.microsoft.com/office/drawing/2014/main" id="{E954EE6C-208B-7FAF-D9D1-075B0D52F9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0982" y="5504002"/>
            <a:ext cx="1927638" cy="67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6" descr="PyCharm Logo Update – IDEs Support (IntelliJ Platform) | JetBrains">
            <a:extLst>
              <a:ext uri="{FF2B5EF4-FFF2-40B4-BE49-F238E27FC236}">
                <a16:creationId xmlns:a16="http://schemas.microsoft.com/office/drawing/2014/main" id="{0E837F72-F217-B817-0653-7BC75C6AE1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9523" y="3020270"/>
            <a:ext cx="1404473" cy="1404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6">
            <a:extLst>
              <a:ext uri="{FF2B5EF4-FFF2-40B4-BE49-F238E27FC236}">
                <a16:creationId xmlns:a16="http://schemas.microsoft.com/office/drawing/2014/main" id="{BB0795CC-BD73-3ECE-2795-AA864EE524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5806" y="4283214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8">
            <a:extLst>
              <a:ext uri="{FF2B5EF4-FFF2-40B4-BE49-F238E27FC236}">
                <a16:creationId xmlns:a16="http://schemas.microsoft.com/office/drawing/2014/main" id="{55B28974-F8B7-7BA6-CD5B-0DC6C3EBF3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6656" y="5044165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4" name="Picture 2" descr="Cursor AI Logo Icon for Modern Designs">
            <a:extLst>
              <a:ext uri="{FF2B5EF4-FFF2-40B4-BE49-F238E27FC236}">
                <a16:creationId xmlns:a16="http://schemas.microsoft.com/office/drawing/2014/main" id="{51D89D56-AA2A-0402-FA9D-3838EF792E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9558" y="3043560"/>
            <a:ext cx="1583261" cy="1583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24" name="Picture 12" descr="Windsurf Plugin (formerly Codeium): AI Coding Autocomplete and Chat for  Python, JavaScript, TypeScript, and more - Visual Studio Marketplace">
            <a:extLst>
              <a:ext uri="{FF2B5EF4-FFF2-40B4-BE49-F238E27FC236}">
                <a16:creationId xmlns:a16="http://schemas.microsoft.com/office/drawing/2014/main" id="{B7E7F222-424A-603E-1111-D3584E20BF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8101" y="4888385"/>
            <a:ext cx="1083982" cy="108398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C08CEB5-9FDB-94A6-6EA7-F5C5C3703A7A}"/>
              </a:ext>
            </a:extLst>
          </p:cNvPr>
          <p:cNvSpPr/>
          <p:nvPr/>
        </p:nvSpPr>
        <p:spPr>
          <a:xfrm>
            <a:off x="8806540" y="1286466"/>
            <a:ext cx="3080660" cy="5290908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78BA772-EB4A-94F8-C1AE-E562885B98B4}"/>
              </a:ext>
            </a:extLst>
          </p:cNvPr>
          <p:cNvSpPr/>
          <p:nvPr/>
        </p:nvSpPr>
        <p:spPr>
          <a:xfrm>
            <a:off x="336040" y="1609608"/>
            <a:ext cx="5904170" cy="4967766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509637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E4BAA-91EE-9B26-0B48-0F4ECED42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87543-ADEE-AD66-4DA9-1A95A37FF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99706"/>
            <a:ext cx="10515600" cy="656148"/>
          </a:xfrm>
        </p:spPr>
        <p:txBody>
          <a:bodyPr>
            <a:noAutofit/>
          </a:bodyPr>
          <a:lstStyle/>
          <a:p>
            <a:r>
              <a:rPr lang="en-CA" sz="3600" b="1" dirty="0"/>
              <a:t>Integrated Development </a:t>
            </a:r>
            <a:br>
              <a:rPr lang="en-CA" sz="3600" b="1" dirty="0"/>
            </a:br>
            <a:r>
              <a:rPr lang="en-CA" sz="3600" b="1" dirty="0"/>
              <a:t>Environment</a:t>
            </a:r>
            <a:r>
              <a:rPr lang="en-CA" sz="36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D7DC0F-D7FE-E684-7DD1-D56E17A00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484395" cy="4835479"/>
          </a:xfrm>
        </p:spPr>
        <p:txBody>
          <a:bodyPr>
            <a:normAutofit fontScale="92500" lnSpcReduction="20000"/>
          </a:bodyPr>
          <a:lstStyle/>
          <a:p>
            <a:r>
              <a:rPr lang="en-US" sz="2000" b="1" dirty="0">
                <a:solidFill>
                  <a:srgbClr val="CC99FF"/>
                </a:solidFill>
              </a:rPr>
              <a:t>What it is</a:t>
            </a:r>
            <a:r>
              <a:rPr lang="en-US" sz="2000" b="1" dirty="0">
                <a:solidFill>
                  <a:srgbClr val="00FF00"/>
                </a:solidFill>
              </a:rPr>
              <a:t>:</a:t>
            </a:r>
            <a:r>
              <a:rPr lang="en-US" sz="2000" b="1" dirty="0">
                <a:solidFill>
                  <a:srgbClr val="CC99FF"/>
                </a:solidFill>
              </a:rPr>
              <a:t> </a:t>
            </a:r>
            <a:r>
              <a:rPr lang="en-US" sz="2000" dirty="0"/>
              <a:t>A full</a:t>
            </a:r>
            <a:r>
              <a:rPr lang="en-US" sz="2000" dirty="0">
                <a:solidFill>
                  <a:schemeClr val="accent6"/>
                </a:solidFill>
              </a:rPr>
              <a:t>-</a:t>
            </a:r>
            <a:r>
              <a:rPr lang="en-US" sz="2000" dirty="0"/>
              <a:t>featured environment for building software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editing code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running it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debugging it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and managing a project in one place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2000" b="1" dirty="0">
                <a:solidFill>
                  <a:srgbClr val="CC99FF"/>
                </a:solidFill>
              </a:rPr>
              <a:t>How it works</a:t>
            </a:r>
            <a:r>
              <a:rPr lang="en-US" sz="2000" b="1" dirty="0">
                <a:solidFill>
                  <a:srgbClr val="00FF00"/>
                </a:solidFill>
              </a:rPr>
              <a:t>:</a:t>
            </a:r>
            <a:r>
              <a:rPr lang="en-US" sz="2000" b="1" dirty="0">
                <a:solidFill>
                  <a:srgbClr val="CC99FF"/>
                </a:solidFill>
              </a:rPr>
              <a:t> </a:t>
            </a:r>
            <a:r>
              <a:rPr lang="en-US" sz="2000" dirty="0"/>
              <a:t>An IDE understands your project </a:t>
            </a:r>
            <a:r>
              <a:rPr lang="en-US" sz="2000" dirty="0">
                <a:solidFill>
                  <a:srgbClr val="00FF00"/>
                </a:solidFill>
              </a:rPr>
              <a:t>(</a:t>
            </a:r>
            <a:r>
              <a:rPr lang="en-US" sz="2000" dirty="0"/>
              <a:t>files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imports, dependencies</a:t>
            </a:r>
            <a:r>
              <a:rPr lang="en-US" sz="2000" dirty="0">
                <a:solidFill>
                  <a:srgbClr val="00FF00"/>
                </a:solidFill>
              </a:rPr>
              <a:t>)</a:t>
            </a:r>
            <a:r>
              <a:rPr lang="en-US" sz="2000" dirty="0"/>
              <a:t> and integrates key tools</a:t>
            </a:r>
            <a:r>
              <a:rPr lang="en-US" sz="2000" dirty="0">
                <a:solidFill>
                  <a:schemeClr val="accent6"/>
                </a:solidFill>
              </a:rPr>
              <a:t>:</a:t>
            </a:r>
            <a:r>
              <a:rPr lang="en-US" sz="2000" dirty="0"/>
              <a:t> a run configuration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debugger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terminal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and often Git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testing, and environment selection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2000" b="1" dirty="0">
                <a:solidFill>
                  <a:srgbClr val="CC99FF"/>
                </a:solidFill>
              </a:rPr>
              <a:t>What you get</a:t>
            </a:r>
            <a:r>
              <a:rPr lang="en-US" sz="2000" b="1" dirty="0">
                <a:solidFill>
                  <a:srgbClr val="00FF00"/>
                </a:solidFill>
              </a:rPr>
              <a:t>:</a:t>
            </a:r>
            <a:r>
              <a:rPr lang="en-US" sz="2000" b="1" dirty="0">
                <a:solidFill>
                  <a:srgbClr val="CC99FF"/>
                </a:solidFill>
              </a:rPr>
              <a:t> </a:t>
            </a:r>
            <a:r>
              <a:rPr lang="en-US" sz="2000" dirty="0"/>
              <a:t>Autocomplete and code navigation, refactoring, integrated debugging </a:t>
            </a:r>
            <a:r>
              <a:rPr lang="en-US" sz="2000" dirty="0">
                <a:solidFill>
                  <a:srgbClr val="00FF00"/>
                </a:solidFill>
              </a:rPr>
              <a:t>(</a:t>
            </a:r>
            <a:r>
              <a:rPr lang="en-US" sz="2000" dirty="0"/>
              <a:t>breakpoints</a:t>
            </a:r>
            <a:r>
              <a:rPr lang="en-US" sz="2000" dirty="0">
                <a:solidFill>
                  <a:schemeClr val="accent6"/>
                </a:solidFill>
              </a:rPr>
              <a:t>/</a:t>
            </a:r>
            <a:r>
              <a:rPr lang="en-US" sz="2000" dirty="0"/>
              <a:t>step</a:t>
            </a:r>
            <a:r>
              <a:rPr lang="en-US" sz="2000" dirty="0">
                <a:solidFill>
                  <a:schemeClr val="accent6"/>
                </a:solidFill>
              </a:rPr>
              <a:t>-</a:t>
            </a:r>
            <a:r>
              <a:rPr lang="en-US" sz="2000" dirty="0"/>
              <a:t>through</a:t>
            </a:r>
            <a:r>
              <a:rPr lang="en-US" sz="2000" dirty="0">
                <a:solidFill>
                  <a:srgbClr val="00FF00"/>
                </a:solidFill>
              </a:rPr>
              <a:t>)</a:t>
            </a:r>
            <a:r>
              <a:rPr lang="en-US" sz="2000" dirty="0"/>
              <a:t>, linting</a:t>
            </a:r>
            <a:r>
              <a:rPr lang="en-US" sz="2000" dirty="0">
                <a:solidFill>
                  <a:schemeClr val="accent6"/>
                </a:solidFill>
              </a:rPr>
              <a:t>/</a:t>
            </a:r>
            <a:r>
              <a:rPr lang="en-US" sz="2000" dirty="0"/>
              <a:t>formatting, and test runners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designed for scaling beyond a single file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2000" b="1" dirty="0">
                <a:solidFill>
                  <a:srgbClr val="CC99FF"/>
                </a:solidFill>
              </a:rPr>
              <a:t>Typical workflow</a:t>
            </a:r>
            <a:r>
              <a:rPr lang="en-US" sz="2000" b="1" dirty="0">
                <a:solidFill>
                  <a:srgbClr val="00FF00"/>
                </a:solidFill>
              </a:rPr>
              <a:t>:</a:t>
            </a:r>
            <a:r>
              <a:rPr lang="en-US" sz="2000" b="1" dirty="0">
                <a:solidFill>
                  <a:srgbClr val="CC99FF"/>
                </a:solidFill>
              </a:rPr>
              <a:t> </a:t>
            </a:r>
            <a:r>
              <a:rPr lang="en-US" sz="2000" dirty="0"/>
              <a:t>Open a project </a:t>
            </a:r>
            <a:r>
              <a:rPr lang="en-US" sz="2000" dirty="0">
                <a:solidFill>
                  <a:srgbClr val="00FF00"/>
                </a:solidFill>
              </a:rPr>
              <a:t>→</a:t>
            </a:r>
            <a:r>
              <a:rPr lang="en-US" sz="2000" dirty="0"/>
              <a:t> edit code </a:t>
            </a:r>
            <a:r>
              <a:rPr lang="en-US" sz="2000" dirty="0">
                <a:solidFill>
                  <a:srgbClr val="00FF00"/>
                </a:solidFill>
              </a:rPr>
              <a:t>→</a:t>
            </a:r>
            <a:r>
              <a:rPr lang="en-US" sz="2000" dirty="0"/>
              <a:t> run</a:t>
            </a:r>
            <a:r>
              <a:rPr lang="en-US" sz="2000" dirty="0">
                <a:solidFill>
                  <a:schemeClr val="accent6"/>
                </a:solidFill>
              </a:rPr>
              <a:t>/</a:t>
            </a:r>
            <a:r>
              <a:rPr lang="en-US" sz="2000" dirty="0"/>
              <a:t>debug </a:t>
            </a:r>
            <a:r>
              <a:rPr lang="en-US" sz="2000" dirty="0">
                <a:solidFill>
                  <a:srgbClr val="00FF00"/>
                </a:solidFill>
              </a:rPr>
              <a:t>→ </a:t>
            </a:r>
            <a:r>
              <a:rPr lang="en-US" sz="2000" dirty="0"/>
              <a:t>inspect variables and stack traces </a:t>
            </a:r>
            <a:r>
              <a:rPr lang="en-US" sz="2000" dirty="0">
                <a:solidFill>
                  <a:srgbClr val="00FF00"/>
                </a:solidFill>
              </a:rPr>
              <a:t>→</a:t>
            </a:r>
            <a:r>
              <a:rPr lang="en-US" sz="2000" dirty="0"/>
              <a:t> write tests </a:t>
            </a:r>
            <a:r>
              <a:rPr lang="en-US" sz="2000" dirty="0">
                <a:solidFill>
                  <a:srgbClr val="00FF00"/>
                </a:solidFill>
              </a:rPr>
              <a:t>→</a:t>
            </a:r>
            <a:r>
              <a:rPr lang="en-US" sz="2000" dirty="0"/>
              <a:t> commit changes to Git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2000" b="1" dirty="0">
                <a:solidFill>
                  <a:srgbClr val="CC99FF"/>
                </a:solidFill>
              </a:rPr>
              <a:t>Best for</a:t>
            </a:r>
            <a:r>
              <a:rPr lang="en-US" sz="2000" b="1" dirty="0">
                <a:solidFill>
                  <a:srgbClr val="00FF00"/>
                </a:solidFill>
              </a:rPr>
              <a:t>:</a:t>
            </a:r>
            <a:r>
              <a:rPr lang="en-US" sz="2000" b="1" dirty="0">
                <a:solidFill>
                  <a:srgbClr val="CC99FF"/>
                </a:solidFill>
              </a:rPr>
              <a:t> </a:t>
            </a:r>
            <a:r>
              <a:rPr lang="en-US" sz="2000" dirty="0"/>
              <a:t>Multi</a:t>
            </a:r>
            <a:r>
              <a:rPr lang="en-US" sz="2000" dirty="0">
                <a:solidFill>
                  <a:schemeClr val="accent6"/>
                </a:solidFill>
              </a:rPr>
              <a:t>-</a:t>
            </a:r>
            <a:r>
              <a:rPr lang="en-US" sz="2000" dirty="0"/>
              <a:t>file programs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assignments that grow over time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team projects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and any work where debugging and organization matter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DAECE1-2B53-6556-0E51-2E2476F069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562" y="505328"/>
            <a:ext cx="5562438" cy="622634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6143B3F-29AA-3280-227E-61A61CE6E37E}"/>
              </a:ext>
            </a:extLst>
          </p:cNvPr>
          <p:cNvSpPr/>
          <p:nvPr/>
        </p:nvSpPr>
        <p:spPr>
          <a:xfrm>
            <a:off x="6492841" y="303085"/>
            <a:ext cx="136303" cy="6495190"/>
          </a:xfrm>
          <a:prstGeom prst="rect">
            <a:avLst/>
          </a:prstGeom>
          <a:solidFill>
            <a:srgbClr val="1717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6499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753FE-6004-6B17-1B38-5074C63FA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26489-C43A-880A-240B-EF1173EB8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99706"/>
            <a:ext cx="10515600" cy="656148"/>
          </a:xfrm>
        </p:spPr>
        <p:txBody>
          <a:bodyPr>
            <a:noAutofit/>
          </a:bodyPr>
          <a:lstStyle/>
          <a:p>
            <a:r>
              <a:rPr lang="en-CA" sz="3600" b="1" dirty="0"/>
              <a:t>Integrated Development </a:t>
            </a:r>
            <a:br>
              <a:rPr lang="en-CA" sz="3600" b="1" dirty="0"/>
            </a:br>
            <a:r>
              <a:rPr lang="en-CA" sz="3600" b="1" dirty="0"/>
              <a:t>Environment</a:t>
            </a:r>
            <a:r>
              <a:rPr lang="en-CA" sz="36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238A5-BCBC-B449-A0A9-4654D6ED6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484395" cy="4835479"/>
          </a:xfrm>
        </p:spPr>
        <p:txBody>
          <a:bodyPr>
            <a:normAutofit fontScale="92500" lnSpcReduction="20000"/>
          </a:bodyPr>
          <a:lstStyle/>
          <a:p>
            <a:r>
              <a:rPr lang="en-US" sz="2000" b="1" dirty="0">
                <a:solidFill>
                  <a:srgbClr val="CC99FF"/>
                </a:solidFill>
              </a:rPr>
              <a:t>What it is</a:t>
            </a:r>
            <a:r>
              <a:rPr lang="en-US" sz="2000" b="1" dirty="0">
                <a:solidFill>
                  <a:srgbClr val="00FF00"/>
                </a:solidFill>
              </a:rPr>
              <a:t>:</a:t>
            </a:r>
            <a:r>
              <a:rPr lang="en-US" sz="2000" b="1" dirty="0">
                <a:solidFill>
                  <a:srgbClr val="CC99FF"/>
                </a:solidFill>
              </a:rPr>
              <a:t> </a:t>
            </a:r>
            <a:r>
              <a:rPr lang="en-US" sz="2000" dirty="0"/>
              <a:t>A full</a:t>
            </a:r>
            <a:r>
              <a:rPr lang="en-US" sz="2000" dirty="0">
                <a:solidFill>
                  <a:schemeClr val="accent6"/>
                </a:solidFill>
              </a:rPr>
              <a:t>-</a:t>
            </a:r>
            <a:r>
              <a:rPr lang="en-US" sz="2000" dirty="0"/>
              <a:t>featured environment for building software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editing code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running it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debugging it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and managing a project in one place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2000" b="1" dirty="0">
                <a:solidFill>
                  <a:srgbClr val="CC99FF"/>
                </a:solidFill>
              </a:rPr>
              <a:t>How it works</a:t>
            </a:r>
            <a:r>
              <a:rPr lang="en-US" sz="2000" b="1" dirty="0">
                <a:solidFill>
                  <a:srgbClr val="00FF00"/>
                </a:solidFill>
              </a:rPr>
              <a:t>:</a:t>
            </a:r>
            <a:r>
              <a:rPr lang="en-US" sz="2000" b="1" dirty="0">
                <a:solidFill>
                  <a:srgbClr val="CC99FF"/>
                </a:solidFill>
              </a:rPr>
              <a:t> </a:t>
            </a:r>
            <a:r>
              <a:rPr lang="en-US" sz="2000" dirty="0"/>
              <a:t>An IDE understands your project </a:t>
            </a:r>
            <a:r>
              <a:rPr lang="en-US" sz="2000" dirty="0">
                <a:solidFill>
                  <a:srgbClr val="00FF00"/>
                </a:solidFill>
              </a:rPr>
              <a:t>(</a:t>
            </a:r>
            <a:r>
              <a:rPr lang="en-US" sz="2000" dirty="0"/>
              <a:t>files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imports, dependencies</a:t>
            </a:r>
            <a:r>
              <a:rPr lang="en-US" sz="2000" dirty="0">
                <a:solidFill>
                  <a:srgbClr val="00FF00"/>
                </a:solidFill>
              </a:rPr>
              <a:t>)</a:t>
            </a:r>
            <a:r>
              <a:rPr lang="en-US" sz="2000" dirty="0"/>
              <a:t> and integrates key tools</a:t>
            </a:r>
            <a:r>
              <a:rPr lang="en-US" sz="2000" dirty="0">
                <a:solidFill>
                  <a:schemeClr val="accent6"/>
                </a:solidFill>
              </a:rPr>
              <a:t>:</a:t>
            </a:r>
            <a:r>
              <a:rPr lang="en-US" sz="2000" dirty="0"/>
              <a:t> a run configuration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debugger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terminal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and often Git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testing, and environment selection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2000" b="1" dirty="0">
                <a:solidFill>
                  <a:srgbClr val="CC99FF"/>
                </a:solidFill>
              </a:rPr>
              <a:t>What you get</a:t>
            </a:r>
            <a:r>
              <a:rPr lang="en-US" sz="2000" b="1" dirty="0">
                <a:solidFill>
                  <a:srgbClr val="00FF00"/>
                </a:solidFill>
              </a:rPr>
              <a:t>:</a:t>
            </a:r>
            <a:r>
              <a:rPr lang="en-US" sz="2000" b="1" dirty="0">
                <a:solidFill>
                  <a:srgbClr val="CC99FF"/>
                </a:solidFill>
              </a:rPr>
              <a:t> </a:t>
            </a:r>
            <a:r>
              <a:rPr lang="en-US" sz="2000" dirty="0"/>
              <a:t>Autocomplete and code navigation, refactoring, integrated debugging </a:t>
            </a:r>
            <a:r>
              <a:rPr lang="en-US" sz="2000" dirty="0">
                <a:solidFill>
                  <a:srgbClr val="00FF00"/>
                </a:solidFill>
              </a:rPr>
              <a:t>(</a:t>
            </a:r>
            <a:r>
              <a:rPr lang="en-US" sz="2000" dirty="0"/>
              <a:t>breakpoints</a:t>
            </a:r>
            <a:r>
              <a:rPr lang="en-US" sz="2000" dirty="0">
                <a:solidFill>
                  <a:schemeClr val="accent6"/>
                </a:solidFill>
              </a:rPr>
              <a:t>/</a:t>
            </a:r>
            <a:r>
              <a:rPr lang="en-US" sz="2000" dirty="0"/>
              <a:t>step</a:t>
            </a:r>
            <a:r>
              <a:rPr lang="en-US" sz="2000" dirty="0">
                <a:solidFill>
                  <a:schemeClr val="accent6"/>
                </a:solidFill>
              </a:rPr>
              <a:t>-</a:t>
            </a:r>
            <a:r>
              <a:rPr lang="en-US" sz="2000" dirty="0"/>
              <a:t>through</a:t>
            </a:r>
            <a:r>
              <a:rPr lang="en-US" sz="2000" dirty="0">
                <a:solidFill>
                  <a:srgbClr val="00FF00"/>
                </a:solidFill>
              </a:rPr>
              <a:t>)</a:t>
            </a:r>
            <a:r>
              <a:rPr lang="en-US" sz="2000" dirty="0"/>
              <a:t>, linting</a:t>
            </a:r>
            <a:r>
              <a:rPr lang="en-US" sz="2000" dirty="0">
                <a:solidFill>
                  <a:schemeClr val="accent6"/>
                </a:solidFill>
              </a:rPr>
              <a:t>/</a:t>
            </a:r>
            <a:r>
              <a:rPr lang="en-US" sz="2000" dirty="0"/>
              <a:t>formatting, and test runners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designed for scaling beyond a single file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2000" b="1" dirty="0">
                <a:solidFill>
                  <a:srgbClr val="CC99FF"/>
                </a:solidFill>
              </a:rPr>
              <a:t>Typical workflow</a:t>
            </a:r>
            <a:r>
              <a:rPr lang="en-US" sz="2000" b="1" dirty="0">
                <a:solidFill>
                  <a:srgbClr val="00FF00"/>
                </a:solidFill>
              </a:rPr>
              <a:t>:</a:t>
            </a:r>
            <a:r>
              <a:rPr lang="en-US" sz="2000" b="1" dirty="0">
                <a:solidFill>
                  <a:srgbClr val="CC99FF"/>
                </a:solidFill>
              </a:rPr>
              <a:t> </a:t>
            </a:r>
            <a:r>
              <a:rPr lang="en-US" sz="2000" dirty="0"/>
              <a:t>Open a project </a:t>
            </a:r>
            <a:r>
              <a:rPr lang="en-US" sz="2000" dirty="0">
                <a:solidFill>
                  <a:srgbClr val="00FF00"/>
                </a:solidFill>
              </a:rPr>
              <a:t>→</a:t>
            </a:r>
            <a:r>
              <a:rPr lang="en-US" sz="2000" dirty="0"/>
              <a:t> edit code </a:t>
            </a:r>
            <a:r>
              <a:rPr lang="en-US" sz="2000" dirty="0">
                <a:solidFill>
                  <a:srgbClr val="00FF00"/>
                </a:solidFill>
              </a:rPr>
              <a:t>→</a:t>
            </a:r>
            <a:r>
              <a:rPr lang="en-US" sz="2000" dirty="0"/>
              <a:t> run</a:t>
            </a:r>
            <a:r>
              <a:rPr lang="en-US" sz="2000" dirty="0">
                <a:solidFill>
                  <a:schemeClr val="accent6"/>
                </a:solidFill>
              </a:rPr>
              <a:t>/</a:t>
            </a:r>
            <a:r>
              <a:rPr lang="en-US" sz="2000" dirty="0"/>
              <a:t>debug </a:t>
            </a:r>
            <a:r>
              <a:rPr lang="en-US" sz="2000" dirty="0">
                <a:solidFill>
                  <a:srgbClr val="00FF00"/>
                </a:solidFill>
              </a:rPr>
              <a:t>→ </a:t>
            </a:r>
            <a:r>
              <a:rPr lang="en-US" sz="2000" dirty="0"/>
              <a:t>inspect variables and stack traces </a:t>
            </a:r>
            <a:r>
              <a:rPr lang="en-US" sz="2000" dirty="0">
                <a:solidFill>
                  <a:srgbClr val="00FF00"/>
                </a:solidFill>
              </a:rPr>
              <a:t>→</a:t>
            </a:r>
            <a:r>
              <a:rPr lang="en-US" sz="2000" dirty="0"/>
              <a:t> write tests </a:t>
            </a:r>
            <a:r>
              <a:rPr lang="en-US" sz="2000" dirty="0">
                <a:solidFill>
                  <a:srgbClr val="00FF00"/>
                </a:solidFill>
              </a:rPr>
              <a:t>→</a:t>
            </a:r>
            <a:r>
              <a:rPr lang="en-US" sz="2000" dirty="0"/>
              <a:t> commit changes to Git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2000" b="1" dirty="0">
                <a:solidFill>
                  <a:srgbClr val="CC99FF"/>
                </a:solidFill>
              </a:rPr>
              <a:t>Best for</a:t>
            </a:r>
            <a:r>
              <a:rPr lang="en-US" sz="2000" b="1" dirty="0">
                <a:solidFill>
                  <a:srgbClr val="00FF00"/>
                </a:solidFill>
              </a:rPr>
              <a:t>:</a:t>
            </a:r>
            <a:r>
              <a:rPr lang="en-US" sz="2000" b="1" dirty="0">
                <a:solidFill>
                  <a:srgbClr val="CC99FF"/>
                </a:solidFill>
              </a:rPr>
              <a:t> </a:t>
            </a:r>
            <a:r>
              <a:rPr lang="en-US" sz="2000" dirty="0"/>
              <a:t>Multi</a:t>
            </a:r>
            <a:r>
              <a:rPr lang="en-US" sz="2000" dirty="0">
                <a:solidFill>
                  <a:schemeClr val="accent6"/>
                </a:solidFill>
              </a:rPr>
              <a:t>-</a:t>
            </a:r>
            <a:r>
              <a:rPr lang="en-US" sz="2000" dirty="0"/>
              <a:t>file programs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assignments that grow over time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team projects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and any work where debugging and organization matter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70AF0F2-5DFF-5DBF-A2B8-5F30654765D7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Let</a:t>
            </a:r>
            <a:r>
              <a:rPr lang="en-US" sz="4400" b="1" dirty="0">
                <a:solidFill>
                  <a:srgbClr val="00FF00"/>
                </a:solidFill>
              </a:rPr>
              <a:t>’</a:t>
            </a:r>
            <a:r>
              <a:rPr lang="en-US" sz="4400" b="1" dirty="0">
                <a:solidFill>
                  <a:srgbClr val="FFFFFF"/>
                </a:solidFill>
              </a:rPr>
              <a:t>s Code</a:t>
            </a:r>
            <a:r>
              <a:rPr lang="en-US" sz="4400" b="1" dirty="0">
                <a:solidFill>
                  <a:srgbClr val="00FF00"/>
                </a:solidFill>
              </a:rPr>
              <a:t>!</a:t>
            </a:r>
            <a:endParaRPr lang="en-US" sz="4400" b="1" dirty="0">
              <a:solidFill>
                <a:srgbClr val="FFFFFF"/>
              </a:solidFill>
            </a:endParaRPr>
          </a:p>
          <a:p>
            <a:endParaRPr lang="en-US" sz="28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Open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pPr marL="514350" indent="-514350">
              <a:buAutoNum type="arabicPeriod"/>
            </a:pPr>
            <a:r>
              <a:rPr lang="en-US" sz="2400" b="1" dirty="0" err="1">
                <a:solidFill>
                  <a:schemeClr val="accent6"/>
                </a:solidFill>
              </a:rPr>
              <a:t>VSCode</a:t>
            </a:r>
            <a:endParaRPr lang="en-US" sz="2400" b="1" dirty="0">
              <a:solidFill>
                <a:schemeClr val="accent6"/>
              </a:solidFill>
            </a:endParaRPr>
          </a:p>
          <a:p>
            <a:endParaRPr lang="en-US" sz="28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Run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  <a:endParaRPr lang="en-US" sz="2400" b="1" dirty="0">
              <a:solidFill>
                <a:schemeClr val="accent6"/>
              </a:solidFill>
            </a:endParaRPr>
          </a:p>
          <a:p>
            <a:pPr marL="514350" indent="-514350">
              <a:buClr>
                <a:schemeClr val="accent6"/>
              </a:buClr>
              <a:buFontTx/>
              <a:buAutoNum type="arabicPeriod"/>
            </a:pPr>
            <a:r>
              <a:rPr lang="en-US" sz="2400" b="1" dirty="0">
                <a:solidFill>
                  <a:srgbClr val="00FF00"/>
                </a:solidFill>
              </a:rPr>
              <a:t>week1_lecture2.py</a:t>
            </a:r>
          </a:p>
          <a:p>
            <a:pPr marL="514350" indent="-514350">
              <a:buClr>
                <a:schemeClr val="accent6"/>
              </a:buClr>
              <a:buFontTx/>
              <a:buAutoNum type="arabicPeriod"/>
            </a:pPr>
            <a:r>
              <a:rPr lang="en-US" sz="1600" b="1" dirty="0">
                <a:solidFill>
                  <a:srgbClr val="00FF00"/>
                </a:solidFill>
              </a:rPr>
              <a:t>week1_lecture2_starter.ipynb</a:t>
            </a:r>
          </a:p>
        </p:txBody>
      </p:sp>
    </p:spTree>
    <p:extLst>
      <p:ext uri="{BB962C8B-B14F-4D97-AF65-F5344CB8AC3E}">
        <p14:creationId xmlns:p14="http://schemas.microsoft.com/office/powerpoint/2010/main" val="18499376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696E7-0B90-9FCD-6F59-3BF94AC70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D8E2E-1736-2483-370D-132B057ED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Editors </a:t>
            </a:r>
            <a:r>
              <a:rPr lang="en-CA" b="1" dirty="0">
                <a:solidFill>
                  <a:srgbClr val="00FF00"/>
                </a:solidFill>
              </a:rPr>
              <a:t>&amp;</a:t>
            </a:r>
            <a:r>
              <a:rPr lang="en-CA" b="1" dirty="0"/>
              <a:t> IDEs</a:t>
            </a:r>
            <a:r>
              <a:rPr lang="en-CA" b="1" dirty="0">
                <a:solidFill>
                  <a:srgbClr val="00FF00"/>
                </a:solidFill>
              </a:rPr>
              <a:t>.</a:t>
            </a:r>
            <a:endParaRPr lang="en-CA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EBF97F2-B1E4-6DC3-A8B3-0BCDBA449113}"/>
              </a:ext>
            </a:extLst>
          </p:cNvPr>
          <p:cNvSpPr/>
          <p:nvPr/>
        </p:nvSpPr>
        <p:spPr>
          <a:xfrm>
            <a:off x="611177" y="2826154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5DCED78-7813-9F44-7A15-74BEA3BB6EA4}"/>
              </a:ext>
            </a:extLst>
          </p:cNvPr>
          <p:cNvSpPr/>
          <p:nvPr/>
        </p:nvSpPr>
        <p:spPr>
          <a:xfrm>
            <a:off x="3431102" y="2826153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7958315-9781-6D09-D4C1-C89A76E4637F}"/>
              </a:ext>
            </a:extLst>
          </p:cNvPr>
          <p:cNvSpPr/>
          <p:nvPr/>
        </p:nvSpPr>
        <p:spPr>
          <a:xfrm>
            <a:off x="6251027" y="2826152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E85F8F4-9AFD-21D8-F580-1EFABC6B4F8C}"/>
              </a:ext>
            </a:extLst>
          </p:cNvPr>
          <p:cNvSpPr/>
          <p:nvPr/>
        </p:nvSpPr>
        <p:spPr>
          <a:xfrm>
            <a:off x="9070952" y="2826151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09E4C9-8A56-FE71-8BE8-124A2A04D5F4}"/>
              </a:ext>
            </a:extLst>
          </p:cNvPr>
          <p:cNvSpPr/>
          <p:nvPr/>
        </p:nvSpPr>
        <p:spPr>
          <a:xfrm>
            <a:off x="3140967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14C6BD3-20EB-5E7B-31A6-897C2531D1D4}"/>
              </a:ext>
            </a:extLst>
          </p:cNvPr>
          <p:cNvSpPr/>
          <p:nvPr/>
        </p:nvSpPr>
        <p:spPr>
          <a:xfrm>
            <a:off x="5960391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E3CA1A11-FF77-6AF3-E41F-728149772C28}"/>
              </a:ext>
            </a:extLst>
          </p:cNvPr>
          <p:cNvSpPr/>
          <p:nvPr/>
        </p:nvSpPr>
        <p:spPr>
          <a:xfrm>
            <a:off x="8781316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695E95-4BEF-3C16-6A78-D986ED1E14A0}"/>
              </a:ext>
            </a:extLst>
          </p:cNvPr>
          <p:cNvSpPr txBox="1"/>
          <p:nvPr/>
        </p:nvSpPr>
        <p:spPr>
          <a:xfrm>
            <a:off x="503573" y="2350193"/>
            <a:ext cx="1970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Text Editors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466173-BDDC-55B5-795F-747069AC1D81}"/>
              </a:ext>
            </a:extLst>
          </p:cNvPr>
          <p:cNvSpPr txBox="1"/>
          <p:nvPr/>
        </p:nvSpPr>
        <p:spPr>
          <a:xfrm>
            <a:off x="3303370" y="1609608"/>
            <a:ext cx="31525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Interactive Computing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Environment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2D1A3C-5C09-AD15-2A1A-53CDC192B7C7}"/>
              </a:ext>
            </a:extLst>
          </p:cNvPr>
          <p:cNvSpPr txBox="1"/>
          <p:nvPr/>
        </p:nvSpPr>
        <p:spPr>
          <a:xfrm>
            <a:off x="6121750" y="1233994"/>
            <a:ext cx="213090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Integrated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Development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Environment</a:t>
            </a:r>
          </a:p>
          <a:p>
            <a:r>
              <a:rPr lang="en-CA" sz="2400" b="1" dirty="0">
                <a:solidFill>
                  <a:srgbClr val="CC99FF"/>
                </a:solidFill>
              </a:rPr>
              <a:t>(</a:t>
            </a:r>
            <a:r>
              <a:rPr lang="en-CA" sz="2400" b="1" dirty="0">
                <a:solidFill>
                  <a:srgbClr val="FFFFFF"/>
                </a:solidFill>
              </a:rPr>
              <a:t>IDE</a:t>
            </a:r>
            <a:r>
              <a:rPr lang="en-CA" sz="2400" b="1" dirty="0">
                <a:solidFill>
                  <a:srgbClr val="CC99FF"/>
                </a:solidFill>
              </a:rPr>
              <a:t>)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C59090-41A7-D4FF-7DEB-93620EEA31BE}"/>
              </a:ext>
            </a:extLst>
          </p:cNvPr>
          <p:cNvSpPr txBox="1"/>
          <p:nvPr/>
        </p:nvSpPr>
        <p:spPr>
          <a:xfrm>
            <a:off x="8940585" y="1981938"/>
            <a:ext cx="12508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AI</a:t>
            </a:r>
            <a:r>
              <a:rPr lang="en-CA" sz="2400" b="1" dirty="0">
                <a:solidFill>
                  <a:srgbClr val="CC99FF"/>
                </a:solidFill>
              </a:rPr>
              <a:t>-</a:t>
            </a:r>
            <a:r>
              <a:rPr lang="en-CA" sz="2400" b="1" dirty="0">
                <a:solidFill>
                  <a:srgbClr val="FFFFFF"/>
                </a:solidFill>
              </a:rPr>
              <a:t>First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IDE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B57B3037-7CB0-F83E-202B-F26C377B16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115" y="3094008"/>
            <a:ext cx="1160342" cy="1160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6" descr="Sublimetext Icon icon - Free Download PNG &amp; SVG | Streamline">
            <a:extLst>
              <a:ext uri="{FF2B5EF4-FFF2-40B4-BE49-F238E27FC236}">
                <a16:creationId xmlns:a16="http://schemas.microsoft.com/office/drawing/2014/main" id="{832DA24A-5ED7-13EC-B7AC-64E372C41F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8208" y="3942032"/>
            <a:ext cx="1160343" cy="1160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6" name="Picture 8" descr="Emacs Logo Sticker Pack | FSF Shop">
            <a:extLst>
              <a:ext uri="{FF2B5EF4-FFF2-40B4-BE49-F238E27FC236}">
                <a16:creationId xmlns:a16="http://schemas.microsoft.com/office/drawing/2014/main" id="{B0829339-5C1B-F0BF-86BC-FC03A41F2C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606" y="4988555"/>
            <a:ext cx="1368972" cy="1368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0" descr="Jupyter Notebooks. Amazing Tools For Data Science">
            <a:extLst>
              <a:ext uri="{FF2B5EF4-FFF2-40B4-BE49-F238E27FC236}">
                <a16:creationId xmlns:a16="http://schemas.microsoft.com/office/drawing/2014/main" id="{D6EBEBB5-EC20-11CB-CE1E-A34FCDC90B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0701" y="3020270"/>
            <a:ext cx="1162345" cy="1348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6" descr="macOS app icon doesn't follow human interface guidelines · Issue #613 ·  jupyterlab/jupyterlab-desktop">
            <a:extLst>
              <a:ext uri="{FF2B5EF4-FFF2-40B4-BE49-F238E27FC236}">
                <a16:creationId xmlns:a16="http://schemas.microsoft.com/office/drawing/2014/main" id="{6A6739DD-AAE8-9987-84ED-33C7EC2AE3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2746" y="4061404"/>
            <a:ext cx="1368972" cy="1368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0">
            <a:extLst>
              <a:ext uri="{FF2B5EF4-FFF2-40B4-BE49-F238E27FC236}">
                <a16:creationId xmlns:a16="http://schemas.microsoft.com/office/drawing/2014/main" id="{561DED13-63D2-18DA-CD45-3B6FB4573E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0982" y="5504002"/>
            <a:ext cx="1927638" cy="67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6" descr="PyCharm Logo Update – IDEs Support (IntelliJ Platform) | JetBrains">
            <a:extLst>
              <a:ext uri="{FF2B5EF4-FFF2-40B4-BE49-F238E27FC236}">
                <a16:creationId xmlns:a16="http://schemas.microsoft.com/office/drawing/2014/main" id="{76441114-7235-8366-19F0-C6FFF4138F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9523" y="3020270"/>
            <a:ext cx="1404473" cy="1404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6">
            <a:extLst>
              <a:ext uri="{FF2B5EF4-FFF2-40B4-BE49-F238E27FC236}">
                <a16:creationId xmlns:a16="http://schemas.microsoft.com/office/drawing/2014/main" id="{E74FD13A-8D8D-0DFC-4627-96FB9BF4EF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5806" y="4283214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8">
            <a:extLst>
              <a:ext uri="{FF2B5EF4-FFF2-40B4-BE49-F238E27FC236}">
                <a16:creationId xmlns:a16="http://schemas.microsoft.com/office/drawing/2014/main" id="{2DBB18B0-7482-DC98-1DD2-C8503291DC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6656" y="5044165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4" name="Picture 2" descr="Cursor AI Logo Icon for Modern Designs">
            <a:extLst>
              <a:ext uri="{FF2B5EF4-FFF2-40B4-BE49-F238E27FC236}">
                <a16:creationId xmlns:a16="http://schemas.microsoft.com/office/drawing/2014/main" id="{59E5DED4-94BC-26B3-37B8-ABF9D365F0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9558" y="3043560"/>
            <a:ext cx="1583261" cy="1583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24" name="Picture 12" descr="Windsurf Plugin (formerly Codeium): AI Coding Autocomplete and Chat for  Python, JavaScript, TypeScript, and more - Visual Studio Marketplace">
            <a:extLst>
              <a:ext uri="{FF2B5EF4-FFF2-40B4-BE49-F238E27FC236}">
                <a16:creationId xmlns:a16="http://schemas.microsoft.com/office/drawing/2014/main" id="{3EDE1D9F-FF9A-1056-AA6A-A77A969D67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8101" y="4888385"/>
            <a:ext cx="1083982" cy="108398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C12E5553-0955-9651-1537-78BE48D5F67A}"/>
              </a:ext>
            </a:extLst>
          </p:cNvPr>
          <p:cNvSpPr/>
          <p:nvPr/>
        </p:nvSpPr>
        <p:spPr>
          <a:xfrm>
            <a:off x="330024" y="1349528"/>
            <a:ext cx="8735122" cy="5246764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058498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4D589-4D78-2652-D85A-EFFD74592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38315-3643-F8DD-9EB7-E073ABE4D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Editors </a:t>
            </a:r>
            <a:r>
              <a:rPr lang="en-CA" b="1" dirty="0">
                <a:solidFill>
                  <a:srgbClr val="00FF00"/>
                </a:solidFill>
              </a:rPr>
              <a:t>&amp;</a:t>
            </a:r>
            <a:r>
              <a:rPr lang="en-CA" b="1" dirty="0"/>
              <a:t> IDEs</a:t>
            </a:r>
            <a:r>
              <a:rPr lang="en-CA" b="1" dirty="0">
                <a:solidFill>
                  <a:srgbClr val="00FF00"/>
                </a:solidFill>
              </a:rPr>
              <a:t>.</a:t>
            </a:r>
            <a:endParaRPr lang="en-CA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B2EDC12-7408-F149-09A4-256A21D76829}"/>
              </a:ext>
            </a:extLst>
          </p:cNvPr>
          <p:cNvSpPr/>
          <p:nvPr/>
        </p:nvSpPr>
        <p:spPr>
          <a:xfrm>
            <a:off x="1300023" y="2826152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D65E99A-2E86-8930-141A-B3123474CF63}"/>
              </a:ext>
            </a:extLst>
          </p:cNvPr>
          <p:cNvSpPr/>
          <p:nvPr/>
        </p:nvSpPr>
        <p:spPr>
          <a:xfrm>
            <a:off x="7001514" y="2826151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2F31CA-5585-9985-239A-7E791D14F4B4}"/>
              </a:ext>
            </a:extLst>
          </p:cNvPr>
          <p:cNvSpPr txBox="1"/>
          <p:nvPr/>
        </p:nvSpPr>
        <p:spPr>
          <a:xfrm>
            <a:off x="1176762" y="1492674"/>
            <a:ext cx="180761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000" b="1" dirty="0">
                <a:solidFill>
                  <a:srgbClr val="FFFFFF"/>
                </a:solidFill>
              </a:rPr>
              <a:t>Integrated</a:t>
            </a:r>
          </a:p>
          <a:p>
            <a:r>
              <a:rPr lang="en-CA" sz="2000" b="1" dirty="0">
                <a:solidFill>
                  <a:srgbClr val="FFFFFF"/>
                </a:solidFill>
              </a:rPr>
              <a:t>Development</a:t>
            </a:r>
          </a:p>
          <a:p>
            <a:r>
              <a:rPr lang="en-CA" sz="2000" b="1" dirty="0">
                <a:solidFill>
                  <a:srgbClr val="FFFFFF"/>
                </a:solidFill>
              </a:rPr>
              <a:t>Environment</a:t>
            </a:r>
          </a:p>
          <a:p>
            <a:r>
              <a:rPr lang="en-CA" sz="2000" b="1" dirty="0">
                <a:solidFill>
                  <a:srgbClr val="CC99FF"/>
                </a:solidFill>
              </a:rPr>
              <a:t>(</a:t>
            </a:r>
            <a:r>
              <a:rPr lang="en-CA" sz="2000" b="1" dirty="0">
                <a:solidFill>
                  <a:srgbClr val="FFFFFF"/>
                </a:solidFill>
              </a:rPr>
              <a:t>IDE</a:t>
            </a:r>
            <a:r>
              <a:rPr lang="en-CA" sz="2000" b="1" dirty="0">
                <a:solidFill>
                  <a:srgbClr val="CC99FF"/>
                </a:solidFill>
              </a:rPr>
              <a:t>)</a:t>
            </a:r>
            <a:r>
              <a:rPr lang="en-CA" sz="20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670D64-7B98-B57C-AE55-6CBEC7382176}"/>
              </a:ext>
            </a:extLst>
          </p:cNvPr>
          <p:cNvSpPr txBox="1"/>
          <p:nvPr/>
        </p:nvSpPr>
        <p:spPr>
          <a:xfrm>
            <a:off x="6871147" y="1981938"/>
            <a:ext cx="12508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AI</a:t>
            </a:r>
            <a:r>
              <a:rPr lang="en-CA" sz="2400" b="1" dirty="0">
                <a:solidFill>
                  <a:srgbClr val="CC99FF"/>
                </a:solidFill>
              </a:rPr>
              <a:t>-</a:t>
            </a:r>
            <a:r>
              <a:rPr lang="en-CA" sz="2400" b="1" dirty="0">
                <a:solidFill>
                  <a:srgbClr val="FFFFFF"/>
                </a:solidFill>
              </a:rPr>
              <a:t>First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IDE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18" name="Picture 26" descr="PyCharm Logo Update – IDEs Support (IntelliJ Platform) | JetBrains">
            <a:extLst>
              <a:ext uri="{FF2B5EF4-FFF2-40B4-BE49-F238E27FC236}">
                <a16:creationId xmlns:a16="http://schemas.microsoft.com/office/drawing/2014/main" id="{7B05D03B-DCBC-5385-7EC5-697964C118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8519" y="3020270"/>
            <a:ext cx="1404473" cy="1404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6">
            <a:extLst>
              <a:ext uri="{FF2B5EF4-FFF2-40B4-BE49-F238E27FC236}">
                <a16:creationId xmlns:a16="http://schemas.microsoft.com/office/drawing/2014/main" id="{92AF746E-C81B-C620-6EB4-63A1F339C1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4802" y="4283214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4" name="Picture 2" descr="Cursor AI Logo Icon for Modern Designs">
            <a:extLst>
              <a:ext uri="{FF2B5EF4-FFF2-40B4-BE49-F238E27FC236}">
                <a16:creationId xmlns:a16="http://schemas.microsoft.com/office/drawing/2014/main" id="{BE6F797F-A531-ABB7-EFFD-EA31690002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0120" y="3043560"/>
            <a:ext cx="1583261" cy="1583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24" name="Picture 12" descr="Windsurf Plugin (formerly Codeium): AI Coding Autocomplete and Chat for  Python, JavaScript, TypeScript, and more - Visual Studio Marketplace">
            <a:extLst>
              <a:ext uri="{FF2B5EF4-FFF2-40B4-BE49-F238E27FC236}">
                <a16:creationId xmlns:a16="http://schemas.microsoft.com/office/drawing/2014/main" id="{E97044E1-2D11-DBDA-BD87-4478345669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8663" y="4888385"/>
            <a:ext cx="1083982" cy="108398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2351417-52BD-ED15-4E8E-ADE2CCBF5E47}"/>
              </a:ext>
            </a:extLst>
          </p:cNvPr>
          <p:cNvSpPr txBox="1"/>
          <p:nvPr/>
        </p:nvSpPr>
        <p:spPr>
          <a:xfrm>
            <a:off x="3864004" y="2700399"/>
            <a:ext cx="226608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>
                <a:solidFill>
                  <a:srgbClr val="FFFFFF"/>
                </a:solidFill>
              </a:rPr>
              <a:t>These IDEs can become AI</a:t>
            </a:r>
            <a:r>
              <a:rPr lang="en-CA" sz="2400" dirty="0">
                <a:solidFill>
                  <a:schemeClr val="accent6"/>
                </a:solidFill>
              </a:rPr>
              <a:t>-</a:t>
            </a:r>
            <a:r>
              <a:rPr lang="en-CA" sz="2400" dirty="0">
                <a:solidFill>
                  <a:srgbClr val="FFFFFF"/>
                </a:solidFill>
              </a:rPr>
              <a:t>enabled with extensions </a:t>
            </a:r>
            <a:r>
              <a:rPr lang="en-CA" sz="2400" dirty="0">
                <a:solidFill>
                  <a:schemeClr val="accent6"/>
                </a:solidFill>
              </a:rPr>
              <a:t>&amp;</a:t>
            </a:r>
            <a:r>
              <a:rPr lang="en-CA" sz="2400" dirty="0">
                <a:solidFill>
                  <a:srgbClr val="FFFFFF"/>
                </a:solidFill>
              </a:rPr>
              <a:t> CLI tools</a:t>
            </a:r>
            <a:r>
              <a:rPr lang="en-CA" sz="2400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1A981B-429E-6EEB-4F45-879D2AC3469E}"/>
              </a:ext>
            </a:extLst>
          </p:cNvPr>
          <p:cNvSpPr txBox="1"/>
          <p:nvPr/>
        </p:nvSpPr>
        <p:spPr>
          <a:xfrm>
            <a:off x="9562155" y="2700399"/>
            <a:ext cx="226608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>
                <a:solidFill>
                  <a:srgbClr val="FFFFFF"/>
                </a:solidFill>
              </a:rPr>
              <a:t>These IDEs have a UX that was built from the ground up for AI coding</a:t>
            </a:r>
            <a:r>
              <a:rPr lang="en-CA" sz="2400" dirty="0">
                <a:solidFill>
                  <a:schemeClr val="accent6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164998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92143-5BEE-E69B-A041-E24421BBD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1629EE6-B45C-593A-54F2-1539FDE2ED96}"/>
              </a:ext>
            </a:extLst>
          </p:cNvPr>
          <p:cNvSpPr/>
          <p:nvPr/>
        </p:nvSpPr>
        <p:spPr>
          <a:xfrm>
            <a:off x="6984857" y="481263"/>
            <a:ext cx="5207143" cy="6253099"/>
          </a:xfrm>
          <a:prstGeom prst="rect">
            <a:avLst/>
          </a:prstGeom>
          <a:solidFill>
            <a:srgbClr val="1717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AE4ACC-56AA-C497-584F-2000D43DB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AI</a:t>
            </a:r>
            <a:r>
              <a:rPr lang="en-CA" b="1" dirty="0">
                <a:solidFill>
                  <a:schemeClr val="accent6"/>
                </a:solidFill>
              </a:rPr>
              <a:t>-</a:t>
            </a:r>
            <a:r>
              <a:rPr lang="en-CA" b="1" dirty="0"/>
              <a:t>First IDE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EFD17-E7C1-9001-9031-F809E87EEB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061974" cy="4835479"/>
          </a:xfrm>
        </p:spPr>
        <p:txBody>
          <a:bodyPr>
            <a:normAutofit lnSpcReduction="10000"/>
          </a:bodyPr>
          <a:lstStyle/>
          <a:p>
            <a:r>
              <a:rPr lang="en-US" sz="1600" b="1" dirty="0">
                <a:solidFill>
                  <a:srgbClr val="CC99FF"/>
                </a:solidFill>
              </a:rPr>
              <a:t>What it is</a:t>
            </a:r>
            <a:r>
              <a:rPr lang="en-US" sz="1600" b="1" dirty="0">
                <a:solidFill>
                  <a:srgbClr val="00FF00"/>
                </a:solidFill>
              </a:rPr>
              <a:t>:</a:t>
            </a:r>
            <a:r>
              <a:rPr lang="en-US" sz="1600" b="1" dirty="0">
                <a:solidFill>
                  <a:srgbClr val="CC99FF"/>
                </a:solidFill>
              </a:rPr>
              <a:t> </a:t>
            </a:r>
            <a:r>
              <a:rPr lang="en-US" sz="1600" dirty="0"/>
              <a:t>An IDE designed around an integrated AI </a:t>
            </a:r>
            <a:r>
              <a:rPr lang="en-US" sz="1600" dirty="0">
                <a:solidFill>
                  <a:srgbClr val="00FF00"/>
                </a:solidFill>
              </a:rPr>
              <a:t>“</a:t>
            </a:r>
            <a:r>
              <a:rPr lang="en-US" sz="1600" dirty="0"/>
              <a:t>pair programmer</a:t>
            </a:r>
            <a:r>
              <a:rPr lang="en-US" sz="1600" dirty="0">
                <a:solidFill>
                  <a:srgbClr val="00FF00"/>
                </a:solidFill>
              </a:rPr>
              <a:t>”</a:t>
            </a:r>
            <a:r>
              <a:rPr lang="en-US" sz="1600" dirty="0"/>
              <a:t> that can understand your codebase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suggest changes, and often make multi-file edits on your behalf</a:t>
            </a:r>
            <a:r>
              <a:rPr lang="en-US" sz="16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1600" b="1" dirty="0">
                <a:solidFill>
                  <a:srgbClr val="CC99FF"/>
                </a:solidFill>
              </a:rPr>
              <a:t>How it works</a:t>
            </a:r>
            <a:r>
              <a:rPr lang="en-US" sz="1600" b="1" dirty="0">
                <a:solidFill>
                  <a:srgbClr val="00FF00"/>
                </a:solidFill>
              </a:rPr>
              <a:t>:</a:t>
            </a:r>
            <a:r>
              <a:rPr lang="en-US" sz="1600" b="1" dirty="0">
                <a:solidFill>
                  <a:srgbClr val="CC99FF"/>
                </a:solidFill>
              </a:rPr>
              <a:t> </a:t>
            </a:r>
            <a:r>
              <a:rPr lang="en-US" sz="1600" dirty="0"/>
              <a:t>You prompt the AI in</a:t>
            </a:r>
            <a:r>
              <a:rPr lang="en-US" sz="1600" dirty="0">
                <a:solidFill>
                  <a:schemeClr val="accent6"/>
                </a:solidFill>
              </a:rPr>
              <a:t>-</a:t>
            </a:r>
            <a:r>
              <a:rPr lang="en-US" sz="1600" dirty="0"/>
              <a:t>chat </a:t>
            </a:r>
            <a:r>
              <a:rPr lang="en-US" sz="1600" dirty="0">
                <a:solidFill>
                  <a:srgbClr val="00FF00"/>
                </a:solidFill>
              </a:rPr>
              <a:t>(</a:t>
            </a:r>
            <a:r>
              <a:rPr lang="en-US" sz="1600" dirty="0"/>
              <a:t>and</a:t>
            </a:r>
            <a:r>
              <a:rPr lang="en-US" sz="1600" dirty="0">
                <a:solidFill>
                  <a:schemeClr val="accent6"/>
                </a:solidFill>
              </a:rPr>
              <a:t>/</a:t>
            </a:r>
            <a:r>
              <a:rPr lang="en-US" sz="1600" dirty="0"/>
              <a:t>or highlight code</a:t>
            </a:r>
            <a:r>
              <a:rPr lang="en-US" sz="1600" dirty="0">
                <a:solidFill>
                  <a:srgbClr val="00FF00"/>
                </a:solidFill>
              </a:rPr>
              <a:t>)</a:t>
            </a:r>
            <a:r>
              <a:rPr lang="en-US" sz="1600" dirty="0">
                <a:solidFill>
                  <a:schemeClr val="accent6"/>
                </a:solidFill>
              </a:rPr>
              <a:t>;</a:t>
            </a:r>
            <a:r>
              <a:rPr lang="en-US" sz="1600" dirty="0"/>
              <a:t> it uses codebase context to propose edits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generate new files, refactor across the project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and help run</a:t>
            </a:r>
            <a:r>
              <a:rPr lang="en-US" sz="1600" dirty="0">
                <a:solidFill>
                  <a:schemeClr val="accent6"/>
                </a:solidFill>
              </a:rPr>
              <a:t>/</a:t>
            </a:r>
            <a:r>
              <a:rPr lang="en-US" sz="1600" dirty="0"/>
              <a:t>debug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typically via an agent</a:t>
            </a:r>
            <a:r>
              <a:rPr lang="en-US" sz="1600" dirty="0">
                <a:solidFill>
                  <a:schemeClr val="accent6"/>
                </a:solidFill>
              </a:rPr>
              <a:t>-</a:t>
            </a:r>
            <a:r>
              <a:rPr lang="en-US" sz="1600" dirty="0"/>
              <a:t>style workflow</a:t>
            </a:r>
            <a:r>
              <a:rPr lang="en-US" sz="16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1600" b="1" dirty="0">
                <a:solidFill>
                  <a:srgbClr val="CC99FF"/>
                </a:solidFill>
              </a:rPr>
              <a:t>What you get</a:t>
            </a:r>
            <a:r>
              <a:rPr lang="en-US" sz="1600" b="1" dirty="0">
                <a:solidFill>
                  <a:srgbClr val="00FF00"/>
                </a:solidFill>
              </a:rPr>
              <a:t>:</a:t>
            </a:r>
            <a:r>
              <a:rPr lang="en-US" sz="1600" b="1" dirty="0">
                <a:solidFill>
                  <a:srgbClr val="CC99FF"/>
                </a:solidFill>
              </a:rPr>
              <a:t> </a:t>
            </a:r>
            <a:r>
              <a:rPr lang="en-US" sz="1600" dirty="0"/>
              <a:t>Faster scaffolding and iteration </a:t>
            </a:r>
            <a:r>
              <a:rPr lang="en-US" sz="1600" dirty="0">
                <a:solidFill>
                  <a:srgbClr val="00FF00"/>
                </a:solidFill>
              </a:rPr>
              <a:t>(</a:t>
            </a:r>
            <a:r>
              <a:rPr lang="en-US" sz="1600" dirty="0"/>
              <a:t>boilerplate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examples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explanations</a:t>
            </a:r>
            <a:r>
              <a:rPr lang="en-US" sz="1600" dirty="0">
                <a:solidFill>
                  <a:srgbClr val="00FF00"/>
                </a:solidFill>
              </a:rPr>
              <a:t>)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assisted debugging, quick refactors, and </a:t>
            </a:r>
            <a:r>
              <a:rPr lang="en-US" sz="1600" dirty="0">
                <a:solidFill>
                  <a:srgbClr val="00FF00"/>
                </a:solidFill>
              </a:rPr>
              <a:t>“</a:t>
            </a:r>
            <a:r>
              <a:rPr lang="en-US" sz="1600" dirty="0"/>
              <a:t>search </a:t>
            </a:r>
            <a:r>
              <a:rPr lang="en-US" sz="1600" dirty="0">
                <a:solidFill>
                  <a:schemeClr val="accent6"/>
                </a:solidFill>
              </a:rPr>
              <a:t>+</a:t>
            </a:r>
            <a:r>
              <a:rPr lang="en-US" sz="1600" dirty="0"/>
              <a:t> understand</a:t>
            </a:r>
            <a:r>
              <a:rPr lang="en-US" sz="1600" dirty="0">
                <a:solidFill>
                  <a:srgbClr val="00FF00"/>
                </a:solidFill>
              </a:rPr>
              <a:t>”</a:t>
            </a:r>
            <a:r>
              <a:rPr lang="en-US" sz="1600" dirty="0"/>
              <a:t> across a codebase with natural language</a:t>
            </a:r>
            <a:r>
              <a:rPr lang="en-US" sz="16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1600" b="1" dirty="0">
                <a:solidFill>
                  <a:srgbClr val="CC99FF"/>
                </a:solidFill>
              </a:rPr>
              <a:t>Typical workflow</a:t>
            </a:r>
            <a:r>
              <a:rPr lang="en-US" sz="1600" b="1" dirty="0">
                <a:solidFill>
                  <a:srgbClr val="00FF00"/>
                </a:solidFill>
              </a:rPr>
              <a:t>:</a:t>
            </a:r>
            <a:r>
              <a:rPr lang="en-US" sz="1600" b="1" dirty="0">
                <a:solidFill>
                  <a:srgbClr val="CC99FF"/>
                </a:solidFill>
              </a:rPr>
              <a:t> </a:t>
            </a:r>
            <a:r>
              <a:rPr lang="en-US" sz="1600" dirty="0"/>
              <a:t>Describe the change </a:t>
            </a:r>
            <a:r>
              <a:rPr lang="en-US" sz="1600" dirty="0">
                <a:solidFill>
                  <a:srgbClr val="00FF00"/>
                </a:solidFill>
              </a:rPr>
              <a:t>→</a:t>
            </a:r>
            <a:r>
              <a:rPr lang="en-US" sz="1600" dirty="0"/>
              <a:t> AI proposes a diff across files </a:t>
            </a:r>
            <a:r>
              <a:rPr lang="en-US" sz="1600" dirty="0">
                <a:solidFill>
                  <a:srgbClr val="00FF00"/>
                </a:solidFill>
              </a:rPr>
              <a:t>→</a:t>
            </a:r>
            <a:r>
              <a:rPr lang="en-US" sz="1600" dirty="0"/>
              <a:t> you review</a:t>
            </a:r>
            <a:r>
              <a:rPr lang="en-US" sz="1600" dirty="0">
                <a:solidFill>
                  <a:schemeClr val="accent6"/>
                </a:solidFill>
              </a:rPr>
              <a:t>/</a:t>
            </a:r>
            <a:r>
              <a:rPr lang="en-US" sz="1600" dirty="0"/>
              <a:t>accept edits </a:t>
            </a:r>
            <a:r>
              <a:rPr lang="en-US" sz="1600" dirty="0">
                <a:solidFill>
                  <a:srgbClr val="00FF00"/>
                </a:solidFill>
              </a:rPr>
              <a:t>→</a:t>
            </a:r>
            <a:r>
              <a:rPr lang="en-US" sz="1600" dirty="0"/>
              <a:t> run tests </a:t>
            </a:r>
            <a:r>
              <a:rPr lang="en-US" sz="1600" dirty="0">
                <a:solidFill>
                  <a:srgbClr val="00FF00"/>
                </a:solidFill>
              </a:rPr>
              <a:t>→</a:t>
            </a:r>
            <a:r>
              <a:rPr lang="en-US" sz="1600" dirty="0"/>
              <a:t> iterate with follow-up prompts.</a:t>
            </a:r>
          </a:p>
          <a:p>
            <a:r>
              <a:rPr lang="en-US" sz="1600" b="1" dirty="0">
                <a:solidFill>
                  <a:srgbClr val="CC99FF"/>
                </a:solidFill>
              </a:rPr>
              <a:t>Best for</a:t>
            </a:r>
            <a:r>
              <a:rPr lang="en-US" sz="1600" b="1" dirty="0">
                <a:solidFill>
                  <a:srgbClr val="00FF00"/>
                </a:solidFill>
              </a:rPr>
              <a:t>:</a:t>
            </a:r>
            <a:r>
              <a:rPr lang="en-US" sz="1600" b="1" dirty="0">
                <a:solidFill>
                  <a:srgbClr val="CC99FF"/>
                </a:solidFill>
              </a:rPr>
              <a:t> </a:t>
            </a:r>
            <a:r>
              <a:rPr lang="en-US" sz="1600" dirty="0"/>
              <a:t>Rapid prototyping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learning patterns by example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refactoring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and reducing time spent on repetitive setup so you can focus on problem</a:t>
            </a:r>
            <a:r>
              <a:rPr lang="en-US" sz="1600" dirty="0">
                <a:solidFill>
                  <a:schemeClr val="accent6"/>
                </a:solidFill>
              </a:rPr>
              <a:t>-</a:t>
            </a:r>
            <a:r>
              <a:rPr lang="en-US" sz="1600" dirty="0"/>
              <a:t>solving</a:t>
            </a:r>
            <a:r>
              <a:rPr lang="en-US" sz="16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1600" b="1" dirty="0">
                <a:solidFill>
                  <a:srgbClr val="CC99FF"/>
                </a:solidFill>
              </a:rPr>
              <a:t>Key caution</a:t>
            </a:r>
            <a:r>
              <a:rPr lang="en-US" sz="1600" b="1" dirty="0">
                <a:solidFill>
                  <a:srgbClr val="00FF00"/>
                </a:solidFill>
              </a:rPr>
              <a:t>:</a:t>
            </a:r>
            <a:r>
              <a:rPr lang="en-US" sz="1600" b="1" dirty="0">
                <a:solidFill>
                  <a:srgbClr val="CC99FF"/>
                </a:solidFill>
              </a:rPr>
              <a:t> </a:t>
            </a:r>
            <a:r>
              <a:rPr lang="en-US" sz="1600" dirty="0"/>
              <a:t>The AI can be confidently wrong or introduce subtle bugs</a:t>
            </a:r>
            <a:r>
              <a:rPr lang="en-US" sz="1600" dirty="0">
                <a:solidFill>
                  <a:schemeClr val="accent6"/>
                </a:solidFill>
              </a:rPr>
              <a:t>/</a:t>
            </a:r>
            <a:r>
              <a:rPr lang="en-US" sz="1600" dirty="0"/>
              <a:t>security issues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treat outputs as drafts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review diffs carefully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and validate by running</a:t>
            </a:r>
            <a:r>
              <a:rPr lang="en-US" sz="1600" dirty="0">
                <a:solidFill>
                  <a:schemeClr val="accent6"/>
                </a:solidFill>
              </a:rPr>
              <a:t>/</a:t>
            </a:r>
            <a:r>
              <a:rPr lang="en-US" sz="1600" dirty="0"/>
              <a:t>tests </a:t>
            </a:r>
            <a:r>
              <a:rPr lang="en-US" sz="1600" dirty="0">
                <a:solidFill>
                  <a:srgbClr val="00FF00"/>
                </a:solidFill>
              </a:rPr>
              <a:t>(</a:t>
            </a:r>
            <a:r>
              <a:rPr lang="en-US" sz="1600" dirty="0"/>
              <a:t>you still own correctness</a:t>
            </a:r>
            <a:r>
              <a:rPr lang="en-US" sz="1600" dirty="0">
                <a:solidFill>
                  <a:srgbClr val="00FF00"/>
                </a:solidFill>
              </a:rPr>
              <a:t>)</a:t>
            </a:r>
            <a:r>
              <a:rPr lang="en-US" sz="1600" dirty="0"/>
              <a:t>.</a:t>
            </a:r>
          </a:p>
        </p:txBody>
      </p:sp>
      <p:pic>
        <p:nvPicPr>
          <p:cNvPr id="1028" name="Picture 4" descr="Cursor 欢迎页面">
            <a:extLst>
              <a:ext uri="{FF2B5EF4-FFF2-40B4-BE49-F238E27FC236}">
                <a16:creationId xmlns:a16="http://schemas.microsoft.com/office/drawing/2014/main" id="{9A44473E-5564-6506-0B0D-CB0C6DB08BC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0" t="3892" r="1998" b="4407"/>
          <a:stretch>
            <a:fillRect/>
          </a:stretch>
        </p:blipFill>
        <p:spPr bwMode="auto">
          <a:xfrm>
            <a:off x="6984857" y="2271484"/>
            <a:ext cx="5122460" cy="26766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FB7A723-573D-4725-DB64-24F1983A190C}"/>
              </a:ext>
            </a:extLst>
          </p:cNvPr>
          <p:cNvSpPr txBox="1"/>
          <p:nvPr/>
        </p:nvSpPr>
        <p:spPr>
          <a:xfrm>
            <a:off x="8974818" y="1037540"/>
            <a:ext cx="24256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rgbClr val="FFFFFF"/>
                </a:solidFill>
              </a:rPr>
              <a:t>Embedded AI Agent</a:t>
            </a:r>
            <a:r>
              <a:rPr lang="en-CA" b="1" dirty="0">
                <a:solidFill>
                  <a:schemeClr val="accent6"/>
                </a:solidFill>
              </a:rPr>
              <a:t>.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AF8F0D3-9325-6A66-D964-F92DCDBA67AE}"/>
              </a:ext>
            </a:extLst>
          </p:cNvPr>
          <p:cNvCxnSpPr>
            <a:cxnSpLocks/>
          </p:cNvCxnSpPr>
          <p:nvPr/>
        </p:nvCxnSpPr>
        <p:spPr>
          <a:xfrm>
            <a:off x="11237495" y="1383662"/>
            <a:ext cx="0" cy="1044232"/>
          </a:xfrm>
          <a:prstGeom prst="straightConnector1">
            <a:avLst/>
          </a:prstGeom>
          <a:ln w="762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81494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C3327-DCBB-E282-FFE6-5BF3EB591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32097-8FB6-1E2A-62BA-D3C5743F2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AI</a:t>
            </a:r>
            <a:r>
              <a:rPr lang="en-CA" b="1" dirty="0">
                <a:solidFill>
                  <a:schemeClr val="accent6"/>
                </a:solidFill>
              </a:rPr>
              <a:t>-</a:t>
            </a:r>
            <a:r>
              <a:rPr lang="en-CA" b="1" dirty="0"/>
              <a:t>First IDE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6C315A-D3D6-A85C-FFC7-1176727046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061974" cy="4835479"/>
          </a:xfrm>
        </p:spPr>
        <p:txBody>
          <a:bodyPr>
            <a:normAutofit lnSpcReduction="10000"/>
          </a:bodyPr>
          <a:lstStyle/>
          <a:p>
            <a:r>
              <a:rPr lang="en-US" sz="1600" b="1" dirty="0">
                <a:solidFill>
                  <a:srgbClr val="CC99FF"/>
                </a:solidFill>
              </a:rPr>
              <a:t>What it is</a:t>
            </a:r>
            <a:r>
              <a:rPr lang="en-US" sz="1600" b="1" dirty="0">
                <a:solidFill>
                  <a:srgbClr val="00FF00"/>
                </a:solidFill>
              </a:rPr>
              <a:t>:</a:t>
            </a:r>
            <a:r>
              <a:rPr lang="en-US" sz="1600" b="1" dirty="0">
                <a:solidFill>
                  <a:srgbClr val="CC99FF"/>
                </a:solidFill>
              </a:rPr>
              <a:t> </a:t>
            </a:r>
            <a:r>
              <a:rPr lang="en-US" sz="1600" dirty="0"/>
              <a:t>An IDE designed around an integrated AI </a:t>
            </a:r>
            <a:r>
              <a:rPr lang="en-US" sz="1600" dirty="0">
                <a:solidFill>
                  <a:srgbClr val="00FF00"/>
                </a:solidFill>
              </a:rPr>
              <a:t>“</a:t>
            </a:r>
            <a:r>
              <a:rPr lang="en-US" sz="1600" dirty="0"/>
              <a:t>pair programmer</a:t>
            </a:r>
            <a:r>
              <a:rPr lang="en-US" sz="1600" dirty="0">
                <a:solidFill>
                  <a:srgbClr val="00FF00"/>
                </a:solidFill>
              </a:rPr>
              <a:t>”</a:t>
            </a:r>
            <a:r>
              <a:rPr lang="en-US" sz="1600" dirty="0"/>
              <a:t> that can understand your codebase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suggest changes, and often make multi-file edits on your behalf</a:t>
            </a:r>
            <a:r>
              <a:rPr lang="en-US" sz="16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1600" b="1" dirty="0">
                <a:solidFill>
                  <a:srgbClr val="CC99FF"/>
                </a:solidFill>
              </a:rPr>
              <a:t>How it works</a:t>
            </a:r>
            <a:r>
              <a:rPr lang="en-US" sz="1600" b="1" dirty="0">
                <a:solidFill>
                  <a:srgbClr val="00FF00"/>
                </a:solidFill>
              </a:rPr>
              <a:t>:</a:t>
            </a:r>
            <a:r>
              <a:rPr lang="en-US" sz="1600" b="1" dirty="0">
                <a:solidFill>
                  <a:srgbClr val="CC99FF"/>
                </a:solidFill>
              </a:rPr>
              <a:t> </a:t>
            </a:r>
            <a:r>
              <a:rPr lang="en-US" sz="1600" dirty="0"/>
              <a:t>You prompt the AI in</a:t>
            </a:r>
            <a:r>
              <a:rPr lang="en-US" sz="1600" dirty="0">
                <a:solidFill>
                  <a:schemeClr val="accent6"/>
                </a:solidFill>
              </a:rPr>
              <a:t>-</a:t>
            </a:r>
            <a:r>
              <a:rPr lang="en-US" sz="1600" dirty="0"/>
              <a:t>chat </a:t>
            </a:r>
            <a:r>
              <a:rPr lang="en-US" sz="1600" dirty="0">
                <a:solidFill>
                  <a:srgbClr val="00FF00"/>
                </a:solidFill>
              </a:rPr>
              <a:t>(</a:t>
            </a:r>
            <a:r>
              <a:rPr lang="en-US" sz="1600" dirty="0"/>
              <a:t>and</a:t>
            </a:r>
            <a:r>
              <a:rPr lang="en-US" sz="1600" dirty="0">
                <a:solidFill>
                  <a:schemeClr val="accent6"/>
                </a:solidFill>
              </a:rPr>
              <a:t>/</a:t>
            </a:r>
            <a:r>
              <a:rPr lang="en-US" sz="1600" dirty="0"/>
              <a:t>or highlight code</a:t>
            </a:r>
            <a:r>
              <a:rPr lang="en-US" sz="1600" dirty="0">
                <a:solidFill>
                  <a:srgbClr val="00FF00"/>
                </a:solidFill>
              </a:rPr>
              <a:t>)</a:t>
            </a:r>
            <a:r>
              <a:rPr lang="en-US" sz="1600" dirty="0">
                <a:solidFill>
                  <a:schemeClr val="accent6"/>
                </a:solidFill>
              </a:rPr>
              <a:t>;</a:t>
            </a:r>
            <a:r>
              <a:rPr lang="en-US" sz="1600" dirty="0"/>
              <a:t> it uses codebase context to propose edits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generate new files, refactor across the project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and help run</a:t>
            </a:r>
            <a:r>
              <a:rPr lang="en-US" sz="1600" dirty="0">
                <a:solidFill>
                  <a:schemeClr val="accent6"/>
                </a:solidFill>
              </a:rPr>
              <a:t>/</a:t>
            </a:r>
            <a:r>
              <a:rPr lang="en-US" sz="1600" dirty="0"/>
              <a:t>debug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typically via an agent</a:t>
            </a:r>
            <a:r>
              <a:rPr lang="en-US" sz="1600" dirty="0">
                <a:solidFill>
                  <a:schemeClr val="accent6"/>
                </a:solidFill>
              </a:rPr>
              <a:t>-</a:t>
            </a:r>
            <a:r>
              <a:rPr lang="en-US" sz="1600" dirty="0"/>
              <a:t>style workflow</a:t>
            </a:r>
            <a:r>
              <a:rPr lang="en-US" sz="16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1600" b="1" dirty="0">
                <a:solidFill>
                  <a:srgbClr val="CC99FF"/>
                </a:solidFill>
              </a:rPr>
              <a:t>What you get</a:t>
            </a:r>
            <a:r>
              <a:rPr lang="en-US" sz="1600" b="1" dirty="0">
                <a:solidFill>
                  <a:srgbClr val="00FF00"/>
                </a:solidFill>
              </a:rPr>
              <a:t>:</a:t>
            </a:r>
            <a:r>
              <a:rPr lang="en-US" sz="1600" b="1" dirty="0">
                <a:solidFill>
                  <a:srgbClr val="CC99FF"/>
                </a:solidFill>
              </a:rPr>
              <a:t> </a:t>
            </a:r>
            <a:r>
              <a:rPr lang="en-US" sz="1600" dirty="0"/>
              <a:t>Faster scaffolding and iteration </a:t>
            </a:r>
            <a:r>
              <a:rPr lang="en-US" sz="1600" dirty="0">
                <a:solidFill>
                  <a:srgbClr val="00FF00"/>
                </a:solidFill>
              </a:rPr>
              <a:t>(</a:t>
            </a:r>
            <a:r>
              <a:rPr lang="en-US" sz="1600" dirty="0"/>
              <a:t>boilerplate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examples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explanations</a:t>
            </a:r>
            <a:r>
              <a:rPr lang="en-US" sz="1600" dirty="0">
                <a:solidFill>
                  <a:srgbClr val="00FF00"/>
                </a:solidFill>
              </a:rPr>
              <a:t>)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assisted debugging, quick refactors, and </a:t>
            </a:r>
            <a:r>
              <a:rPr lang="en-US" sz="1600" dirty="0">
                <a:solidFill>
                  <a:srgbClr val="00FF00"/>
                </a:solidFill>
              </a:rPr>
              <a:t>“</a:t>
            </a:r>
            <a:r>
              <a:rPr lang="en-US" sz="1600" dirty="0"/>
              <a:t>search </a:t>
            </a:r>
            <a:r>
              <a:rPr lang="en-US" sz="1600" dirty="0">
                <a:solidFill>
                  <a:schemeClr val="accent6"/>
                </a:solidFill>
              </a:rPr>
              <a:t>+</a:t>
            </a:r>
            <a:r>
              <a:rPr lang="en-US" sz="1600" dirty="0"/>
              <a:t> understand</a:t>
            </a:r>
            <a:r>
              <a:rPr lang="en-US" sz="1600" dirty="0">
                <a:solidFill>
                  <a:srgbClr val="00FF00"/>
                </a:solidFill>
              </a:rPr>
              <a:t>”</a:t>
            </a:r>
            <a:r>
              <a:rPr lang="en-US" sz="1600" dirty="0"/>
              <a:t> across a codebase with natural language</a:t>
            </a:r>
            <a:r>
              <a:rPr lang="en-US" sz="16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1600" b="1" dirty="0">
                <a:solidFill>
                  <a:srgbClr val="CC99FF"/>
                </a:solidFill>
              </a:rPr>
              <a:t>Typical workflow</a:t>
            </a:r>
            <a:r>
              <a:rPr lang="en-US" sz="1600" b="1" dirty="0">
                <a:solidFill>
                  <a:srgbClr val="00FF00"/>
                </a:solidFill>
              </a:rPr>
              <a:t>:</a:t>
            </a:r>
            <a:r>
              <a:rPr lang="en-US" sz="1600" b="1" dirty="0">
                <a:solidFill>
                  <a:srgbClr val="CC99FF"/>
                </a:solidFill>
              </a:rPr>
              <a:t> </a:t>
            </a:r>
            <a:r>
              <a:rPr lang="en-US" sz="1600" dirty="0"/>
              <a:t>Describe the change </a:t>
            </a:r>
            <a:r>
              <a:rPr lang="en-US" sz="1600" dirty="0">
                <a:solidFill>
                  <a:srgbClr val="00FF00"/>
                </a:solidFill>
              </a:rPr>
              <a:t>→</a:t>
            </a:r>
            <a:r>
              <a:rPr lang="en-US" sz="1600" dirty="0"/>
              <a:t> AI proposes a diff across files </a:t>
            </a:r>
            <a:r>
              <a:rPr lang="en-US" sz="1600" dirty="0">
                <a:solidFill>
                  <a:srgbClr val="00FF00"/>
                </a:solidFill>
              </a:rPr>
              <a:t>→</a:t>
            </a:r>
            <a:r>
              <a:rPr lang="en-US" sz="1600" dirty="0"/>
              <a:t> you review</a:t>
            </a:r>
            <a:r>
              <a:rPr lang="en-US" sz="1600" dirty="0">
                <a:solidFill>
                  <a:schemeClr val="accent6"/>
                </a:solidFill>
              </a:rPr>
              <a:t>/</a:t>
            </a:r>
            <a:r>
              <a:rPr lang="en-US" sz="1600" dirty="0"/>
              <a:t>accept edits </a:t>
            </a:r>
            <a:r>
              <a:rPr lang="en-US" sz="1600" dirty="0">
                <a:solidFill>
                  <a:srgbClr val="00FF00"/>
                </a:solidFill>
              </a:rPr>
              <a:t>→</a:t>
            </a:r>
            <a:r>
              <a:rPr lang="en-US" sz="1600" dirty="0"/>
              <a:t> run tests </a:t>
            </a:r>
            <a:r>
              <a:rPr lang="en-US" sz="1600" dirty="0">
                <a:solidFill>
                  <a:srgbClr val="00FF00"/>
                </a:solidFill>
              </a:rPr>
              <a:t>→</a:t>
            </a:r>
            <a:r>
              <a:rPr lang="en-US" sz="1600" dirty="0"/>
              <a:t> iterate with follow-up prompts.</a:t>
            </a:r>
          </a:p>
          <a:p>
            <a:r>
              <a:rPr lang="en-US" sz="1600" b="1" dirty="0">
                <a:solidFill>
                  <a:srgbClr val="CC99FF"/>
                </a:solidFill>
              </a:rPr>
              <a:t>Best for</a:t>
            </a:r>
            <a:r>
              <a:rPr lang="en-US" sz="1600" b="1" dirty="0">
                <a:solidFill>
                  <a:srgbClr val="00FF00"/>
                </a:solidFill>
              </a:rPr>
              <a:t>:</a:t>
            </a:r>
            <a:r>
              <a:rPr lang="en-US" sz="1600" b="1" dirty="0">
                <a:solidFill>
                  <a:srgbClr val="CC99FF"/>
                </a:solidFill>
              </a:rPr>
              <a:t> </a:t>
            </a:r>
            <a:r>
              <a:rPr lang="en-US" sz="1600" dirty="0"/>
              <a:t>Rapid prototyping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learning patterns by example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refactoring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and reducing time spent on repetitive setup so you can focus on problem</a:t>
            </a:r>
            <a:r>
              <a:rPr lang="en-US" sz="1600" dirty="0">
                <a:solidFill>
                  <a:schemeClr val="accent6"/>
                </a:solidFill>
              </a:rPr>
              <a:t>-</a:t>
            </a:r>
            <a:r>
              <a:rPr lang="en-US" sz="1600" dirty="0"/>
              <a:t>solving</a:t>
            </a:r>
            <a:r>
              <a:rPr lang="en-US" sz="16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1600" b="1" dirty="0">
                <a:solidFill>
                  <a:srgbClr val="CC99FF"/>
                </a:solidFill>
              </a:rPr>
              <a:t>Key caution</a:t>
            </a:r>
            <a:r>
              <a:rPr lang="en-US" sz="1600" b="1" dirty="0">
                <a:solidFill>
                  <a:srgbClr val="00FF00"/>
                </a:solidFill>
              </a:rPr>
              <a:t>:</a:t>
            </a:r>
            <a:r>
              <a:rPr lang="en-US" sz="1600" b="1" dirty="0">
                <a:solidFill>
                  <a:srgbClr val="CC99FF"/>
                </a:solidFill>
              </a:rPr>
              <a:t> </a:t>
            </a:r>
            <a:r>
              <a:rPr lang="en-US" sz="1600" dirty="0"/>
              <a:t>The AI can be confidently wrong or introduce subtle bugs</a:t>
            </a:r>
            <a:r>
              <a:rPr lang="en-US" sz="1600" dirty="0">
                <a:solidFill>
                  <a:schemeClr val="accent6"/>
                </a:solidFill>
              </a:rPr>
              <a:t>/</a:t>
            </a:r>
            <a:r>
              <a:rPr lang="en-US" sz="1600" dirty="0"/>
              <a:t>security issues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treat outputs as drafts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review diffs carefully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and validate by running</a:t>
            </a:r>
            <a:r>
              <a:rPr lang="en-US" sz="1600" dirty="0">
                <a:solidFill>
                  <a:schemeClr val="accent6"/>
                </a:solidFill>
              </a:rPr>
              <a:t>/</a:t>
            </a:r>
            <a:r>
              <a:rPr lang="en-US" sz="1600" dirty="0"/>
              <a:t>tests </a:t>
            </a:r>
            <a:r>
              <a:rPr lang="en-US" sz="1600" dirty="0">
                <a:solidFill>
                  <a:srgbClr val="00FF00"/>
                </a:solidFill>
              </a:rPr>
              <a:t>(</a:t>
            </a:r>
            <a:r>
              <a:rPr lang="en-US" sz="1600" dirty="0"/>
              <a:t>you still own correctness</a:t>
            </a:r>
            <a:r>
              <a:rPr lang="en-US" sz="1600" dirty="0">
                <a:solidFill>
                  <a:srgbClr val="00FF00"/>
                </a:solidFill>
              </a:rPr>
              <a:t>)</a:t>
            </a:r>
            <a:r>
              <a:rPr lang="en-US" sz="1600" dirty="0"/>
              <a:t>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D6D3312-3E5B-621A-86AD-C6A55BD017D4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Let</a:t>
            </a:r>
            <a:r>
              <a:rPr lang="en-US" sz="4400" b="1" dirty="0">
                <a:solidFill>
                  <a:srgbClr val="00FF00"/>
                </a:solidFill>
              </a:rPr>
              <a:t>’</a:t>
            </a:r>
            <a:r>
              <a:rPr lang="en-US" sz="4400" b="1" dirty="0">
                <a:solidFill>
                  <a:srgbClr val="FFFFFF"/>
                </a:solidFill>
              </a:rPr>
              <a:t>s Code</a:t>
            </a:r>
            <a:r>
              <a:rPr lang="en-US" sz="4400" b="1" dirty="0">
                <a:solidFill>
                  <a:srgbClr val="00FF00"/>
                </a:solidFill>
              </a:rPr>
              <a:t>!</a:t>
            </a:r>
            <a:endParaRPr lang="en-US" sz="4400" b="1" dirty="0">
              <a:solidFill>
                <a:srgbClr val="FFFFFF"/>
              </a:solidFill>
            </a:endParaRPr>
          </a:p>
          <a:p>
            <a:endParaRPr lang="en-US" sz="28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Demo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pPr marL="514350" indent="-514350">
              <a:buAutoNum type="arabicPeriod"/>
            </a:pPr>
            <a:r>
              <a:rPr lang="en-US" sz="2400" b="1" dirty="0">
                <a:solidFill>
                  <a:schemeClr val="accent6"/>
                </a:solidFill>
              </a:rPr>
              <a:t>Cursor</a:t>
            </a:r>
          </a:p>
        </p:txBody>
      </p:sp>
    </p:spTree>
    <p:extLst>
      <p:ext uri="{BB962C8B-B14F-4D97-AF65-F5344CB8AC3E}">
        <p14:creationId xmlns:p14="http://schemas.microsoft.com/office/powerpoint/2010/main" val="7595059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68D88-8CD3-0FE7-4BCD-B0D5414A0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AD201-7A94-5653-E8E9-F77BC0585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Editors </a:t>
            </a:r>
            <a:r>
              <a:rPr lang="en-CA" b="1" dirty="0">
                <a:solidFill>
                  <a:srgbClr val="00FF00"/>
                </a:solidFill>
              </a:rPr>
              <a:t>&amp;</a:t>
            </a:r>
            <a:r>
              <a:rPr lang="en-CA" b="1" dirty="0"/>
              <a:t> IDEs</a:t>
            </a:r>
            <a:r>
              <a:rPr lang="en-CA" b="1" dirty="0">
                <a:solidFill>
                  <a:srgbClr val="00FF00"/>
                </a:solidFill>
              </a:rPr>
              <a:t>.</a:t>
            </a:r>
            <a:endParaRPr lang="en-CA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889DC61-45AD-B112-D222-C2A635CACC4B}"/>
              </a:ext>
            </a:extLst>
          </p:cNvPr>
          <p:cNvSpPr/>
          <p:nvPr/>
        </p:nvSpPr>
        <p:spPr>
          <a:xfrm>
            <a:off x="611177" y="2826154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62E9D7E-FBA9-676D-229D-AFA99D615493}"/>
              </a:ext>
            </a:extLst>
          </p:cNvPr>
          <p:cNvSpPr/>
          <p:nvPr/>
        </p:nvSpPr>
        <p:spPr>
          <a:xfrm>
            <a:off x="3431102" y="2826153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4FA2A4B-B385-84CE-D6B8-84C4F187E69B}"/>
              </a:ext>
            </a:extLst>
          </p:cNvPr>
          <p:cNvSpPr/>
          <p:nvPr/>
        </p:nvSpPr>
        <p:spPr>
          <a:xfrm>
            <a:off x="6251027" y="2826152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1446433-7F54-E51B-4BA0-CE73721EFFA4}"/>
              </a:ext>
            </a:extLst>
          </p:cNvPr>
          <p:cNvSpPr/>
          <p:nvPr/>
        </p:nvSpPr>
        <p:spPr>
          <a:xfrm>
            <a:off x="9070952" y="2826151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32747F53-3AF7-0E09-94DA-9A8C354D4849}"/>
              </a:ext>
            </a:extLst>
          </p:cNvPr>
          <p:cNvSpPr/>
          <p:nvPr/>
        </p:nvSpPr>
        <p:spPr>
          <a:xfrm>
            <a:off x="3140967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7783D350-CB11-94A9-4AA3-12A7F840DF3F}"/>
              </a:ext>
            </a:extLst>
          </p:cNvPr>
          <p:cNvSpPr/>
          <p:nvPr/>
        </p:nvSpPr>
        <p:spPr>
          <a:xfrm>
            <a:off x="5960391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35046D03-F097-883E-6570-FD9CD2B15FE4}"/>
              </a:ext>
            </a:extLst>
          </p:cNvPr>
          <p:cNvSpPr/>
          <p:nvPr/>
        </p:nvSpPr>
        <p:spPr>
          <a:xfrm>
            <a:off x="8781316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09FCCA-0C30-7E7A-B735-3B6D681A12D6}"/>
              </a:ext>
            </a:extLst>
          </p:cNvPr>
          <p:cNvSpPr txBox="1"/>
          <p:nvPr/>
        </p:nvSpPr>
        <p:spPr>
          <a:xfrm>
            <a:off x="503573" y="2350193"/>
            <a:ext cx="1970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Text Editors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23876B-98AB-08C9-0C43-B91711AAABE8}"/>
              </a:ext>
            </a:extLst>
          </p:cNvPr>
          <p:cNvSpPr txBox="1"/>
          <p:nvPr/>
        </p:nvSpPr>
        <p:spPr>
          <a:xfrm>
            <a:off x="3303370" y="1609608"/>
            <a:ext cx="31525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Interactive Computing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Environment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E29637-D56A-4E5F-189E-58EA68CFB2EF}"/>
              </a:ext>
            </a:extLst>
          </p:cNvPr>
          <p:cNvSpPr txBox="1"/>
          <p:nvPr/>
        </p:nvSpPr>
        <p:spPr>
          <a:xfrm>
            <a:off x="6121750" y="1233994"/>
            <a:ext cx="213090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Integrated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Development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Environment</a:t>
            </a:r>
          </a:p>
          <a:p>
            <a:r>
              <a:rPr lang="en-CA" sz="2400" b="1" dirty="0">
                <a:solidFill>
                  <a:srgbClr val="CC99FF"/>
                </a:solidFill>
              </a:rPr>
              <a:t>(</a:t>
            </a:r>
            <a:r>
              <a:rPr lang="en-CA" sz="2400" b="1" dirty="0">
                <a:solidFill>
                  <a:srgbClr val="FFFFFF"/>
                </a:solidFill>
              </a:rPr>
              <a:t>IDE</a:t>
            </a:r>
            <a:r>
              <a:rPr lang="en-CA" sz="2400" b="1" dirty="0">
                <a:solidFill>
                  <a:srgbClr val="CC99FF"/>
                </a:solidFill>
              </a:rPr>
              <a:t>)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769413-21E8-3C11-81AE-09E8BA14CD9F}"/>
              </a:ext>
            </a:extLst>
          </p:cNvPr>
          <p:cNvSpPr txBox="1"/>
          <p:nvPr/>
        </p:nvSpPr>
        <p:spPr>
          <a:xfrm>
            <a:off x="8940585" y="1981938"/>
            <a:ext cx="12508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AI</a:t>
            </a:r>
            <a:r>
              <a:rPr lang="en-CA" sz="2400" b="1" dirty="0">
                <a:solidFill>
                  <a:srgbClr val="CC99FF"/>
                </a:solidFill>
              </a:rPr>
              <a:t>-</a:t>
            </a:r>
            <a:r>
              <a:rPr lang="en-CA" sz="2400" b="1" dirty="0">
                <a:solidFill>
                  <a:srgbClr val="FFFFFF"/>
                </a:solidFill>
              </a:rPr>
              <a:t>First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IDE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77D71C7-5E02-4D04-C8A5-5F52078ADA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115" y="3094008"/>
            <a:ext cx="1160342" cy="1160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6" descr="Sublimetext Icon icon - Free Download PNG &amp; SVG | Streamline">
            <a:extLst>
              <a:ext uri="{FF2B5EF4-FFF2-40B4-BE49-F238E27FC236}">
                <a16:creationId xmlns:a16="http://schemas.microsoft.com/office/drawing/2014/main" id="{3882A99B-6C31-603B-9B6E-6359D73951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8208" y="3942032"/>
            <a:ext cx="1160343" cy="1160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6" name="Picture 8" descr="Emacs Logo Sticker Pack | FSF Shop">
            <a:extLst>
              <a:ext uri="{FF2B5EF4-FFF2-40B4-BE49-F238E27FC236}">
                <a16:creationId xmlns:a16="http://schemas.microsoft.com/office/drawing/2014/main" id="{A0ED8388-66BF-74BB-F1D2-67F645879A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606" y="4988555"/>
            <a:ext cx="1368972" cy="1368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0" descr="Jupyter Notebooks. Amazing Tools For Data Science">
            <a:extLst>
              <a:ext uri="{FF2B5EF4-FFF2-40B4-BE49-F238E27FC236}">
                <a16:creationId xmlns:a16="http://schemas.microsoft.com/office/drawing/2014/main" id="{85FDD85A-0A4B-F7FA-B111-E2D155619E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0701" y="3020270"/>
            <a:ext cx="1162345" cy="1348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6" descr="macOS app icon doesn't follow human interface guidelines · Issue #613 ·  jupyterlab/jupyterlab-desktop">
            <a:extLst>
              <a:ext uri="{FF2B5EF4-FFF2-40B4-BE49-F238E27FC236}">
                <a16:creationId xmlns:a16="http://schemas.microsoft.com/office/drawing/2014/main" id="{A51B9746-FECF-EFF5-B146-0E14903C0F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2746" y="4061404"/>
            <a:ext cx="1368972" cy="1368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0">
            <a:extLst>
              <a:ext uri="{FF2B5EF4-FFF2-40B4-BE49-F238E27FC236}">
                <a16:creationId xmlns:a16="http://schemas.microsoft.com/office/drawing/2014/main" id="{A8F70D9B-3E11-B7B3-E674-C1A6B16B73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0982" y="5504002"/>
            <a:ext cx="1927638" cy="67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6" descr="PyCharm Logo Update – IDEs Support (IntelliJ Platform) | JetBrains">
            <a:extLst>
              <a:ext uri="{FF2B5EF4-FFF2-40B4-BE49-F238E27FC236}">
                <a16:creationId xmlns:a16="http://schemas.microsoft.com/office/drawing/2014/main" id="{2A194E21-BFBC-37B4-5D20-0B4F1EDDFA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9523" y="3020270"/>
            <a:ext cx="1404473" cy="1404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6">
            <a:extLst>
              <a:ext uri="{FF2B5EF4-FFF2-40B4-BE49-F238E27FC236}">
                <a16:creationId xmlns:a16="http://schemas.microsoft.com/office/drawing/2014/main" id="{167804FA-104A-440C-A56D-5B0DB00BE1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5806" y="4283214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8">
            <a:extLst>
              <a:ext uri="{FF2B5EF4-FFF2-40B4-BE49-F238E27FC236}">
                <a16:creationId xmlns:a16="http://schemas.microsoft.com/office/drawing/2014/main" id="{14F7DCD5-F88D-81FB-6973-06E884D678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6656" y="5044165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4" name="Picture 2" descr="Cursor AI Logo Icon for Modern Designs">
            <a:extLst>
              <a:ext uri="{FF2B5EF4-FFF2-40B4-BE49-F238E27FC236}">
                <a16:creationId xmlns:a16="http://schemas.microsoft.com/office/drawing/2014/main" id="{F218190F-B9F4-F353-4CAF-21C171CD8C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9558" y="3043560"/>
            <a:ext cx="1583261" cy="1583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24" name="Picture 12" descr="Windsurf Plugin (formerly Codeium): AI Coding Autocomplete and Chat for  Python, JavaScript, TypeScript, and more - Visual Studio Marketplace">
            <a:extLst>
              <a:ext uri="{FF2B5EF4-FFF2-40B4-BE49-F238E27FC236}">
                <a16:creationId xmlns:a16="http://schemas.microsoft.com/office/drawing/2014/main" id="{342F1770-09D7-00AA-FE0D-74295372B8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8101" y="4888385"/>
            <a:ext cx="1083982" cy="108398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47224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3D86B-DFBE-FDBF-393C-6A0EC3643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A9B8B-6617-45B6-8394-52FCA4B1F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What We</a:t>
            </a:r>
            <a:r>
              <a:rPr lang="en-CA" b="1" dirty="0">
                <a:solidFill>
                  <a:srgbClr val="CC99FF"/>
                </a:solidFill>
              </a:rPr>
              <a:t>’</a:t>
            </a:r>
            <a:r>
              <a:rPr lang="en-CA" b="1" dirty="0"/>
              <a:t>ll Use</a:t>
            </a:r>
            <a:r>
              <a:rPr lang="en-CA" b="1" dirty="0">
                <a:solidFill>
                  <a:srgbClr val="00FF00"/>
                </a:solidFill>
              </a:rPr>
              <a:t>.</a:t>
            </a:r>
            <a:endParaRPr lang="en-CA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D700EA9-7B39-868D-F48A-50B60A8847A0}"/>
              </a:ext>
            </a:extLst>
          </p:cNvPr>
          <p:cNvSpPr/>
          <p:nvPr/>
        </p:nvSpPr>
        <p:spPr>
          <a:xfrm>
            <a:off x="611177" y="2826154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8C5C7F4-2B6D-0E8C-7DD4-3E4195451FD4}"/>
              </a:ext>
            </a:extLst>
          </p:cNvPr>
          <p:cNvSpPr/>
          <p:nvPr/>
        </p:nvSpPr>
        <p:spPr>
          <a:xfrm>
            <a:off x="3431102" y="2826153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FF849B5-4E70-B6E5-FCB1-C12B71D0CCF6}"/>
              </a:ext>
            </a:extLst>
          </p:cNvPr>
          <p:cNvSpPr/>
          <p:nvPr/>
        </p:nvSpPr>
        <p:spPr>
          <a:xfrm>
            <a:off x="6251027" y="2826152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D2DC6-7477-3B00-E258-D8DFBB11F5FF}"/>
              </a:ext>
            </a:extLst>
          </p:cNvPr>
          <p:cNvSpPr/>
          <p:nvPr/>
        </p:nvSpPr>
        <p:spPr>
          <a:xfrm>
            <a:off x="9070952" y="2826151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A6DEDF74-1D4F-6E9F-5721-D53DC93E9DDD}"/>
              </a:ext>
            </a:extLst>
          </p:cNvPr>
          <p:cNvSpPr/>
          <p:nvPr/>
        </p:nvSpPr>
        <p:spPr>
          <a:xfrm>
            <a:off x="3140967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0494F881-8A58-75C7-CE1D-C8D505A0337E}"/>
              </a:ext>
            </a:extLst>
          </p:cNvPr>
          <p:cNvSpPr/>
          <p:nvPr/>
        </p:nvSpPr>
        <p:spPr>
          <a:xfrm>
            <a:off x="5960391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47CA053E-423C-247B-4D78-425D68916D58}"/>
              </a:ext>
            </a:extLst>
          </p:cNvPr>
          <p:cNvSpPr/>
          <p:nvPr/>
        </p:nvSpPr>
        <p:spPr>
          <a:xfrm>
            <a:off x="8781316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6366C2-0D3A-40D8-D778-A203B8284BDB}"/>
              </a:ext>
            </a:extLst>
          </p:cNvPr>
          <p:cNvSpPr txBox="1"/>
          <p:nvPr/>
        </p:nvSpPr>
        <p:spPr>
          <a:xfrm>
            <a:off x="503573" y="2350193"/>
            <a:ext cx="1970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Text Editors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8E6DBEF-9BBA-C800-EF35-E48862F56B65}"/>
              </a:ext>
            </a:extLst>
          </p:cNvPr>
          <p:cNvSpPr txBox="1"/>
          <p:nvPr/>
        </p:nvSpPr>
        <p:spPr>
          <a:xfrm>
            <a:off x="3303370" y="1609608"/>
            <a:ext cx="31525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Interactive Computing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Environment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CCBD88-6103-9275-E626-1A8AEBF280DF}"/>
              </a:ext>
            </a:extLst>
          </p:cNvPr>
          <p:cNvSpPr txBox="1"/>
          <p:nvPr/>
        </p:nvSpPr>
        <p:spPr>
          <a:xfrm>
            <a:off x="6121750" y="1233994"/>
            <a:ext cx="213090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Integrated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Development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Environment</a:t>
            </a:r>
          </a:p>
          <a:p>
            <a:r>
              <a:rPr lang="en-CA" sz="2400" b="1" dirty="0">
                <a:solidFill>
                  <a:srgbClr val="CC99FF"/>
                </a:solidFill>
              </a:rPr>
              <a:t>(</a:t>
            </a:r>
            <a:r>
              <a:rPr lang="en-CA" sz="2400" b="1" dirty="0">
                <a:solidFill>
                  <a:srgbClr val="FFFFFF"/>
                </a:solidFill>
              </a:rPr>
              <a:t>IDE</a:t>
            </a:r>
            <a:r>
              <a:rPr lang="en-CA" sz="2400" b="1" dirty="0">
                <a:solidFill>
                  <a:srgbClr val="CC99FF"/>
                </a:solidFill>
              </a:rPr>
              <a:t>)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CB42D6-1553-C7D7-01B6-68A81AFABF48}"/>
              </a:ext>
            </a:extLst>
          </p:cNvPr>
          <p:cNvSpPr txBox="1"/>
          <p:nvPr/>
        </p:nvSpPr>
        <p:spPr>
          <a:xfrm>
            <a:off x="8940585" y="1981938"/>
            <a:ext cx="12508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AI</a:t>
            </a:r>
            <a:r>
              <a:rPr lang="en-CA" sz="2400" b="1" dirty="0">
                <a:solidFill>
                  <a:srgbClr val="CC99FF"/>
                </a:solidFill>
              </a:rPr>
              <a:t>-</a:t>
            </a:r>
            <a:r>
              <a:rPr lang="en-CA" sz="2400" b="1" dirty="0">
                <a:solidFill>
                  <a:srgbClr val="FFFFFF"/>
                </a:solidFill>
              </a:rPr>
              <a:t>First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IDE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14" name="Picture 10" descr="Jupyter Notebooks. Amazing Tools For Data Science">
            <a:extLst>
              <a:ext uri="{FF2B5EF4-FFF2-40B4-BE49-F238E27FC236}">
                <a16:creationId xmlns:a16="http://schemas.microsoft.com/office/drawing/2014/main" id="{436AB7DF-CC52-6CF0-8E98-599720473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0701" y="3020270"/>
            <a:ext cx="1162345" cy="1348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6">
            <a:extLst>
              <a:ext uri="{FF2B5EF4-FFF2-40B4-BE49-F238E27FC236}">
                <a16:creationId xmlns:a16="http://schemas.microsoft.com/office/drawing/2014/main" id="{FB9B9669-1C2D-739D-67E8-B2DE157EC3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5806" y="4283214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517599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BF4E4-65E9-547A-0394-442A18D9F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E6BD3-FEC7-4B6A-D431-2A1FB102D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Developer Toolkit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5122" name="Picture 2" descr="Github White Icon SVG Vector &amp; PNG Free Download | UXWing">
            <a:extLst>
              <a:ext uri="{FF2B5EF4-FFF2-40B4-BE49-F238E27FC236}">
                <a16:creationId xmlns:a16="http://schemas.microsoft.com/office/drawing/2014/main" id="{6C210ECB-2C4C-E7B6-5FCD-DA3FFCB4C2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1826" y="2213555"/>
            <a:ext cx="1471974" cy="1471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5313E33-6BCC-61FB-47D5-D795EE8FBEEC}"/>
              </a:ext>
            </a:extLst>
          </p:cNvPr>
          <p:cNvSpPr txBox="1"/>
          <p:nvPr/>
        </p:nvSpPr>
        <p:spPr>
          <a:xfrm>
            <a:off x="9597342" y="3703592"/>
            <a:ext cx="2040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Git </a:t>
            </a:r>
            <a:r>
              <a:rPr lang="en-CA" sz="2400" b="1" dirty="0">
                <a:solidFill>
                  <a:srgbClr val="00FF00"/>
                </a:solidFill>
              </a:rPr>
              <a:t>+ </a:t>
            </a:r>
            <a:r>
              <a:rPr lang="en-CA" sz="2400" b="1" dirty="0">
                <a:solidFill>
                  <a:srgbClr val="FFFFFF"/>
                </a:solidFill>
              </a:rPr>
              <a:t>GitHub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12DED9-2C3F-ACA7-83F2-0A946E2D38CE}"/>
              </a:ext>
            </a:extLst>
          </p:cNvPr>
          <p:cNvSpPr txBox="1"/>
          <p:nvPr/>
        </p:nvSpPr>
        <p:spPr>
          <a:xfrm>
            <a:off x="9364200" y="1752748"/>
            <a:ext cx="25072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Version Control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46" name="Picture 2" descr="Download Laptop Clipart Transparent Background - Laptop Png PNG Image with No  Background - PNGkey.com">
            <a:extLst>
              <a:ext uri="{FF2B5EF4-FFF2-40B4-BE49-F238E27FC236}">
                <a16:creationId xmlns:a16="http://schemas.microsoft.com/office/drawing/2014/main" id="{3F2286B2-F7CA-81FC-5524-E3A30AF7AA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5674" y="943979"/>
            <a:ext cx="2321210" cy="1544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57EFE6F-EBC6-006B-C3FE-108A1BC37E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5835" y="1004529"/>
            <a:ext cx="1847718" cy="104215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FD5E1D6-15C5-8F20-C5D0-28BEDA3DCF20}"/>
              </a:ext>
            </a:extLst>
          </p:cNvPr>
          <p:cNvSpPr txBox="1"/>
          <p:nvPr/>
        </p:nvSpPr>
        <p:spPr>
          <a:xfrm>
            <a:off x="6941434" y="433121"/>
            <a:ext cx="16896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Computer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0" name="Picture 6">
            <a:extLst>
              <a:ext uri="{FF2B5EF4-FFF2-40B4-BE49-F238E27FC236}">
                <a16:creationId xmlns:a16="http://schemas.microsoft.com/office/drawing/2014/main" id="{108C3CE1-57BB-9373-4D50-23E2B0DAF9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6307" y="5209115"/>
            <a:ext cx="965375" cy="965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F02E1E8-49CA-7313-C48A-87A6959E9BC3}"/>
              </a:ext>
            </a:extLst>
          </p:cNvPr>
          <p:cNvSpPr txBox="1"/>
          <p:nvPr/>
        </p:nvSpPr>
        <p:spPr>
          <a:xfrm>
            <a:off x="8099353" y="4604908"/>
            <a:ext cx="17640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Editor</a:t>
            </a:r>
            <a:r>
              <a:rPr lang="en-CA" sz="2400" b="1" dirty="0">
                <a:solidFill>
                  <a:srgbClr val="00FF00"/>
                </a:solidFill>
              </a:rPr>
              <a:t>/</a:t>
            </a:r>
            <a:r>
              <a:rPr lang="en-CA" sz="2400" b="1" dirty="0">
                <a:solidFill>
                  <a:schemeClr val="accent6"/>
                </a:solidFill>
              </a:rPr>
              <a:t>IDE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4" name="Picture 10">
            <a:extLst>
              <a:ext uri="{FF2B5EF4-FFF2-40B4-BE49-F238E27FC236}">
                <a16:creationId xmlns:a16="http://schemas.microsoft.com/office/drawing/2014/main" id="{75C714D3-F831-DCA1-5D6D-AC47671E4E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5670" y="5164068"/>
            <a:ext cx="910097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8777E32-2178-518D-8FDC-A004DC52FF08}"/>
              </a:ext>
            </a:extLst>
          </p:cNvPr>
          <p:cNvSpPr txBox="1"/>
          <p:nvPr/>
        </p:nvSpPr>
        <p:spPr>
          <a:xfrm>
            <a:off x="7565150" y="6241961"/>
            <a:ext cx="27730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 err="1">
                <a:solidFill>
                  <a:srgbClr val="FFFFFF"/>
                </a:solidFill>
              </a:rPr>
              <a:t>VSCode</a:t>
            </a:r>
            <a:r>
              <a:rPr lang="en-CA" sz="2400" b="1" dirty="0">
                <a:solidFill>
                  <a:srgbClr val="FFFFFF"/>
                </a:solidFill>
              </a:rPr>
              <a:t> </a:t>
            </a:r>
            <a:r>
              <a:rPr lang="en-CA" sz="2400" b="1" dirty="0">
                <a:solidFill>
                  <a:srgbClr val="00FF00"/>
                </a:solidFill>
              </a:rPr>
              <a:t>+ </a:t>
            </a:r>
            <a:r>
              <a:rPr lang="en-CA" sz="2400" b="1" dirty="0" err="1">
                <a:solidFill>
                  <a:srgbClr val="FFFFFF"/>
                </a:solidFill>
              </a:rPr>
              <a:t>Jupyter</a:t>
            </a:r>
            <a:endParaRPr lang="en-CA" sz="2400" b="1" dirty="0">
              <a:solidFill>
                <a:srgbClr val="FFFFFF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49C10F-4E6F-4E8F-3D99-1C75E9CA7D42}"/>
              </a:ext>
            </a:extLst>
          </p:cNvPr>
          <p:cNvSpPr txBox="1"/>
          <p:nvPr/>
        </p:nvSpPr>
        <p:spPr>
          <a:xfrm>
            <a:off x="2044847" y="1585397"/>
            <a:ext cx="2939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Python Interpreter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16149C-DAE7-1EBB-B65B-E7AD8E2AD5AB}"/>
              </a:ext>
            </a:extLst>
          </p:cNvPr>
          <p:cNvSpPr txBox="1"/>
          <p:nvPr/>
        </p:nvSpPr>
        <p:spPr>
          <a:xfrm>
            <a:off x="32498" y="2949542"/>
            <a:ext cx="29415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Packages Manager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DF8990-9D3B-7941-8159-DA542B78B61B}"/>
              </a:ext>
            </a:extLst>
          </p:cNvPr>
          <p:cNvSpPr txBox="1"/>
          <p:nvPr/>
        </p:nvSpPr>
        <p:spPr>
          <a:xfrm>
            <a:off x="2527430" y="4664888"/>
            <a:ext cx="15204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Terminal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8" name="Picture 14" descr="Console Command-Line Icons Terminal Computer Linux Interface Transparent HQ  PNG Download | FreePNGimg">
            <a:extLst>
              <a:ext uri="{FF2B5EF4-FFF2-40B4-BE49-F238E27FC236}">
                <a16:creationId xmlns:a16="http://schemas.microsoft.com/office/drawing/2014/main" id="{E3FA49EF-4812-2B7A-50A1-85FE359087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5505" y="5066573"/>
            <a:ext cx="1280029" cy="1280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F11E953-1E13-01F8-FBCC-69FEE2EEDF92}"/>
              </a:ext>
            </a:extLst>
          </p:cNvPr>
          <p:cNvSpPr txBox="1"/>
          <p:nvPr/>
        </p:nvSpPr>
        <p:spPr>
          <a:xfrm>
            <a:off x="1804474" y="6275931"/>
            <a:ext cx="29663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Anaconda Terminal</a:t>
            </a:r>
          </a:p>
        </p:txBody>
      </p:sp>
      <p:pic>
        <p:nvPicPr>
          <p:cNvPr id="6164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058563F5-C3A6-8488-10F6-8219455E25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900" y="3394078"/>
            <a:ext cx="2314770" cy="1154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5AF593CE-CDBF-B7AB-704D-CD620844D40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264" r="32032" b="35377"/>
          <a:stretch>
            <a:fillRect/>
          </a:stretch>
        </p:blipFill>
        <p:spPr bwMode="auto">
          <a:xfrm>
            <a:off x="3309807" y="5143536"/>
            <a:ext cx="1280029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8" name="Picture 24" descr="Python icon transparent background 48332144 PNG">
            <a:extLst>
              <a:ext uri="{FF2B5EF4-FFF2-40B4-BE49-F238E27FC236}">
                <a16:creationId xmlns:a16="http://schemas.microsoft.com/office/drawing/2014/main" id="{1DEA5FDF-DB17-3E6B-AA5F-35FD856485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6828" y="1908646"/>
            <a:ext cx="1155818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946F405-481F-C98B-CAB7-35E4A4EFE6B1}"/>
              </a:ext>
            </a:extLst>
          </p:cNvPr>
          <p:cNvCxnSpPr/>
          <p:nvPr/>
        </p:nvCxnSpPr>
        <p:spPr>
          <a:xfrm flipH="1" flipV="1">
            <a:off x="3998135" y="2711669"/>
            <a:ext cx="2097865" cy="1135117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03C84D6-8EDF-23DC-2380-184DECC50160}"/>
              </a:ext>
            </a:extLst>
          </p:cNvPr>
          <p:cNvCxnSpPr>
            <a:cxnSpLocks/>
          </p:cNvCxnSpPr>
          <p:nvPr/>
        </p:nvCxnSpPr>
        <p:spPr>
          <a:xfrm flipH="1" flipV="1">
            <a:off x="2208541" y="3812807"/>
            <a:ext cx="3946317" cy="489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F81EC85-6423-4216-05E4-6A08F7A9BA3E}"/>
              </a:ext>
            </a:extLst>
          </p:cNvPr>
          <p:cNvCxnSpPr>
            <a:cxnSpLocks/>
          </p:cNvCxnSpPr>
          <p:nvPr/>
        </p:nvCxnSpPr>
        <p:spPr>
          <a:xfrm flipH="1">
            <a:off x="4439570" y="3845775"/>
            <a:ext cx="1656430" cy="141333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A5ED713-E047-B2F9-F5A9-0351B208D71C}"/>
              </a:ext>
            </a:extLst>
          </p:cNvPr>
          <p:cNvCxnSpPr>
            <a:cxnSpLocks/>
          </p:cNvCxnSpPr>
          <p:nvPr/>
        </p:nvCxnSpPr>
        <p:spPr>
          <a:xfrm flipV="1">
            <a:off x="6201332" y="2575588"/>
            <a:ext cx="1127562" cy="128617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4218ED1-645E-F4DE-E619-FC8EFD3DBFD2}"/>
              </a:ext>
            </a:extLst>
          </p:cNvPr>
          <p:cNvCxnSpPr>
            <a:cxnSpLocks/>
          </p:cNvCxnSpPr>
          <p:nvPr/>
        </p:nvCxnSpPr>
        <p:spPr>
          <a:xfrm flipV="1">
            <a:off x="6142474" y="3064464"/>
            <a:ext cx="3573178" cy="84577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2FB95F3-2FA9-8112-0AA5-226F9B84D0FD}"/>
              </a:ext>
            </a:extLst>
          </p:cNvPr>
          <p:cNvCxnSpPr>
            <a:cxnSpLocks/>
          </p:cNvCxnSpPr>
          <p:nvPr/>
        </p:nvCxnSpPr>
        <p:spPr>
          <a:xfrm>
            <a:off x="6172906" y="3898203"/>
            <a:ext cx="1672318" cy="142577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Sebastian Goodfellow">
            <a:extLst>
              <a:ext uri="{FF2B5EF4-FFF2-40B4-BE49-F238E27FC236}">
                <a16:creationId xmlns:a16="http://schemas.microsoft.com/office/drawing/2014/main" id="{E51EF9AB-732D-6CA5-50D5-DC3E525583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5923" y="2583915"/>
            <a:ext cx="2580153" cy="2580153"/>
          </a:xfrm>
          <a:prstGeom prst="ellipse">
            <a:avLst/>
          </a:prstGeom>
          <a:ln w="63500" cap="rnd">
            <a:solidFill>
              <a:schemeClr val="accent1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AutoShape 6" descr="Anaconda In Transparent Background Closeup With Distinct Scales And  Pattern, Snake, Python, Coastal Carpet Python PNG Transparent Image and  Clipart for Free Download">
            <a:extLst>
              <a:ext uri="{FF2B5EF4-FFF2-40B4-BE49-F238E27FC236}">
                <a16:creationId xmlns:a16="http://schemas.microsoft.com/office/drawing/2014/main" id="{FC5E1B57-E946-7789-75F8-36C68B0A882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E1C5CD-5CE0-6849-B737-1595068ACD1A}"/>
              </a:ext>
            </a:extLst>
          </p:cNvPr>
          <p:cNvSpPr txBox="1"/>
          <p:nvPr/>
        </p:nvSpPr>
        <p:spPr>
          <a:xfrm>
            <a:off x="4924748" y="5391806"/>
            <a:ext cx="2342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Developer Seb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204098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66890-B6A3-EEAB-75EA-C1ED3CF7E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7EAC2-3751-45D5-F8FC-BBAAC7E5C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Developer Toolkit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3678B8-C045-11F2-62B7-8FB61B5D0B73}"/>
              </a:ext>
            </a:extLst>
          </p:cNvPr>
          <p:cNvSpPr txBox="1"/>
          <p:nvPr/>
        </p:nvSpPr>
        <p:spPr>
          <a:xfrm>
            <a:off x="4924748" y="5391806"/>
            <a:ext cx="2342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Developer Seb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5122" name="Picture 2" descr="Github White Icon SVG Vector &amp; PNG Free Download | UXWing">
            <a:extLst>
              <a:ext uri="{FF2B5EF4-FFF2-40B4-BE49-F238E27FC236}">
                <a16:creationId xmlns:a16="http://schemas.microsoft.com/office/drawing/2014/main" id="{BE83F681-4AAC-4038-D343-AA0AD9F96C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1826" y="2213555"/>
            <a:ext cx="1471974" cy="1471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087DEF7-0210-07D4-EAD8-6131E903FD3C}"/>
              </a:ext>
            </a:extLst>
          </p:cNvPr>
          <p:cNvSpPr txBox="1"/>
          <p:nvPr/>
        </p:nvSpPr>
        <p:spPr>
          <a:xfrm>
            <a:off x="9597342" y="3703592"/>
            <a:ext cx="2040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Git </a:t>
            </a:r>
            <a:r>
              <a:rPr lang="en-CA" sz="2400" b="1" dirty="0">
                <a:solidFill>
                  <a:srgbClr val="00FF00"/>
                </a:solidFill>
              </a:rPr>
              <a:t>+ </a:t>
            </a:r>
            <a:r>
              <a:rPr lang="en-CA" sz="2400" b="1" dirty="0">
                <a:solidFill>
                  <a:srgbClr val="FFFFFF"/>
                </a:solidFill>
              </a:rPr>
              <a:t>GitHub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FAB40A-49D4-3B79-CFCB-4C76C1B47684}"/>
              </a:ext>
            </a:extLst>
          </p:cNvPr>
          <p:cNvSpPr txBox="1"/>
          <p:nvPr/>
        </p:nvSpPr>
        <p:spPr>
          <a:xfrm>
            <a:off x="9364200" y="1752748"/>
            <a:ext cx="25072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Version Control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46" name="Picture 2" descr="Download Laptop Clipart Transparent Background - Laptop Png PNG Image with No  Background - PNGkey.com">
            <a:extLst>
              <a:ext uri="{FF2B5EF4-FFF2-40B4-BE49-F238E27FC236}">
                <a16:creationId xmlns:a16="http://schemas.microsoft.com/office/drawing/2014/main" id="{83722FE8-81DE-354B-6243-77C407536B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5674" y="943979"/>
            <a:ext cx="2321210" cy="1544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AA15C28-9B35-49E0-6F81-566E14E6BF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5835" y="1004529"/>
            <a:ext cx="1847718" cy="104215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5EAF7A2-377F-90A6-4883-7A45145F5D8B}"/>
              </a:ext>
            </a:extLst>
          </p:cNvPr>
          <p:cNvSpPr txBox="1"/>
          <p:nvPr/>
        </p:nvSpPr>
        <p:spPr>
          <a:xfrm>
            <a:off x="6941434" y="433121"/>
            <a:ext cx="16896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Computer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0" name="Picture 6">
            <a:extLst>
              <a:ext uri="{FF2B5EF4-FFF2-40B4-BE49-F238E27FC236}">
                <a16:creationId xmlns:a16="http://schemas.microsoft.com/office/drawing/2014/main" id="{DC6740B7-97A2-7E36-E243-DEA8221024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6307" y="5209115"/>
            <a:ext cx="965375" cy="965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2344DAC-4B38-F72B-D5A4-AC0E9A4F264F}"/>
              </a:ext>
            </a:extLst>
          </p:cNvPr>
          <p:cNvSpPr txBox="1"/>
          <p:nvPr/>
        </p:nvSpPr>
        <p:spPr>
          <a:xfrm>
            <a:off x="8099353" y="4604908"/>
            <a:ext cx="17640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Editor</a:t>
            </a:r>
            <a:r>
              <a:rPr lang="en-CA" sz="2400" b="1" dirty="0">
                <a:solidFill>
                  <a:srgbClr val="00FF00"/>
                </a:solidFill>
              </a:rPr>
              <a:t>/</a:t>
            </a:r>
            <a:r>
              <a:rPr lang="en-CA" sz="2400" b="1" dirty="0">
                <a:solidFill>
                  <a:schemeClr val="accent6"/>
                </a:solidFill>
              </a:rPr>
              <a:t>IDE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4" name="Picture 10">
            <a:extLst>
              <a:ext uri="{FF2B5EF4-FFF2-40B4-BE49-F238E27FC236}">
                <a16:creationId xmlns:a16="http://schemas.microsoft.com/office/drawing/2014/main" id="{56BB6FDE-7EEF-AB3E-38A9-76DB55972D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5670" y="5164068"/>
            <a:ext cx="910097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C6E771-AF69-B87C-9596-B564E474FFCA}"/>
              </a:ext>
            </a:extLst>
          </p:cNvPr>
          <p:cNvSpPr txBox="1"/>
          <p:nvPr/>
        </p:nvSpPr>
        <p:spPr>
          <a:xfrm>
            <a:off x="7565150" y="6241961"/>
            <a:ext cx="27730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 err="1">
                <a:solidFill>
                  <a:srgbClr val="FFFFFF"/>
                </a:solidFill>
              </a:rPr>
              <a:t>VSCode</a:t>
            </a:r>
            <a:r>
              <a:rPr lang="en-CA" sz="2400" b="1" dirty="0">
                <a:solidFill>
                  <a:srgbClr val="FFFFFF"/>
                </a:solidFill>
              </a:rPr>
              <a:t> </a:t>
            </a:r>
            <a:r>
              <a:rPr lang="en-CA" sz="2400" b="1" dirty="0">
                <a:solidFill>
                  <a:srgbClr val="00FF00"/>
                </a:solidFill>
              </a:rPr>
              <a:t>+ </a:t>
            </a:r>
            <a:r>
              <a:rPr lang="en-CA" sz="2400" b="1" dirty="0" err="1">
                <a:solidFill>
                  <a:srgbClr val="FFFFFF"/>
                </a:solidFill>
              </a:rPr>
              <a:t>Jupyter</a:t>
            </a:r>
            <a:endParaRPr lang="en-CA" sz="2400" b="1" dirty="0">
              <a:solidFill>
                <a:srgbClr val="FFFFFF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BF3580-2A71-EC7F-F0AE-A2B2A26AB581}"/>
              </a:ext>
            </a:extLst>
          </p:cNvPr>
          <p:cNvSpPr txBox="1"/>
          <p:nvPr/>
        </p:nvSpPr>
        <p:spPr>
          <a:xfrm>
            <a:off x="2044847" y="1585397"/>
            <a:ext cx="2939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Python Interpreter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8EFD0C-2F29-88A9-FE14-1D84AAC13D95}"/>
              </a:ext>
            </a:extLst>
          </p:cNvPr>
          <p:cNvSpPr txBox="1"/>
          <p:nvPr/>
        </p:nvSpPr>
        <p:spPr>
          <a:xfrm>
            <a:off x="32498" y="2949542"/>
            <a:ext cx="29415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Packages Manager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A13F5A-2D23-3B98-0378-A55C532E7315}"/>
              </a:ext>
            </a:extLst>
          </p:cNvPr>
          <p:cNvSpPr txBox="1"/>
          <p:nvPr/>
        </p:nvSpPr>
        <p:spPr>
          <a:xfrm>
            <a:off x="2527430" y="4664888"/>
            <a:ext cx="15204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Terminal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8" name="Picture 14" descr="Console Command-Line Icons Terminal Computer Linux Interface Transparent HQ  PNG Download | FreePNGimg">
            <a:extLst>
              <a:ext uri="{FF2B5EF4-FFF2-40B4-BE49-F238E27FC236}">
                <a16:creationId xmlns:a16="http://schemas.microsoft.com/office/drawing/2014/main" id="{B0ED997F-BD24-8C7C-63F1-2F4CBFEC2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5505" y="5066573"/>
            <a:ext cx="1280029" cy="1280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3B9EEE3-3EC0-77DC-C9BB-2D9AAE8863AB}"/>
              </a:ext>
            </a:extLst>
          </p:cNvPr>
          <p:cNvSpPr txBox="1"/>
          <p:nvPr/>
        </p:nvSpPr>
        <p:spPr>
          <a:xfrm>
            <a:off x="1804474" y="6275931"/>
            <a:ext cx="29663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Anaconda Terminal</a:t>
            </a:r>
          </a:p>
        </p:txBody>
      </p:sp>
      <p:pic>
        <p:nvPicPr>
          <p:cNvPr id="6164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8994DBC0-396D-7EF7-F60A-3332425ED1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900" y="3400094"/>
            <a:ext cx="2314770" cy="1154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54E9457B-9419-6DDC-DE96-3100CE4CBE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264" r="32032" b="35377"/>
          <a:stretch>
            <a:fillRect/>
          </a:stretch>
        </p:blipFill>
        <p:spPr bwMode="auto">
          <a:xfrm>
            <a:off x="3309807" y="5143536"/>
            <a:ext cx="1280029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8" name="Picture 24" descr="Python icon transparent background 48332144 PNG">
            <a:extLst>
              <a:ext uri="{FF2B5EF4-FFF2-40B4-BE49-F238E27FC236}">
                <a16:creationId xmlns:a16="http://schemas.microsoft.com/office/drawing/2014/main" id="{5302A814-5160-BB9E-EF09-6D0A963601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6828" y="1908646"/>
            <a:ext cx="1155818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bastian Goodfellow">
            <a:extLst>
              <a:ext uri="{FF2B5EF4-FFF2-40B4-BE49-F238E27FC236}">
                <a16:creationId xmlns:a16="http://schemas.microsoft.com/office/drawing/2014/main" id="{8D3B756D-4E49-1BA2-BB39-86203D73E0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5923" y="2583915"/>
            <a:ext cx="2580153" cy="2580153"/>
          </a:xfrm>
          <a:prstGeom prst="ellipse">
            <a:avLst/>
          </a:prstGeom>
          <a:ln w="63500" cap="rnd">
            <a:solidFill>
              <a:schemeClr val="accent1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11ADA08-5A64-50A7-16B1-137F87022FC1}"/>
              </a:ext>
            </a:extLst>
          </p:cNvPr>
          <p:cNvSpPr/>
          <p:nvPr/>
        </p:nvSpPr>
        <p:spPr>
          <a:xfrm>
            <a:off x="32498" y="2869324"/>
            <a:ext cx="3277309" cy="1835970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983D3C4-4429-FE04-9531-61CAEE51DE1F}"/>
              </a:ext>
            </a:extLst>
          </p:cNvPr>
          <p:cNvSpPr/>
          <p:nvPr/>
        </p:nvSpPr>
        <p:spPr>
          <a:xfrm>
            <a:off x="1252043" y="4705294"/>
            <a:ext cx="3518820" cy="1991896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963F6CA-20F3-129F-E4F8-B058FDBF8228}"/>
              </a:ext>
            </a:extLst>
          </p:cNvPr>
          <p:cNvSpPr/>
          <p:nvPr/>
        </p:nvSpPr>
        <p:spPr>
          <a:xfrm>
            <a:off x="9156242" y="1693304"/>
            <a:ext cx="3035758" cy="2490016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9F71BFC-7DC3-35D0-9FE0-6FEBD7B050A8}"/>
              </a:ext>
            </a:extLst>
          </p:cNvPr>
          <p:cNvSpPr/>
          <p:nvPr/>
        </p:nvSpPr>
        <p:spPr>
          <a:xfrm>
            <a:off x="6521431" y="517916"/>
            <a:ext cx="2733742" cy="2005544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902D851-FA37-31CD-83F0-9BB4F9E116D2}"/>
              </a:ext>
            </a:extLst>
          </p:cNvPr>
          <p:cNvSpPr/>
          <p:nvPr/>
        </p:nvSpPr>
        <p:spPr>
          <a:xfrm>
            <a:off x="1888990" y="1378905"/>
            <a:ext cx="3035758" cy="1570637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6582123-04AA-7ECB-F7DB-920C5BCDC1E1}"/>
              </a:ext>
            </a:extLst>
          </p:cNvPr>
          <p:cNvSpPr/>
          <p:nvPr/>
        </p:nvSpPr>
        <p:spPr>
          <a:xfrm>
            <a:off x="7539961" y="4213610"/>
            <a:ext cx="3044849" cy="2490016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2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187E3DD6-620F-D8D6-0D30-25CB2614FB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047" y="3394822"/>
            <a:ext cx="2314770" cy="1154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C3712F39-1276-6C7E-8C5E-2AE36A6353E6}"/>
              </a:ext>
            </a:extLst>
          </p:cNvPr>
          <p:cNvSpPr/>
          <p:nvPr/>
        </p:nvSpPr>
        <p:spPr>
          <a:xfrm>
            <a:off x="4508354" y="2533039"/>
            <a:ext cx="3044849" cy="3446655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9" name="Picture 2" descr="Anaconda PNG transparent image download, size: 750x395px">
            <a:extLst>
              <a:ext uri="{FF2B5EF4-FFF2-40B4-BE49-F238E27FC236}">
                <a16:creationId xmlns:a16="http://schemas.microsoft.com/office/drawing/2014/main" id="{32B45CB4-2A53-B22F-DBD1-B1653E5FEF8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41"/>
          <a:stretch>
            <a:fillRect/>
          </a:stretch>
        </p:blipFill>
        <p:spPr bwMode="auto">
          <a:xfrm>
            <a:off x="2954796" y="144593"/>
            <a:ext cx="9082799" cy="4893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C20623D9-B08B-73A3-87EC-380686FDEF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264" r="32032" b="35377"/>
          <a:stretch>
            <a:fillRect/>
          </a:stretch>
        </p:blipFill>
        <p:spPr bwMode="auto">
          <a:xfrm>
            <a:off x="3307704" y="5145691"/>
            <a:ext cx="1280029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263309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4796F-0EF0-CC1D-006D-C3AE9B53C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FB7321E3-D77B-1CDF-A913-1F43CE7478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0498" y="2413525"/>
            <a:ext cx="4071004" cy="20309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5065042-0309-3D1C-3932-E871720D9697}"/>
              </a:ext>
            </a:extLst>
          </p:cNvPr>
          <p:cNvCxnSpPr>
            <a:cxnSpLocks/>
          </p:cNvCxnSpPr>
          <p:nvPr/>
        </p:nvCxnSpPr>
        <p:spPr>
          <a:xfrm flipH="1" flipV="1">
            <a:off x="5650711" y="1961147"/>
            <a:ext cx="178589" cy="574423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DE59851-FB76-C04A-2D62-46318A15DAE9}"/>
              </a:ext>
            </a:extLst>
          </p:cNvPr>
          <p:cNvCxnSpPr>
            <a:cxnSpLocks/>
          </p:cNvCxnSpPr>
          <p:nvPr/>
        </p:nvCxnSpPr>
        <p:spPr>
          <a:xfrm flipV="1">
            <a:off x="6406816" y="1672653"/>
            <a:ext cx="1588168" cy="1028436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485377B-4958-40CD-AAA8-0068807F57F5}"/>
              </a:ext>
            </a:extLst>
          </p:cNvPr>
          <p:cNvCxnSpPr>
            <a:cxnSpLocks/>
          </p:cNvCxnSpPr>
          <p:nvPr/>
        </p:nvCxnSpPr>
        <p:spPr>
          <a:xfrm>
            <a:off x="6590297" y="3204412"/>
            <a:ext cx="3177065" cy="676168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72B235CA-E67C-FBC7-2C50-9E5F7CE770F7}"/>
              </a:ext>
            </a:extLst>
          </p:cNvPr>
          <p:cNvSpPr txBox="1"/>
          <p:nvPr/>
        </p:nvSpPr>
        <p:spPr>
          <a:xfrm>
            <a:off x="4084529" y="575514"/>
            <a:ext cx="2939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Python Interpreter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30" name="Picture 24" descr="Python icon transparent background 48332144 PNG">
            <a:extLst>
              <a:ext uri="{FF2B5EF4-FFF2-40B4-BE49-F238E27FC236}">
                <a16:creationId xmlns:a16="http://schemas.microsoft.com/office/drawing/2014/main" id="{063B3EE0-D149-3D19-0A1B-CD07FD4FC1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6510" y="898763"/>
            <a:ext cx="1155818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6">
            <a:extLst>
              <a:ext uri="{FF2B5EF4-FFF2-40B4-BE49-F238E27FC236}">
                <a16:creationId xmlns:a16="http://schemas.microsoft.com/office/drawing/2014/main" id="{68A844A0-409B-A82A-1BAF-5B614F8A1B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57687" y="5722383"/>
            <a:ext cx="779033" cy="779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A177F330-9D32-85AF-8928-9D1A54A0449B}"/>
              </a:ext>
            </a:extLst>
          </p:cNvPr>
          <p:cNvSpPr txBox="1"/>
          <p:nvPr/>
        </p:nvSpPr>
        <p:spPr>
          <a:xfrm>
            <a:off x="10237294" y="3030901"/>
            <a:ext cx="12752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Editors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35" name="Picture 10">
            <a:extLst>
              <a:ext uri="{FF2B5EF4-FFF2-40B4-BE49-F238E27FC236}">
                <a16:creationId xmlns:a16="http://schemas.microsoft.com/office/drawing/2014/main" id="{67ADDE15-8DBD-1917-F9D7-5A890E84F7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9322" y="3541809"/>
            <a:ext cx="910097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26" descr="PyCharm Logo Update – IDEs Support (IntelliJ Platform) | JetBrains">
            <a:extLst>
              <a:ext uri="{FF2B5EF4-FFF2-40B4-BE49-F238E27FC236}">
                <a16:creationId xmlns:a16="http://schemas.microsoft.com/office/drawing/2014/main" id="{797C2219-6CBE-3DB0-821D-7681A4AAED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9469" y="4618787"/>
            <a:ext cx="1055468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28">
            <a:extLst>
              <a:ext uri="{FF2B5EF4-FFF2-40B4-BE49-F238E27FC236}">
                <a16:creationId xmlns:a16="http://schemas.microsoft.com/office/drawing/2014/main" id="{F480761F-09AC-FABA-9756-C93289F18F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7362" y="3489702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Picture 16" descr="macOS app icon doesn't follow human interface guidelines · Issue #613 ·  jupyterlab/jupyterlab-desktop">
            <a:extLst>
              <a:ext uri="{FF2B5EF4-FFF2-40B4-BE49-F238E27FC236}">
                <a16:creationId xmlns:a16="http://schemas.microsoft.com/office/drawing/2014/main" id="{C72495D4-FF81-8B90-15C6-534A643728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6036" y="4598185"/>
            <a:ext cx="1096671" cy="1096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20">
            <a:extLst>
              <a:ext uri="{FF2B5EF4-FFF2-40B4-BE49-F238E27FC236}">
                <a16:creationId xmlns:a16="http://schemas.microsoft.com/office/drawing/2014/main" id="{279F34B8-8190-2B54-EC3D-8E9FADB6728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105"/>
          <a:stretch>
            <a:fillRect/>
          </a:stretch>
        </p:blipFill>
        <p:spPr bwMode="auto">
          <a:xfrm>
            <a:off x="11018769" y="5788246"/>
            <a:ext cx="711206" cy="67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41" descr="A screenshot of a computer&#10;&#10;Description automatically generated">
            <a:extLst>
              <a:ext uri="{FF2B5EF4-FFF2-40B4-BE49-F238E27FC236}">
                <a16:creationId xmlns:a16="http://schemas.microsoft.com/office/drawing/2014/main" id="{378E9B44-8B30-3946-F8AF-08B6106F7CA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23" y="1226868"/>
            <a:ext cx="3684957" cy="2373314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8ECD3B91-86D5-8E34-EA6E-8F9D5793FC3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961" y="4490288"/>
            <a:ext cx="2790979" cy="2181423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179C8B3-668F-38E0-63B8-998F4DFC9CFE}"/>
              </a:ext>
            </a:extLst>
          </p:cNvPr>
          <p:cNvCxnSpPr>
            <a:cxnSpLocks/>
          </p:cNvCxnSpPr>
          <p:nvPr/>
        </p:nvCxnSpPr>
        <p:spPr>
          <a:xfrm flipH="1">
            <a:off x="2549723" y="3204412"/>
            <a:ext cx="2977957" cy="1531229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9B64EB7-8269-49EB-A017-036011AA06FE}"/>
              </a:ext>
            </a:extLst>
          </p:cNvPr>
          <p:cNvSpPr txBox="1"/>
          <p:nvPr/>
        </p:nvSpPr>
        <p:spPr>
          <a:xfrm>
            <a:off x="623927" y="3904644"/>
            <a:ext cx="162897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Anaconda</a:t>
            </a:r>
          </a:p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Prompt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26F2818-57D4-B89D-F762-616C764B713C}"/>
              </a:ext>
            </a:extLst>
          </p:cNvPr>
          <p:cNvCxnSpPr>
            <a:cxnSpLocks/>
          </p:cNvCxnSpPr>
          <p:nvPr/>
        </p:nvCxnSpPr>
        <p:spPr>
          <a:xfrm flipH="1" flipV="1">
            <a:off x="3671735" y="2330246"/>
            <a:ext cx="1959044" cy="515222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51C378CF-8307-B548-9D84-69D9EF544175}"/>
              </a:ext>
            </a:extLst>
          </p:cNvPr>
          <p:cNvSpPr txBox="1"/>
          <p:nvPr/>
        </p:nvSpPr>
        <p:spPr>
          <a:xfrm>
            <a:off x="267320" y="858994"/>
            <a:ext cx="32205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Anaconda Navigator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48BBFA7-604D-E55C-125A-35F593ED16DF}"/>
              </a:ext>
            </a:extLst>
          </p:cNvPr>
          <p:cNvCxnSpPr>
            <a:cxnSpLocks/>
          </p:cNvCxnSpPr>
          <p:nvPr/>
        </p:nvCxnSpPr>
        <p:spPr>
          <a:xfrm flipV="1">
            <a:off x="6623385" y="2679032"/>
            <a:ext cx="1526165" cy="268706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8" name="Picture 4">
            <a:extLst>
              <a:ext uri="{FF2B5EF4-FFF2-40B4-BE49-F238E27FC236}">
                <a16:creationId xmlns:a16="http://schemas.microsoft.com/office/drawing/2014/main" id="{B73E7451-3A0A-A77D-6023-A87576B30E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3907" y="1358028"/>
            <a:ext cx="1750595" cy="363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FFAB9A79-095D-765B-9FEE-9E5F194AAEA7}"/>
              </a:ext>
            </a:extLst>
          </p:cNvPr>
          <p:cNvSpPr txBox="1"/>
          <p:nvPr/>
        </p:nvSpPr>
        <p:spPr>
          <a:xfrm>
            <a:off x="7947851" y="504437"/>
            <a:ext cx="34722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chemeClr val="accent6"/>
                </a:solidFill>
              </a:rPr>
              <a:t>Package </a:t>
            </a:r>
            <a:r>
              <a:rPr lang="en-CA" sz="2400" b="1" dirty="0">
                <a:solidFill>
                  <a:srgbClr val="00FF00"/>
                </a:solidFill>
              </a:rPr>
              <a:t>+</a:t>
            </a:r>
            <a:endParaRPr lang="en-CA" sz="2400" b="1" dirty="0">
              <a:solidFill>
                <a:schemeClr val="accent6"/>
              </a:solidFill>
            </a:endParaRPr>
          </a:p>
          <a:p>
            <a:r>
              <a:rPr lang="en-CA" sz="2400" b="1" dirty="0">
                <a:solidFill>
                  <a:schemeClr val="accent6"/>
                </a:solidFill>
              </a:rPr>
              <a:t>Environment Manager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73" name="Picture 20">
            <a:extLst>
              <a:ext uri="{FF2B5EF4-FFF2-40B4-BE49-F238E27FC236}">
                <a16:creationId xmlns:a16="http://schemas.microsoft.com/office/drawing/2014/main" id="{C51F311A-9141-D25C-E85C-219892BC26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7581" y="2885575"/>
            <a:ext cx="759890" cy="409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2" name="Picture 8" descr="SciPy - NumFOCUS">
            <a:extLst>
              <a:ext uri="{FF2B5EF4-FFF2-40B4-BE49-F238E27FC236}">
                <a16:creationId xmlns:a16="http://schemas.microsoft.com/office/drawing/2014/main" id="{771C14C4-282D-827D-9034-568521ECAC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2198" y="2856499"/>
            <a:ext cx="491223" cy="491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0" name="Picture 16" descr="Discussion of seaborn logo · Issue #2243 · mwaskom/seaborn">
            <a:extLst>
              <a:ext uri="{FF2B5EF4-FFF2-40B4-BE49-F238E27FC236}">
                <a16:creationId xmlns:a16="http://schemas.microsoft.com/office/drawing/2014/main" id="{99C12A6F-2B0E-04DB-A56A-9983E258F3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3068" y="2457450"/>
            <a:ext cx="455195" cy="455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2" name="Picture 18">
            <a:extLst>
              <a:ext uri="{FF2B5EF4-FFF2-40B4-BE49-F238E27FC236}">
                <a16:creationId xmlns:a16="http://schemas.microsoft.com/office/drawing/2014/main" id="{DF2FE3CC-12F1-02C7-3E87-4773F433CD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9086" y="2427371"/>
            <a:ext cx="455195" cy="455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A3419499-4F37-4361-84BA-5106A15424A7}"/>
              </a:ext>
            </a:extLst>
          </p:cNvPr>
          <p:cNvSpPr txBox="1"/>
          <p:nvPr/>
        </p:nvSpPr>
        <p:spPr>
          <a:xfrm>
            <a:off x="8082296" y="1982063"/>
            <a:ext cx="32680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CA" sz="2400" b="1" dirty="0">
                <a:solidFill>
                  <a:schemeClr val="accent6"/>
                </a:solidFill>
              </a:rPr>
              <a:t>Curated Package List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  <a:p>
            <a:pPr algn="r"/>
            <a:r>
              <a:rPr lang="en-CA" sz="2400" b="1" dirty="0">
                <a:solidFill>
                  <a:srgbClr val="00FF00"/>
                </a:solidFill>
              </a:rPr>
              <a:t>(</a:t>
            </a:r>
            <a:r>
              <a:rPr lang="en-CA" sz="2400" b="1" dirty="0">
                <a:solidFill>
                  <a:schemeClr val="accent6"/>
                </a:solidFill>
              </a:rPr>
              <a:t>base</a:t>
            </a:r>
            <a:r>
              <a:rPr lang="en-CA" sz="2400" b="1" dirty="0">
                <a:solidFill>
                  <a:srgbClr val="00FF00"/>
                </a:solidFill>
              </a:rPr>
              <a:t>)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4F6CA4B-EA87-7264-575E-2C01946A4287}"/>
              </a:ext>
            </a:extLst>
          </p:cNvPr>
          <p:cNvSpPr txBox="1"/>
          <p:nvPr/>
        </p:nvSpPr>
        <p:spPr>
          <a:xfrm>
            <a:off x="3985258" y="4618519"/>
            <a:ext cx="445489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3EB049"/>
                </a:solidFill>
              </a:rPr>
              <a:t>Anaconda</a:t>
            </a:r>
            <a:r>
              <a:rPr lang="en-US" sz="2000" dirty="0">
                <a:solidFill>
                  <a:srgbClr val="FFFFFF"/>
                </a:solidFill>
              </a:rPr>
              <a:t> is an all</a:t>
            </a:r>
            <a:r>
              <a:rPr lang="en-US" sz="2000" dirty="0">
                <a:solidFill>
                  <a:srgbClr val="3EB049"/>
                </a:solidFill>
              </a:rPr>
              <a:t>-</a:t>
            </a:r>
            <a:r>
              <a:rPr lang="en-US" sz="2000" dirty="0">
                <a:solidFill>
                  <a:srgbClr val="FFFFFF"/>
                </a:solidFill>
              </a:rPr>
              <a:t>in</a:t>
            </a:r>
            <a:r>
              <a:rPr lang="en-US" sz="2000" dirty="0">
                <a:solidFill>
                  <a:srgbClr val="3EB049"/>
                </a:solidFill>
              </a:rPr>
              <a:t>-</a:t>
            </a:r>
            <a:r>
              <a:rPr lang="en-US" sz="2000" dirty="0">
                <a:solidFill>
                  <a:srgbClr val="FFFFFF"/>
                </a:solidFill>
              </a:rPr>
              <a:t>one way to install and manage Python on your computer</a:t>
            </a:r>
            <a:r>
              <a:rPr lang="en-US" sz="2000" dirty="0">
                <a:solidFill>
                  <a:srgbClr val="3EB049"/>
                </a:solidFill>
              </a:rPr>
              <a:t>.</a:t>
            </a:r>
            <a:r>
              <a:rPr lang="en-US" sz="2000" dirty="0"/>
              <a:t> </a:t>
            </a:r>
            <a:r>
              <a:rPr lang="en-US" sz="2000" dirty="0">
                <a:solidFill>
                  <a:srgbClr val="FFFFFF"/>
                </a:solidFill>
              </a:rPr>
              <a:t>It helps you set up the tools and libraries you need for coding without having to configure everything from scratch</a:t>
            </a:r>
            <a:r>
              <a:rPr lang="en-US" sz="2000" dirty="0">
                <a:solidFill>
                  <a:srgbClr val="3EB049"/>
                </a:solidFill>
              </a:rPr>
              <a:t>.</a:t>
            </a:r>
            <a:endParaRPr lang="en-CA" sz="2000" dirty="0">
              <a:solidFill>
                <a:srgbClr val="3EB04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70686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13242-23D4-8608-4DD6-2555661CC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4" descr="Python icon transparent background 48332144 PNG">
            <a:extLst>
              <a:ext uri="{FF2B5EF4-FFF2-40B4-BE49-F238E27FC236}">
                <a16:creationId xmlns:a16="http://schemas.microsoft.com/office/drawing/2014/main" id="{388F63E0-F985-37A0-F0DF-358A097FA6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6510" y="898763"/>
            <a:ext cx="1155818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6">
            <a:extLst>
              <a:ext uri="{FF2B5EF4-FFF2-40B4-BE49-F238E27FC236}">
                <a16:creationId xmlns:a16="http://schemas.microsoft.com/office/drawing/2014/main" id="{06AA764C-4308-2831-A723-366DBE58B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57687" y="5722383"/>
            <a:ext cx="779033" cy="779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10">
            <a:extLst>
              <a:ext uri="{FF2B5EF4-FFF2-40B4-BE49-F238E27FC236}">
                <a16:creationId xmlns:a16="http://schemas.microsoft.com/office/drawing/2014/main" id="{54D87B82-F4A6-AC17-0687-F9F59DBAF3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9322" y="3541809"/>
            <a:ext cx="910097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26" descr="PyCharm Logo Update – IDEs Support (IntelliJ Platform) | JetBrains">
            <a:extLst>
              <a:ext uri="{FF2B5EF4-FFF2-40B4-BE49-F238E27FC236}">
                <a16:creationId xmlns:a16="http://schemas.microsoft.com/office/drawing/2014/main" id="{6F36C4D1-3F31-74E6-AAA3-DADC4ADD9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9469" y="4618787"/>
            <a:ext cx="1055468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28">
            <a:extLst>
              <a:ext uri="{FF2B5EF4-FFF2-40B4-BE49-F238E27FC236}">
                <a16:creationId xmlns:a16="http://schemas.microsoft.com/office/drawing/2014/main" id="{85C1F348-D514-6C48-BB8A-163F48032A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7362" y="3489702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Picture 16" descr="macOS app icon doesn't follow human interface guidelines · Issue #613 ·  jupyterlab/jupyterlab-desktop">
            <a:extLst>
              <a:ext uri="{FF2B5EF4-FFF2-40B4-BE49-F238E27FC236}">
                <a16:creationId xmlns:a16="http://schemas.microsoft.com/office/drawing/2014/main" id="{DBD1B63C-40F3-12F6-C2F6-5A9F80501C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6036" y="4598185"/>
            <a:ext cx="1096671" cy="1096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20">
            <a:extLst>
              <a:ext uri="{FF2B5EF4-FFF2-40B4-BE49-F238E27FC236}">
                <a16:creationId xmlns:a16="http://schemas.microsoft.com/office/drawing/2014/main" id="{BBB4DF8F-EF5B-4A6C-F6B8-E228B3E59D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105"/>
          <a:stretch>
            <a:fillRect/>
          </a:stretch>
        </p:blipFill>
        <p:spPr bwMode="auto">
          <a:xfrm>
            <a:off x="11018769" y="5788246"/>
            <a:ext cx="711206" cy="67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3" name="Picture 20">
            <a:extLst>
              <a:ext uri="{FF2B5EF4-FFF2-40B4-BE49-F238E27FC236}">
                <a16:creationId xmlns:a16="http://schemas.microsoft.com/office/drawing/2014/main" id="{FCBD0CD0-3F19-BC91-40E2-4CA001C2FA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7581" y="2885575"/>
            <a:ext cx="759890" cy="409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2" name="Picture 8" descr="SciPy - NumFOCUS">
            <a:extLst>
              <a:ext uri="{FF2B5EF4-FFF2-40B4-BE49-F238E27FC236}">
                <a16:creationId xmlns:a16="http://schemas.microsoft.com/office/drawing/2014/main" id="{80DB1057-6451-9670-AD28-D82CFCF242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2198" y="2856499"/>
            <a:ext cx="491223" cy="491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0" name="Picture 16" descr="Discussion of seaborn logo · Issue #2243 · mwaskom/seaborn">
            <a:extLst>
              <a:ext uri="{FF2B5EF4-FFF2-40B4-BE49-F238E27FC236}">
                <a16:creationId xmlns:a16="http://schemas.microsoft.com/office/drawing/2014/main" id="{E6A9354E-0C38-B8D8-D730-0DCBB0AE61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3068" y="2457450"/>
            <a:ext cx="455195" cy="455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2" name="Picture 18">
            <a:extLst>
              <a:ext uri="{FF2B5EF4-FFF2-40B4-BE49-F238E27FC236}">
                <a16:creationId xmlns:a16="http://schemas.microsoft.com/office/drawing/2014/main" id="{944D7C65-C7F6-60CE-4D93-914B3F2D76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9086" y="2427371"/>
            <a:ext cx="455195" cy="455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CFC5739-4B84-5E2E-4686-C5F6E9EA31F8}"/>
              </a:ext>
            </a:extLst>
          </p:cNvPr>
          <p:cNvSpPr txBox="1"/>
          <p:nvPr/>
        </p:nvSpPr>
        <p:spPr>
          <a:xfrm>
            <a:off x="1317063" y="3649291"/>
            <a:ext cx="406988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FFFFF"/>
                </a:solidFill>
              </a:rPr>
              <a:t>We could install everything on our own</a:t>
            </a:r>
            <a:r>
              <a:rPr lang="en-US" sz="4000" b="1" dirty="0">
                <a:solidFill>
                  <a:schemeClr val="accent6"/>
                </a:solidFill>
              </a:rPr>
              <a:t>.</a:t>
            </a:r>
            <a:endParaRPr lang="en-CA" sz="4000" b="1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261550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FF3E7-60BE-03CE-9A0D-434A8B819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5264CA9A-1847-EB56-6E9B-F7A2775734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0498" y="2413525"/>
            <a:ext cx="4071004" cy="20309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E447004-2C69-66BA-8F55-6044FAC46E6B}"/>
              </a:ext>
            </a:extLst>
          </p:cNvPr>
          <p:cNvCxnSpPr>
            <a:cxnSpLocks/>
          </p:cNvCxnSpPr>
          <p:nvPr/>
        </p:nvCxnSpPr>
        <p:spPr>
          <a:xfrm flipH="1" flipV="1">
            <a:off x="5650711" y="1961147"/>
            <a:ext cx="178589" cy="574423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8BD4FC3-F4AA-6DAE-D75E-C76B157750BB}"/>
              </a:ext>
            </a:extLst>
          </p:cNvPr>
          <p:cNvCxnSpPr>
            <a:cxnSpLocks/>
          </p:cNvCxnSpPr>
          <p:nvPr/>
        </p:nvCxnSpPr>
        <p:spPr>
          <a:xfrm flipV="1">
            <a:off x="6406816" y="1672653"/>
            <a:ext cx="1588168" cy="1028436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F784772-2DB3-8F4F-C4EA-42BCF08D74E2}"/>
              </a:ext>
            </a:extLst>
          </p:cNvPr>
          <p:cNvCxnSpPr>
            <a:cxnSpLocks/>
          </p:cNvCxnSpPr>
          <p:nvPr/>
        </p:nvCxnSpPr>
        <p:spPr>
          <a:xfrm>
            <a:off x="6590297" y="3204412"/>
            <a:ext cx="3177065" cy="676168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0313CAF-6D71-6F11-4A3D-937D87FECEF0}"/>
              </a:ext>
            </a:extLst>
          </p:cNvPr>
          <p:cNvSpPr txBox="1"/>
          <p:nvPr/>
        </p:nvSpPr>
        <p:spPr>
          <a:xfrm>
            <a:off x="4084529" y="575514"/>
            <a:ext cx="2939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Python Interpreter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30" name="Picture 24" descr="Python icon transparent background 48332144 PNG">
            <a:extLst>
              <a:ext uri="{FF2B5EF4-FFF2-40B4-BE49-F238E27FC236}">
                <a16:creationId xmlns:a16="http://schemas.microsoft.com/office/drawing/2014/main" id="{E8EE751F-B945-1205-8E4A-61926B2899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6510" y="898763"/>
            <a:ext cx="1155818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6">
            <a:extLst>
              <a:ext uri="{FF2B5EF4-FFF2-40B4-BE49-F238E27FC236}">
                <a16:creationId xmlns:a16="http://schemas.microsoft.com/office/drawing/2014/main" id="{E8F0C7AE-ACBF-C7B1-3B9C-757F53636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57687" y="5722383"/>
            <a:ext cx="779033" cy="779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D2EEB741-B432-14C0-C4D3-847F6717B9C0}"/>
              </a:ext>
            </a:extLst>
          </p:cNvPr>
          <p:cNvSpPr txBox="1"/>
          <p:nvPr/>
        </p:nvSpPr>
        <p:spPr>
          <a:xfrm>
            <a:off x="10237294" y="3030901"/>
            <a:ext cx="12752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Editors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35" name="Picture 10">
            <a:extLst>
              <a:ext uri="{FF2B5EF4-FFF2-40B4-BE49-F238E27FC236}">
                <a16:creationId xmlns:a16="http://schemas.microsoft.com/office/drawing/2014/main" id="{2CEB904A-9845-4AD6-AAA5-36223874A0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9322" y="3541809"/>
            <a:ext cx="910097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26" descr="PyCharm Logo Update – IDEs Support (IntelliJ Platform) | JetBrains">
            <a:extLst>
              <a:ext uri="{FF2B5EF4-FFF2-40B4-BE49-F238E27FC236}">
                <a16:creationId xmlns:a16="http://schemas.microsoft.com/office/drawing/2014/main" id="{9A633136-C40C-3329-4348-A665EB51D7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9469" y="4618787"/>
            <a:ext cx="1055468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28">
            <a:extLst>
              <a:ext uri="{FF2B5EF4-FFF2-40B4-BE49-F238E27FC236}">
                <a16:creationId xmlns:a16="http://schemas.microsoft.com/office/drawing/2014/main" id="{527251A0-4084-89FC-AEF7-8223ACC90B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7362" y="3489702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Picture 16" descr="macOS app icon doesn't follow human interface guidelines · Issue #613 ·  jupyterlab/jupyterlab-desktop">
            <a:extLst>
              <a:ext uri="{FF2B5EF4-FFF2-40B4-BE49-F238E27FC236}">
                <a16:creationId xmlns:a16="http://schemas.microsoft.com/office/drawing/2014/main" id="{08475BDD-A5E3-A435-0395-F5EE62CF0D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6036" y="4598185"/>
            <a:ext cx="1096671" cy="1096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20">
            <a:extLst>
              <a:ext uri="{FF2B5EF4-FFF2-40B4-BE49-F238E27FC236}">
                <a16:creationId xmlns:a16="http://schemas.microsoft.com/office/drawing/2014/main" id="{AB79C23B-2E01-572C-383A-B5567DC4633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105"/>
          <a:stretch>
            <a:fillRect/>
          </a:stretch>
        </p:blipFill>
        <p:spPr bwMode="auto">
          <a:xfrm>
            <a:off x="11018769" y="5788246"/>
            <a:ext cx="711206" cy="67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41" descr="A screenshot of a computer&#10;&#10;Description automatically generated">
            <a:extLst>
              <a:ext uri="{FF2B5EF4-FFF2-40B4-BE49-F238E27FC236}">
                <a16:creationId xmlns:a16="http://schemas.microsoft.com/office/drawing/2014/main" id="{FA38A81B-A00A-7C37-6666-E61EF11C0E3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23" y="1226868"/>
            <a:ext cx="3684957" cy="2373314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47449CB-72E5-06B6-4F6B-62E5F5078CE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961" y="4490288"/>
            <a:ext cx="2790979" cy="2181423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701A798-D9D5-7192-E92C-B20278AB0CCC}"/>
              </a:ext>
            </a:extLst>
          </p:cNvPr>
          <p:cNvCxnSpPr>
            <a:cxnSpLocks/>
          </p:cNvCxnSpPr>
          <p:nvPr/>
        </p:nvCxnSpPr>
        <p:spPr>
          <a:xfrm flipH="1">
            <a:off x="2549723" y="3204412"/>
            <a:ext cx="2977957" cy="1531229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E7A4A4E-59B7-A80C-7A69-0F6655D89432}"/>
              </a:ext>
            </a:extLst>
          </p:cNvPr>
          <p:cNvSpPr txBox="1"/>
          <p:nvPr/>
        </p:nvSpPr>
        <p:spPr>
          <a:xfrm>
            <a:off x="623927" y="3904644"/>
            <a:ext cx="162897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Anaconda</a:t>
            </a:r>
          </a:p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Prompt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DA89647C-6AC5-86EA-B826-797ABDC85E49}"/>
              </a:ext>
            </a:extLst>
          </p:cNvPr>
          <p:cNvCxnSpPr>
            <a:cxnSpLocks/>
          </p:cNvCxnSpPr>
          <p:nvPr/>
        </p:nvCxnSpPr>
        <p:spPr>
          <a:xfrm flipH="1" flipV="1">
            <a:off x="3671735" y="2330246"/>
            <a:ext cx="1959044" cy="515222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E643A958-A472-81D5-829E-B8CE21D86205}"/>
              </a:ext>
            </a:extLst>
          </p:cNvPr>
          <p:cNvSpPr txBox="1"/>
          <p:nvPr/>
        </p:nvSpPr>
        <p:spPr>
          <a:xfrm>
            <a:off x="267320" y="858994"/>
            <a:ext cx="32205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Anaconda Navigator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08BE3C47-178F-6409-8568-190CEA237533}"/>
              </a:ext>
            </a:extLst>
          </p:cNvPr>
          <p:cNvCxnSpPr>
            <a:cxnSpLocks/>
          </p:cNvCxnSpPr>
          <p:nvPr/>
        </p:nvCxnSpPr>
        <p:spPr>
          <a:xfrm flipV="1">
            <a:off x="6623385" y="2679032"/>
            <a:ext cx="1526165" cy="268706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8" name="Picture 4">
            <a:extLst>
              <a:ext uri="{FF2B5EF4-FFF2-40B4-BE49-F238E27FC236}">
                <a16:creationId xmlns:a16="http://schemas.microsoft.com/office/drawing/2014/main" id="{21CAD5D3-58A9-C789-BD5E-9117274B96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3907" y="1358028"/>
            <a:ext cx="1750595" cy="363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29B2F3B1-71C3-FC85-BE02-86E6225BCD3B}"/>
              </a:ext>
            </a:extLst>
          </p:cNvPr>
          <p:cNvSpPr txBox="1"/>
          <p:nvPr/>
        </p:nvSpPr>
        <p:spPr>
          <a:xfrm>
            <a:off x="7947851" y="504437"/>
            <a:ext cx="34722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chemeClr val="accent6"/>
                </a:solidFill>
              </a:rPr>
              <a:t>Package </a:t>
            </a:r>
            <a:r>
              <a:rPr lang="en-CA" sz="2400" b="1" dirty="0">
                <a:solidFill>
                  <a:srgbClr val="00FF00"/>
                </a:solidFill>
              </a:rPr>
              <a:t>+</a:t>
            </a:r>
            <a:endParaRPr lang="en-CA" sz="2400" b="1" dirty="0">
              <a:solidFill>
                <a:schemeClr val="accent6"/>
              </a:solidFill>
            </a:endParaRPr>
          </a:p>
          <a:p>
            <a:r>
              <a:rPr lang="en-CA" sz="2400" b="1" dirty="0">
                <a:solidFill>
                  <a:schemeClr val="accent6"/>
                </a:solidFill>
              </a:rPr>
              <a:t>Environment Manager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73" name="Picture 20">
            <a:extLst>
              <a:ext uri="{FF2B5EF4-FFF2-40B4-BE49-F238E27FC236}">
                <a16:creationId xmlns:a16="http://schemas.microsoft.com/office/drawing/2014/main" id="{C3EC12BC-BD18-946C-18A0-C993332461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7581" y="2885575"/>
            <a:ext cx="759890" cy="409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2" name="Picture 8" descr="SciPy - NumFOCUS">
            <a:extLst>
              <a:ext uri="{FF2B5EF4-FFF2-40B4-BE49-F238E27FC236}">
                <a16:creationId xmlns:a16="http://schemas.microsoft.com/office/drawing/2014/main" id="{A2AB3619-564B-1237-9A71-F028164B38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2198" y="2856499"/>
            <a:ext cx="491223" cy="491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0" name="Picture 16" descr="Discussion of seaborn logo · Issue #2243 · mwaskom/seaborn">
            <a:extLst>
              <a:ext uri="{FF2B5EF4-FFF2-40B4-BE49-F238E27FC236}">
                <a16:creationId xmlns:a16="http://schemas.microsoft.com/office/drawing/2014/main" id="{BE2B95AF-9CAF-FFA2-BBA9-912BC6C1F2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3068" y="2457450"/>
            <a:ext cx="455195" cy="455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2" name="Picture 18">
            <a:extLst>
              <a:ext uri="{FF2B5EF4-FFF2-40B4-BE49-F238E27FC236}">
                <a16:creationId xmlns:a16="http://schemas.microsoft.com/office/drawing/2014/main" id="{851A5EE5-EAC4-5834-C0D5-EE2F9179A0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9086" y="2427371"/>
            <a:ext cx="455195" cy="455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AFDB9A5D-00DA-6813-A3D0-7FAE0DA675EB}"/>
              </a:ext>
            </a:extLst>
          </p:cNvPr>
          <p:cNvSpPr txBox="1"/>
          <p:nvPr/>
        </p:nvSpPr>
        <p:spPr>
          <a:xfrm>
            <a:off x="8082296" y="1982063"/>
            <a:ext cx="32680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CA" sz="2400" b="1" dirty="0">
                <a:solidFill>
                  <a:schemeClr val="accent6"/>
                </a:solidFill>
              </a:rPr>
              <a:t>Curated Package List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  <a:p>
            <a:pPr algn="r"/>
            <a:r>
              <a:rPr lang="en-CA" sz="2400" b="1" dirty="0">
                <a:solidFill>
                  <a:srgbClr val="00FF00"/>
                </a:solidFill>
              </a:rPr>
              <a:t>(</a:t>
            </a:r>
            <a:r>
              <a:rPr lang="en-CA" sz="2400" b="1" dirty="0">
                <a:solidFill>
                  <a:schemeClr val="accent6"/>
                </a:solidFill>
              </a:rPr>
              <a:t>base</a:t>
            </a:r>
            <a:r>
              <a:rPr lang="en-CA" sz="2400" b="1" dirty="0">
                <a:solidFill>
                  <a:srgbClr val="00FF00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79F428-76EA-56A0-E71B-63F733184629}"/>
              </a:ext>
            </a:extLst>
          </p:cNvPr>
          <p:cNvSpPr txBox="1"/>
          <p:nvPr/>
        </p:nvSpPr>
        <p:spPr>
          <a:xfrm>
            <a:off x="4002376" y="4919312"/>
            <a:ext cx="406988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FFFFF"/>
                </a:solidFill>
              </a:rPr>
              <a:t>But this is much easier</a:t>
            </a:r>
            <a:r>
              <a:rPr lang="en-US" sz="4000" b="1" dirty="0">
                <a:solidFill>
                  <a:srgbClr val="3EB049"/>
                </a:solidFill>
              </a:rPr>
              <a:t>!</a:t>
            </a:r>
            <a:endParaRPr lang="en-CA" sz="4000" b="1" dirty="0">
              <a:solidFill>
                <a:srgbClr val="3EB04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2190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8B6BB-422E-1138-8D64-424860FD1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14B64E57-2447-98F5-660C-17BDF8A462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0498" y="2413525"/>
            <a:ext cx="4071004" cy="20309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D4E0CA2-734D-E2C1-4326-A59C1D99158C}"/>
              </a:ext>
            </a:extLst>
          </p:cNvPr>
          <p:cNvSpPr txBox="1"/>
          <p:nvPr/>
        </p:nvSpPr>
        <p:spPr>
          <a:xfrm>
            <a:off x="4084529" y="575514"/>
            <a:ext cx="2939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Python Interpreter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30" name="Picture 24" descr="Python icon transparent background 48332144 PNG">
            <a:extLst>
              <a:ext uri="{FF2B5EF4-FFF2-40B4-BE49-F238E27FC236}">
                <a16:creationId xmlns:a16="http://schemas.microsoft.com/office/drawing/2014/main" id="{227A55DB-7383-BF5D-0CC7-4B5AE5B703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6510" y="898763"/>
            <a:ext cx="1155818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6">
            <a:extLst>
              <a:ext uri="{FF2B5EF4-FFF2-40B4-BE49-F238E27FC236}">
                <a16:creationId xmlns:a16="http://schemas.microsoft.com/office/drawing/2014/main" id="{DB65A5F9-1AEC-7E28-8119-AD10C552E6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57687" y="5722383"/>
            <a:ext cx="779033" cy="779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41DABFD4-B9AA-09D9-4CE0-160A1C5AEE37}"/>
              </a:ext>
            </a:extLst>
          </p:cNvPr>
          <p:cNvSpPr txBox="1"/>
          <p:nvPr/>
        </p:nvSpPr>
        <p:spPr>
          <a:xfrm>
            <a:off x="10237294" y="3030901"/>
            <a:ext cx="12752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Editors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35" name="Picture 10">
            <a:extLst>
              <a:ext uri="{FF2B5EF4-FFF2-40B4-BE49-F238E27FC236}">
                <a16:creationId xmlns:a16="http://schemas.microsoft.com/office/drawing/2014/main" id="{1059F624-BA45-9873-6BDB-61714B0F96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9322" y="3541809"/>
            <a:ext cx="910097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26" descr="PyCharm Logo Update – IDEs Support (IntelliJ Platform) | JetBrains">
            <a:extLst>
              <a:ext uri="{FF2B5EF4-FFF2-40B4-BE49-F238E27FC236}">
                <a16:creationId xmlns:a16="http://schemas.microsoft.com/office/drawing/2014/main" id="{9801E295-022F-4E77-7807-1C8167D741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9469" y="4618787"/>
            <a:ext cx="1055468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28">
            <a:extLst>
              <a:ext uri="{FF2B5EF4-FFF2-40B4-BE49-F238E27FC236}">
                <a16:creationId xmlns:a16="http://schemas.microsoft.com/office/drawing/2014/main" id="{67F4C47F-CD31-FA4A-C5FF-73CCF8011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7362" y="3489702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Picture 16" descr="macOS app icon doesn't follow human interface guidelines · Issue #613 ·  jupyterlab/jupyterlab-desktop">
            <a:extLst>
              <a:ext uri="{FF2B5EF4-FFF2-40B4-BE49-F238E27FC236}">
                <a16:creationId xmlns:a16="http://schemas.microsoft.com/office/drawing/2014/main" id="{3DFCEF67-F615-EDDB-F8AE-DE0D6A4B49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6036" y="4598185"/>
            <a:ext cx="1096671" cy="1096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20">
            <a:extLst>
              <a:ext uri="{FF2B5EF4-FFF2-40B4-BE49-F238E27FC236}">
                <a16:creationId xmlns:a16="http://schemas.microsoft.com/office/drawing/2014/main" id="{C6927457-E0CD-E076-2E18-2FFC0FE976B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105"/>
          <a:stretch>
            <a:fillRect/>
          </a:stretch>
        </p:blipFill>
        <p:spPr bwMode="auto">
          <a:xfrm>
            <a:off x="11018769" y="5788246"/>
            <a:ext cx="711206" cy="67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41" descr="A screenshot of a computer&#10;&#10;Description automatically generated">
            <a:extLst>
              <a:ext uri="{FF2B5EF4-FFF2-40B4-BE49-F238E27FC236}">
                <a16:creationId xmlns:a16="http://schemas.microsoft.com/office/drawing/2014/main" id="{9A0FFAAC-C2B6-69A2-B191-DD79777EEA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23" y="1226868"/>
            <a:ext cx="3684957" cy="2373314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D9353C24-8391-66D3-46CB-A85F3B3FFCB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961" y="4490288"/>
            <a:ext cx="2790979" cy="2181423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D81DEBCD-E3C9-C515-8828-E57B186A84C7}"/>
              </a:ext>
            </a:extLst>
          </p:cNvPr>
          <p:cNvSpPr txBox="1"/>
          <p:nvPr/>
        </p:nvSpPr>
        <p:spPr>
          <a:xfrm>
            <a:off x="623927" y="3904644"/>
            <a:ext cx="162897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Anaconda</a:t>
            </a:r>
          </a:p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Prompt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3D2DBEA-52B3-FF10-2980-3881E2820256}"/>
              </a:ext>
            </a:extLst>
          </p:cNvPr>
          <p:cNvSpPr txBox="1"/>
          <p:nvPr/>
        </p:nvSpPr>
        <p:spPr>
          <a:xfrm>
            <a:off x="267320" y="858994"/>
            <a:ext cx="32205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Anaconda Navigator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2DAC8015-9AE9-5369-DF94-F3863AAE07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3907" y="1358028"/>
            <a:ext cx="1750595" cy="363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17B27F9F-93D2-FA7D-5630-3C2898E9C694}"/>
              </a:ext>
            </a:extLst>
          </p:cNvPr>
          <p:cNvSpPr txBox="1"/>
          <p:nvPr/>
        </p:nvSpPr>
        <p:spPr>
          <a:xfrm>
            <a:off x="7947851" y="504437"/>
            <a:ext cx="34722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chemeClr val="accent6"/>
                </a:solidFill>
              </a:rPr>
              <a:t>Package </a:t>
            </a:r>
            <a:r>
              <a:rPr lang="en-CA" sz="2400" b="1" dirty="0">
                <a:solidFill>
                  <a:srgbClr val="00FF00"/>
                </a:solidFill>
              </a:rPr>
              <a:t>+</a:t>
            </a:r>
            <a:endParaRPr lang="en-CA" sz="2400" b="1" dirty="0">
              <a:solidFill>
                <a:schemeClr val="accent6"/>
              </a:solidFill>
            </a:endParaRPr>
          </a:p>
          <a:p>
            <a:r>
              <a:rPr lang="en-CA" sz="2400" b="1" dirty="0">
                <a:solidFill>
                  <a:schemeClr val="accent6"/>
                </a:solidFill>
              </a:rPr>
              <a:t>Environment Manager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73" name="Picture 20">
            <a:extLst>
              <a:ext uri="{FF2B5EF4-FFF2-40B4-BE49-F238E27FC236}">
                <a16:creationId xmlns:a16="http://schemas.microsoft.com/office/drawing/2014/main" id="{36B699FF-2AB5-0ABC-DCEA-97BDC83F8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7581" y="2885575"/>
            <a:ext cx="759890" cy="409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2" name="Picture 8" descr="SciPy - NumFOCUS">
            <a:extLst>
              <a:ext uri="{FF2B5EF4-FFF2-40B4-BE49-F238E27FC236}">
                <a16:creationId xmlns:a16="http://schemas.microsoft.com/office/drawing/2014/main" id="{7B9EC184-F3D1-765F-B5C0-3C447B8EEF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2198" y="2856499"/>
            <a:ext cx="491223" cy="491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0" name="Picture 16" descr="Discussion of seaborn logo · Issue #2243 · mwaskom/seaborn">
            <a:extLst>
              <a:ext uri="{FF2B5EF4-FFF2-40B4-BE49-F238E27FC236}">
                <a16:creationId xmlns:a16="http://schemas.microsoft.com/office/drawing/2014/main" id="{C1094A23-A176-FC4F-621A-12B5ED4EC0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3068" y="2457450"/>
            <a:ext cx="455195" cy="455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2" name="Picture 18">
            <a:extLst>
              <a:ext uri="{FF2B5EF4-FFF2-40B4-BE49-F238E27FC236}">
                <a16:creationId xmlns:a16="http://schemas.microsoft.com/office/drawing/2014/main" id="{A21A4BC8-7098-3911-1090-8C7A4CF715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9086" y="2427371"/>
            <a:ext cx="455195" cy="455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A47E4647-6324-9248-A606-D483E5EFF4EA}"/>
              </a:ext>
            </a:extLst>
          </p:cNvPr>
          <p:cNvSpPr txBox="1"/>
          <p:nvPr/>
        </p:nvSpPr>
        <p:spPr>
          <a:xfrm>
            <a:off x="8082296" y="1982063"/>
            <a:ext cx="32680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CA" sz="2400" b="1" dirty="0">
                <a:solidFill>
                  <a:schemeClr val="accent6"/>
                </a:solidFill>
              </a:rPr>
              <a:t>Curated Package List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  <a:p>
            <a:pPr algn="r"/>
            <a:r>
              <a:rPr lang="en-CA" sz="2400" b="1" dirty="0">
                <a:solidFill>
                  <a:srgbClr val="00FF00"/>
                </a:solidFill>
              </a:rPr>
              <a:t>(</a:t>
            </a:r>
            <a:r>
              <a:rPr lang="en-CA" sz="2400" b="1" dirty="0">
                <a:solidFill>
                  <a:schemeClr val="accent6"/>
                </a:solidFill>
              </a:rPr>
              <a:t>base</a:t>
            </a:r>
            <a:r>
              <a:rPr lang="en-CA" sz="2400" b="1" dirty="0">
                <a:solidFill>
                  <a:srgbClr val="00FF00"/>
                </a:solidFill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1C38026-71B9-DB42-8342-FCFF8442297C}"/>
              </a:ext>
            </a:extLst>
          </p:cNvPr>
          <p:cNvSpPr/>
          <p:nvPr/>
        </p:nvSpPr>
        <p:spPr>
          <a:xfrm>
            <a:off x="192537" y="3904645"/>
            <a:ext cx="3035758" cy="2560534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0B9010-4AFA-9618-36F7-D378A870F76E}"/>
              </a:ext>
            </a:extLst>
          </p:cNvPr>
          <p:cNvSpPr/>
          <p:nvPr/>
        </p:nvSpPr>
        <p:spPr>
          <a:xfrm>
            <a:off x="3902704" y="532011"/>
            <a:ext cx="3121603" cy="1570637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4E8AC3-BB9E-F01E-7E40-8C2BF8EAD06A}"/>
              </a:ext>
            </a:extLst>
          </p:cNvPr>
          <p:cNvSpPr/>
          <p:nvPr/>
        </p:nvSpPr>
        <p:spPr>
          <a:xfrm>
            <a:off x="7880335" y="538997"/>
            <a:ext cx="3802328" cy="2398514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A22610-4F46-03D1-7530-FE07FB0F9822}"/>
              </a:ext>
            </a:extLst>
          </p:cNvPr>
          <p:cNvSpPr/>
          <p:nvPr/>
        </p:nvSpPr>
        <p:spPr>
          <a:xfrm>
            <a:off x="8224787" y="2937511"/>
            <a:ext cx="3726551" cy="3734199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6F4C242-80A8-5960-E2F6-4E1355E27436}"/>
              </a:ext>
            </a:extLst>
          </p:cNvPr>
          <p:cNvCxnSpPr>
            <a:cxnSpLocks/>
          </p:cNvCxnSpPr>
          <p:nvPr/>
        </p:nvCxnSpPr>
        <p:spPr>
          <a:xfrm flipH="1" flipV="1">
            <a:off x="3671735" y="2330246"/>
            <a:ext cx="1959044" cy="515222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622513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D6C3B-7EE8-1149-17E5-02E775506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1459ED49-182D-9A47-FD09-95C350602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0498" y="2413525"/>
            <a:ext cx="4071004" cy="20309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D9FC15D8-7328-B684-C48D-19BCC3E19C71}"/>
              </a:ext>
            </a:extLst>
          </p:cNvPr>
          <p:cNvSpPr txBox="1"/>
          <p:nvPr/>
        </p:nvSpPr>
        <p:spPr>
          <a:xfrm>
            <a:off x="4084529" y="575514"/>
            <a:ext cx="2939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Python Interpreter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30" name="Picture 24" descr="Python icon transparent background 48332144 PNG">
            <a:extLst>
              <a:ext uri="{FF2B5EF4-FFF2-40B4-BE49-F238E27FC236}">
                <a16:creationId xmlns:a16="http://schemas.microsoft.com/office/drawing/2014/main" id="{9E850A72-4AD6-B74B-1BB1-B6AF51BC27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6510" y="898763"/>
            <a:ext cx="1155818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6">
            <a:extLst>
              <a:ext uri="{FF2B5EF4-FFF2-40B4-BE49-F238E27FC236}">
                <a16:creationId xmlns:a16="http://schemas.microsoft.com/office/drawing/2014/main" id="{FE56EE6C-0166-425D-40F6-F1310B2E70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57687" y="5722383"/>
            <a:ext cx="779033" cy="779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4555DDBF-B3AC-F0D7-523C-D90F88E41A3F}"/>
              </a:ext>
            </a:extLst>
          </p:cNvPr>
          <p:cNvSpPr txBox="1"/>
          <p:nvPr/>
        </p:nvSpPr>
        <p:spPr>
          <a:xfrm>
            <a:off x="10237294" y="3030901"/>
            <a:ext cx="12752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Editors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35" name="Picture 10">
            <a:extLst>
              <a:ext uri="{FF2B5EF4-FFF2-40B4-BE49-F238E27FC236}">
                <a16:creationId xmlns:a16="http://schemas.microsoft.com/office/drawing/2014/main" id="{ADEA3B62-D102-6C87-66F4-5E344631BE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9322" y="3541809"/>
            <a:ext cx="910097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26" descr="PyCharm Logo Update – IDEs Support (IntelliJ Platform) | JetBrains">
            <a:extLst>
              <a:ext uri="{FF2B5EF4-FFF2-40B4-BE49-F238E27FC236}">
                <a16:creationId xmlns:a16="http://schemas.microsoft.com/office/drawing/2014/main" id="{DAEBF966-7031-6031-76F7-4F53981AA0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9469" y="4618787"/>
            <a:ext cx="1055468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28">
            <a:extLst>
              <a:ext uri="{FF2B5EF4-FFF2-40B4-BE49-F238E27FC236}">
                <a16:creationId xmlns:a16="http://schemas.microsoft.com/office/drawing/2014/main" id="{7E91E0AD-4622-D4F6-3457-BE5FFC939F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7362" y="3489702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Picture 16" descr="macOS app icon doesn't follow human interface guidelines · Issue #613 ·  jupyterlab/jupyterlab-desktop">
            <a:extLst>
              <a:ext uri="{FF2B5EF4-FFF2-40B4-BE49-F238E27FC236}">
                <a16:creationId xmlns:a16="http://schemas.microsoft.com/office/drawing/2014/main" id="{CC8B0555-840F-B0EC-1497-A0F9B8BE85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6036" y="4598185"/>
            <a:ext cx="1096671" cy="1096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20">
            <a:extLst>
              <a:ext uri="{FF2B5EF4-FFF2-40B4-BE49-F238E27FC236}">
                <a16:creationId xmlns:a16="http://schemas.microsoft.com/office/drawing/2014/main" id="{AC38AF87-4B90-0666-9BA1-B11CD31FB19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105"/>
          <a:stretch>
            <a:fillRect/>
          </a:stretch>
        </p:blipFill>
        <p:spPr bwMode="auto">
          <a:xfrm>
            <a:off x="11018769" y="5788246"/>
            <a:ext cx="711206" cy="67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41" descr="A screenshot of a computer&#10;&#10;Description automatically generated">
            <a:extLst>
              <a:ext uri="{FF2B5EF4-FFF2-40B4-BE49-F238E27FC236}">
                <a16:creationId xmlns:a16="http://schemas.microsoft.com/office/drawing/2014/main" id="{BC4B1DFB-08F4-467D-FBDB-6AD495D0430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23" y="1226868"/>
            <a:ext cx="3684957" cy="2373314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E1D6E2ED-B5A9-1FE7-AC40-BE853332ADE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961" y="4490288"/>
            <a:ext cx="2790979" cy="2181423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C36B9BD1-642C-A3DB-1E4E-66EFCDCC3AB8}"/>
              </a:ext>
            </a:extLst>
          </p:cNvPr>
          <p:cNvSpPr txBox="1"/>
          <p:nvPr/>
        </p:nvSpPr>
        <p:spPr>
          <a:xfrm>
            <a:off x="623927" y="3904644"/>
            <a:ext cx="162897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Anaconda</a:t>
            </a:r>
          </a:p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Prompt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336B14E-1794-4827-F0FE-4E4FD7D89ECB}"/>
              </a:ext>
            </a:extLst>
          </p:cNvPr>
          <p:cNvSpPr txBox="1"/>
          <p:nvPr/>
        </p:nvSpPr>
        <p:spPr>
          <a:xfrm>
            <a:off x="267320" y="858994"/>
            <a:ext cx="32205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Anaconda Navigator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41A19AF9-1452-C93F-043E-E9FE8DB80D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3907" y="1358028"/>
            <a:ext cx="1750595" cy="363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C0747C0A-278F-5209-62AB-336A82412698}"/>
              </a:ext>
            </a:extLst>
          </p:cNvPr>
          <p:cNvSpPr txBox="1"/>
          <p:nvPr/>
        </p:nvSpPr>
        <p:spPr>
          <a:xfrm>
            <a:off x="7947851" y="504437"/>
            <a:ext cx="34722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chemeClr val="accent6"/>
                </a:solidFill>
              </a:rPr>
              <a:t>Package </a:t>
            </a:r>
            <a:r>
              <a:rPr lang="en-CA" sz="2400" b="1" dirty="0">
                <a:solidFill>
                  <a:srgbClr val="00FF00"/>
                </a:solidFill>
              </a:rPr>
              <a:t>+</a:t>
            </a:r>
            <a:endParaRPr lang="en-CA" sz="2400" b="1" dirty="0">
              <a:solidFill>
                <a:schemeClr val="accent6"/>
              </a:solidFill>
            </a:endParaRPr>
          </a:p>
          <a:p>
            <a:r>
              <a:rPr lang="en-CA" sz="2400" b="1" dirty="0">
                <a:solidFill>
                  <a:schemeClr val="accent6"/>
                </a:solidFill>
              </a:rPr>
              <a:t>Environment Manager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73" name="Picture 20">
            <a:extLst>
              <a:ext uri="{FF2B5EF4-FFF2-40B4-BE49-F238E27FC236}">
                <a16:creationId xmlns:a16="http://schemas.microsoft.com/office/drawing/2014/main" id="{462C96A7-6B2C-0AB7-D63B-63E154D33F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7581" y="2885575"/>
            <a:ext cx="759890" cy="409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2" name="Picture 8" descr="SciPy - NumFOCUS">
            <a:extLst>
              <a:ext uri="{FF2B5EF4-FFF2-40B4-BE49-F238E27FC236}">
                <a16:creationId xmlns:a16="http://schemas.microsoft.com/office/drawing/2014/main" id="{1E761708-B8F9-95FC-C56F-A40BB2BB6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2198" y="2856499"/>
            <a:ext cx="491223" cy="491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0" name="Picture 16" descr="Discussion of seaborn logo · Issue #2243 · mwaskom/seaborn">
            <a:extLst>
              <a:ext uri="{FF2B5EF4-FFF2-40B4-BE49-F238E27FC236}">
                <a16:creationId xmlns:a16="http://schemas.microsoft.com/office/drawing/2014/main" id="{5B23935C-D216-C1AB-DF38-43855A755B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3068" y="2457450"/>
            <a:ext cx="455195" cy="455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2" name="Picture 18">
            <a:extLst>
              <a:ext uri="{FF2B5EF4-FFF2-40B4-BE49-F238E27FC236}">
                <a16:creationId xmlns:a16="http://schemas.microsoft.com/office/drawing/2014/main" id="{0CF281DB-CF73-54A7-F973-D70A8AF0EE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9086" y="2427371"/>
            <a:ext cx="455195" cy="455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E1C5881A-E82C-E471-8FE5-AB150C0408F3}"/>
              </a:ext>
            </a:extLst>
          </p:cNvPr>
          <p:cNvSpPr txBox="1"/>
          <p:nvPr/>
        </p:nvSpPr>
        <p:spPr>
          <a:xfrm>
            <a:off x="8082296" y="1982063"/>
            <a:ext cx="32680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CA" sz="2400" b="1" dirty="0">
                <a:solidFill>
                  <a:schemeClr val="accent6"/>
                </a:solidFill>
              </a:rPr>
              <a:t>Curated Package List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  <a:p>
            <a:pPr algn="r"/>
            <a:r>
              <a:rPr lang="en-CA" sz="2400" b="1" dirty="0">
                <a:solidFill>
                  <a:srgbClr val="00FF00"/>
                </a:solidFill>
              </a:rPr>
              <a:t>(</a:t>
            </a:r>
            <a:r>
              <a:rPr lang="en-CA" sz="2400" b="1" dirty="0">
                <a:solidFill>
                  <a:schemeClr val="accent6"/>
                </a:solidFill>
              </a:rPr>
              <a:t>base</a:t>
            </a:r>
            <a:r>
              <a:rPr lang="en-CA" sz="2400" b="1" dirty="0">
                <a:solidFill>
                  <a:srgbClr val="00FF00"/>
                </a:solidFill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CEF5AC6-31F9-0E21-53CD-B6A5957C754E}"/>
              </a:ext>
            </a:extLst>
          </p:cNvPr>
          <p:cNvSpPr/>
          <p:nvPr/>
        </p:nvSpPr>
        <p:spPr>
          <a:xfrm>
            <a:off x="192537" y="3904645"/>
            <a:ext cx="3035758" cy="2560534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766F8A-328C-9AAB-1C82-7BB4A9593C9B}"/>
              </a:ext>
            </a:extLst>
          </p:cNvPr>
          <p:cNvSpPr/>
          <p:nvPr/>
        </p:nvSpPr>
        <p:spPr>
          <a:xfrm>
            <a:off x="3902704" y="532011"/>
            <a:ext cx="3121603" cy="1570637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86993D-5122-D086-C3E8-D1C401E440D5}"/>
              </a:ext>
            </a:extLst>
          </p:cNvPr>
          <p:cNvSpPr/>
          <p:nvPr/>
        </p:nvSpPr>
        <p:spPr>
          <a:xfrm>
            <a:off x="7880335" y="503529"/>
            <a:ext cx="3802328" cy="2433982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FB8406-647B-D53C-05D2-B90477491F87}"/>
              </a:ext>
            </a:extLst>
          </p:cNvPr>
          <p:cNvSpPr/>
          <p:nvPr/>
        </p:nvSpPr>
        <p:spPr>
          <a:xfrm>
            <a:off x="8224787" y="2937511"/>
            <a:ext cx="1490469" cy="3734199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B00E293-3C32-29A0-89C6-50F6B9880738}"/>
              </a:ext>
            </a:extLst>
          </p:cNvPr>
          <p:cNvCxnSpPr>
            <a:cxnSpLocks/>
          </p:cNvCxnSpPr>
          <p:nvPr/>
        </p:nvCxnSpPr>
        <p:spPr>
          <a:xfrm flipH="1" flipV="1">
            <a:off x="3671735" y="2330246"/>
            <a:ext cx="1959044" cy="515222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7F2975C-631B-3B02-9410-6A48821AF438}"/>
              </a:ext>
            </a:extLst>
          </p:cNvPr>
          <p:cNvCxnSpPr>
            <a:cxnSpLocks/>
          </p:cNvCxnSpPr>
          <p:nvPr/>
        </p:nvCxnSpPr>
        <p:spPr>
          <a:xfrm>
            <a:off x="6590297" y="3204412"/>
            <a:ext cx="3177065" cy="676168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012303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4FF3C-9637-ACA7-0D0F-77DCBB367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A5F9BDD8-78D4-D570-7069-F818628C74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0498" y="2413525"/>
            <a:ext cx="4071004" cy="20309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E55457E3-EFBF-B193-4961-D4DE340C1CC6}"/>
              </a:ext>
            </a:extLst>
          </p:cNvPr>
          <p:cNvSpPr txBox="1"/>
          <p:nvPr/>
        </p:nvSpPr>
        <p:spPr>
          <a:xfrm>
            <a:off x="4084529" y="575514"/>
            <a:ext cx="2939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Python Interpreter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30" name="Picture 24" descr="Python icon transparent background 48332144 PNG">
            <a:extLst>
              <a:ext uri="{FF2B5EF4-FFF2-40B4-BE49-F238E27FC236}">
                <a16:creationId xmlns:a16="http://schemas.microsoft.com/office/drawing/2014/main" id="{4450EAA2-4ACF-5842-A258-7BEA6B1ACB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6510" y="898763"/>
            <a:ext cx="1155818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6">
            <a:extLst>
              <a:ext uri="{FF2B5EF4-FFF2-40B4-BE49-F238E27FC236}">
                <a16:creationId xmlns:a16="http://schemas.microsoft.com/office/drawing/2014/main" id="{1B4477A4-53F3-DC5A-F20E-D2F4CA18F2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57687" y="5722383"/>
            <a:ext cx="779033" cy="779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4B301864-0A10-F414-BBD1-7D29412814EB}"/>
              </a:ext>
            </a:extLst>
          </p:cNvPr>
          <p:cNvSpPr txBox="1"/>
          <p:nvPr/>
        </p:nvSpPr>
        <p:spPr>
          <a:xfrm>
            <a:off x="10237294" y="3030901"/>
            <a:ext cx="12752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Editors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35" name="Picture 10">
            <a:extLst>
              <a:ext uri="{FF2B5EF4-FFF2-40B4-BE49-F238E27FC236}">
                <a16:creationId xmlns:a16="http://schemas.microsoft.com/office/drawing/2014/main" id="{9F2715EE-4AB9-5E8C-C2C3-06F65EAF2B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9322" y="3541809"/>
            <a:ext cx="910097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26" descr="PyCharm Logo Update – IDEs Support (IntelliJ Platform) | JetBrains">
            <a:extLst>
              <a:ext uri="{FF2B5EF4-FFF2-40B4-BE49-F238E27FC236}">
                <a16:creationId xmlns:a16="http://schemas.microsoft.com/office/drawing/2014/main" id="{8621D871-0A6F-22F6-2E23-F7A54351C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9469" y="4618787"/>
            <a:ext cx="1055468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28">
            <a:extLst>
              <a:ext uri="{FF2B5EF4-FFF2-40B4-BE49-F238E27FC236}">
                <a16:creationId xmlns:a16="http://schemas.microsoft.com/office/drawing/2014/main" id="{E51C4593-6231-1447-2F85-F94D91BCC1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7362" y="3489702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Picture 16" descr="macOS app icon doesn't follow human interface guidelines · Issue #613 ·  jupyterlab/jupyterlab-desktop">
            <a:extLst>
              <a:ext uri="{FF2B5EF4-FFF2-40B4-BE49-F238E27FC236}">
                <a16:creationId xmlns:a16="http://schemas.microsoft.com/office/drawing/2014/main" id="{7BDC30BD-4828-4C50-3007-BB4FD97DA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6036" y="4598185"/>
            <a:ext cx="1096671" cy="1096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20">
            <a:extLst>
              <a:ext uri="{FF2B5EF4-FFF2-40B4-BE49-F238E27FC236}">
                <a16:creationId xmlns:a16="http://schemas.microsoft.com/office/drawing/2014/main" id="{EE367D87-C716-DDEF-D935-AAE40D46727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105"/>
          <a:stretch>
            <a:fillRect/>
          </a:stretch>
        </p:blipFill>
        <p:spPr bwMode="auto">
          <a:xfrm>
            <a:off x="11018769" y="5788246"/>
            <a:ext cx="711206" cy="67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41" descr="A screenshot of a computer&#10;&#10;Description automatically generated">
            <a:extLst>
              <a:ext uri="{FF2B5EF4-FFF2-40B4-BE49-F238E27FC236}">
                <a16:creationId xmlns:a16="http://schemas.microsoft.com/office/drawing/2014/main" id="{6C773913-B182-C486-E402-007BA8138AB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23" y="1226868"/>
            <a:ext cx="3684957" cy="2373314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65800330-D2BA-0391-0C29-684B6705632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961" y="4490288"/>
            <a:ext cx="2790979" cy="2181423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43A51057-6170-37DC-36FC-577E2963669F}"/>
              </a:ext>
            </a:extLst>
          </p:cNvPr>
          <p:cNvSpPr txBox="1"/>
          <p:nvPr/>
        </p:nvSpPr>
        <p:spPr>
          <a:xfrm>
            <a:off x="623927" y="3904644"/>
            <a:ext cx="162897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Anaconda</a:t>
            </a:r>
          </a:p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Prompt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CF647C1-79F8-2AB1-F2B2-3EEA3CC1A947}"/>
              </a:ext>
            </a:extLst>
          </p:cNvPr>
          <p:cNvSpPr txBox="1"/>
          <p:nvPr/>
        </p:nvSpPr>
        <p:spPr>
          <a:xfrm>
            <a:off x="267320" y="858994"/>
            <a:ext cx="32205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Anaconda Navigator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7B14AE3B-76FA-07C4-6C44-0A53BEE57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3907" y="1358028"/>
            <a:ext cx="1750595" cy="363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31589EF9-BDFA-91A1-6B47-684A14B0E6BE}"/>
              </a:ext>
            </a:extLst>
          </p:cNvPr>
          <p:cNvSpPr txBox="1"/>
          <p:nvPr/>
        </p:nvSpPr>
        <p:spPr>
          <a:xfrm>
            <a:off x="7947851" y="504437"/>
            <a:ext cx="34722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chemeClr val="accent6"/>
                </a:solidFill>
              </a:rPr>
              <a:t>Package </a:t>
            </a:r>
            <a:r>
              <a:rPr lang="en-CA" sz="2400" b="1" dirty="0">
                <a:solidFill>
                  <a:srgbClr val="00FF00"/>
                </a:solidFill>
              </a:rPr>
              <a:t>+</a:t>
            </a:r>
            <a:endParaRPr lang="en-CA" sz="2400" b="1" dirty="0">
              <a:solidFill>
                <a:schemeClr val="accent6"/>
              </a:solidFill>
            </a:endParaRPr>
          </a:p>
          <a:p>
            <a:r>
              <a:rPr lang="en-CA" sz="2400" b="1" dirty="0">
                <a:solidFill>
                  <a:schemeClr val="accent6"/>
                </a:solidFill>
              </a:rPr>
              <a:t>Environment Manager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73" name="Picture 20">
            <a:extLst>
              <a:ext uri="{FF2B5EF4-FFF2-40B4-BE49-F238E27FC236}">
                <a16:creationId xmlns:a16="http://schemas.microsoft.com/office/drawing/2014/main" id="{D8DAB085-664A-41E7-D1AF-7B9B2308DD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7581" y="2885575"/>
            <a:ext cx="759890" cy="409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2" name="Picture 8" descr="SciPy - NumFOCUS">
            <a:extLst>
              <a:ext uri="{FF2B5EF4-FFF2-40B4-BE49-F238E27FC236}">
                <a16:creationId xmlns:a16="http://schemas.microsoft.com/office/drawing/2014/main" id="{9A6A13AD-9E5A-D670-26C5-878A1C2A38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2198" y="2856499"/>
            <a:ext cx="491223" cy="491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0" name="Picture 16" descr="Discussion of seaborn logo · Issue #2243 · mwaskom/seaborn">
            <a:extLst>
              <a:ext uri="{FF2B5EF4-FFF2-40B4-BE49-F238E27FC236}">
                <a16:creationId xmlns:a16="http://schemas.microsoft.com/office/drawing/2014/main" id="{CE85D605-D950-33D6-0AB5-5E3B842FC6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3068" y="2457450"/>
            <a:ext cx="455195" cy="455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2" name="Picture 18">
            <a:extLst>
              <a:ext uri="{FF2B5EF4-FFF2-40B4-BE49-F238E27FC236}">
                <a16:creationId xmlns:a16="http://schemas.microsoft.com/office/drawing/2014/main" id="{7CFEDD2D-38D4-6B1B-9308-67A80BF9AC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9086" y="2427371"/>
            <a:ext cx="455195" cy="455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B9667EE3-0EFE-AF7F-D46A-FBBF4E4F4CC0}"/>
              </a:ext>
            </a:extLst>
          </p:cNvPr>
          <p:cNvSpPr txBox="1"/>
          <p:nvPr/>
        </p:nvSpPr>
        <p:spPr>
          <a:xfrm>
            <a:off x="8082296" y="1982063"/>
            <a:ext cx="32680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CA" sz="2400" b="1" dirty="0">
                <a:solidFill>
                  <a:schemeClr val="accent6"/>
                </a:solidFill>
              </a:rPr>
              <a:t>Curated Package List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  <a:p>
            <a:pPr algn="r"/>
            <a:r>
              <a:rPr lang="en-CA" sz="2400" b="1" dirty="0">
                <a:solidFill>
                  <a:srgbClr val="00FF00"/>
                </a:solidFill>
              </a:rPr>
              <a:t>(</a:t>
            </a:r>
            <a:r>
              <a:rPr lang="en-CA" sz="2400" b="1" dirty="0">
                <a:solidFill>
                  <a:schemeClr val="accent6"/>
                </a:solidFill>
              </a:rPr>
              <a:t>base</a:t>
            </a:r>
            <a:r>
              <a:rPr lang="en-CA" sz="2400" b="1" dirty="0">
                <a:solidFill>
                  <a:srgbClr val="00FF00"/>
                </a:solidFill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865632-C809-59EA-8666-68C701F67EA0}"/>
              </a:ext>
            </a:extLst>
          </p:cNvPr>
          <p:cNvSpPr/>
          <p:nvPr/>
        </p:nvSpPr>
        <p:spPr>
          <a:xfrm>
            <a:off x="192537" y="3904645"/>
            <a:ext cx="3035758" cy="2560534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80A47D-E94A-44F9-0A76-C7613F429659}"/>
              </a:ext>
            </a:extLst>
          </p:cNvPr>
          <p:cNvSpPr/>
          <p:nvPr/>
        </p:nvSpPr>
        <p:spPr>
          <a:xfrm>
            <a:off x="3902704" y="532011"/>
            <a:ext cx="3121603" cy="1570637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F9B2A7-0896-BB15-3ACE-08BF30D1DF59}"/>
              </a:ext>
            </a:extLst>
          </p:cNvPr>
          <p:cNvSpPr/>
          <p:nvPr/>
        </p:nvSpPr>
        <p:spPr>
          <a:xfrm>
            <a:off x="9767362" y="3130486"/>
            <a:ext cx="2183976" cy="3541224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6F496FB-3482-C0E1-9595-FDCCA92F1830}"/>
              </a:ext>
            </a:extLst>
          </p:cNvPr>
          <p:cNvCxnSpPr>
            <a:cxnSpLocks/>
          </p:cNvCxnSpPr>
          <p:nvPr/>
        </p:nvCxnSpPr>
        <p:spPr>
          <a:xfrm flipH="1" flipV="1">
            <a:off x="3671735" y="2330246"/>
            <a:ext cx="1959044" cy="515222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3443DCD3-2EEE-9439-F83F-C6C1A81B9E7E}"/>
              </a:ext>
            </a:extLst>
          </p:cNvPr>
          <p:cNvCxnSpPr>
            <a:cxnSpLocks/>
          </p:cNvCxnSpPr>
          <p:nvPr/>
        </p:nvCxnSpPr>
        <p:spPr>
          <a:xfrm flipV="1">
            <a:off x="6623385" y="2679032"/>
            <a:ext cx="1526165" cy="268706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10762A1-C7F9-7D3A-97D2-76EDFA82BD92}"/>
              </a:ext>
            </a:extLst>
          </p:cNvPr>
          <p:cNvCxnSpPr>
            <a:cxnSpLocks/>
          </p:cNvCxnSpPr>
          <p:nvPr/>
        </p:nvCxnSpPr>
        <p:spPr>
          <a:xfrm flipV="1">
            <a:off x="6406816" y="1672653"/>
            <a:ext cx="1588168" cy="1028436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02230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2C308-D309-7CF3-6297-1AB99FBA2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4D2BD132-B704-239E-6F93-0E9C31DDF7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0498" y="2413525"/>
            <a:ext cx="4071004" cy="20309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0B708A23-07CD-83FB-80BE-FB399A0A050B}"/>
              </a:ext>
            </a:extLst>
          </p:cNvPr>
          <p:cNvSpPr txBox="1"/>
          <p:nvPr/>
        </p:nvSpPr>
        <p:spPr>
          <a:xfrm>
            <a:off x="4084529" y="575514"/>
            <a:ext cx="2939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Python Interpreter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30" name="Picture 24" descr="Python icon transparent background 48332144 PNG">
            <a:extLst>
              <a:ext uri="{FF2B5EF4-FFF2-40B4-BE49-F238E27FC236}">
                <a16:creationId xmlns:a16="http://schemas.microsoft.com/office/drawing/2014/main" id="{903BE2C8-0FCF-E9B0-6FA7-9967D398DB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6510" y="898763"/>
            <a:ext cx="1155818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6">
            <a:extLst>
              <a:ext uri="{FF2B5EF4-FFF2-40B4-BE49-F238E27FC236}">
                <a16:creationId xmlns:a16="http://schemas.microsoft.com/office/drawing/2014/main" id="{591280C3-6902-D696-CA50-BD8601A097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57687" y="5722383"/>
            <a:ext cx="779033" cy="779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4CB39F41-DB1A-818E-E379-4BFB80AD055B}"/>
              </a:ext>
            </a:extLst>
          </p:cNvPr>
          <p:cNvSpPr txBox="1"/>
          <p:nvPr/>
        </p:nvSpPr>
        <p:spPr>
          <a:xfrm>
            <a:off x="10237294" y="3030901"/>
            <a:ext cx="12752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Editors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35" name="Picture 10">
            <a:extLst>
              <a:ext uri="{FF2B5EF4-FFF2-40B4-BE49-F238E27FC236}">
                <a16:creationId xmlns:a16="http://schemas.microsoft.com/office/drawing/2014/main" id="{E850E20D-F7D5-8F65-736E-4B9D7803D2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9322" y="3541809"/>
            <a:ext cx="910097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26" descr="PyCharm Logo Update – IDEs Support (IntelliJ Platform) | JetBrains">
            <a:extLst>
              <a:ext uri="{FF2B5EF4-FFF2-40B4-BE49-F238E27FC236}">
                <a16:creationId xmlns:a16="http://schemas.microsoft.com/office/drawing/2014/main" id="{44417E6C-DEE7-D3E8-F979-44A1EC6068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9469" y="4618787"/>
            <a:ext cx="1055468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28">
            <a:extLst>
              <a:ext uri="{FF2B5EF4-FFF2-40B4-BE49-F238E27FC236}">
                <a16:creationId xmlns:a16="http://schemas.microsoft.com/office/drawing/2014/main" id="{FE21F39C-D637-00DF-AE67-CB990164C5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7362" y="3489702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Picture 16" descr="macOS app icon doesn't follow human interface guidelines · Issue #613 ·  jupyterlab/jupyterlab-desktop">
            <a:extLst>
              <a:ext uri="{FF2B5EF4-FFF2-40B4-BE49-F238E27FC236}">
                <a16:creationId xmlns:a16="http://schemas.microsoft.com/office/drawing/2014/main" id="{9DA53EE4-1AD6-8217-5DA0-543BC13BAA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6036" y="4598185"/>
            <a:ext cx="1096671" cy="1096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20">
            <a:extLst>
              <a:ext uri="{FF2B5EF4-FFF2-40B4-BE49-F238E27FC236}">
                <a16:creationId xmlns:a16="http://schemas.microsoft.com/office/drawing/2014/main" id="{D6508184-BE04-C2DE-C1BC-F1E091FD286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105"/>
          <a:stretch>
            <a:fillRect/>
          </a:stretch>
        </p:blipFill>
        <p:spPr bwMode="auto">
          <a:xfrm>
            <a:off x="11018769" y="5788246"/>
            <a:ext cx="711206" cy="67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41" descr="A screenshot of a computer&#10;&#10;Description automatically generated">
            <a:extLst>
              <a:ext uri="{FF2B5EF4-FFF2-40B4-BE49-F238E27FC236}">
                <a16:creationId xmlns:a16="http://schemas.microsoft.com/office/drawing/2014/main" id="{E6EEBA04-428D-73AA-2894-6A82B09BC64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23" y="1226868"/>
            <a:ext cx="3684957" cy="2373314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718406C1-96A8-1D2D-808D-9B233463EE6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961" y="4490288"/>
            <a:ext cx="2790979" cy="2181423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5240672A-92F6-C3DD-6D36-B489CE1C8742}"/>
              </a:ext>
            </a:extLst>
          </p:cNvPr>
          <p:cNvSpPr txBox="1"/>
          <p:nvPr/>
        </p:nvSpPr>
        <p:spPr>
          <a:xfrm>
            <a:off x="623927" y="3904644"/>
            <a:ext cx="162897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Anaconda</a:t>
            </a:r>
          </a:p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Prompt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55062BD-21B5-2B26-1229-9FF8EBAB9C0B}"/>
              </a:ext>
            </a:extLst>
          </p:cNvPr>
          <p:cNvSpPr txBox="1"/>
          <p:nvPr/>
        </p:nvSpPr>
        <p:spPr>
          <a:xfrm>
            <a:off x="267320" y="858994"/>
            <a:ext cx="32205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Anaconda Navigator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CB49DB73-74BF-B073-66AB-F0CACE1AE0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3907" y="1358028"/>
            <a:ext cx="1750595" cy="363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4E9E6A52-4CBE-1DD2-0F63-A9EECF6C6702}"/>
              </a:ext>
            </a:extLst>
          </p:cNvPr>
          <p:cNvSpPr txBox="1"/>
          <p:nvPr/>
        </p:nvSpPr>
        <p:spPr>
          <a:xfrm>
            <a:off x="7947851" y="504437"/>
            <a:ext cx="34722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chemeClr val="accent6"/>
                </a:solidFill>
              </a:rPr>
              <a:t>Package </a:t>
            </a:r>
            <a:r>
              <a:rPr lang="en-CA" sz="2400" b="1" dirty="0">
                <a:solidFill>
                  <a:srgbClr val="00FF00"/>
                </a:solidFill>
              </a:rPr>
              <a:t>+</a:t>
            </a:r>
            <a:endParaRPr lang="en-CA" sz="2400" b="1" dirty="0">
              <a:solidFill>
                <a:schemeClr val="accent6"/>
              </a:solidFill>
            </a:endParaRPr>
          </a:p>
          <a:p>
            <a:r>
              <a:rPr lang="en-CA" sz="2400" b="1" dirty="0">
                <a:solidFill>
                  <a:schemeClr val="accent6"/>
                </a:solidFill>
              </a:rPr>
              <a:t>Environment Manager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73" name="Picture 20">
            <a:extLst>
              <a:ext uri="{FF2B5EF4-FFF2-40B4-BE49-F238E27FC236}">
                <a16:creationId xmlns:a16="http://schemas.microsoft.com/office/drawing/2014/main" id="{1EB84447-A475-4758-92A6-0B0AA9715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7581" y="2885575"/>
            <a:ext cx="759890" cy="409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2" name="Picture 8" descr="SciPy - NumFOCUS">
            <a:extLst>
              <a:ext uri="{FF2B5EF4-FFF2-40B4-BE49-F238E27FC236}">
                <a16:creationId xmlns:a16="http://schemas.microsoft.com/office/drawing/2014/main" id="{65407CCA-8CC8-4748-A3FE-B10721F254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2198" y="2856499"/>
            <a:ext cx="491223" cy="491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0" name="Picture 16" descr="Discussion of seaborn logo · Issue #2243 · mwaskom/seaborn">
            <a:extLst>
              <a:ext uri="{FF2B5EF4-FFF2-40B4-BE49-F238E27FC236}">
                <a16:creationId xmlns:a16="http://schemas.microsoft.com/office/drawing/2014/main" id="{92249527-B6FF-45FD-5474-206A05B3F8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3068" y="2457450"/>
            <a:ext cx="455195" cy="455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2" name="Picture 18">
            <a:extLst>
              <a:ext uri="{FF2B5EF4-FFF2-40B4-BE49-F238E27FC236}">
                <a16:creationId xmlns:a16="http://schemas.microsoft.com/office/drawing/2014/main" id="{2091EE9E-39EC-DBA1-25EC-5824661378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9086" y="2427371"/>
            <a:ext cx="455195" cy="455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4078CA00-6412-500B-9800-FDD820DD42C8}"/>
              </a:ext>
            </a:extLst>
          </p:cNvPr>
          <p:cNvSpPr txBox="1"/>
          <p:nvPr/>
        </p:nvSpPr>
        <p:spPr>
          <a:xfrm>
            <a:off x="8082296" y="1982063"/>
            <a:ext cx="32680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CA" sz="2400" b="1" dirty="0">
                <a:solidFill>
                  <a:schemeClr val="accent6"/>
                </a:solidFill>
              </a:rPr>
              <a:t>Curated Package List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  <a:p>
            <a:pPr algn="r"/>
            <a:r>
              <a:rPr lang="en-CA" sz="2400" b="1" dirty="0">
                <a:solidFill>
                  <a:srgbClr val="00FF00"/>
                </a:solidFill>
              </a:rPr>
              <a:t>(</a:t>
            </a:r>
            <a:r>
              <a:rPr lang="en-CA" sz="2400" b="1" dirty="0">
                <a:solidFill>
                  <a:schemeClr val="accent6"/>
                </a:solidFill>
              </a:rPr>
              <a:t>base</a:t>
            </a:r>
            <a:r>
              <a:rPr lang="en-CA" sz="2400" b="1" dirty="0">
                <a:solidFill>
                  <a:srgbClr val="00FF00"/>
                </a:solidFill>
              </a:rPr>
              <a:t>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63FEB1-C95C-CB57-166E-C88147BD24FC}"/>
              </a:ext>
            </a:extLst>
          </p:cNvPr>
          <p:cNvSpPr/>
          <p:nvPr/>
        </p:nvSpPr>
        <p:spPr>
          <a:xfrm>
            <a:off x="3902704" y="532011"/>
            <a:ext cx="3121603" cy="1570637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B178389-BEF9-F98F-BF79-17C55A2FC31B}"/>
              </a:ext>
            </a:extLst>
          </p:cNvPr>
          <p:cNvSpPr/>
          <p:nvPr/>
        </p:nvSpPr>
        <p:spPr>
          <a:xfrm>
            <a:off x="7880335" y="538997"/>
            <a:ext cx="3802328" cy="2398514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EF82329-3826-9CCE-6E3A-74A9A558D22C}"/>
              </a:ext>
            </a:extLst>
          </p:cNvPr>
          <p:cNvSpPr/>
          <p:nvPr/>
        </p:nvSpPr>
        <p:spPr>
          <a:xfrm>
            <a:off x="8224787" y="2937511"/>
            <a:ext cx="3726551" cy="3734199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DDC6D41-CD0E-A35E-3778-9B884E2107AA}"/>
              </a:ext>
            </a:extLst>
          </p:cNvPr>
          <p:cNvSpPr/>
          <p:nvPr/>
        </p:nvSpPr>
        <p:spPr>
          <a:xfrm>
            <a:off x="156791" y="919935"/>
            <a:ext cx="3708015" cy="2560534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4285572-D06A-2052-EB78-99AC7F067F9B}"/>
              </a:ext>
            </a:extLst>
          </p:cNvPr>
          <p:cNvCxnSpPr>
            <a:cxnSpLocks/>
          </p:cNvCxnSpPr>
          <p:nvPr/>
        </p:nvCxnSpPr>
        <p:spPr>
          <a:xfrm flipH="1">
            <a:off x="2549723" y="3204412"/>
            <a:ext cx="2977957" cy="1531229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499210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A087D-6E0B-F95D-07B1-5322F7AE2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57069-A1D2-8AEE-1254-0B8FAD015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Developer Toolkit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5122" name="Picture 2" descr="Github White Icon SVG Vector &amp; PNG Free Download | UXWing">
            <a:extLst>
              <a:ext uri="{FF2B5EF4-FFF2-40B4-BE49-F238E27FC236}">
                <a16:creationId xmlns:a16="http://schemas.microsoft.com/office/drawing/2014/main" id="{651C3E96-3CAE-64A4-D641-F0042157DE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1826" y="2213555"/>
            <a:ext cx="1471974" cy="1471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0F8C77D-EBE2-4E09-9FBB-24CCF25FDA85}"/>
              </a:ext>
            </a:extLst>
          </p:cNvPr>
          <p:cNvSpPr txBox="1"/>
          <p:nvPr/>
        </p:nvSpPr>
        <p:spPr>
          <a:xfrm>
            <a:off x="9597342" y="3703592"/>
            <a:ext cx="2040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Git </a:t>
            </a:r>
            <a:r>
              <a:rPr lang="en-CA" sz="2400" b="1" dirty="0">
                <a:solidFill>
                  <a:srgbClr val="00FF00"/>
                </a:solidFill>
              </a:rPr>
              <a:t>+ </a:t>
            </a:r>
            <a:r>
              <a:rPr lang="en-CA" sz="2400" b="1" dirty="0">
                <a:solidFill>
                  <a:srgbClr val="FFFFFF"/>
                </a:solidFill>
              </a:rPr>
              <a:t>GitHub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0CD7A5-1284-56F2-8784-7B665D5CC162}"/>
              </a:ext>
            </a:extLst>
          </p:cNvPr>
          <p:cNvSpPr txBox="1"/>
          <p:nvPr/>
        </p:nvSpPr>
        <p:spPr>
          <a:xfrm>
            <a:off x="9364200" y="1752748"/>
            <a:ext cx="25072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Version Control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46" name="Picture 2" descr="Download Laptop Clipart Transparent Background - Laptop Png PNG Image with No  Background - PNGkey.com">
            <a:extLst>
              <a:ext uri="{FF2B5EF4-FFF2-40B4-BE49-F238E27FC236}">
                <a16:creationId xmlns:a16="http://schemas.microsoft.com/office/drawing/2014/main" id="{EBAA0240-432F-9A1D-BBA8-DD3B87CE32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5674" y="943979"/>
            <a:ext cx="2321210" cy="1544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02CCCF5-BFEE-35DC-2A38-26956A05D8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5835" y="1004529"/>
            <a:ext cx="1847718" cy="104215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353CB85-AE87-3504-654B-954E6D5AF66E}"/>
              </a:ext>
            </a:extLst>
          </p:cNvPr>
          <p:cNvSpPr txBox="1"/>
          <p:nvPr/>
        </p:nvSpPr>
        <p:spPr>
          <a:xfrm>
            <a:off x="6941434" y="433121"/>
            <a:ext cx="16896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Computer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0" name="Picture 6">
            <a:extLst>
              <a:ext uri="{FF2B5EF4-FFF2-40B4-BE49-F238E27FC236}">
                <a16:creationId xmlns:a16="http://schemas.microsoft.com/office/drawing/2014/main" id="{5C380630-BABB-7E1E-15CB-228366CAC1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6307" y="5209115"/>
            <a:ext cx="965375" cy="965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DD67B56-7303-7D2A-FBEB-63DD5E814656}"/>
              </a:ext>
            </a:extLst>
          </p:cNvPr>
          <p:cNvSpPr txBox="1"/>
          <p:nvPr/>
        </p:nvSpPr>
        <p:spPr>
          <a:xfrm>
            <a:off x="8099353" y="4604908"/>
            <a:ext cx="17640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Editor</a:t>
            </a:r>
            <a:r>
              <a:rPr lang="en-CA" sz="2400" b="1" dirty="0">
                <a:solidFill>
                  <a:srgbClr val="00FF00"/>
                </a:solidFill>
              </a:rPr>
              <a:t>/</a:t>
            </a:r>
            <a:r>
              <a:rPr lang="en-CA" sz="2400" b="1" dirty="0">
                <a:solidFill>
                  <a:schemeClr val="accent6"/>
                </a:solidFill>
              </a:rPr>
              <a:t>IDE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4" name="Picture 10">
            <a:extLst>
              <a:ext uri="{FF2B5EF4-FFF2-40B4-BE49-F238E27FC236}">
                <a16:creationId xmlns:a16="http://schemas.microsoft.com/office/drawing/2014/main" id="{8453204D-125A-ABF0-81D6-EAF67077B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5670" y="5164068"/>
            <a:ext cx="910097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82B34E8-09AC-40A5-01C7-8BAA0D6DDBBB}"/>
              </a:ext>
            </a:extLst>
          </p:cNvPr>
          <p:cNvSpPr txBox="1"/>
          <p:nvPr/>
        </p:nvSpPr>
        <p:spPr>
          <a:xfrm>
            <a:off x="7565150" y="6241961"/>
            <a:ext cx="27730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 err="1">
                <a:solidFill>
                  <a:srgbClr val="FFFFFF"/>
                </a:solidFill>
              </a:rPr>
              <a:t>VSCode</a:t>
            </a:r>
            <a:r>
              <a:rPr lang="en-CA" sz="2400" b="1" dirty="0">
                <a:solidFill>
                  <a:srgbClr val="FFFFFF"/>
                </a:solidFill>
              </a:rPr>
              <a:t> </a:t>
            </a:r>
            <a:r>
              <a:rPr lang="en-CA" sz="2400" b="1" dirty="0">
                <a:solidFill>
                  <a:srgbClr val="00FF00"/>
                </a:solidFill>
              </a:rPr>
              <a:t>+ </a:t>
            </a:r>
            <a:r>
              <a:rPr lang="en-CA" sz="2400" b="1" dirty="0" err="1">
                <a:solidFill>
                  <a:srgbClr val="FFFFFF"/>
                </a:solidFill>
              </a:rPr>
              <a:t>Jupyter</a:t>
            </a:r>
            <a:endParaRPr lang="en-CA" sz="2400" b="1" dirty="0">
              <a:solidFill>
                <a:srgbClr val="FFFFFF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6EBB02-18B4-9DD6-DF4D-6DF68973822E}"/>
              </a:ext>
            </a:extLst>
          </p:cNvPr>
          <p:cNvSpPr txBox="1"/>
          <p:nvPr/>
        </p:nvSpPr>
        <p:spPr>
          <a:xfrm>
            <a:off x="2044847" y="1585397"/>
            <a:ext cx="2939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Python Interpreter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B207F1-7C50-3EDC-BBEC-724733C5161B}"/>
              </a:ext>
            </a:extLst>
          </p:cNvPr>
          <p:cNvSpPr txBox="1"/>
          <p:nvPr/>
        </p:nvSpPr>
        <p:spPr>
          <a:xfrm>
            <a:off x="32498" y="2949542"/>
            <a:ext cx="29415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Packages Manager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F0BA0F-444E-61BF-CF25-F9920DB75B19}"/>
              </a:ext>
            </a:extLst>
          </p:cNvPr>
          <p:cNvSpPr txBox="1"/>
          <p:nvPr/>
        </p:nvSpPr>
        <p:spPr>
          <a:xfrm>
            <a:off x="2527430" y="4664888"/>
            <a:ext cx="15204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Terminal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8" name="Picture 14" descr="Console Command-Line Icons Terminal Computer Linux Interface Transparent HQ  PNG Download | FreePNGimg">
            <a:extLst>
              <a:ext uri="{FF2B5EF4-FFF2-40B4-BE49-F238E27FC236}">
                <a16:creationId xmlns:a16="http://schemas.microsoft.com/office/drawing/2014/main" id="{569848ED-5F23-1FD0-CFF0-4A4CADF604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5505" y="5066573"/>
            <a:ext cx="1280029" cy="1280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774198E-A309-8040-626D-7F6A9AF71B44}"/>
              </a:ext>
            </a:extLst>
          </p:cNvPr>
          <p:cNvSpPr txBox="1"/>
          <p:nvPr/>
        </p:nvSpPr>
        <p:spPr>
          <a:xfrm>
            <a:off x="1804474" y="6275931"/>
            <a:ext cx="29663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Anaconda Terminal</a:t>
            </a:r>
          </a:p>
        </p:txBody>
      </p:sp>
      <p:pic>
        <p:nvPicPr>
          <p:cNvPr id="6164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8940713E-F613-7FAA-BDAA-DEAC145F66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900" y="3394078"/>
            <a:ext cx="2314770" cy="1154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FBF6D5FC-C804-A73B-CB32-F4472C0CCFE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264" r="32032" b="35377"/>
          <a:stretch>
            <a:fillRect/>
          </a:stretch>
        </p:blipFill>
        <p:spPr bwMode="auto">
          <a:xfrm>
            <a:off x="3309807" y="5143536"/>
            <a:ext cx="1280029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8" name="Picture 24" descr="Python icon transparent background 48332144 PNG">
            <a:extLst>
              <a:ext uri="{FF2B5EF4-FFF2-40B4-BE49-F238E27FC236}">
                <a16:creationId xmlns:a16="http://schemas.microsoft.com/office/drawing/2014/main" id="{A2D795BF-8148-A767-1962-0C41FE0801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6828" y="1908646"/>
            <a:ext cx="1155818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86ED171-E74B-1211-C8A8-E464937F6439}"/>
              </a:ext>
            </a:extLst>
          </p:cNvPr>
          <p:cNvCxnSpPr/>
          <p:nvPr/>
        </p:nvCxnSpPr>
        <p:spPr>
          <a:xfrm flipH="1" flipV="1">
            <a:off x="3998135" y="2711669"/>
            <a:ext cx="2097865" cy="1135117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24B16DD-DDBE-CFC7-8884-C1E7FF82D490}"/>
              </a:ext>
            </a:extLst>
          </p:cNvPr>
          <p:cNvCxnSpPr>
            <a:cxnSpLocks/>
          </p:cNvCxnSpPr>
          <p:nvPr/>
        </p:nvCxnSpPr>
        <p:spPr>
          <a:xfrm flipH="1" flipV="1">
            <a:off x="2208541" y="3812807"/>
            <a:ext cx="3946317" cy="489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2490755-6CFA-59A6-6241-A52B5FF6CBD4}"/>
              </a:ext>
            </a:extLst>
          </p:cNvPr>
          <p:cNvCxnSpPr>
            <a:cxnSpLocks/>
          </p:cNvCxnSpPr>
          <p:nvPr/>
        </p:nvCxnSpPr>
        <p:spPr>
          <a:xfrm flipH="1">
            <a:off x="4439570" y="3845775"/>
            <a:ext cx="1656430" cy="141333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0C203E4-EFA0-6E79-9C77-6C2818E2E648}"/>
              </a:ext>
            </a:extLst>
          </p:cNvPr>
          <p:cNvCxnSpPr>
            <a:cxnSpLocks/>
          </p:cNvCxnSpPr>
          <p:nvPr/>
        </p:nvCxnSpPr>
        <p:spPr>
          <a:xfrm flipV="1">
            <a:off x="6201332" y="2575588"/>
            <a:ext cx="1127562" cy="128617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D5CFBF1-8F74-162A-AAA6-330B31D93E5F}"/>
              </a:ext>
            </a:extLst>
          </p:cNvPr>
          <p:cNvCxnSpPr>
            <a:cxnSpLocks/>
          </p:cNvCxnSpPr>
          <p:nvPr/>
        </p:nvCxnSpPr>
        <p:spPr>
          <a:xfrm flipV="1">
            <a:off x="6142474" y="3064464"/>
            <a:ext cx="3573178" cy="84577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1F49CC6-6BF2-FD14-77CA-8AF8E290E24E}"/>
              </a:ext>
            </a:extLst>
          </p:cNvPr>
          <p:cNvCxnSpPr>
            <a:cxnSpLocks/>
          </p:cNvCxnSpPr>
          <p:nvPr/>
        </p:nvCxnSpPr>
        <p:spPr>
          <a:xfrm>
            <a:off x="6172906" y="3898203"/>
            <a:ext cx="1672318" cy="142577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Sebastian Goodfellow">
            <a:extLst>
              <a:ext uri="{FF2B5EF4-FFF2-40B4-BE49-F238E27FC236}">
                <a16:creationId xmlns:a16="http://schemas.microsoft.com/office/drawing/2014/main" id="{DEF1A1A9-8210-2A2C-474F-8605084259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5923" y="2583915"/>
            <a:ext cx="2580153" cy="2580153"/>
          </a:xfrm>
          <a:prstGeom prst="ellipse">
            <a:avLst/>
          </a:prstGeom>
          <a:ln w="63500" cap="rnd">
            <a:solidFill>
              <a:schemeClr val="accent1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AutoShape 6" descr="Anaconda In Transparent Background Closeup With Distinct Scales And  Pattern, Snake, Python, Coastal Carpet Python PNG Transparent Image and  Clipart for Free Download">
            <a:extLst>
              <a:ext uri="{FF2B5EF4-FFF2-40B4-BE49-F238E27FC236}">
                <a16:creationId xmlns:a16="http://schemas.microsoft.com/office/drawing/2014/main" id="{ABC5AB0D-52E0-35ED-9EDC-EADC898376B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335625-A1C2-226E-A7B9-56B8BFBF23CD}"/>
              </a:ext>
            </a:extLst>
          </p:cNvPr>
          <p:cNvSpPr txBox="1"/>
          <p:nvPr/>
        </p:nvSpPr>
        <p:spPr>
          <a:xfrm>
            <a:off x="4924748" y="5391806"/>
            <a:ext cx="2342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Developer Seb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4176429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455D2-0C78-17DE-3C21-D7A048524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B23C5-F611-18A7-7205-5DED9D1C9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Week 11 </a:t>
            </a:r>
            <a:r>
              <a:rPr lang="en-CA" b="1" dirty="0">
                <a:solidFill>
                  <a:srgbClr val="FF66CC"/>
                </a:solidFill>
              </a:rPr>
              <a:t>(</a:t>
            </a:r>
            <a:r>
              <a:rPr lang="en-CA" b="1" dirty="0"/>
              <a:t>Don</a:t>
            </a:r>
            <a:r>
              <a:rPr lang="en-CA" b="1" dirty="0">
                <a:solidFill>
                  <a:srgbClr val="00FF00"/>
                </a:solidFill>
              </a:rPr>
              <a:t>’</a:t>
            </a:r>
            <a:r>
              <a:rPr lang="en-CA" b="1" dirty="0"/>
              <a:t>t Stress</a:t>
            </a:r>
            <a:r>
              <a:rPr lang="en-CA" b="1" dirty="0">
                <a:solidFill>
                  <a:srgbClr val="FF66CC"/>
                </a:solidFill>
              </a:rPr>
              <a:t>)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5122" name="Picture 2" descr="Github White Icon SVG Vector &amp; PNG Free Download | UXWing">
            <a:extLst>
              <a:ext uri="{FF2B5EF4-FFF2-40B4-BE49-F238E27FC236}">
                <a16:creationId xmlns:a16="http://schemas.microsoft.com/office/drawing/2014/main" id="{F0D99418-9FBE-5819-0BC2-E4CA89108B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1826" y="2213555"/>
            <a:ext cx="1471974" cy="1471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51CF19-5C96-10A3-E147-C8A5F14108D6}"/>
              </a:ext>
            </a:extLst>
          </p:cNvPr>
          <p:cNvSpPr txBox="1"/>
          <p:nvPr/>
        </p:nvSpPr>
        <p:spPr>
          <a:xfrm>
            <a:off x="9597342" y="3703592"/>
            <a:ext cx="2040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Git </a:t>
            </a:r>
            <a:r>
              <a:rPr lang="en-CA" sz="2400" b="1" dirty="0">
                <a:solidFill>
                  <a:srgbClr val="00FF00"/>
                </a:solidFill>
              </a:rPr>
              <a:t>+ </a:t>
            </a:r>
            <a:r>
              <a:rPr lang="en-CA" sz="2400" b="1" dirty="0">
                <a:solidFill>
                  <a:srgbClr val="FFFFFF"/>
                </a:solidFill>
              </a:rPr>
              <a:t>GitHub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2C0183-6B08-A034-B949-05E3DD2A725A}"/>
              </a:ext>
            </a:extLst>
          </p:cNvPr>
          <p:cNvSpPr txBox="1"/>
          <p:nvPr/>
        </p:nvSpPr>
        <p:spPr>
          <a:xfrm>
            <a:off x="9364200" y="1752748"/>
            <a:ext cx="25072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Version Control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46" name="Picture 2" descr="Download Laptop Clipart Transparent Background - Laptop Png PNG Image with No  Background - PNGkey.com">
            <a:extLst>
              <a:ext uri="{FF2B5EF4-FFF2-40B4-BE49-F238E27FC236}">
                <a16:creationId xmlns:a16="http://schemas.microsoft.com/office/drawing/2014/main" id="{D7505F6E-E0A8-9D93-C5E0-B2AF6BF24E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5674" y="943979"/>
            <a:ext cx="2321210" cy="1544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61F370-807A-E381-58E6-A19F3FBB47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5835" y="1004529"/>
            <a:ext cx="1847718" cy="104215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42972A6-6FAB-2808-3368-C16AD5ECE497}"/>
              </a:ext>
            </a:extLst>
          </p:cNvPr>
          <p:cNvSpPr txBox="1"/>
          <p:nvPr/>
        </p:nvSpPr>
        <p:spPr>
          <a:xfrm>
            <a:off x="6941434" y="433121"/>
            <a:ext cx="16896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Computer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0" name="Picture 6">
            <a:extLst>
              <a:ext uri="{FF2B5EF4-FFF2-40B4-BE49-F238E27FC236}">
                <a16:creationId xmlns:a16="http://schemas.microsoft.com/office/drawing/2014/main" id="{D3100041-D1A5-2FF3-7709-DC731B6504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6307" y="5209115"/>
            <a:ext cx="965375" cy="965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853C9AC-BB8E-1C2B-3D73-54D78DD70F45}"/>
              </a:ext>
            </a:extLst>
          </p:cNvPr>
          <p:cNvSpPr txBox="1"/>
          <p:nvPr/>
        </p:nvSpPr>
        <p:spPr>
          <a:xfrm>
            <a:off x="8099353" y="4604908"/>
            <a:ext cx="17640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Editor</a:t>
            </a:r>
            <a:r>
              <a:rPr lang="en-CA" sz="2400" b="1" dirty="0">
                <a:solidFill>
                  <a:srgbClr val="00FF00"/>
                </a:solidFill>
              </a:rPr>
              <a:t>/</a:t>
            </a:r>
            <a:r>
              <a:rPr lang="en-CA" sz="2400" b="1" dirty="0">
                <a:solidFill>
                  <a:schemeClr val="accent6"/>
                </a:solidFill>
              </a:rPr>
              <a:t>IDE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4" name="Picture 10">
            <a:extLst>
              <a:ext uri="{FF2B5EF4-FFF2-40B4-BE49-F238E27FC236}">
                <a16:creationId xmlns:a16="http://schemas.microsoft.com/office/drawing/2014/main" id="{27DE24A8-17BC-E5D8-D107-CF02F8C9C9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5670" y="5164068"/>
            <a:ext cx="910097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8EC0ABD-D25F-052B-95FC-D4D9384E55ED}"/>
              </a:ext>
            </a:extLst>
          </p:cNvPr>
          <p:cNvSpPr txBox="1"/>
          <p:nvPr/>
        </p:nvSpPr>
        <p:spPr>
          <a:xfrm>
            <a:off x="7565150" y="6241961"/>
            <a:ext cx="27730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 err="1">
                <a:solidFill>
                  <a:srgbClr val="FFFFFF"/>
                </a:solidFill>
              </a:rPr>
              <a:t>VSCode</a:t>
            </a:r>
            <a:r>
              <a:rPr lang="en-CA" sz="2400" b="1" dirty="0">
                <a:solidFill>
                  <a:srgbClr val="FFFFFF"/>
                </a:solidFill>
              </a:rPr>
              <a:t> </a:t>
            </a:r>
            <a:r>
              <a:rPr lang="en-CA" sz="2400" b="1" dirty="0">
                <a:solidFill>
                  <a:srgbClr val="00FF00"/>
                </a:solidFill>
              </a:rPr>
              <a:t>+ </a:t>
            </a:r>
            <a:r>
              <a:rPr lang="en-CA" sz="2400" b="1" dirty="0" err="1">
                <a:solidFill>
                  <a:srgbClr val="FFFFFF"/>
                </a:solidFill>
              </a:rPr>
              <a:t>Jupyter</a:t>
            </a:r>
            <a:endParaRPr lang="en-CA" sz="2400" b="1" dirty="0">
              <a:solidFill>
                <a:srgbClr val="FFFFFF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704635-AEBA-141B-49DA-A663C794B2ED}"/>
              </a:ext>
            </a:extLst>
          </p:cNvPr>
          <p:cNvSpPr txBox="1"/>
          <p:nvPr/>
        </p:nvSpPr>
        <p:spPr>
          <a:xfrm>
            <a:off x="2044847" y="1585397"/>
            <a:ext cx="2939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Python Interpreter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C9BF24-D9CC-1D97-08A0-8411B67CAD31}"/>
              </a:ext>
            </a:extLst>
          </p:cNvPr>
          <p:cNvSpPr txBox="1"/>
          <p:nvPr/>
        </p:nvSpPr>
        <p:spPr>
          <a:xfrm>
            <a:off x="32498" y="2949542"/>
            <a:ext cx="29415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Packages Manager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A5E0B9-AB4B-BB81-F528-47FE89D21800}"/>
              </a:ext>
            </a:extLst>
          </p:cNvPr>
          <p:cNvSpPr txBox="1"/>
          <p:nvPr/>
        </p:nvSpPr>
        <p:spPr>
          <a:xfrm>
            <a:off x="2527430" y="4664888"/>
            <a:ext cx="15204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Terminal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8" name="Picture 14" descr="Console Command-Line Icons Terminal Computer Linux Interface Transparent HQ  PNG Download | FreePNGimg">
            <a:extLst>
              <a:ext uri="{FF2B5EF4-FFF2-40B4-BE49-F238E27FC236}">
                <a16:creationId xmlns:a16="http://schemas.microsoft.com/office/drawing/2014/main" id="{F71357BC-9594-B999-2B75-ED111C1FDF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5505" y="5066573"/>
            <a:ext cx="1280029" cy="1280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B2361F2-AFDF-0F6E-5827-DDE7EB316B7D}"/>
              </a:ext>
            </a:extLst>
          </p:cNvPr>
          <p:cNvSpPr txBox="1"/>
          <p:nvPr/>
        </p:nvSpPr>
        <p:spPr>
          <a:xfrm>
            <a:off x="1804474" y="6275931"/>
            <a:ext cx="29663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Anaconda Terminal</a:t>
            </a:r>
          </a:p>
        </p:txBody>
      </p:sp>
      <p:pic>
        <p:nvPicPr>
          <p:cNvPr id="6164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5B9C2AA6-05A7-4D9E-B3BA-E3204AFC77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900" y="3394078"/>
            <a:ext cx="2314770" cy="1154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88F51F0D-82AD-A61E-2078-21EB2B4999D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264" r="32032" b="35377"/>
          <a:stretch>
            <a:fillRect/>
          </a:stretch>
        </p:blipFill>
        <p:spPr bwMode="auto">
          <a:xfrm>
            <a:off x="3309807" y="5143536"/>
            <a:ext cx="1280029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8" name="Picture 24" descr="Python icon transparent background 48332144 PNG">
            <a:extLst>
              <a:ext uri="{FF2B5EF4-FFF2-40B4-BE49-F238E27FC236}">
                <a16:creationId xmlns:a16="http://schemas.microsoft.com/office/drawing/2014/main" id="{82489011-871B-7255-33BC-6B1DE42586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6828" y="1908646"/>
            <a:ext cx="1155818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83AAE68-62BA-3465-8302-B84C8ABFCC7F}"/>
              </a:ext>
            </a:extLst>
          </p:cNvPr>
          <p:cNvCxnSpPr>
            <a:cxnSpLocks/>
          </p:cNvCxnSpPr>
          <p:nvPr/>
        </p:nvCxnSpPr>
        <p:spPr>
          <a:xfrm flipH="1">
            <a:off x="4439570" y="3845775"/>
            <a:ext cx="1656430" cy="141333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A251FA-CC10-608C-405D-63C92B5E0AD8}"/>
              </a:ext>
            </a:extLst>
          </p:cNvPr>
          <p:cNvCxnSpPr>
            <a:cxnSpLocks/>
          </p:cNvCxnSpPr>
          <p:nvPr/>
        </p:nvCxnSpPr>
        <p:spPr>
          <a:xfrm flipV="1">
            <a:off x="6142474" y="3064464"/>
            <a:ext cx="3573178" cy="84577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AutoShape 6" descr="Anaconda In Transparent Background Closeup With Distinct Scales And  Pattern, Snake, Python, Coastal Carpet Python PNG Transparent Image and  Clipart for Free Download">
            <a:extLst>
              <a:ext uri="{FF2B5EF4-FFF2-40B4-BE49-F238E27FC236}">
                <a16:creationId xmlns:a16="http://schemas.microsoft.com/office/drawing/2014/main" id="{0E9431A5-E0FE-F61C-5CA5-DAEBAA784EE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BF86633-9949-B498-B088-626001EC238E}"/>
              </a:ext>
            </a:extLst>
          </p:cNvPr>
          <p:cNvSpPr/>
          <p:nvPr/>
        </p:nvSpPr>
        <p:spPr>
          <a:xfrm>
            <a:off x="7539961" y="4198502"/>
            <a:ext cx="3035758" cy="2490016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43548FA-D67B-71D4-E007-AFABB5826247}"/>
              </a:ext>
            </a:extLst>
          </p:cNvPr>
          <p:cNvSpPr/>
          <p:nvPr/>
        </p:nvSpPr>
        <p:spPr>
          <a:xfrm>
            <a:off x="6521431" y="517916"/>
            <a:ext cx="2733742" cy="2005544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1F20142-443B-26E4-440F-DFEE13DC63A0}"/>
              </a:ext>
            </a:extLst>
          </p:cNvPr>
          <p:cNvSpPr/>
          <p:nvPr/>
        </p:nvSpPr>
        <p:spPr>
          <a:xfrm>
            <a:off x="1888990" y="1378905"/>
            <a:ext cx="3035758" cy="1570637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0506D4-A9C9-AA6B-1B4D-089199A4D5D0}"/>
              </a:ext>
            </a:extLst>
          </p:cNvPr>
          <p:cNvSpPr txBox="1"/>
          <p:nvPr/>
        </p:nvSpPr>
        <p:spPr>
          <a:xfrm>
            <a:off x="4924748" y="5391806"/>
            <a:ext cx="2342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Developer Seb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8B3B3EE-5A6B-6745-4F7C-C819980ECDA2}"/>
              </a:ext>
            </a:extLst>
          </p:cNvPr>
          <p:cNvCxnSpPr>
            <a:cxnSpLocks/>
          </p:cNvCxnSpPr>
          <p:nvPr/>
        </p:nvCxnSpPr>
        <p:spPr>
          <a:xfrm flipH="1" flipV="1">
            <a:off x="2208541" y="3812807"/>
            <a:ext cx="3946317" cy="489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Sebastian Goodfellow">
            <a:extLst>
              <a:ext uri="{FF2B5EF4-FFF2-40B4-BE49-F238E27FC236}">
                <a16:creationId xmlns:a16="http://schemas.microsoft.com/office/drawing/2014/main" id="{7A6D52AF-D86A-1F7E-1596-868C1CA8B2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5923" y="2583915"/>
            <a:ext cx="2580153" cy="2580153"/>
          </a:xfrm>
          <a:prstGeom prst="ellipse">
            <a:avLst/>
          </a:prstGeom>
          <a:ln w="63500" cap="rnd">
            <a:solidFill>
              <a:schemeClr val="accent1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796732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B8CBB-37CC-B2AC-999A-5605B97E1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Before Next Class</a:t>
            </a:r>
            <a:r>
              <a:rPr lang="en-CA" b="1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501A2F-AD64-726E-8820-631434405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985938" cy="4835479"/>
          </a:xfrm>
        </p:spPr>
        <p:txBody>
          <a:bodyPr>
            <a:normAutofit fontScale="92500" lnSpcReduction="10000"/>
          </a:bodyPr>
          <a:lstStyle/>
          <a:p>
            <a:r>
              <a:rPr lang="en-CA" dirty="0"/>
              <a:t>How Does That Work</a:t>
            </a:r>
            <a:r>
              <a:rPr lang="en-CA" dirty="0">
                <a:solidFill>
                  <a:schemeClr val="accent6"/>
                </a:solidFill>
              </a:rPr>
              <a:t>?</a:t>
            </a:r>
          </a:p>
          <a:p>
            <a:pPr lvl="1"/>
            <a:r>
              <a:rPr lang="en-CA" dirty="0"/>
              <a:t>Modules </a:t>
            </a:r>
            <a:r>
              <a:rPr lang="en-CA" dirty="0">
                <a:solidFill>
                  <a:schemeClr val="accent6"/>
                </a:solidFill>
              </a:rPr>
              <a:t>-&gt;</a:t>
            </a:r>
            <a:r>
              <a:rPr lang="en-CA" dirty="0"/>
              <a:t> Course Resources </a:t>
            </a:r>
            <a:r>
              <a:rPr lang="en-CA" dirty="0">
                <a:solidFill>
                  <a:schemeClr val="accent6"/>
                </a:solidFill>
              </a:rPr>
              <a:t>-&gt;</a:t>
            </a:r>
            <a:r>
              <a:rPr lang="en-CA" dirty="0"/>
              <a:t> How Does That Work</a:t>
            </a:r>
            <a:r>
              <a:rPr lang="en-CA" dirty="0">
                <a:solidFill>
                  <a:schemeClr val="accent6"/>
                </a:solidFill>
              </a:rPr>
              <a:t>?</a:t>
            </a:r>
            <a:r>
              <a:rPr lang="en-CA" dirty="0"/>
              <a:t> </a:t>
            </a:r>
            <a:r>
              <a:rPr lang="en-CA" dirty="0">
                <a:solidFill>
                  <a:srgbClr val="66FF99"/>
                </a:solidFill>
              </a:rPr>
              <a:t>(</a:t>
            </a:r>
            <a:r>
              <a:rPr lang="en-CA" dirty="0"/>
              <a:t>HDTW</a:t>
            </a:r>
            <a:r>
              <a:rPr lang="en-CA" dirty="0">
                <a:solidFill>
                  <a:srgbClr val="66FF99"/>
                </a:solidFill>
              </a:rPr>
              <a:t>)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pPr lvl="1"/>
            <a:endParaRPr lang="en-CA" dirty="0"/>
          </a:p>
          <a:p>
            <a:pPr lvl="1"/>
            <a:endParaRPr lang="en-CA" dirty="0"/>
          </a:p>
          <a:p>
            <a:pPr lvl="1"/>
            <a:endParaRPr lang="en-CA" dirty="0"/>
          </a:p>
          <a:p>
            <a:pPr lvl="1"/>
            <a:endParaRPr lang="en-CA" dirty="0"/>
          </a:p>
          <a:p>
            <a:pPr lvl="1"/>
            <a:endParaRPr lang="en-CA" dirty="0"/>
          </a:p>
          <a:p>
            <a:pPr lvl="1"/>
            <a:endParaRPr lang="en-CA" dirty="0"/>
          </a:p>
          <a:p>
            <a:pPr lvl="1"/>
            <a:endParaRPr lang="en-CA" dirty="0"/>
          </a:p>
          <a:p>
            <a:pPr lvl="1"/>
            <a:endParaRPr lang="en-CA" dirty="0"/>
          </a:p>
          <a:p>
            <a:pPr lvl="1"/>
            <a:endParaRPr lang="en-CA" dirty="0"/>
          </a:p>
          <a:p>
            <a:endParaRPr lang="en-CA" dirty="0"/>
          </a:p>
          <a:p>
            <a:r>
              <a:rPr lang="en-CA" dirty="0"/>
              <a:t>In </a:t>
            </a:r>
            <a:r>
              <a:rPr lang="en-CA" b="1" u="sng" dirty="0">
                <a:solidFill>
                  <a:schemeClr val="accent6"/>
                </a:solidFill>
              </a:rPr>
              <a:t>Tutorial 0</a:t>
            </a:r>
            <a:r>
              <a:rPr lang="en-CA" dirty="0"/>
              <a:t> this week </a:t>
            </a:r>
            <a:r>
              <a:rPr lang="en-CA" dirty="0">
                <a:solidFill>
                  <a:schemeClr val="accent6"/>
                </a:solidFill>
              </a:rPr>
              <a:t>-&gt;</a:t>
            </a:r>
            <a:r>
              <a:rPr lang="en-CA" dirty="0"/>
              <a:t> Set up your development environment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endParaRPr lang="en-CA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1D1FC8-E922-E22B-2840-F7C8180B48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1680" y="2658770"/>
            <a:ext cx="6973446" cy="3081290"/>
          </a:xfrm>
          <a:prstGeom prst="rect">
            <a:avLst/>
          </a:prstGeom>
          <a:ln w="19050">
            <a:solidFill>
              <a:schemeClr val="accent6"/>
            </a:solidFill>
          </a:ln>
        </p:spPr>
      </p:pic>
    </p:spTree>
    <p:extLst>
      <p:ext uri="{BB962C8B-B14F-4D97-AF65-F5344CB8AC3E}">
        <p14:creationId xmlns:p14="http://schemas.microsoft.com/office/powerpoint/2010/main" val="268471861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1F085-79AB-D9D8-FABC-214EC4AD9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0B088-0BF4-C769-D5A2-1954B086FC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Coding Toolbox</a:t>
            </a:r>
            <a:r>
              <a:rPr lang="en-US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4B93C1-7002-0CAA-76E5-A7FEB19D0EE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1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2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1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2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76D160-271F-C1C1-AE50-0D5254E688A4}"/>
              </a:ext>
            </a:extLst>
          </p:cNvPr>
          <p:cNvSpPr txBox="1"/>
          <p:nvPr/>
        </p:nvSpPr>
        <p:spPr>
          <a:xfrm>
            <a:off x="335947" y="5102715"/>
            <a:ext cx="3824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rgbClr val="CC99FF"/>
                </a:solidFill>
              </a:rPr>
              <a:t>Upcoming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Lab 0 Released 6 pm Thursday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Reflection 1 Released Friday 6:00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Tutorial sessions running all week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08677716"/>
      </p:ext>
    </p:extLst>
  </p:cSld>
  <p:clrMapOvr>
    <a:masterClrMapping/>
  </p:clrMapOvr>
</p:sld>
</file>

<file path=ppt/theme/theme1.xml><?xml version="1.0" encoding="utf-8"?>
<a:theme xmlns:a="http://schemas.openxmlformats.org/drawingml/2006/main" name="APS106_Theme">
  <a:themeElements>
    <a:clrScheme name="Custom 2">
      <a:dk1>
        <a:srgbClr val="444445"/>
      </a:dk1>
      <a:lt1>
        <a:srgbClr val="000000"/>
      </a:lt1>
      <a:dk2>
        <a:srgbClr val="7B8994"/>
      </a:dk2>
      <a:lt2>
        <a:srgbClr val="3D464D"/>
      </a:lt2>
      <a:accent1>
        <a:srgbClr val="0061FF"/>
      </a:accent1>
      <a:accent2>
        <a:srgbClr val="0061FF"/>
      </a:accent2>
      <a:accent3>
        <a:srgbClr val="0061FF"/>
      </a:accent3>
      <a:accent4>
        <a:srgbClr val="7B8994"/>
      </a:accent4>
      <a:accent5>
        <a:srgbClr val="7B8994"/>
      </a:accent5>
      <a:accent6>
        <a:srgbClr val="F7B41A"/>
      </a:accent6>
      <a:hlink>
        <a:srgbClr val="3D464D"/>
      </a:hlink>
      <a:folHlink>
        <a:srgbClr val="3D464D"/>
      </a:folHlink>
    </a:clrScheme>
    <a:fontScheme name="Custom 1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PS106_Theme" id="{3BEEB87C-8A6C-443F-995D-4A4893CCEBD8}" vid="{9B7A7CDB-8752-4A8C-8C1A-92E8A921146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APS106_Theme</Template>
  <TotalTime>31215</TotalTime>
  <Words>3805</Words>
  <Application>Microsoft Office PowerPoint</Application>
  <PresentationFormat>Widescreen</PresentationFormat>
  <Paragraphs>575</Paragraphs>
  <Slides>51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8" baseType="lpstr">
      <vt:lpstr>Arial</vt:lpstr>
      <vt:lpstr>Calibri</vt:lpstr>
      <vt:lpstr>Consolas</vt:lpstr>
      <vt:lpstr>Helvetica Neue</vt:lpstr>
      <vt:lpstr>Segoe UI</vt:lpstr>
      <vt:lpstr>Wingdings</vt:lpstr>
      <vt:lpstr>APS106_Theme</vt:lpstr>
      <vt:lpstr>The Coding Toolbox.</vt:lpstr>
      <vt:lpstr>This Week’s Content</vt:lpstr>
      <vt:lpstr>What you will get out of today’s lecture.</vt:lpstr>
      <vt:lpstr>APS106 Folder Structure.</vt:lpstr>
      <vt:lpstr>APS106 Folder Structure.</vt:lpstr>
      <vt:lpstr>Developer Toolkit.</vt:lpstr>
      <vt:lpstr>Developer Toolkit.</vt:lpstr>
      <vt:lpstr>Inside your computer?</vt:lpstr>
      <vt:lpstr>Inside your computer?</vt:lpstr>
      <vt:lpstr>Inside your computer?</vt:lpstr>
      <vt:lpstr>Outside your computer?</vt:lpstr>
      <vt:lpstr>File Formats and Extensions.</vt:lpstr>
      <vt:lpstr>Developer Toolkit.</vt:lpstr>
      <vt:lpstr>Python Interpreter.</vt:lpstr>
      <vt:lpstr>Python Interpreter.</vt:lpstr>
      <vt:lpstr>Developer Toolkit.</vt:lpstr>
      <vt:lpstr>Editors &amp; IDEs.</vt:lpstr>
      <vt:lpstr>Editors &amp; IDEs.</vt:lpstr>
      <vt:lpstr>Text Editor.</vt:lpstr>
      <vt:lpstr>Text Editor.</vt:lpstr>
      <vt:lpstr>Text Editor.</vt:lpstr>
      <vt:lpstr>Editors &amp; IDEs.</vt:lpstr>
      <vt:lpstr>Interactive Computing Environment.</vt:lpstr>
      <vt:lpstr>Interactive Computing Environment.</vt:lpstr>
      <vt:lpstr>Interactive Computing Environment.</vt:lpstr>
      <vt:lpstr>Interactive Computing Environment.</vt:lpstr>
      <vt:lpstr>JupyterHub.</vt:lpstr>
      <vt:lpstr>Jupyter Notebook.</vt:lpstr>
      <vt:lpstr>PowerPoint Presentation</vt:lpstr>
      <vt:lpstr>Editors &amp; IDEs.</vt:lpstr>
      <vt:lpstr>Integrated Development  Environment.</vt:lpstr>
      <vt:lpstr>Integrated Development  Environment.</vt:lpstr>
      <vt:lpstr>Editors &amp; IDEs.</vt:lpstr>
      <vt:lpstr>Editors &amp; IDEs.</vt:lpstr>
      <vt:lpstr>AI-First IDE.</vt:lpstr>
      <vt:lpstr>AI-First IDE.</vt:lpstr>
      <vt:lpstr>Editors &amp; IDEs.</vt:lpstr>
      <vt:lpstr>What We’ll Use.</vt:lpstr>
      <vt:lpstr>Developer Toolkit.</vt:lpstr>
      <vt:lpstr>Developer Toolkit.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Developer Toolkit.</vt:lpstr>
      <vt:lpstr>Week 11 (Don’t Stress).</vt:lpstr>
      <vt:lpstr>Before Next Class.</vt:lpstr>
      <vt:lpstr>The Coding Toolbox.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Sebastian Goodfellow</dc:creator>
  <cp:lastModifiedBy>Sebastian Goodfellow</cp:lastModifiedBy>
  <cp:revision>292</cp:revision>
  <dcterms:created xsi:type="dcterms:W3CDTF">2021-11-03T00:49:37Z</dcterms:created>
  <dcterms:modified xsi:type="dcterms:W3CDTF">2026-01-07T15:26:15Z</dcterms:modified>
</cp:coreProperties>
</file>