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1"/>
  </p:sldMasterIdLst>
  <p:notesMasterIdLst>
    <p:notesMasterId r:id="rId54"/>
  </p:notesMasterIdLst>
  <p:sldIdLst>
    <p:sldId id="256" r:id="rId2"/>
    <p:sldId id="379" r:id="rId3"/>
    <p:sldId id="372" r:id="rId4"/>
    <p:sldId id="952" r:id="rId5"/>
    <p:sldId id="951" r:id="rId6"/>
    <p:sldId id="929" r:id="rId7"/>
    <p:sldId id="930" r:id="rId8"/>
    <p:sldId id="357" r:id="rId9"/>
    <p:sldId id="381" r:id="rId10"/>
    <p:sldId id="382" r:id="rId11"/>
    <p:sldId id="380" r:id="rId12"/>
    <p:sldId id="954" r:id="rId13"/>
    <p:sldId id="931" r:id="rId14"/>
    <p:sldId id="932" r:id="rId15"/>
    <p:sldId id="933" r:id="rId16"/>
    <p:sldId id="934" r:id="rId17"/>
    <p:sldId id="936" r:id="rId18"/>
    <p:sldId id="937" r:id="rId19"/>
    <p:sldId id="941" r:id="rId20"/>
    <p:sldId id="942" r:id="rId21"/>
    <p:sldId id="940" r:id="rId22"/>
    <p:sldId id="943" r:id="rId23"/>
    <p:sldId id="949" r:id="rId24"/>
    <p:sldId id="948" r:id="rId25"/>
    <p:sldId id="950" r:id="rId26"/>
    <p:sldId id="944" r:id="rId27"/>
    <p:sldId id="946" r:id="rId28"/>
    <p:sldId id="945" r:id="rId29"/>
    <p:sldId id="947" r:id="rId30"/>
    <p:sldId id="938" r:id="rId31"/>
    <p:sldId id="358" r:id="rId32"/>
    <p:sldId id="359" r:id="rId33"/>
    <p:sldId id="376" r:id="rId34"/>
    <p:sldId id="371" r:id="rId35"/>
    <p:sldId id="368" r:id="rId36"/>
    <p:sldId id="369" r:id="rId37"/>
    <p:sldId id="338" r:id="rId38"/>
    <p:sldId id="370" r:id="rId39"/>
    <p:sldId id="355" r:id="rId40"/>
    <p:sldId id="373" r:id="rId41"/>
    <p:sldId id="366" r:id="rId42"/>
    <p:sldId id="314" r:id="rId43"/>
    <p:sldId id="364" r:id="rId44"/>
    <p:sldId id="363" r:id="rId45"/>
    <p:sldId id="339" r:id="rId46"/>
    <p:sldId id="309" r:id="rId47"/>
    <p:sldId id="336" r:id="rId48"/>
    <p:sldId id="317" r:id="rId49"/>
    <p:sldId id="347" r:id="rId50"/>
    <p:sldId id="378" r:id="rId51"/>
    <p:sldId id="928" r:id="rId52"/>
    <p:sldId id="361"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FF00"/>
    <a:srgbClr val="FF66CC"/>
    <a:srgbClr val="CC99FF"/>
    <a:srgbClr val="2D2D2D"/>
    <a:srgbClr val="F7F7F7"/>
    <a:srgbClr val="D4CBC5"/>
    <a:srgbClr val="E2E3E7"/>
    <a:srgbClr val="E3E0E7"/>
    <a:srgbClr val="6EB5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7386" autoAdjust="0"/>
  </p:normalViewPr>
  <p:slideViewPr>
    <p:cSldViewPr snapToGrid="0">
      <p:cViewPr varScale="1">
        <p:scale>
          <a:sx n="159" d="100"/>
          <a:sy n="159" d="100"/>
        </p:scale>
        <p:origin x="30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3430C1-D688-BD49-935E-51AFE270AD05}" type="doc">
      <dgm:prSet loTypeId="urn:microsoft.com/office/officeart/2005/8/layout/StepDownProcess" loCatId="" qsTypeId="urn:microsoft.com/office/officeart/2005/8/quickstyle/simple1" qsCatId="simple" csTypeId="urn:microsoft.com/office/officeart/2005/8/colors/accent1_2" csCatId="accent1" phldr="1"/>
      <dgm:spPr/>
      <dgm:t>
        <a:bodyPr/>
        <a:lstStyle/>
        <a:p>
          <a:endParaRPr lang="en-GB"/>
        </a:p>
      </dgm:t>
    </dgm:pt>
    <dgm:pt modelId="{C38537EC-D67A-7A4F-AAF3-301C900BA516}">
      <dgm:prSet phldrT="[Text]"/>
      <dgm:spPr/>
      <dgm:t>
        <a:bodyPr/>
        <a:lstStyle/>
        <a:p>
          <a:r>
            <a:rPr lang="en-GB" b="1" dirty="0"/>
            <a:t>(1) </a:t>
          </a:r>
          <a:r>
            <a:rPr lang="en-GB" dirty="0"/>
            <a:t>Python converts to machine code </a:t>
          </a:r>
        </a:p>
      </dgm:t>
    </dgm:pt>
    <dgm:pt modelId="{DF232290-BF57-3043-A1DA-F699C4828116}" type="parTrans" cxnId="{8D2A9D3A-71D3-AB48-A308-0ED7E4E9A3F4}">
      <dgm:prSet/>
      <dgm:spPr/>
      <dgm:t>
        <a:bodyPr/>
        <a:lstStyle/>
        <a:p>
          <a:endParaRPr lang="en-GB"/>
        </a:p>
      </dgm:t>
    </dgm:pt>
    <dgm:pt modelId="{BF11F241-8C1D-5B41-8D78-D2F00ADB646A}" type="sibTrans" cxnId="{8D2A9D3A-71D3-AB48-A308-0ED7E4E9A3F4}">
      <dgm:prSet/>
      <dgm:spPr/>
      <dgm:t>
        <a:bodyPr/>
        <a:lstStyle/>
        <a:p>
          <a:endParaRPr lang="en-GB"/>
        </a:p>
      </dgm:t>
    </dgm:pt>
    <dgm:pt modelId="{D2892AB7-6403-B244-B3BC-65D06D91C61E}">
      <dgm:prSet phldrT="[Text]" custT="1"/>
      <dgm:spPr/>
      <dgm:t>
        <a:bodyPr/>
        <a:lstStyle/>
        <a:p>
          <a:r>
            <a:rPr lang="en-CA" sz="1600" dirty="0">
              <a:solidFill>
                <a:srgbClr val="FFFFFF"/>
              </a:solidFill>
            </a:rPr>
            <a:t>Python takes human-readable instructions and converts this to machine code (binary: 1s and 0s)</a:t>
          </a:r>
          <a:endParaRPr lang="en-GB" sz="1600" dirty="0">
            <a:solidFill>
              <a:srgbClr val="FFFFFF"/>
            </a:solidFill>
          </a:endParaRPr>
        </a:p>
      </dgm:t>
    </dgm:pt>
    <dgm:pt modelId="{E41E6ACE-A8FE-4748-A9AE-F535F168A0F3}" type="parTrans" cxnId="{01AC242C-93BD-EF48-896D-4C73A323F085}">
      <dgm:prSet/>
      <dgm:spPr/>
      <dgm:t>
        <a:bodyPr/>
        <a:lstStyle/>
        <a:p>
          <a:endParaRPr lang="en-GB"/>
        </a:p>
      </dgm:t>
    </dgm:pt>
    <dgm:pt modelId="{EDA3ACF4-4E80-764B-8DC1-363866A05F42}" type="sibTrans" cxnId="{01AC242C-93BD-EF48-896D-4C73A323F085}">
      <dgm:prSet/>
      <dgm:spPr/>
      <dgm:t>
        <a:bodyPr/>
        <a:lstStyle/>
        <a:p>
          <a:endParaRPr lang="en-GB"/>
        </a:p>
      </dgm:t>
    </dgm:pt>
    <dgm:pt modelId="{26231C9A-2A3B-EE40-B8F7-6DAF09C6B917}">
      <dgm:prSet phldrT="[Text]"/>
      <dgm:spPr/>
      <dgm:t>
        <a:bodyPr/>
        <a:lstStyle/>
        <a:p>
          <a:r>
            <a:rPr lang="en-GB" b="1" dirty="0"/>
            <a:t>(2) </a:t>
          </a:r>
          <a:r>
            <a:rPr lang="en-GB" dirty="0"/>
            <a:t>Machine code determines transistor voltages</a:t>
          </a:r>
        </a:p>
      </dgm:t>
    </dgm:pt>
    <dgm:pt modelId="{B7EB603E-0EF1-A142-B277-465ED8E64B73}" type="parTrans" cxnId="{6554CA57-769C-CC42-9952-2D286655CC5D}">
      <dgm:prSet/>
      <dgm:spPr/>
      <dgm:t>
        <a:bodyPr/>
        <a:lstStyle/>
        <a:p>
          <a:endParaRPr lang="en-GB"/>
        </a:p>
      </dgm:t>
    </dgm:pt>
    <dgm:pt modelId="{D32505F3-9836-F447-9BCF-C705603DDC37}" type="sibTrans" cxnId="{6554CA57-769C-CC42-9952-2D286655CC5D}">
      <dgm:prSet/>
      <dgm:spPr/>
      <dgm:t>
        <a:bodyPr/>
        <a:lstStyle/>
        <a:p>
          <a:endParaRPr lang="en-GB"/>
        </a:p>
      </dgm:t>
    </dgm:pt>
    <dgm:pt modelId="{5FC89CA0-E809-6442-8B73-09E817BD8234}">
      <dgm:prSet phldrT="[Text]" custT="1"/>
      <dgm:spPr/>
      <dgm:t>
        <a:bodyPr/>
        <a:lstStyle/>
        <a:p>
          <a:r>
            <a:rPr lang="en-CA" sz="1600" dirty="0">
              <a:solidFill>
                <a:srgbClr val="FFFFFF"/>
              </a:solidFill>
            </a:rPr>
            <a:t>This sequence of 1s and 0s determines which transistors in the CPU are ON and OFF, representing one specific instruction for the machine</a:t>
          </a:r>
          <a:endParaRPr lang="en-GB" sz="1600" dirty="0">
            <a:solidFill>
              <a:srgbClr val="FFFFFF"/>
            </a:solidFill>
          </a:endParaRPr>
        </a:p>
      </dgm:t>
    </dgm:pt>
    <dgm:pt modelId="{17FA6A21-6DC9-7B49-98F3-516304CD77A7}" type="parTrans" cxnId="{4617C942-C63D-394E-8B63-4D58C83B413A}">
      <dgm:prSet/>
      <dgm:spPr/>
      <dgm:t>
        <a:bodyPr/>
        <a:lstStyle/>
        <a:p>
          <a:endParaRPr lang="en-GB"/>
        </a:p>
      </dgm:t>
    </dgm:pt>
    <dgm:pt modelId="{E4491BAD-2DB5-DD4C-A96D-28BC7BB769C2}" type="sibTrans" cxnId="{4617C942-C63D-394E-8B63-4D58C83B413A}">
      <dgm:prSet/>
      <dgm:spPr/>
      <dgm:t>
        <a:bodyPr/>
        <a:lstStyle/>
        <a:p>
          <a:endParaRPr lang="en-GB"/>
        </a:p>
      </dgm:t>
    </dgm:pt>
    <dgm:pt modelId="{CB248502-87D4-0741-BA45-CFE58D6A5DA9}">
      <dgm:prSet phldrT="[Text]"/>
      <dgm:spPr/>
      <dgm:t>
        <a:bodyPr/>
        <a:lstStyle/>
        <a:p>
          <a:r>
            <a:rPr lang="en-GB" b="1" dirty="0"/>
            <a:t>(3) </a:t>
          </a:r>
          <a:r>
            <a:rPr lang="en-GB" dirty="0"/>
            <a:t>Instructions given sequentially on each clock cycle </a:t>
          </a:r>
        </a:p>
      </dgm:t>
    </dgm:pt>
    <dgm:pt modelId="{D3DC42E2-2CF2-0047-B393-BF114333CEDD}" type="parTrans" cxnId="{FD18D84E-5F94-B343-BFCE-6CEC38545FA8}">
      <dgm:prSet/>
      <dgm:spPr/>
      <dgm:t>
        <a:bodyPr/>
        <a:lstStyle/>
        <a:p>
          <a:endParaRPr lang="en-GB"/>
        </a:p>
      </dgm:t>
    </dgm:pt>
    <dgm:pt modelId="{562985D0-9FFB-624C-B9AA-CECB62ACFBB2}" type="sibTrans" cxnId="{FD18D84E-5F94-B343-BFCE-6CEC38545FA8}">
      <dgm:prSet/>
      <dgm:spPr/>
      <dgm:t>
        <a:bodyPr/>
        <a:lstStyle/>
        <a:p>
          <a:endParaRPr lang="en-GB"/>
        </a:p>
      </dgm:t>
    </dgm:pt>
    <dgm:pt modelId="{FFE62AAD-2166-5941-910C-EE962872017D}">
      <dgm:prSet phldrT="[Text]" custT="1"/>
      <dgm:spPr/>
      <dgm:t>
        <a:bodyPr/>
        <a:lstStyle/>
        <a:p>
          <a:r>
            <a:rPr lang="en-CA" sz="1600" dirty="0">
              <a:solidFill>
                <a:srgbClr val="FFFFFF"/>
              </a:solidFill>
            </a:rPr>
            <a:t>Each instruction is given in sequence and executed according to the processors clock speed (number of instructions per second)</a:t>
          </a:r>
          <a:endParaRPr lang="en-GB" sz="1600" dirty="0">
            <a:solidFill>
              <a:srgbClr val="FFFFFF"/>
            </a:solidFill>
          </a:endParaRPr>
        </a:p>
      </dgm:t>
    </dgm:pt>
    <dgm:pt modelId="{22C7BBC5-43DC-8B4E-BE26-FBDD9EF4F7A4}" type="parTrans" cxnId="{EF8E1079-B4DF-8845-86EA-1644EEBEB8DF}">
      <dgm:prSet/>
      <dgm:spPr/>
      <dgm:t>
        <a:bodyPr/>
        <a:lstStyle/>
        <a:p>
          <a:endParaRPr lang="en-GB"/>
        </a:p>
      </dgm:t>
    </dgm:pt>
    <dgm:pt modelId="{DA521918-C2D9-B04B-8B0A-6A3F899861F7}" type="sibTrans" cxnId="{EF8E1079-B4DF-8845-86EA-1644EEBEB8DF}">
      <dgm:prSet/>
      <dgm:spPr/>
      <dgm:t>
        <a:bodyPr/>
        <a:lstStyle/>
        <a:p>
          <a:endParaRPr lang="en-GB"/>
        </a:p>
      </dgm:t>
    </dgm:pt>
    <dgm:pt modelId="{498F4A08-BC4A-B14A-AF64-B9C61A24A678}" type="pres">
      <dgm:prSet presAssocID="{763430C1-D688-BD49-935E-51AFE270AD05}" presName="rootnode" presStyleCnt="0">
        <dgm:presLayoutVars>
          <dgm:chMax/>
          <dgm:chPref/>
          <dgm:dir/>
          <dgm:animLvl val="lvl"/>
        </dgm:presLayoutVars>
      </dgm:prSet>
      <dgm:spPr/>
    </dgm:pt>
    <dgm:pt modelId="{A80C0E27-658A-AD4B-8643-A713951E7673}" type="pres">
      <dgm:prSet presAssocID="{C38537EC-D67A-7A4F-AAF3-301C900BA516}" presName="composite" presStyleCnt="0"/>
      <dgm:spPr/>
    </dgm:pt>
    <dgm:pt modelId="{6E09F78A-D9F9-8944-B130-490774197602}" type="pres">
      <dgm:prSet presAssocID="{C38537EC-D67A-7A4F-AAF3-301C900BA516}" presName="bentUpArrow1" presStyleLbl="alignImgPlace1" presStyleIdx="0" presStyleCnt="2" custLinFactNeighborX="-5552" custLinFactNeighborY="-14487"/>
      <dgm:spPr/>
    </dgm:pt>
    <dgm:pt modelId="{75135256-12A7-3843-840B-34FF94FD4993}" type="pres">
      <dgm:prSet presAssocID="{C38537EC-D67A-7A4F-AAF3-301C900BA516}" presName="ParentText" presStyleLbl="node1" presStyleIdx="0" presStyleCnt="3" custScaleY="77718">
        <dgm:presLayoutVars>
          <dgm:chMax val="1"/>
          <dgm:chPref val="1"/>
          <dgm:bulletEnabled val="1"/>
        </dgm:presLayoutVars>
      </dgm:prSet>
      <dgm:spPr/>
    </dgm:pt>
    <dgm:pt modelId="{0CF125CD-898C-B043-8EEE-F78F5954D678}" type="pres">
      <dgm:prSet presAssocID="{C38537EC-D67A-7A4F-AAF3-301C900BA516}" presName="ChildText" presStyleLbl="revTx" presStyleIdx="0" presStyleCnt="3" custScaleX="315136" custLinFactX="11390" custLinFactNeighborX="100000" custLinFactNeighborY="-847">
        <dgm:presLayoutVars>
          <dgm:chMax val="0"/>
          <dgm:chPref val="0"/>
          <dgm:bulletEnabled val="1"/>
        </dgm:presLayoutVars>
      </dgm:prSet>
      <dgm:spPr/>
    </dgm:pt>
    <dgm:pt modelId="{7CEC5EA1-7BC5-B841-B385-7D551A211FC7}" type="pres">
      <dgm:prSet presAssocID="{BF11F241-8C1D-5B41-8D78-D2F00ADB646A}" presName="sibTrans" presStyleCnt="0"/>
      <dgm:spPr/>
    </dgm:pt>
    <dgm:pt modelId="{1A740456-DA90-9945-A3B5-A03E61A04397}" type="pres">
      <dgm:prSet presAssocID="{26231C9A-2A3B-EE40-B8F7-6DAF09C6B917}" presName="composite" presStyleCnt="0"/>
      <dgm:spPr/>
    </dgm:pt>
    <dgm:pt modelId="{53BF12FD-8F31-DF4A-A8BE-CF6D8B773045}" type="pres">
      <dgm:prSet presAssocID="{26231C9A-2A3B-EE40-B8F7-6DAF09C6B917}" presName="bentUpArrow1" presStyleLbl="alignImgPlace1" presStyleIdx="1" presStyleCnt="2" custLinFactNeighborX="-70176" custLinFactNeighborY="-22179"/>
      <dgm:spPr/>
    </dgm:pt>
    <dgm:pt modelId="{DC733774-6082-2D44-A637-74155F99EE5F}" type="pres">
      <dgm:prSet presAssocID="{26231C9A-2A3B-EE40-B8F7-6DAF09C6B917}" presName="ParentText" presStyleLbl="node1" presStyleIdx="1" presStyleCnt="3" custScaleY="77927" custLinFactNeighborX="-45372" custLinFactNeighborY="-6679">
        <dgm:presLayoutVars>
          <dgm:chMax val="1"/>
          <dgm:chPref val="1"/>
          <dgm:bulletEnabled val="1"/>
        </dgm:presLayoutVars>
      </dgm:prSet>
      <dgm:spPr/>
    </dgm:pt>
    <dgm:pt modelId="{F79D992D-8BC5-5244-BCBB-09EF939D6BA2}" type="pres">
      <dgm:prSet presAssocID="{26231C9A-2A3B-EE40-B8F7-6DAF09C6B917}" presName="ChildText" presStyleLbl="revTx" presStyleIdx="1" presStyleCnt="3" custScaleX="327231" custLinFactNeighborX="67372" custLinFactNeighborY="-12862">
        <dgm:presLayoutVars>
          <dgm:chMax val="0"/>
          <dgm:chPref val="0"/>
          <dgm:bulletEnabled val="1"/>
        </dgm:presLayoutVars>
      </dgm:prSet>
      <dgm:spPr/>
    </dgm:pt>
    <dgm:pt modelId="{7D6785D9-1B64-EE48-9545-3E4CBFD9789A}" type="pres">
      <dgm:prSet presAssocID="{D32505F3-9836-F447-9BCF-C705603DDC37}" presName="sibTrans" presStyleCnt="0"/>
      <dgm:spPr/>
    </dgm:pt>
    <dgm:pt modelId="{B894D074-DCC6-624E-A91C-34DC246C50F1}" type="pres">
      <dgm:prSet presAssocID="{CB248502-87D4-0741-BA45-CFE58D6A5DA9}" presName="composite" presStyleCnt="0"/>
      <dgm:spPr/>
    </dgm:pt>
    <dgm:pt modelId="{F9EB1D0C-6F2A-C247-A582-8B824F193BD1}" type="pres">
      <dgm:prSet presAssocID="{CB248502-87D4-0741-BA45-CFE58D6A5DA9}" presName="ParentText" presStyleLbl="node1" presStyleIdx="2" presStyleCnt="3" custScaleY="79075" custLinFactNeighborX="-87306" custLinFactNeighborY="-10533">
        <dgm:presLayoutVars>
          <dgm:chMax val="1"/>
          <dgm:chPref val="1"/>
          <dgm:bulletEnabled val="1"/>
        </dgm:presLayoutVars>
      </dgm:prSet>
      <dgm:spPr/>
    </dgm:pt>
    <dgm:pt modelId="{6EAFAD57-A99B-E940-82BF-B1FEB80E44B4}" type="pres">
      <dgm:prSet presAssocID="{CB248502-87D4-0741-BA45-CFE58D6A5DA9}" presName="FinalChildText" presStyleLbl="revTx" presStyleIdx="2" presStyleCnt="3" custScaleX="320701" custLinFactNeighborX="-442" custLinFactNeighborY="-14216">
        <dgm:presLayoutVars>
          <dgm:chMax val="0"/>
          <dgm:chPref val="0"/>
          <dgm:bulletEnabled val="1"/>
        </dgm:presLayoutVars>
      </dgm:prSet>
      <dgm:spPr/>
    </dgm:pt>
  </dgm:ptLst>
  <dgm:cxnLst>
    <dgm:cxn modelId="{01AC242C-93BD-EF48-896D-4C73A323F085}" srcId="{C38537EC-D67A-7A4F-AAF3-301C900BA516}" destId="{D2892AB7-6403-B244-B3BC-65D06D91C61E}" srcOrd="0" destOrd="0" parTransId="{E41E6ACE-A8FE-4748-A9AE-F535F168A0F3}" sibTransId="{EDA3ACF4-4E80-764B-8DC1-363866A05F42}"/>
    <dgm:cxn modelId="{8D2A9D3A-71D3-AB48-A308-0ED7E4E9A3F4}" srcId="{763430C1-D688-BD49-935E-51AFE270AD05}" destId="{C38537EC-D67A-7A4F-AAF3-301C900BA516}" srcOrd="0" destOrd="0" parTransId="{DF232290-BF57-3043-A1DA-F699C4828116}" sibTransId="{BF11F241-8C1D-5B41-8D78-D2F00ADB646A}"/>
    <dgm:cxn modelId="{4617C942-C63D-394E-8B63-4D58C83B413A}" srcId="{26231C9A-2A3B-EE40-B8F7-6DAF09C6B917}" destId="{5FC89CA0-E809-6442-8B73-09E817BD8234}" srcOrd="0" destOrd="0" parTransId="{17FA6A21-6DC9-7B49-98F3-516304CD77A7}" sibTransId="{E4491BAD-2DB5-DD4C-A96D-28BC7BB769C2}"/>
    <dgm:cxn modelId="{C4D27F6E-5575-7C4A-AD01-924434061EAC}" type="presOf" srcId="{C38537EC-D67A-7A4F-AAF3-301C900BA516}" destId="{75135256-12A7-3843-840B-34FF94FD4993}" srcOrd="0" destOrd="0" presId="urn:microsoft.com/office/officeart/2005/8/layout/StepDownProcess"/>
    <dgm:cxn modelId="{FD18D84E-5F94-B343-BFCE-6CEC38545FA8}" srcId="{763430C1-D688-BD49-935E-51AFE270AD05}" destId="{CB248502-87D4-0741-BA45-CFE58D6A5DA9}" srcOrd="2" destOrd="0" parTransId="{D3DC42E2-2CF2-0047-B393-BF114333CEDD}" sibTransId="{562985D0-9FFB-624C-B9AA-CECB62ACFBB2}"/>
    <dgm:cxn modelId="{6554CA57-769C-CC42-9952-2D286655CC5D}" srcId="{763430C1-D688-BD49-935E-51AFE270AD05}" destId="{26231C9A-2A3B-EE40-B8F7-6DAF09C6B917}" srcOrd="1" destOrd="0" parTransId="{B7EB603E-0EF1-A142-B277-465ED8E64B73}" sibTransId="{D32505F3-9836-F447-9BCF-C705603DDC37}"/>
    <dgm:cxn modelId="{EF8E1079-B4DF-8845-86EA-1644EEBEB8DF}" srcId="{CB248502-87D4-0741-BA45-CFE58D6A5DA9}" destId="{FFE62AAD-2166-5941-910C-EE962872017D}" srcOrd="0" destOrd="0" parTransId="{22C7BBC5-43DC-8B4E-BE26-FBDD9EF4F7A4}" sibTransId="{DA521918-C2D9-B04B-8B0A-6A3F899861F7}"/>
    <dgm:cxn modelId="{AC1C9F5A-2192-594E-8C24-12710E7414C7}" type="presOf" srcId="{CB248502-87D4-0741-BA45-CFE58D6A5DA9}" destId="{F9EB1D0C-6F2A-C247-A582-8B824F193BD1}" srcOrd="0" destOrd="0" presId="urn:microsoft.com/office/officeart/2005/8/layout/StepDownProcess"/>
    <dgm:cxn modelId="{6A4119A6-C553-B045-94F8-D78A6EC0B251}" type="presOf" srcId="{5FC89CA0-E809-6442-8B73-09E817BD8234}" destId="{F79D992D-8BC5-5244-BCBB-09EF939D6BA2}" srcOrd="0" destOrd="0" presId="urn:microsoft.com/office/officeart/2005/8/layout/StepDownProcess"/>
    <dgm:cxn modelId="{2ACE1DB3-FA9C-FD44-92DA-250CF05A34CD}" type="presOf" srcId="{FFE62AAD-2166-5941-910C-EE962872017D}" destId="{6EAFAD57-A99B-E940-82BF-B1FEB80E44B4}" srcOrd="0" destOrd="0" presId="urn:microsoft.com/office/officeart/2005/8/layout/StepDownProcess"/>
    <dgm:cxn modelId="{42D8BFBB-D2F5-E241-B9E8-F63E2A386975}" type="presOf" srcId="{26231C9A-2A3B-EE40-B8F7-6DAF09C6B917}" destId="{DC733774-6082-2D44-A637-74155F99EE5F}" srcOrd="0" destOrd="0" presId="urn:microsoft.com/office/officeart/2005/8/layout/StepDownProcess"/>
    <dgm:cxn modelId="{ABAD4ABD-0FE9-2F4D-9F66-4B19A18E6549}" type="presOf" srcId="{D2892AB7-6403-B244-B3BC-65D06D91C61E}" destId="{0CF125CD-898C-B043-8EEE-F78F5954D678}" srcOrd="0" destOrd="0" presId="urn:microsoft.com/office/officeart/2005/8/layout/StepDownProcess"/>
    <dgm:cxn modelId="{198FA9FD-A434-DF46-B17F-0DBCF94F5910}" type="presOf" srcId="{763430C1-D688-BD49-935E-51AFE270AD05}" destId="{498F4A08-BC4A-B14A-AF64-B9C61A24A678}" srcOrd="0" destOrd="0" presId="urn:microsoft.com/office/officeart/2005/8/layout/StepDownProcess"/>
    <dgm:cxn modelId="{499E3F42-8852-004B-BA5C-C5AF42F131D2}" type="presParOf" srcId="{498F4A08-BC4A-B14A-AF64-B9C61A24A678}" destId="{A80C0E27-658A-AD4B-8643-A713951E7673}" srcOrd="0" destOrd="0" presId="urn:microsoft.com/office/officeart/2005/8/layout/StepDownProcess"/>
    <dgm:cxn modelId="{CE3118D9-0B59-D44B-AAA4-21DC761D7AE4}" type="presParOf" srcId="{A80C0E27-658A-AD4B-8643-A713951E7673}" destId="{6E09F78A-D9F9-8944-B130-490774197602}" srcOrd="0" destOrd="0" presId="urn:microsoft.com/office/officeart/2005/8/layout/StepDownProcess"/>
    <dgm:cxn modelId="{62F85EF0-D5CD-E240-B9F6-DDC933493595}" type="presParOf" srcId="{A80C0E27-658A-AD4B-8643-A713951E7673}" destId="{75135256-12A7-3843-840B-34FF94FD4993}" srcOrd="1" destOrd="0" presId="urn:microsoft.com/office/officeart/2005/8/layout/StepDownProcess"/>
    <dgm:cxn modelId="{4CE4AD17-5FDB-8948-9DD0-5626C3ECEFE1}" type="presParOf" srcId="{A80C0E27-658A-AD4B-8643-A713951E7673}" destId="{0CF125CD-898C-B043-8EEE-F78F5954D678}" srcOrd="2" destOrd="0" presId="urn:microsoft.com/office/officeart/2005/8/layout/StepDownProcess"/>
    <dgm:cxn modelId="{619D6411-64D3-FA40-9736-55F6AC12C19E}" type="presParOf" srcId="{498F4A08-BC4A-B14A-AF64-B9C61A24A678}" destId="{7CEC5EA1-7BC5-B841-B385-7D551A211FC7}" srcOrd="1" destOrd="0" presId="urn:microsoft.com/office/officeart/2005/8/layout/StepDownProcess"/>
    <dgm:cxn modelId="{A67AD1D8-B853-DF42-B2BA-E5D302EDD9E3}" type="presParOf" srcId="{498F4A08-BC4A-B14A-AF64-B9C61A24A678}" destId="{1A740456-DA90-9945-A3B5-A03E61A04397}" srcOrd="2" destOrd="0" presId="urn:microsoft.com/office/officeart/2005/8/layout/StepDownProcess"/>
    <dgm:cxn modelId="{29E63A9B-C270-9E49-9BCE-F69152F99EB5}" type="presParOf" srcId="{1A740456-DA90-9945-A3B5-A03E61A04397}" destId="{53BF12FD-8F31-DF4A-A8BE-CF6D8B773045}" srcOrd="0" destOrd="0" presId="urn:microsoft.com/office/officeart/2005/8/layout/StepDownProcess"/>
    <dgm:cxn modelId="{C3F7F3E5-3A1F-3748-9459-9DC86DB39400}" type="presParOf" srcId="{1A740456-DA90-9945-A3B5-A03E61A04397}" destId="{DC733774-6082-2D44-A637-74155F99EE5F}" srcOrd="1" destOrd="0" presId="urn:microsoft.com/office/officeart/2005/8/layout/StepDownProcess"/>
    <dgm:cxn modelId="{5A5E452F-B8AD-4D48-9328-87BDFF98B1FB}" type="presParOf" srcId="{1A740456-DA90-9945-A3B5-A03E61A04397}" destId="{F79D992D-8BC5-5244-BCBB-09EF939D6BA2}" srcOrd="2" destOrd="0" presId="urn:microsoft.com/office/officeart/2005/8/layout/StepDownProcess"/>
    <dgm:cxn modelId="{5381961C-0CA6-AF48-938C-13191C57FE68}" type="presParOf" srcId="{498F4A08-BC4A-B14A-AF64-B9C61A24A678}" destId="{7D6785D9-1B64-EE48-9545-3E4CBFD9789A}" srcOrd="3" destOrd="0" presId="urn:microsoft.com/office/officeart/2005/8/layout/StepDownProcess"/>
    <dgm:cxn modelId="{74FD8D18-22B2-A24E-9387-68BA2556FBD4}" type="presParOf" srcId="{498F4A08-BC4A-B14A-AF64-B9C61A24A678}" destId="{B894D074-DCC6-624E-A91C-34DC246C50F1}" srcOrd="4" destOrd="0" presId="urn:microsoft.com/office/officeart/2005/8/layout/StepDownProcess"/>
    <dgm:cxn modelId="{E9AC1143-A768-C345-BF2D-C9985BF9DF3A}" type="presParOf" srcId="{B894D074-DCC6-624E-A91C-34DC246C50F1}" destId="{F9EB1D0C-6F2A-C247-A582-8B824F193BD1}" srcOrd="0" destOrd="0" presId="urn:microsoft.com/office/officeart/2005/8/layout/StepDownProcess"/>
    <dgm:cxn modelId="{652DA653-135B-0A42-81CA-05E30E2D335A}" type="presParOf" srcId="{B894D074-DCC6-624E-A91C-34DC246C50F1}" destId="{6EAFAD57-A99B-E940-82BF-B1FEB80E44B4}" srcOrd="1" destOrd="0" presId="urn:microsoft.com/office/officeart/2005/8/layout/StepDown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09F78A-D9F9-8944-B130-490774197602}">
      <dsp:nvSpPr>
        <dsp:cNvPr id="0" name=""/>
        <dsp:cNvSpPr/>
      </dsp:nvSpPr>
      <dsp:spPr>
        <a:xfrm rot="5400000">
          <a:off x="297584" y="1168420"/>
          <a:ext cx="1352325" cy="1539575"/>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5135256-12A7-3843-840B-34FF94FD4993}">
      <dsp:nvSpPr>
        <dsp:cNvPr id="0" name=""/>
        <dsp:cNvSpPr/>
      </dsp:nvSpPr>
      <dsp:spPr>
        <a:xfrm>
          <a:off x="24777" y="42782"/>
          <a:ext cx="2276520" cy="1238429"/>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b="1" kern="1200" dirty="0"/>
            <a:t>(1) </a:t>
          </a:r>
          <a:r>
            <a:rPr lang="en-GB" sz="1800" kern="1200" dirty="0"/>
            <a:t>Python converts to machine code </a:t>
          </a:r>
        </a:p>
      </dsp:txBody>
      <dsp:txXfrm>
        <a:off x="85243" y="103248"/>
        <a:ext cx="2155588" cy="1117497"/>
      </dsp:txXfrm>
    </dsp:sp>
    <dsp:sp modelId="{0CF125CD-898C-B043-8EEE-F78F5954D678}">
      <dsp:nvSpPr>
        <dsp:cNvPr id="0" name=""/>
        <dsp:cNvSpPr/>
      </dsp:nvSpPr>
      <dsp:spPr>
        <a:xfrm>
          <a:off x="2364580" y="6318"/>
          <a:ext cx="5217783" cy="12879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n-CA" sz="1600" kern="1200" dirty="0">
              <a:solidFill>
                <a:srgbClr val="FFFFFF"/>
              </a:solidFill>
            </a:rPr>
            <a:t>Python takes human-readable instructions and converts this to machine code (binary: 1s and 0s)</a:t>
          </a:r>
          <a:endParaRPr lang="en-GB" sz="1600" kern="1200" dirty="0">
            <a:solidFill>
              <a:srgbClr val="FFFFFF"/>
            </a:solidFill>
          </a:endParaRPr>
        </a:p>
      </dsp:txBody>
      <dsp:txXfrm>
        <a:off x="2364580" y="6318"/>
        <a:ext cx="5217783" cy="1287929"/>
      </dsp:txXfrm>
    </dsp:sp>
    <dsp:sp modelId="{53BF12FD-8F31-DF4A-A8BE-CF6D8B773045}">
      <dsp:nvSpPr>
        <dsp:cNvPr id="0" name=""/>
        <dsp:cNvSpPr/>
      </dsp:nvSpPr>
      <dsp:spPr>
        <a:xfrm rot="5400000">
          <a:off x="2045021" y="2702440"/>
          <a:ext cx="1352325" cy="1539575"/>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C733774-6082-2D44-A637-74155F99EE5F}">
      <dsp:nvSpPr>
        <dsp:cNvPr id="0" name=""/>
        <dsp:cNvSpPr/>
      </dsp:nvSpPr>
      <dsp:spPr>
        <a:xfrm>
          <a:off x="1734246" y="1572728"/>
          <a:ext cx="2276520" cy="1241759"/>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b="1" kern="1200" dirty="0"/>
            <a:t>(2) </a:t>
          </a:r>
          <a:r>
            <a:rPr lang="en-GB" sz="1800" kern="1200" dirty="0"/>
            <a:t>Machine code determines transistor voltages</a:t>
          </a:r>
        </a:p>
      </dsp:txBody>
      <dsp:txXfrm>
        <a:off x="1794875" y="1633357"/>
        <a:ext cx="2155262" cy="1120501"/>
      </dsp:txXfrm>
    </dsp:sp>
    <dsp:sp modelId="{F79D992D-8BC5-5244-BCBB-09EF939D6BA2}">
      <dsp:nvSpPr>
        <dsp:cNvPr id="0" name=""/>
        <dsp:cNvSpPr/>
      </dsp:nvSpPr>
      <dsp:spPr>
        <a:xfrm>
          <a:off x="4278005" y="1489614"/>
          <a:ext cx="5418043" cy="12879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n-CA" sz="1600" kern="1200" dirty="0">
              <a:solidFill>
                <a:srgbClr val="FFFFFF"/>
              </a:solidFill>
            </a:rPr>
            <a:t>This sequence of 1s and 0s determines which transistors in the CPU are ON and OFF, representing one specific instruction for the machine</a:t>
          </a:r>
          <a:endParaRPr lang="en-GB" sz="1600" kern="1200" dirty="0">
            <a:solidFill>
              <a:srgbClr val="FFFFFF"/>
            </a:solidFill>
          </a:endParaRPr>
        </a:p>
      </dsp:txBody>
      <dsp:txXfrm>
        <a:off x="4278005" y="1489614"/>
        <a:ext cx="5418043" cy="1287929"/>
      </dsp:txXfrm>
    </dsp:sp>
    <dsp:sp modelId="{F9EB1D0C-6F2A-C247-A582-8B824F193BD1}">
      <dsp:nvSpPr>
        <dsp:cNvPr id="0" name=""/>
        <dsp:cNvSpPr/>
      </dsp:nvSpPr>
      <dsp:spPr>
        <a:xfrm>
          <a:off x="3521981" y="3140208"/>
          <a:ext cx="2276520" cy="1260052"/>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b="1" kern="1200" dirty="0"/>
            <a:t>(3) </a:t>
          </a:r>
          <a:r>
            <a:rPr lang="en-GB" sz="1800" kern="1200" dirty="0"/>
            <a:t>Instructions given sequentially on each clock cycle </a:t>
          </a:r>
        </a:p>
      </dsp:txBody>
      <dsp:txXfrm>
        <a:off x="3583503" y="3201730"/>
        <a:ext cx="2153476" cy="1137008"/>
      </dsp:txXfrm>
    </dsp:sp>
    <dsp:sp modelId="{6EAFAD57-A99B-E940-82BF-B1FEB80E44B4}">
      <dsp:nvSpPr>
        <dsp:cNvPr id="0" name=""/>
        <dsp:cNvSpPr/>
      </dsp:nvSpPr>
      <dsp:spPr>
        <a:xfrm>
          <a:off x="5951623" y="3110215"/>
          <a:ext cx="5309924" cy="12879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n-CA" sz="1600" kern="1200" dirty="0">
              <a:solidFill>
                <a:srgbClr val="FFFFFF"/>
              </a:solidFill>
            </a:rPr>
            <a:t>Each instruction is given in sequence and executed according to the processors clock speed (number of instructions per second)</a:t>
          </a:r>
          <a:endParaRPr lang="en-GB" sz="1600" kern="1200" dirty="0">
            <a:solidFill>
              <a:srgbClr val="FFFFFF"/>
            </a:solidFill>
          </a:endParaRPr>
        </a:p>
      </dsp:txBody>
      <dsp:txXfrm>
        <a:off x="5951623" y="3110215"/>
        <a:ext cx="5309924" cy="1287929"/>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820200-9E3A-5545-9A12-AC8D76C4EB01}" type="datetimeFigureOut">
              <a:rPr lang="en-US" smtClean="0"/>
              <a:t>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23D110-B33C-3E49-B5DC-7F1369944E63}" type="slidenum">
              <a:rPr lang="en-US" smtClean="0"/>
              <a:t>‹#›</a:t>
            </a:fld>
            <a:endParaRPr lang="en-US"/>
          </a:p>
        </p:txBody>
      </p:sp>
    </p:spTree>
    <p:extLst>
      <p:ext uri="{BB962C8B-B14F-4D97-AF65-F5344CB8AC3E}">
        <p14:creationId xmlns:p14="http://schemas.microsoft.com/office/powerpoint/2010/main" val="563505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effectLst/>
                <a:latin typeface="Helvetica Neue" panose="02000503000000020004" pitchFamily="2" charset="0"/>
              </a:rPr>
              <a:t>Historical figures, history of computer</a:t>
            </a:r>
          </a:p>
          <a:p>
            <a:r>
              <a:rPr lang="en-GB" dirty="0">
                <a:effectLst/>
                <a:latin typeface="Helvetica Neue" panose="02000503000000020004" pitchFamily="2" charset="0"/>
              </a:rPr>
              <a:t>Extensions, terminal, </a:t>
            </a:r>
            <a:r>
              <a:rPr lang="en-GB" dirty="0" err="1">
                <a:effectLst/>
                <a:latin typeface="Helvetica Neue" panose="02000503000000020004" pitchFamily="2" charset="0"/>
              </a:rPr>
              <a:t>cPU</a:t>
            </a:r>
            <a:r>
              <a:rPr lang="en-GB" dirty="0">
                <a:effectLst/>
                <a:latin typeface="Helvetica Neue" panose="02000503000000020004" pitchFamily="2" charset="0"/>
              </a:rPr>
              <a:t>, RAM, GPU, memory, transistors</a:t>
            </a:r>
          </a:p>
          <a:p>
            <a:r>
              <a:rPr lang="en-GB" dirty="0">
                <a:effectLst/>
                <a:latin typeface="Helvetica Neue" panose="02000503000000020004" pitchFamily="2" charset="0"/>
              </a:rPr>
              <a:t>Maybe visualise how all the departments disciplines are involved</a:t>
            </a:r>
          </a:p>
          <a:p>
            <a:r>
              <a:rPr lang="en-GB" dirty="0">
                <a:effectLst/>
                <a:latin typeface="Helvetica Neue" panose="02000503000000020004" pitchFamily="2" charset="0"/>
              </a:rPr>
              <a:t>Tools in course:</a:t>
            </a:r>
          </a:p>
          <a:p>
            <a:r>
              <a:rPr lang="en-GB" dirty="0">
                <a:effectLst/>
                <a:latin typeface="Helvetica Neue" panose="02000503000000020004" pitchFamily="2" charset="0"/>
              </a:rPr>
              <a:t>Anaconda</a:t>
            </a:r>
          </a:p>
          <a:p>
            <a:r>
              <a:rPr lang="en-GB" dirty="0" err="1">
                <a:effectLst/>
                <a:latin typeface="Helvetica Neue" panose="02000503000000020004" pitchFamily="2" charset="0"/>
              </a:rPr>
              <a:t>Jupyter</a:t>
            </a:r>
            <a:r>
              <a:rPr lang="en-GB" dirty="0">
                <a:effectLst/>
                <a:latin typeface="Helvetica Neue" panose="02000503000000020004" pitchFamily="2" charset="0"/>
              </a:rPr>
              <a:t> </a:t>
            </a:r>
          </a:p>
          <a:p>
            <a:r>
              <a:rPr lang="en-GB" dirty="0">
                <a:effectLst/>
                <a:latin typeface="Helvetica Neue" panose="02000503000000020004" pitchFamily="2" charset="0"/>
              </a:rPr>
              <a:t>Environments</a:t>
            </a:r>
          </a:p>
          <a:p>
            <a:r>
              <a:rPr lang="en-GB" dirty="0">
                <a:effectLst/>
                <a:latin typeface="Helvetica Neue" panose="02000503000000020004" pitchFamily="2" charset="0"/>
              </a:rPr>
              <a:t>Shortcuts on </a:t>
            </a:r>
            <a:r>
              <a:rPr lang="en-GB" dirty="0" err="1">
                <a:effectLst/>
                <a:latin typeface="Helvetica Neue" panose="02000503000000020004" pitchFamily="2" charset="0"/>
              </a:rPr>
              <a:t>Jupyter</a:t>
            </a:r>
            <a:r>
              <a:rPr lang="en-GB" dirty="0">
                <a:effectLst/>
                <a:latin typeface="Helvetica Neue" panose="02000503000000020004" pitchFamily="2" charset="0"/>
              </a:rPr>
              <a:t> (shift enter) markdown etc.</a:t>
            </a:r>
          </a:p>
          <a:p>
            <a:r>
              <a:rPr lang="en-GB" dirty="0">
                <a:effectLst/>
                <a:latin typeface="Helvetica Neue" panose="02000503000000020004" pitchFamily="2" charset="0"/>
              </a:rPr>
              <a:t>Cells are linked, variables common across cells</a:t>
            </a:r>
          </a:p>
          <a:p>
            <a:r>
              <a:rPr lang="en-GB" dirty="0">
                <a:effectLst/>
                <a:latin typeface="Helvetica Neue" panose="02000503000000020004" pitchFamily="2" charset="0"/>
              </a:rPr>
              <a:t>Update cells down doesn’t update cells above</a:t>
            </a:r>
          </a:p>
          <a:p>
            <a:r>
              <a:rPr lang="en-GB" dirty="0">
                <a:effectLst/>
                <a:latin typeface="Helvetica Neue" panose="02000503000000020004" pitchFamily="2" charset="0"/>
              </a:rPr>
              <a:t>Kernel restarting</a:t>
            </a:r>
          </a:p>
          <a:p>
            <a:r>
              <a:rPr lang="en-GB" dirty="0">
                <a:effectLst/>
                <a:latin typeface="Helvetica Neue" panose="02000503000000020004" pitchFamily="2" charset="0"/>
              </a:rPr>
              <a:t>Clear output and variables</a:t>
            </a:r>
          </a:p>
        </p:txBody>
      </p:sp>
      <p:sp>
        <p:nvSpPr>
          <p:cNvPr id="4" name="Slide Number Placeholder 3"/>
          <p:cNvSpPr>
            <a:spLocks noGrp="1"/>
          </p:cNvSpPr>
          <p:nvPr>
            <p:ph type="sldNum" sz="quarter" idx="5"/>
          </p:nvPr>
        </p:nvSpPr>
        <p:spPr/>
        <p:txBody>
          <a:bodyPr/>
          <a:lstStyle/>
          <a:p>
            <a:fld id="{C723D110-B33C-3E49-B5DC-7F1369944E63}" type="slidenum">
              <a:rPr lang="en-US" smtClean="0"/>
              <a:t>1</a:t>
            </a:fld>
            <a:endParaRPr lang="en-US"/>
          </a:p>
        </p:txBody>
      </p:sp>
    </p:spTree>
    <p:extLst>
      <p:ext uri="{BB962C8B-B14F-4D97-AF65-F5344CB8AC3E}">
        <p14:creationId xmlns:p14="http://schemas.microsoft.com/office/powerpoint/2010/main" val="36767951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CA" dirty="0"/>
              <a:t>This week’s plan will be a gentle easing into the world of programming.</a:t>
            </a:r>
          </a:p>
          <a:p>
            <a:endParaRPr lang="en-CA" dirty="0"/>
          </a:p>
          <a:p>
            <a:r>
              <a:rPr lang="en-CA" dirty="0"/>
              <a:t>Next class we will talk about the tools and programs we’ll be using in this course, please install these beforehand</a:t>
            </a:r>
          </a:p>
          <a:p>
            <a:endParaRPr lang="en-CA" dirty="0"/>
          </a:p>
        </p:txBody>
      </p:sp>
      <p:sp>
        <p:nvSpPr>
          <p:cNvPr id="4" name="Slide Number Placeholder 3"/>
          <p:cNvSpPr>
            <a:spLocks noGrp="1"/>
          </p:cNvSpPr>
          <p:nvPr>
            <p:ph type="sldNum" sz="quarter" idx="5"/>
          </p:nvPr>
        </p:nvSpPr>
        <p:spPr/>
        <p:txBody>
          <a:bodyPr/>
          <a:lstStyle/>
          <a:p>
            <a:fld id="{541259E8-7FFF-4847-8B37-2CC85100CDDC}" type="slidenum">
              <a:rPr lang="en-US" smtClean="0"/>
              <a:t>2</a:t>
            </a:fld>
            <a:endParaRPr lang="en-US"/>
          </a:p>
        </p:txBody>
      </p:sp>
    </p:spTree>
    <p:extLst>
      <p:ext uri="{BB962C8B-B14F-4D97-AF65-F5344CB8AC3E}">
        <p14:creationId xmlns:p14="http://schemas.microsoft.com/office/powerpoint/2010/main" val="26477643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Anaconda comes with some built-in, Spyder, VS Code, PyCharm - </a:t>
            </a:r>
            <a:r>
              <a:rPr lang="en-CA" dirty="0" err="1"/>
              <a:t>recommiending</a:t>
            </a:r>
            <a:r>
              <a:rPr lang="en-CA" dirty="0"/>
              <a:t> PyCharm</a:t>
            </a:r>
          </a:p>
          <a:p>
            <a:endParaRPr lang="en-CA" dirty="0"/>
          </a:p>
          <a:p>
            <a:r>
              <a:rPr lang="en-CA" dirty="0" err="1"/>
              <a:t>Poycharm</a:t>
            </a:r>
            <a:r>
              <a:rPr lang="en-CA" dirty="0"/>
              <a:t> Professional VS Community</a:t>
            </a:r>
          </a:p>
        </p:txBody>
      </p:sp>
      <p:sp>
        <p:nvSpPr>
          <p:cNvPr id="4" name="Slide Number Placeholder 3"/>
          <p:cNvSpPr>
            <a:spLocks noGrp="1"/>
          </p:cNvSpPr>
          <p:nvPr>
            <p:ph type="sldNum" sz="quarter" idx="5"/>
          </p:nvPr>
        </p:nvSpPr>
        <p:spPr/>
        <p:txBody>
          <a:bodyPr/>
          <a:lstStyle/>
          <a:p>
            <a:fld id="{C723D110-B33C-3E49-B5DC-7F1369944E63}" type="slidenum">
              <a:rPr lang="en-US" smtClean="0"/>
              <a:t>32</a:t>
            </a:fld>
            <a:endParaRPr lang="en-US"/>
          </a:p>
        </p:txBody>
      </p:sp>
    </p:spTree>
    <p:extLst>
      <p:ext uri="{BB962C8B-B14F-4D97-AF65-F5344CB8AC3E}">
        <p14:creationId xmlns:p14="http://schemas.microsoft.com/office/powerpoint/2010/main" val="799472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effectLst/>
                <a:latin typeface="Helvetica Neue" panose="02000503000000020004" pitchFamily="2" charset="0"/>
              </a:rPr>
              <a:t>Moving on from PyCharm to </a:t>
            </a:r>
            <a:r>
              <a:rPr lang="en-GB" dirty="0" err="1">
                <a:effectLst/>
                <a:latin typeface="Helvetica Neue" panose="02000503000000020004" pitchFamily="2" charset="0"/>
              </a:rPr>
              <a:t>Jupyter</a:t>
            </a:r>
            <a:endParaRPr lang="en-GB" dirty="0">
              <a:effectLst/>
              <a:latin typeface="Helvetica Neue" panose="02000503000000020004" pitchFamily="2" charset="0"/>
            </a:endParaRPr>
          </a:p>
        </p:txBody>
      </p:sp>
      <p:sp>
        <p:nvSpPr>
          <p:cNvPr id="4" name="Slide Number Placeholder 3"/>
          <p:cNvSpPr>
            <a:spLocks noGrp="1"/>
          </p:cNvSpPr>
          <p:nvPr>
            <p:ph type="sldNum" sz="quarter" idx="5"/>
          </p:nvPr>
        </p:nvSpPr>
        <p:spPr/>
        <p:txBody>
          <a:bodyPr/>
          <a:lstStyle/>
          <a:p>
            <a:fld id="{C723D110-B33C-3E49-B5DC-7F1369944E63}" type="slidenum">
              <a:rPr lang="en-US" smtClean="0"/>
              <a:t>37</a:t>
            </a:fld>
            <a:endParaRPr lang="en-US"/>
          </a:p>
        </p:txBody>
      </p:sp>
    </p:spTree>
    <p:extLst>
      <p:ext uri="{BB962C8B-B14F-4D97-AF65-F5344CB8AC3E}">
        <p14:creationId xmlns:p14="http://schemas.microsoft.com/office/powerpoint/2010/main" val="38945823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If you can’t get this working RIGHT NOW, don’t stress, use the </a:t>
            </a:r>
            <a:r>
              <a:rPr lang="en-CA" dirty="0" err="1"/>
              <a:t>jupyter</a:t>
            </a:r>
            <a:r>
              <a:rPr lang="en-CA" dirty="0"/>
              <a:t> hub link today and follow along.</a:t>
            </a:r>
          </a:p>
          <a:p>
            <a:endParaRPr lang="en-CA" dirty="0"/>
          </a:p>
        </p:txBody>
      </p:sp>
      <p:sp>
        <p:nvSpPr>
          <p:cNvPr id="4" name="Slide Number Placeholder 3"/>
          <p:cNvSpPr>
            <a:spLocks noGrp="1"/>
          </p:cNvSpPr>
          <p:nvPr>
            <p:ph type="sldNum" sz="quarter" idx="5"/>
          </p:nvPr>
        </p:nvSpPr>
        <p:spPr/>
        <p:txBody>
          <a:bodyPr/>
          <a:lstStyle/>
          <a:p>
            <a:fld id="{C723D110-B33C-3E49-B5DC-7F1369944E63}" type="slidenum">
              <a:rPr lang="en-US" smtClean="0"/>
              <a:t>38</a:t>
            </a:fld>
            <a:endParaRPr lang="en-US"/>
          </a:p>
        </p:txBody>
      </p:sp>
    </p:spTree>
    <p:extLst>
      <p:ext uri="{BB962C8B-B14F-4D97-AF65-F5344CB8AC3E}">
        <p14:creationId xmlns:p14="http://schemas.microsoft.com/office/powerpoint/2010/main" val="2132882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723D110-B33C-3E49-B5DC-7F1369944E63}" type="slidenum">
              <a:rPr lang="en-US" smtClean="0"/>
              <a:t>39</a:t>
            </a:fld>
            <a:endParaRPr lang="en-US"/>
          </a:p>
        </p:txBody>
      </p:sp>
    </p:spTree>
    <p:extLst>
      <p:ext uri="{BB962C8B-B14F-4D97-AF65-F5344CB8AC3E}">
        <p14:creationId xmlns:p14="http://schemas.microsoft.com/office/powerpoint/2010/main" val="19556406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breakout coding session that we’ll do together.  We’re going to do this a few times today, so keep the notebook open, and get used to this, because we’re going to do it a lot this semester.  We will usually have active breakout sessions in lecture, but for now it will be slightly more guided, so I can show you what Python coding looks like.</a:t>
            </a:r>
          </a:p>
        </p:txBody>
      </p:sp>
      <p:sp>
        <p:nvSpPr>
          <p:cNvPr id="4" name="Slide Number Placeholder 3"/>
          <p:cNvSpPr>
            <a:spLocks noGrp="1"/>
          </p:cNvSpPr>
          <p:nvPr>
            <p:ph type="sldNum" sz="quarter" idx="5"/>
          </p:nvPr>
        </p:nvSpPr>
        <p:spPr/>
        <p:txBody>
          <a:bodyPr/>
          <a:lstStyle/>
          <a:p>
            <a:fld id="{C723D110-B33C-3E49-B5DC-7F1369944E63}" type="slidenum">
              <a:rPr lang="en-US" smtClean="0"/>
              <a:t>42</a:t>
            </a:fld>
            <a:endParaRPr lang="en-US"/>
          </a:p>
        </p:txBody>
      </p:sp>
    </p:spTree>
    <p:extLst>
      <p:ext uri="{BB962C8B-B14F-4D97-AF65-F5344CB8AC3E}">
        <p14:creationId xmlns:p14="http://schemas.microsoft.com/office/powerpoint/2010/main" val="42210985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effectLst/>
                <a:latin typeface="Helvetica Neue" panose="02000503000000020004" pitchFamily="2" charset="0"/>
              </a:rPr>
              <a:t>How to run and debug?</a:t>
            </a:r>
          </a:p>
          <a:p>
            <a:r>
              <a:rPr lang="en-GB" dirty="0">
                <a:effectLst/>
                <a:latin typeface="Helvetica Neue" panose="02000503000000020004" pitchFamily="2" charset="0"/>
              </a:rPr>
              <a:t>Historical figures, history of computer</a:t>
            </a:r>
          </a:p>
          <a:p>
            <a:r>
              <a:rPr lang="en-GB" dirty="0">
                <a:effectLst/>
                <a:latin typeface="Helvetica Neue" panose="02000503000000020004" pitchFamily="2" charset="0"/>
              </a:rPr>
              <a:t>Extensions, terminal, </a:t>
            </a:r>
            <a:r>
              <a:rPr lang="en-GB" dirty="0" err="1">
                <a:effectLst/>
                <a:latin typeface="Helvetica Neue" panose="02000503000000020004" pitchFamily="2" charset="0"/>
              </a:rPr>
              <a:t>cPU</a:t>
            </a:r>
            <a:r>
              <a:rPr lang="en-GB" dirty="0">
                <a:effectLst/>
                <a:latin typeface="Helvetica Neue" panose="02000503000000020004" pitchFamily="2" charset="0"/>
              </a:rPr>
              <a:t>, RAM, GPU, memory, transistors</a:t>
            </a:r>
          </a:p>
          <a:p>
            <a:r>
              <a:rPr lang="en-GB" dirty="0">
                <a:effectLst/>
                <a:latin typeface="Helvetica Neue" panose="02000503000000020004" pitchFamily="2" charset="0"/>
              </a:rPr>
              <a:t>Maybe visualise how all the departments disciplines are involved</a:t>
            </a:r>
          </a:p>
          <a:p>
            <a:r>
              <a:rPr lang="en-GB" dirty="0">
                <a:effectLst/>
                <a:latin typeface="Helvetica Neue" panose="02000503000000020004" pitchFamily="2" charset="0"/>
              </a:rPr>
              <a:t>Tools in course:</a:t>
            </a:r>
          </a:p>
          <a:p>
            <a:r>
              <a:rPr lang="en-GB" dirty="0">
                <a:effectLst/>
                <a:latin typeface="Helvetica Neue" panose="02000503000000020004" pitchFamily="2" charset="0"/>
              </a:rPr>
              <a:t>Environments</a:t>
            </a:r>
          </a:p>
        </p:txBody>
      </p:sp>
      <p:sp>
        <p:nvSpPr>
          <p:cNvPr id="4" name="Slide Number Placeholder 3"/>
          <p:cNvSpPr>
            <a:spLocks noGrp="1"/>
          </p:cNvSpPr>
          <p:nvPr>
            <p:ph type="sldNum" sz="quarter" idx="5"/>
          </p:nvPr>
        </p:nvSpPr>
        <p:spPr/>
        <p:txBody>
          <a:bodyPr/>
          <a:lstStyle/>
          <a:p>
            <a:fld id="{C723D110-B33C-3E49-B5DC-7F1369944E63}" type="slidenum">
              <a:rPr lang="en-US" smtClean="0"/>
              <a:t>44</a:t>
            </a:fld>
            <a:endParaRPr lang="en-US"/>
          </a:p>
        </p:txBody>
      </p:sp>
    </p:spTree>
    <p:extLst>
      <p:ext uri="{BB962C8B-B14F-4D97-AF65-F5344CB8AC3E}">
        <p14:creationId xmlns:p14="http://schemas.microsoft.com/office/powerpoint/2010/main" val="20930406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effectLst/>
                <a:latin typeface="Helvetica Neue" panose="02000503000000020004" pitchFamily="2" charset="0"/>
              </a:rPr>
              <a:t>How to run and debug?</a:t>
            </a:r>
          </a:p>
          <a:p>
            <a:r>
              <a:rPr lang="en-GB" dirty="0">
                <a:effectLst/>
                <a:latin typeface="Helvetica Neue" panose="02000503000000020004" pitchFamily="2" charset="0"/>
              </a:rPr>
              <a:t>Historical figures, history of computer</a:t>
            </a:r>
          </a:p>
          <a:p>
            <a:r>
              <a:rPr lang="en-GB" dirty="0">
                <a:effectLst/>
                <a:latin typeface="Helvetica Neue" panose="02000503000000020004" pitchFamily="2" charset="0"/>
              </a:rPr>
              <a:t>Extensions, terminal, </a:t>
            </a:r>
            <a:r>
              <a:rPr lang="en-GB" dirty="0" err="1">
                <a:effectLst/>
                <a:latin typeface="Helvetica Neue" panose="02000503000000020004" pitchFamily="2" charset="0"/>
              </a:rPr>
              <a:t>cPU</a:t>
            </a:r>
            <a:r>
              <a:rPr lang="en-GB" dirty="0">
                <a:effectLst/>
                <a:latin typeface="Helvetica Neue" panose="02000503000000020004" pitchFamily="2" charset="0"/>
              </a:rPr>
              <a:t>, RAM, GPU, memory, transistors</a:t>
            </a:r>
          </a:p>
          <a:p>
            <a:r>
              <a:rPr lang="en-GB" dirty="0">
                <a:effectLst/>
                <a:latin typeface="Helvetica Neue" panose="02000503000000020004" pitchFamily="2" charset="0"/>
              </a:rPr>
              <a:t>Maybe visualise how all the departments disciplines are involved</a:t>
            </a:r>
          </a:p>
          <a:p>
            <a:r>
              <a:rPr lang="en-GB" dirty="0">
                <a:effectLst/>
                <a:latin typeface="Helvetica Neue" panose="02000503000000020004" pitchFamily="2" charset="0"/>
              </a:rPr>
              <a:t>Tools in course:</a:t>
            </a:r>
          </a:p>
          <a:p>
            <a:r>
              <a:rPr lang="en-GB" dirty="0">
                <a:effectLst/>
                <a:latin typeface="Helvetica Neue" panose="02000503000000020004" pitchFamily="2" charset="0"/>
              </a:rPr>
              <a:t>Environments</a:t>
            </a:r>
          </a:p>
        </p:txBody>
      </p:sp>
      <p:sp>
        <p:nvSpPr>
          <p:cNvPr id="4" name="Slide Number Placeholder 3"/>
          <p:cNvSpPr>
            <a:spLocks noGrp="1"/>
          </p:cNvSpPr>
          <p:nvPr>
            <p:ph type="sldNum" sz="quarter" idx="5"/>
          </p:nvPr>
        </p:nvSpPr>
        <p:spPr/>
        <p:txBody>
          <a:bodyPr/>
          <a:lstStyle/>
          <a:p>
            <a:fld id="{C723D110-B33C-3E49-B5DC-7F1369944E63}" type="slidenum">
              <a:rPr lang="en-US" smtClean="0"/>
              <a:t>45</a:t>
            </a:fld>
            <a:endParaRPr lang="en-US"/>
          </a:p>
        </p:txBody>
      </p:sp>
    </p:spTree>
    <p:extLst>
      <p:ext uri="{BB962C8B-B14F-4D97-AF65-F5344CB8AC3E}">
        <p14:creationId xmlns:p14="http://schemas.microsoft.com/office/powerpoint/2010/main" val="33341165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talk a little bit more about assembly code vs machine code next </a:t>
            </a:r>
            <a:r>
              <a:rPr lang="en-US" dirty="0" err="1"/>
              <a:t>lexture</a:t>
            </a:r>
            <a:r>
              <a:rPr lang="en-US" dirty="0"/>
              <a:t>, but it’s really not important for the sake of this course.</a:t>
            </a:r>
          </a:p>
          <a:p>
            <a:endParaRPr lang="en-US" dirty="0"/>
          </a:p>
          <a:p>
            <a:r>
              <a:rPr lang="en-US" dirty="0"/>
              <a:t>There’s a reason we are teaching in Python</a:t>
            </a:r>
          </a:p>
        </p:txBody>
      </p:sp>
      <p:sp>
        <p:nvSpPr>
          <p:cNvPr id="4" name="Slide Number Placeholder 3"/>
          <p:cNvSpPr>
            <a:spLocks noGrp="1"/>
          </p:cNvSpPr>
          <p:nvPr>
            <p:ph type="sldNum" sz="quarter" idx="5"/>
          </p:nvPr>
        </p:nvSpPr>
        <p:spPr/>
        <p:txBody>
          <a:bodyPr/>
          <a:lstStyle/>
          <a:p>
            <a:fld id="{60DE5AB9-664F-C84D-A262-A8FBD7267343}" type="slidenum">
              <a:rPr lang="en-US" smtClean="0"/>
              <a:t>47</a:t>
            </a:fld>
            <a:endParaRPr lang="en-US"/>
          </a:p>
        </p:txBody>
      </p:sp>
    </p:spTree>
    <p:extLst>
      <p:ext uri="{BB962C8B-B14F-4D97-AF65-F5344CB8AC3E}">
        <p14:creationId xmlns:p14="http://schemas.microsoft.com/office/powerpoint/2010/main" val="29836279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Assembly code on the left, you definitely don’t need to know what that does, but you can see based on the comments on the right, that there’s only 1 very simple step per line.  Whether that’s read, store I, read, store J, load I, load J, compare, all of these steps could have been done in a line or two of python code.  And then you’ll see how it converts to machine code.  The most basic form of code that the hardware on your computer is using, just 0s and 1s.  You don’t necessarily need to know this, but does anyone know what the 0s and 1s represent? </a:t>
            </a:r>
          </a:p>
          <a:p>
            <a:endParaRPr lang="en-US" dirty="0"/>
          </a:p>
          <a:p>
            <a:r>
              <a:rPr lang="en-US" dirty="0"/>
              <a:t>Basic code for off and on, switches in the electrical hardware, turning on and off, depending on the 0 or 1, that creates the electrical signal to produce the output you want. But this may as well look like the matrix code for a lot of us.   This is why we use a programming language like Python.   We can take something in code we can easily write and understand, and turn that into a series of electrical signals that our computer produces to create an output we want.</a:t>
            </a:r>
          </a:p>
        </p:txBody>
      </p:sp>
      <p:sp>
        <p:nvSpPr>
          <p:cNvPr id="4" name="Slide Number Placeholder 3"/>
          <p:cNvSpPr>
            <a:spLocks noGrp="1"/>
          </p:cNvSpPr>
          <p:nvPr>
            <p:ph type="sldNum" sz="quarter" idx="5"/>
          </p:nvPr>
        </p:nvSpPr>
        <p:spPr/>
        <p:txBody>
          <a:bodyPr/>
          <a:lstStyle/>
          <a:p>
            <a:fld id="{C723D110-B33C-3E49-B5DC-7F1369944E63}" type="slidenum">
              <a:rPr lang="en-US" smtClean="0"/>
              <a:t>48</a:t>
            </a:fld>
            <a:endParaRPr lang="en-US"/>
          </a:p>
        </p:txBody>
      </p:sp>
    </p:spTree>
    <p:extLst>
      <p:ext uri="{BB962C8B-B14F-4D97-AF65-F5344CB8AC3E}">
        <p14:creationId xmlns:p14="http://schemas.microsoft.com/office/powerpoint/2010/main" val="4279992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Coming full circle back to our initial discussion about parts of a computer and CPU</a:t>
            </a:r>
          </a:p>
          <a:p>
            <a:endParaRPr lang="en-CA" dirty="0"/>
          </a:p>
          <a:p>
            <a:r>
              <a:rPr lang="en-CA" dirty="0"/>
              <a:t>These transistors are made from rare  silicon, are we are fully dependent on our mining engineers to extract and purify silicon.</a:t>
            </a:r>
          </a:p>
        </p:txBody>
      </p:sp>
      <p:sp>
        <p:nvSpPr>
          <p:cNvPr id="4" name="Slide Number Placeholder 3"/>
          <p:cNvSpPr>
            <a:spLocks noGrp="1"/>
          </p:cNvSpPr>
          <p:nvPr>
            <p:ph type="sldNum" sz="quarter" idx="5"/>
          </p:nvPr>
        </p:nvSpPr>
        <p:spPr/>
        <p:txBody>
          <a:bodyPr/>
          <a:lstStyle/>
          <a:p>
            <a:fld id="{C723D110-B33C-3E49-B5DC-7F1369944E63}" type="slidenum">
              <a:rPr lang="en-US" smtClean="0"/>
              <a:t>49</a:t>
            </a:fld>
            <a:endParaRPr lang="en-US"/>
          </a:p>
        </p:txBody>
      </p:sp>
    </p:spTree>
    <p:extLst>
      <p:ext uri="{BB962C8B-B14F-4D97-AF65-F5344CB8AC3E}">
        <p14:creationId xmlns:p14="http://schemas.microsoft.com/office/powerpoint/2010/main" val="5997488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effectLst/>
                <a:latin typeface="Helvetica Neue" panose="02000503000000020004" pitchFamily="2" charset="0"/>
              </a:rPr>
              <a:t>Historical figures, history of computer</a:t>
            </a:r>
          </a:p>
          <a:p>
            <a:r>
              <a:rPr lang="en-GB" dirty="0">
                <a:effectLst/>
                <a:latin typeface="Helvetica Neue" panose="02000503000000020004" pitchFamily="2" charset="0"/>
              </a:rPr>
              <a:t>Extensions, terminal, </a:t>
            </a:r>
            <a:r>
              <a:rPr lang="en-GB" dirty="0" err="1">
                <a:effectLst/>
                <a:latin typeface="Helvetica Neue" panose="02000503000000020004" pitchFamily="2" charset="0"/>
              </a:rPr>
              <a:t>cPU</a:t>
            </a:r>
            <a:r>
              <a:rPr lang="en-GB" dirty="0">
                <a:effectLst/>
                <a:latin typeface="Helvetica Neue" panose="02000503000000020004" pitchFamily="2" charset="0"/>
              </a:rPr>
              <a:t>, RAM, GPU, memory, transistors</a:t>
            </a:r>
          </a:p>
          <a:p>
            <a:r>
              <a:rPr lang="en-GB" dirty="0">
                <a:effectLst/>
                <a:latin typeface="Helvetica Neue" panose="02000503000000020004" pitchFamily="2" charset="0"/>
              </a:rPr>
              <a:t>Maybe visualise how all the departments disciplines are involved</a:t>
            </a:r>
          </a:p>
          <a:p>
            <a:r>
              <a:rPr lang="en-GB" dirty="0">
                <a:effectLst/>
                <a:latin typeface="Helvetica Neue" panose="02000503000000020004" pitchFamily="2" charset="0"/>
              </a:rPr>
              <a:t>Tools in course:</a:t>
            </a:r>
          </a:p>
          <a:p>
            <a:r>
              <a:rPr lang="en-GB" dirty="0">
                <a:effectLst/>
                <a:latin typeface="Helvetica Neue" panose="02000503000000020004" pitchFamily="2" charset="0"/>
              </a:rPr>
              <a:t>Anaconda</a:t>
            </a:r>
          </a:p>
          <a:p>
            <a:r>
              <a:rPr lang="en-GB" dirty="0" err="1">
                <a:effectLst/>
                <a:latin typeface="Helvetica Neue" panose="02000503000000020004" pitchFamily="2" charset="0"/>
              </a:rPr>
              <a:t>Jupyter</a:t>
            </a:r>
            <a:r>
              <a:rPr lang="en-GB" dirty="0">
                <a:effectLst/>
                <a:latin typeface="Helvetica Neue" panose="02000503000000020004" pitchFamily="2" charset="0"/>
              </a:rPr>
              <a:t> </a:t>
            </a:r>
          </a:p>
          <a:p>
            <a:r>
              <a:rPr lang="en-GB" dirty="0">
                <a:effectLst/>
                <a:latin typeface="Helvetica Neue" panose="02000503000000020004" pitchFamily="2" charset="0"/>
              </a:rPr>
              <a:t>Environments</a:t>
            </a:r>
          </a:p>
          <a:p>
            <a:r>
              <a:rPr lang="en-GB" dirty="0">
                <a:effectLst/>
                <a:latin typeface="Helvetica Neue" panose="02000503000000020004" pitchFamily="2" charset="0"/>
              </a:rPr>
              <a:t>Shortcuts on </a:t>
            </a:r>
            <a:r>
              <a:rPr lang="en-GB" dirty="0" err="1">
                <a:effectLst/>
                <a:latin typeface="Helvetica Neue" panose="02000503000000020004" pitchFamily="2" charset="0"/>
              </a:rPr>
              <a:t>Jupyter</a:t>
            </a:r>
            <a:r>
              <a:rPr lang="en-GB" dirty="0">
                <a:effectLst/>
                <a:latin typeface="Helvetica Neue" panose="02000503000000020004" pitchFamily="2" charset="0"/>
              </a:rPr>
              <a:t> (shift enter) markdown etc.</a:t>
            </a:r>
          </a:p>
          <a:p>
            <a:r>
              <a:rPr lang="en-GB" dirty="0">
                <a:effectLst/>
                <a:latin typeface="Helvetica Neue" panose="02000503000000020004" pitchFamily="2" charset="0"/>
              </a:rPr>
              <a:t>Cells are linked, variables common across cells</a:t>
            </a:r>
          </a:p>
          <a:p>
            <a:r>
              <a:rPr lang="en-GB" dirty="0">
                <a:effectLst/>
                <a:latin typeface="Helvetica Neue" panose="02000503000000020004" pitchFamily="2" charset="0"/>
              </a:rPr>
              <a:t>Update cells down doesn’t update cells above</a:t>
            </a:r>
          </a:p>
          <a:p>
            <a:r>
              <a:rPr lang="en-GB" dirty="0">
                <a:effectLst/>
                <a:latin typeface="Helvetica Neue" panose="02000503000000020004" pitchFamily="2" charset="0"/>
              </a:rPr>
              <a:t>Kernel restarting</a:t>
            </a:r>
          </a:p>
          <a:p>
            <a:r>
              <a:rPr lang="en-GB" dirty="0">
                <a:effectLst/>
                <a:latin typeface="Helvetica Neue" panose="02000503000000020004" pitchFamily="2" charset="0"/>
              </a:rPr>
              <a:t>Clear output and variables</a:t>
            </a:r>
          </a:p>
        </p:txBody>
      </p:sp>
      <p:sp>
        <p:nvSpPr>
          <p:cNvPr id="4" name="Slide Number Placeholder 3"/>
          <p:cNvSpPr>
            <a:spLocks noGrp="1"/>
          </p:cNvSpPr>
          <p:nvPr>
            <p:ph type="sldNum" sz="quarter" idx="5"/>
          </p:nvPr>
        </p:nvSpPr>
        <p:spPr/>
        <p:txBody>
          <a:bodyPr/>
          <a:lstStyle/>
          <a:p>
            <a:fld id="{C723D110-B33C-3E49-B5DC-7F1369944E63}" type="slidenum">
              <a:rPr lang="en-US" smtClean="0"/>
              <a:t>52</a:t>
            </a:fld>
            <a:endParaRPr lang="en-US"/>
          </a:p>
        </p:txBody>
      </p:sp>
    </p:spTree>
    <p:extLst>
      <p:ext uri="{BB962C8B-B14F-4D97-AF65-F5344CB8AC3E}">
        <p14:creationId xmlns:p14="http://schemas.microsoft.com/office/powerpoint/2010/main" val="39666947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8F638-606D-A22E-8F9F-A4A6D858EDA6}"/>
              </a:ext>
            </a:extLst>
          </p:cNvPr>
          <p:cNvSpPr>
            <a:spLocks noGrp="1"/>
          </p:cNvSpPr>
          <p:nvPr>
            <p:ph type="ctrTitle"/>
          </p:nvPr>
        </p:nvSpPr>
        <p:spPr>
          <a:xfrm>
            <a:off x="335947" y="3285779"/>
            <a:ext cx="11391065" cy="893580"/>
          </a:xfrm>
        </p:spPr>
        <p:txBody>
          <a:bodyPr/>
          <a:lstStyle>
            <a:lvl1pPr>
              <a:defRPr>
                <a:solidFill>
                  <a:srgbClr val="FFFFFF"/>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EB4BAB1-A261-2102-CEA9-063F697A42AF}"/>
              </a:ext>
            </a:extLst>
          </p:cNvPr>
          <p:cNvSpPr>
            <a:spLocks noGrp="1"/>
          </p:cNvSpPr>
          <p:nvPr>
            <p:ph type="subTitle" idx="1"/>
          </p:nvPr>
        </p:nvSpPr>
        <p:spPr>
          <a:xfrm>
            <a:off x="335947" y="4553849"/>
            <a:ext cx="11391065" cy="1655762"/>
          </a:xfrm>
        </p:spPr>
        <p:txBody>
          <a:bodyPr/>
          <a:lstStyle>
            <a:lvl1pPr marL="0" indent="0">
              <a:buNone/>
              <a:defRPr>
                <a:solidFill>
                  <a:srgbClr val="FFFFFF"/>
                </a:solidFill>
              </a:defRPr>
            </a:lvl1pPr>
          </a:lstStyle>
          <a:p>
            <a:r>
              <a:rPr lang="en-US"/>
              <a:t>Click to edit Master subtitle style</a:t>
            </a:r>
            <a:endParaRPr lang="en-US" dirty="0"/>
          </a:p>
        </p:txBody>
      </p:sp>
    </p:spTree>
    <p:extLst>
      <p:ext uri="{BB962C8B-B14F-4D97-AF65-F5344CB8AC3E}">
        <p14:creationId xmlns:p14="http://schemas.microsoft.com/office/powerpoint/2010/main" val="2800405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3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BFABF-0FF7-46A7-A3E7-B6C1EFC20E36}"/>
              </a:ext>
            </a:extLst>
          </p:cNvPr>
          <p:cNvSpPr>
            <a:spLocks noGrp="1"/>
          </p:cNvSpPr>
          <p:nvPr>
            <p:ph type="title"/>
          </p:nvPr>
        </p:nvSpPr>
        <p:spPr/>
        <p:txBody>
          <a:bodyPr/>
          <a:lstStyle>
            <a:lvl1pPr>
              <a:defRPr>
                <a:solidFill>
                  <a:srgbClr val="444445"/>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85D1B3E0-28C0-49B4-B789-CFB199546EE9}"/>
              </a:ext>
            </a:extLst>
          </p:cNvPr>
          <p:cNvSpPr>
            <a:spLocks noGrp="1"/>
          </p:cNvSpPr>
          <p:nvPr>
            <p:ph idx="1"/>
          </p:nvPr>
        </p:nvSpPr>
        <p:spPr>
          <a:xfrm>
            <a:off x="838200" y="1825624"/>
            <a:ext cx="10515600" cy="4835479"/>
          </a:xfrm>
          <a:prstGeom prst="rect">
            <a:avLst/>
          </a:prstGeom>
        </p:spPr>
        <p:txBody>
          <a:bodyPr/>
          <a:lstStyle>
            <a:lvl1pPr>
              <a:buClr>
                <a:schemeClr val="accent2"/>
              </a:buClr>
              <a:defRPr>
                <a:solidFill>
                  <a:srgbClr val="444445"/>
                </a:solidFill>
              </a:defRPr>
            </a:lvl1pPr>
            <a:lvl2pPr>
              <a:buClr>
                <a:schemeClr val="accent2"/>
              </a:buClr>
              <a:defRPr>
                <a:solidFill>
                  <a:srgbClr val="444445"/>
                </a:solidFill>
              </a:defRPr>
            </a:lvl2pPr>
            <a:lvl3pPr>
              <a:buClr>
                <a:schemeClr val="accent2"/>
              </a:buClr>
              <a:defRPr>
                <a:solidFill>
                  <a:srgbClr val="444445"/>
                </a:solidFill>
              </a:defRPr>
            </a:lvl3pPr>
            <a:lvl4pPr>
              <a:buClr>
                <a:schemeClr val="accent2"/>
              </a:buClr>
              <a:defRPr>
                <a:solidFill>
                  <a:srgbClr val="444445"/>
                </a:solidFill>
              </a:defRPr>
            </a:lvl4pPr>
            <a:lvl5pPr>
              <a:buClr>
                <a:schemeClr val="accent2"/>
              </a:buClr>
              <a:defRPr>
                <a:solidFill>
                  <a:srgbClr val="44444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Tree>
    <p:extLst>
      <p:ext uri="{BB962C8B-B14F-4D97-AF65-F5344CB8AC3E}">
        <p14:creationId xmlns:p14="http://schemas.microsoft.com/office/powerpoint/2010/main" val="12405948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BFABF-0FF7-46A7-A3E7-B6C1EFC20E36}"/>
              </a:ext>
            </a:extLst>
          </p:cNvPr>
          <p:cNvSpPr>
            <a:spLocks noGrp="1"/>
          </p:cNvSpPr>
          <p:nvPr>
            <p:ph type="title"/>
          </p:nvPr>
        </p:nvSpPr>
        <p:spPr/>
        <p:txBody>
          <a:bodyPr/>
          <a:lstStyle>
            <a:lvl1pPr>
              <a:defRPr>
                <a:solidFill>
                  <a:srgbClr val="FFFFFF"/>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85D1B3E0-28C0-49B4-B789-CFB199546EE9}"/>
              </a:ext>
            </a:extLst>
          </p:cNvPr>
          <p:cNvSpPr>
            <a:spLocks noGrp="1"/>
          </p:cNvSpPr>
          <p:nvPr>
            <p:ph idx="1"/>
          </p:nvPr>
        </p:nvSpPr>
        <p:spPr>
          <a:xfrm>
            <a:off x="838200" y="1825624"/>
            <a:ext cx="10515600" cy="4835479"/>
          </a:xfrm>
          <a:prstGeom prst="rect">
            <a:avLst/>
          </a:prstGeom>
        </p:spPr>
        <p:txBody>
          <a:bodyPr/>
          <a:lstStyle>
            <a:lvl1pPr>
              <a:buClr>
                <a:schemeClr val="accent6"/>
              </a:buClr>
              <a:defRPr>
                <a:solidFill>
                  <a:srgbClr val="FFFFFF"/>
                </a:solidFill>
              </a:defRPr>
            </a:lvl1pPr>
            <a:lvl2pPr>
              <a:buClr>
                <a:schemeClr val="accent6"/>
              </a:buClr>
              <a:defRPr>
                <a:solidFill>
                  <a:srgbClr val="FFFFFF"/>
                </a:solidFill>
              </a:defRPr>
            </a:lvl2pPr>
            <a:lvl3pPr>
              <a:buClr>
                <a:schemeClr val="accent6"/>
              </a:buClr>
              <a:defRPr>
                <a:solidFill>
                  <a:srgbClr val="FFFFFF"/>
                </a:solidFill>
              </a:defRPr>
            </a:lvl3pPr>
            <a:lvl4pPr>
              <a:buClr>
                <a:schemeClr val="accent6"/>
              </a:buClr>
              <a:defRPr>
                <a:solidFill>
                  <a:srgbClr val="FFFFFF"/>
                </a:solidFill>
              </a:defRPr>
            </a:lvl4pPr>
            <a:lvl5pPr>
              <a:buClr>
                <a:schemeClr val="accent6"/>
              </a:buClr>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896962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BFABF-0FF7-46A7-A3E7-B6C1EFC20E36}"/>
              </a:ext>
            </a:extLst>
          </p:cNvPr>
          <p:cNvSpPr>
            <a:spLocks noGrp="1"/>
          </p:cNvSpPr>
          <p:nvPr>
            <p:ph type="title"/>
          </p:nvPr>
        </p:nvSpPr>
        <p:spPr/>
        <p:txBody>
          <a:bodyPr/>
          <a:lstStyle>
            <a:lvl1pPr>
              <a:defRPr>
                <a:solidFill>
                  <a:srgbClr val="FFFFFF"/>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85D1B3E0-28C0-49B4-B789-CFB199546EE9}"/>
              </a:ext>
            </a:extLst>
          </p:cNvPr>
          <p:cNvSpPr>
            <a:spLocks noGrp="1"/>
          </p:cNvSpPr>
          <p:nvPr>
            <p:ph idx="1"/>
          </p:nvPr>
        </p:nvSpPr>
        <p:spPr>
          <a:xfrm>
            <a:off x="838200" y="1825624"/>
            <a:ext cx="10515600" cy="4835479"/>
          </a:xfrm>
          <a:prstGeom prst="rect">
            <a:avLst/>
          </a:prstGeom>
        </p:spPr>
        <p:txBody>
          <a:bodyPr/>
          <a:lstStyle>
            <a:lvl1pPr>
              <a:buClr>
                <a:schemeClr val="accent6"/>
              </a:buClr>
              <a:defRPr>
                <a:solidFill>
                  <a:srgbClr val="FFFFFF"/>
                </a:solidFill>
              </a:defRPr>
            </a:lvl1pPr>
            <a:lvl2pPr>
              <a:buClr>
                <a:schemeClr val="accent6"/>
              </a:buClr>
              <a:defRPr>
                <a:solidFill>
                  <a:srgbClr val="FFFFFF"/>
                </a:solidFill>
              </a:defRPr>
            </a:lvl2pPr>
            <a:lvl3pPr>
              <a:buClr>
                <a:schemeClr val="accent6"/>
              </a:buClr>
              <a:defRPr>
                <a:solidFill>
                  <a:srgbClr val="FFFFFF"/>
                </a:solidFill>
              </a:defRPr>
            </a:lvl3pPr>
            <a:lvl4pPr>
              <a:buClr>
                <a:schemeClr val="accent6"/>
              </a:buClr>
              <a:defRPr>
                <a:solidFill>
                  <a:srgbClr val="FFFFFF"/>
                </a:solidFill>
              </a:defRPr>
            </a:lvl4pPr>
            <a:lvl5pPr>
              <a:buClr>
                <a:schemeClr val="accent6"/>
              </a:buClr>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Tree>
    <p:extLst>
      <p:ext uri="{BB962C8B-B14F-4D97-AF65-F5344CB8AC3E}">
        <p14:creationId xmlns:p14="http://schemas.microsoft.com/office/powerpoint/2010/main" val="3274650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4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BFABF-0FF7-46A7-A3E7-B6C1EFC20E36}"/>
              </a:ext>
            </a:extLst>
          </p:cNvPr>
          <p:cNvSpPr>
            <a:spLocks noGrp="1"/>
          </p:cNvSpPr>
          <p:nvPr>
            <p:ph type="title"/>
          </p:nvPr>
        </p:nvSpPr>
        <p:spPr/>
        <p:txBody>
          <a:bodyPr/>
          <a:lstStyle>
            <a:lvl1pPr>
              <a:defRPr>
                <a:solidFill>
                  <a:srgbClr val="171717"/>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85D1B3E0-28C0-49B4-B789-CFB199546EE9}"/>
              </a:ext>
            </a:extLst>
          </p:cNvPr>
          <p:cNvSpPr>
            <a:spLocks noGrp="1"/>
          </p:cNvSpPr>
          <p:nvPr>
            <p:ph idx="1"/>
          </p:nvPr>
        </p:nvSpPr>
        <p:spPr>
          <a:xfrm>
            <a:off x="838200" y="1825624"/>
            <a:ext cx="10515600" cy="4835479"/>
          </a:xfrm>
          <a:prstGeom prst="rect">
            <a:avLst/>
          </a:prstGeom>
        </p:spPr>
        <p:txBody>
          <a:bodyPr/>
          <a:lstStyle>
            <a:lvl1pPr>
              <a:buClr>
                <a:schemeClr val="accent2"/>
              </a:buClr>
              <a:defRPr>
                <a:solidFill>
                  <a:srgbClr val="171717"/>
                </a:solidFill>
              </a:defRPr>
            </a:lvl1pPr>
            <a:lvl2pPr>
              <a:buClr>
                <a:schemeClr val="accent2"/>
              </a:buClr>
              <a:defRPr>
                <a:solidFill>
                  <a:srgbClr val="171717"/>
                </a:solidFill>
              </a:defRPr>
            </a:lvl2pPr>
            <a:lvl3pPr>
              <a:buClr>
                <a:schemeClr val="accent2"/>
              </a:buClr>
              <a:defRPr>
                <a:solidFill>
                  <a:srgbClr val="171717"/>
                </a:solidFill>
              </a:defRPr>
            </a:lvl3pPr>
            <a:lvl4pPr>
              <a:buClr>
                <a:schemeClr val="accent2"/>
              </a:buClr>
              <a:defRPr>
                <a:solidFill>
                  <a:srgbClr val="171717"/>
                </a:solidFill>
              </a:defRPr>
            </a:lvl4pPr>
            <a:lvl5pPr>
              <a:buClr>
                <a:schemeClr val="accent2"/>
              </a:buClr>
              <a:defRPr>
                <a:solidFill>
                  <a:srgbClr val="17171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Tree>
    <p:extLst>
      <p:ext uri="{BB962C8B-B14F-4D97-AF65-F5344CB8AC3E}">
        <p14:creationId xmlns:p14="http://schemas.microsoft.com/office/powerpoint/2010/main" val="12171698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5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BFABF-0FF7-46A7-A3E7-B6C1EFC20E36}"/>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85D1B3E0-28C0-49B4-B789-CFB199546EE9}"/>
              </a:ext>
            </a:extLst>
          </p:cNvPr>
          <p:cNvSpPr>
            <a:spLocks noGrp="1"/>
          </p:cNvSpPr>
          <p:nvPr>
            <p:ph idx="1"/>
          </p:nvPr>
        </p:nvSpPr>
        <p:spPr>
          <a:xfrm>
            <a:off x="838200" y="1825624"/>
            <a:ext cx="10515600" cy="4835479"/>
          </a:xfrm>
          <a:prstGeom prst="rect">
            <a:avLst/>
          </a:prstGeom>
        </p:spPr>
        <p:txBody>
          <a:bodyPr/>
          <a:lstStyle>
            <a:lvl1pPr>
              <a:buClr>
                <a:schemeClr val="accent2"/>
              </a:buClr>
              <a:defRPr>
                <a:solidFill>
                  <a:schemeClr val="tx1"/>
                </a:solidFill>
              </a:defRPr>
            </a:lvl1pPr>
            <a:lvl2pPr>
              <a:buClr>
                <a:schemeClr val="accent2"/>
              </a:buClr>
              <a:defRPr>
                <a:solidFill>
                  <a:schemeClr val="tx1"/>
                </a:solidFill>
              </a:defRPr>
            </a:lvl2pPr>
            <a:lvl3pPr>
              <a:buClr>
                <a:schemeClr val="accent2"/>
              </a:buClr>
              <a:defRPr>
                <a:solidFill>
                  <a:schemeClr val="tx1"/>
                </a:solidFill>
              </a:defRPr>
            </a:lvl3pPr>
            <a:lvl4pPr>
              <a:buClr>
                <a:schemeClr val="accent2"/>
              </a:buClr>
              <a:defRPr>
                <a:solidFill>
                  <a:schemeClr val="tx1"/>
                </a:solidFill>
              </a:defRPr>
            </a:lvl4pPr>
            <a:lvl5pPr>
              <a:buClr>
                <a:schemeClr val="accent2"/>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Tree>
    <p:extLst>
      <p:ext uri="{BB962C8B-B14F-4D97-AF65-F5344CB8AC3E}">
        <p14:creationId xmlns:p14="http://schemas.microsoft.com/office/powerpoint/2010/main" val="144541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6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BFABF-0FF7-46A7-A3E7-B6C1EFC20E36}"/>
              </a:ext>
            </a:extLst>
          </p:cNvPr>
          <p:cNvSpPr>
            <a:spLocks noGrp="1"/>
          </p:cNvSpPr>
          <p:nvPr>
            <p:ph type="title"/>
          </p:nvPr>
        </p:nvSpPr>
        <p:spPr/>
        <p:txBody>
          <a:bodyPr/>
          <a:lstStyle>
            <a:lvl1pPr>
              <a:defRPr>
                <a:solidFill>
                  <a:srgbClr val="FFFFFF"/>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85D1B3E0-28C0-49B4-B789-CFB199546EE9}"/>
              </a:ext>
            </a:extLst>
          </p:cNvPr>
          <p:cNvSpPr>
            <a:spLocks noGrp="1"/>
          </p:cNvSpPr>
          <p:nvPr>
            <p:ph idx="1"/>
          </p:nvPr>
        </p:nvSpPr>
        <p:spPr>
          <a:xfrm>
            <a:off x="838200" y="1825624"/>
            <a:ext cx="10515600" cy="4835479"/>
          </a:xfrm>
          <a:prstGeom prst="rect">
            <a:avLst/>
          </a:prstGeom>
        </p:spPr>
        <p:txBody>
          <a:bodyPr/>
          <a:lstStyle>
            <a:lvl1pPr>
              <a:buClr>
                <a:schemeClr val="accent2"/>
              </a:buClr>
              <a:defRPr>
                <a:solidFill>
                  <a:srgbClr val="FFFFFF"/>
                </a:solidFill>
              </a:defRPr>
            </a:lvl1pPr>
            <a:lvl2pPr>
              <a:buClr>
                <a:schemeClr val="accent2"/>
              </a:buClr>
              <a:defRPr>
                <a:solidFill>
                  <a:srgbClr val="FFFFFF"/>
                </a:solidFill>
              </a:defRPr>
            </a:lvl2pPr>
            <a:lvl3pPr>
              <a:buClr>
                <a:schemeClr val="accent2"/>
              </a:buClr>
              <a:defRPr>
                <a:solidFill>
                  <a:srgbClr val="FFFFFF"/>
                </a:solidFill>
              </a:defRPr>
            </a:lvl3pPr>
            <a:lvl4pPr>
              <a:buClr>
                <a:schemeClr val="accent2"/>
              </a:buClr>
              <a:defRPr>
                <a:solidFill>
                  <a:srgbClr val="FFFFFF"/>
                </a:solidFill>
              </a:defRPr>
            </a:lvl4pPr>
            <a:lvl5pPr>
              <a:buClr>
                <a:schemeClr val="accent2"/>
              </a:buClr>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Tree>
    <p:extLst>
      <p:ext uri="{BB962C8B-B14F-4D97-AF65-F5344CB8AC3E}">
        <p14:creationId xmlns:p14="http://schemas.microsoft.com/office/powerpoint/2010/main" val="2342174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40C5A8-72D0-4B08-8FDA-49B8D1F97D4C}"/>
              </a:ext>
            </a:extLst>
          </p:cNvPr>
          <p:cNvSpPr>
            <a:spLocks noGrp="1"/>
          </p:cNvSpPr>
          <p:nvPr>
            <p:ph type="title"/>
          </p:nvPr>
        </p:nvSpPr>
        <p:spPr>
          <a:xfrm>
            <a:off x="838200" y="727514"/>
            <a:ext cx="10515600" cy="656148"/>
          </a:xfrm>
          <a:prstGeom prst="rect">
            <a:avLst/>
          </a:prstGeom>
        </p:spPr>
        <p:txBody>
          <a:bodyPr vert="horz" lIns="91440" tIns="45720" rIns="91440" bIns="45720" rtlCol="0" anchor="ctr">
            <a:normAutofit/>
          </a:bodyPr>
          <a:lstStyle/>
          <a:p>
            <a:r>
              <a:rPr lang="en-US"/>
              <a:t>Click to edit Master title style</a:t>
            </a:r>
            <a:endParaRPr lang="en-CA" dirty="0"/>
          </a:p>
        </p:txBody>
      </p:sp>
      <p:sp>
        <p:nvSpPr>
          <p:cNvPr id="3" name="Text Placeholder 2">
            <a:extLst>
              <a:ext uri="{FF2B5EF4-FFF2-40B4-BE49-F238E27FC236}">
                <a16:creationId xmlns:a16="http://schemas.microsoft.com/office/drawing/2014/main" id="{38E5D9C3-E281-4B14-8306-28D6CE33EC59}"/>
              </a:ext>
            </a:extLst>
          </p:cNvPr>
          <p:cNvSpPr>
            <a:spLocks noGrp="1"/>
          </p:cNvSpPr>
          <p:nvPr>
            <p:ph type="body" idx="1"/>
          </p:nvPr>
        </p:nvSpPr>
        <p:spPr>
          <a:xfrm>
            <a:off x="838200" y="1825624"/>
            <a:ext cx="10515600" cy="484215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Tree>
    <p:extLst>
      <p:ext uri="{BB962C8B-B14F-4D97-AF65-F5344CB8AC3E}">
        <p14:creationId xmlns:p14="http://schemas.microsoft.com/office/powerpoint/2010/main" val="1316572899"/>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007EE5"/>
        </a:buClr>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7EE5"/>
        </a:buClr>
        <a:buFont typeface="Wingdings" panose="05000000000000000000" pitchFamily="2"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7EE5"/>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7EE5"/>
        </a:buClr>
        <a:buFont typeface="Wingdings" panose="05000000000000000000" pitchFamily="2"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7EE5"/>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jpeg"/><Relationship Id="rId4" Type="http://schemas.openxmlformats.org/officeDocument/2006/relationships/image" Target="../media/image13.png"/><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jpeg"/><Relationship Id="rId4" Type="http://schemas.openxmlformats.org/officeDocument/2006/relationships/image" Target="../media/image13.png"/><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0.png"/><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jpeg"/><Relationship Id="rId4" Type="http://schemas.openxmlformats.org/officeDocument/2006/relationships/image" Target="../media/image13.png"/><Relationship Id="rId9"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jpeg"/><Relationship Id="rId4" Type="http://schemas.openxmlformats.org/officeDocument/2006/relationships/image" Target="../media/image13.png"/><Relationship Id="rId9" Type="http://schemas.openxmlformats.org/officeDocument/2006/relationships/image" Target="../media/image18.png"/></Relationships>
</file>

<file path=ppt/slides/_rels/slide17.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5.jpeg"/><Relationship Id="rId2"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30.png"/><Relationship Id="rId11" Type="http://schemas.openxmlformats.org/officeDocument/2006/relationships/image" Target="../media/image34.png"/><Relationship Id="rId5" Type="http://schemas.openxmlformats.org/officeDocument/2006/relationships/image" Target="../media/image29.png"/><Relationship Id="rId10"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image" Target="../media/image14.png"/></Relationships>
</file>

<file path=ppt/slides/_rels/slide1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5.jpeg"/><Relationship Id="rId2"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30.png"/><Relationship Id="rId11" Type="http://schemas.openxmlformats.org/officeDocument/2006/relationships/image" Target="../media/image34.png"/><Relationship Id="rId5" Type="http://schemas.openxmlformats.org/officeDocument/2006/relationships/image" Target="../media/image29.png"/><Relationship Id="rId10"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5.jpeg"/><Relationship Id="rId2"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30.png"/><Relationship Id="rId11" Type="http://schemas.openxmlformats.org/officeDocument/2006/relationships/image" Target="../media/image34.png"/><Relationship Id="rId5" Type="http://schemas.openxmlformats.org/officeDocument/2006/relationships/image" Target="../media/image29.png"/><Relationship Id="rId10"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5.jpeg"/><Relationship Id="rId2"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30.png"/><Relationship Id="rId11" Type="http://schemas.openxmlformats.org/officeDocument/2006/relationships/image" Target="../media/image34.png"/><Relationship Id="rId5" Type="http://schemas.openxmlformats.org/officeDocument/2006/relationships/image" Target="../media/image29.png"/><Relationship Id="rId10"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image" Target="../media/image14.png"/></Relationships>
</file>

<file path=ppt/slides/_rels/slide2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5.jpeg"/><Relationship Id="rId2"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30.png"/><Relationship Id="rId11" Type="http://schemas.openxmlformats.org/officeDocument/2006/relationships/image" Target="../media/image34.png"/><Relationship Id="rId5" Type="http://schemas.openxmlformats.org/officeDocument/2006/relationships/image" Target="../media/image29.png"/><Relationship Id="rId10"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image" Target="../media/image14.png"/></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47.png"/><Relationship Id="rId4" Type="http://schemas.openxmlformats.org/officeDocument/2006/relationships/image" Target="../media/image46.png"/></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54.png"/><Relationship Id="rId4" Type="http://schemas.openxmlformats.org/officeDocument/2006/relationships/image" Target="../media/image53.png"/></Relationships>
</file>

<file path=ppt/slides/_rels/slide48.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57.png"/><Relationship Id="rId4" Type="http://schemas.openxmlformats.org/officeDocument/2006/relationships/image" Target="../media/image56.gif"/></Relationships>
</file>

<file path=ppt/slides/_rels/slide4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F06F2-AC3E-484E-9926-59D4F59092CE}"/>
              </a:ext>
            </a:extLst>
          </p:cNvPr>
          <p:cNvSpPr>
            <a:spLocks noGrp="1"/>
          </p:cNvSpPr>
          <p:nvPr>
            <p:ph type="ctrTitle"/>
          </p:nvPr>
        </p:nvSpPr>
        <p:spPr/>
        <p:txBody>
          <a:bodyPr>
            <a:normAutofit/>
          </a:bodyPr>
          <a:lstStyle/>
          <a:p>
            <a:r>
              <a:rPr lang="en-US" dirty="0"/>
              <a:t>The Coding Toolbox</a:t>
            </a:r>
            <a:r>
              <a:rPr lang="en-US" dirty="0">
                <a:solidFill>
                  <a:srgbClr val="00FF00"/>
                </a:solidFill>
              </a:rPr>
              <a:t>.</a:t>
            </a:r>
          </a:p>
        </p:txBody>
      </p:sp>
      <p:sp>
        <p:nvSpPr>
          <p:cNvPr id="3" name="Subtitle 2">
            <a:extLst>
              <a:ext uri="{FF2B5EF4-FFF2-40B4-BE49-F238E27FC236}">
                <a16:creationId xmlns:a16="http://schemas.microsoft.com/office/drawing/2014/main" id="{99B07687-F068-40FC-84A1-E7860490CACD}"/>
              </a:ext>
            </a:extLst>
          </p:cNvPr>
          <p:cNvSpPr>
            <a:spLocks noGrp="1"/>
          </p:cNvSpPr>
          <p:nvPr>
            <p:ph type="subTitle" idx="1"/>
          </p:nvPr>
        </p:nvSpPr>
        <p:spPr/>
        <p:txBody>
          <a:bodyPr/>
          <a:lstStyle/>
          <a:p>
            <a:r>
              <a:rPr lang="en-US" b="1" dirty="0"/>
              <a:t>Week </a:t>
            </a:r>
            <a:r>
              <a:rPr lang="en-US" b="1" dirty="0">
                <a:solidFill>
                  <a:schemeClr val="accent6"/>
                </a:solidFill>
              </a:rPr>
              <a:t>1</a:t>
            </a:r>
            <a:r>
              <a:rPr lang="en-US" b="1" dirty="0"/>
              <a:t> </a:t>
            </a:r>
            <a:r>
              <a:rPr lang="en-US" dirty="0">
                <a:solidFill>
                  <a:schemeClr val="accent2"/>
                </a:solidFill>
              </a:rPr>
              <a:t>|</a:t>
            </a:r>
            <a:r>
              <a:rPr lang="en-US" dirty="0"/>
              <a:t> Lecture </a:t>
            </a:r>
            <a:r>
              <a:rPr lang="en-US" dirty="0">
                <a:solidFill>
                  <a:schemeClr val="accent6"/>
                </a:solidFill>
              </a:rPr>
              <a:t>2 </a:t>
            </a:r>
            <a:r>
              <a:rPr lang="en-US" dirty="0">
                <a:solidFill>
                  <a:schemeClr val="accent1"/>
                </a:solidFill>
              </a:rPr>
              <a:t>(</a:t>
            </a:r>
            <a:r>
              <a:rPr lang="en-US" dirty="0">
                <a:solidFill>
                  <a:schemeClr val="accent6"/>
                </a:solidFill>
              </a:rPr>
              <a:t>1</a:t>
            </a:r>
            <a:r>
              <a:rPr lang="en-US" dirty="0"/>
              <a:t>.</a:t>
            </a:r>
            <a:r>
              <a:rPr lang="en-US" dirty="0">
                <a:solidFill>
                  <a:schemeClr val="accent6"/>
                </a:solidFill>
              </a:rPr>
              <a:t>2</a:t>
            </a:r>
            <a:r>
              <a:rPr lang="en-US" dirty="0">
                <a:solidFill>
                  <a:schemeClr val="accent1"/>
                </a:solidFill>
              </a:rPr>
              <a:t>)</a:t>
            </a:r>
          </a:p>
        </p:txBody>
      </p:sp>
    </p:spTree>
    <p:extLst>
      <p:ext uri="{BB962C8B-B14F-4D97-AF65-F5344CB8AC3E}">
        <p14:creationId xmlns:p14="http://schemas.microsoft.com/office/powerpoint/2010/main" val="3280643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9A57B-21DC-4557-9D2E-36BBF1E923C9}"/>
              </a:ext>
            </a:extLst>
          </p:cNvPr>
          <p:cNvSpPr>
            <a:spLocks noGrp="1"/>
          </p:cNvSpPr>
          <p:nvPr>
            <p:ph type="title"/>
          </p:nvPr>
        </p:nvSpPr>
        <p:spPr/>
        <p:txBody>
          <a:bodyPr>
            <a:normAutofit fontScale="90000"/>
          </a:bodyPr>
          <a:lstStyle/>
          <a:p>
            <a:r>
              <a:rPr lang="en-US" b="1" dirty="0"/>
              <a:t>This Week</a:t>
            </a:r>
            <a:r>
              <a:rPr lang="en-US" b="1" dirty="0">
                <a:solidFill>
                  <a:schemeClr val="accent1"/>
                </a:solidFill>
              </a:rPr>
              <a:t>’</a:t>
            </a:r>
            <a:r>
              <a:rPr lang="en-US" b="1" dirty="0"/>
              <a:t>s Content</a:t>
            </a:r>
          </a:p>
        </p:txBody>
      </p:sp>
      <p:sp>
        <p:nvSpPr>
          <p:cNvPr id="3" name="Content Placeholder 2">
            <a:extLst>
              <a:ext uri="{FF2B5EF4-FFF2-40B4-BE49-F238E27FC236}">
                <a16:creationId xmlns:a16="http://schemas.microsoft.com/office/drawing/2014/main" id="{7AB50049-8F6C-4DF3-BA59-31343B218CF3}"/>
              </a:ext>
            </a:extLst>
          </p:cNvPr>
          <p:cNvSpPr>
            <a:spLocks noGrp="1"/>
          </p:cNvSpPr>
          <p:nvPr>
            <p:ph idx="1"/>
          </p:nvPr>
        </p:nvSpPr>
        <p:spPr/>
        <p:txBody>
          <a:bodyPr/>
          <a:lstStyle/>
          <a:p>
            <a:r>
              <a:rPr lang="en-US" b="1" dirty="0"/>
              <a:t>Lecture </a:t>
            </a:r>
            <a:r>
              <a:rPr lang="en-US" b="1" dirty="0">
                <a:solidFill>
                  <a:srgbClr val="00FF00"/>
                </a:solidFill>
              </a:rPr>
              <a:t>1.1</a:t>
            </a:r>
          </a:p>
          <a:p>
            <a:pPr lvl="1"/>
            <a:r>
              <a:rPr lang="en-US" b="1" dirty="0"/>
              <a:t>Introduction to APS106</a:t>
            </a:r>
          </a:p>
          <a:p>
            <a:r>
              <a:rPr lang="en-US" b="1" dirty="0"/>
              <a:t>Lecture </a:t>
            </a:r>
            <a:r>
              <a:rPr lang="en-US" b="1" dirty="0">
                <a:solidFill>
                  <a:srgbClr val="00FF00"/>
                </a:solidFill>
              </a:rPr>
              <a:t>1.2</a:t>
            </a:r>
          </a:p>
          <a:p>
            <a:pPr lvl="1"/>
            <a:r>
              <a:rPr lang="en-US" dirty="0"/>
              <a:t>Computers, Programs, and The Coding Toolbox</a:t>
            </a:r>
          </a:p>
          <a:p>
            <a:r>
              <a:rPr lang="en-US" b="1" dirty="0"/>
              <a:t>Lecture </a:t>
            </a:r>
            <a:r>
              <a:rPr lang="en-US" b="1" dirty="0">
                <a:solidFill>
                  <a:srgbClr val="00FF00"/>
                </a:solidFill>
              </a:rPr>
              <a:t>1.3</a:t>
            </a:r>
          </a:p>
          <a:p>
            <a:pPr lvl="1"/>
            <a:r>
              <a:rPr lang="en-US" dirty="0"/>
              <a:t>Variables, Expressions, and Operators</a:t>
            </a:r>
          </a:p>
        </p:txBody>
      </p:sp>
      <p:pic>
        <p:nvPicPr>
          <p:cNvPr id="4" name="Picture 3" descr="A diagram of a computer system&#10;&#10;Description automatically generated">
            <a:extLst>
              <a:ext uri="{FF2B5EF4-FFF2-40B4-BE49-F238E27FC236}">
                <a16:creationId xmlns:a16="http://schemas.microsoft.com/office/drawing/2014/main" id="{C7A6DFE2-3D45-4531-FAC4-7BF3243AE6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76441" y="623227"/>
            <a:ext cx="3453060" cy="3417968"/>
          </a:xfrm>
          <a:prstGeom prst="rect">
            <a:avLst/>
          </a:prstGeom>
          <a:ln>
            <a:solidFill>
              <a:schemeClr val="accent6"/>
            </a:solidFill>
          </a:ln>
        </p:spPr>
      </p:pic>
    </p:spTree>
    <p:extLst>
      <p:ext uri="{BB962C8B-B14F-4D97-AF65-F5344CB8AC3E}">
        <p14:creationId xmlns:p14="http://schemas.microsoft.com/office/powerpoint/2010/main" val="134861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E36A7-1A8A-6686-947F-D8C99677D65C}"/>
              </a:ext>
            </a:extLst>
          </p:cNvPr>
          <p:cNvSpPr>
            <a:spLocks noGrp="1"/>
          </p:cNvSpPr>
          <p:nvPr>
            <p:ph type="title"/>
          </p:nvPr>
        </p:nvSpPr>
        <p:spPr/>
        <p:txBody>
          <a:bodyPr>
            <a:normAutofit fontScale="90000"/>
          </a:bodyPr>
          <a:lstStyle/>
          <a:p>
            <a:r>
              <a:rPr lang="en-CA" b="1" dirty="0"/>
              <a:t>What you will get out of today</a:t>
            </a:r>
            <a:r>
              <a:rPr lang="en-CA" b="1" dirty="0">
                <a:solidFill>
                  <a:schemeClr val="accent6"/>
                </a:solidFill>
              </a:rPr>
              <a:t>’</a:t>
            </a:r>
            <a:r>
              <a:rPr lang="en-CA" b="1" dirty="0"/>
              <a:t>s lecture</a:t>
            </a:r>
            <a:r>
              <a:rPr lang="en-CA" b="1" dirty="0">
                <a:solidFill>
                  <a:schemeClr val="accent6"/>
                </a:solidFill>
              </a:rPr>
              <a:t>.</a:t>
            </a:r>
          </a:p>
        </p:txBody>
      </p:sp>
      <p:sp>
        <p:nvSpPr>
          <p:cNvPr id="3" name="Content Placeholder 2">
            <a:extLst>
              <a:ext uri="{FF2B5EF4-FFF2-40B4-BE49-F238E27FC236}">
                <a16:creationId xmlns:a16="http://schemas.microsoft.com/office/drawing/2014/main" id="{B3F74D01-8626-C4C2-03C3-47C721C2753C}"/>
              </a:ext>
            </a:extLst>
          </p:cNvPr>
          <p:cNvSpPr>
            <a:spLocks noGrp="1"/>
          </p:cNvSpPr>
          <p:nvPr>
            <p:ph idx="1"/>
          </p:nvPr>
        </p:nvSpPr>
        <p:spPr/>
        <p:txBody>
          <a:bodyPr>
            <a:normAutofit fontScale="92500" lnSpcReduction="10000"/>
          </a:bodyPr>
          <a:lstStyle/>
          <a:p>
            <a:r>
              <a:rPr lang="en-CA" dirty="0"/>
              <a:t>Everything you need to begin coding in APS106</a:t>
            </a:r>
            <a:r>
              <a:rPr lang="en-CA" dirty="0">
                <a:solidFill>
                  <a:schemeClr val="accent6"/>
                </a:solidFill>
              </a:rPr>
              <a:t>.</a:t>
            </a:r>
          </a:p>
          <a:p>
            <a:r>
              <a:rPr lang="en-CA" dirty="0"/>
              <a:t>Learn about the core building blocks of a computer</a:t>
            </a:r>
            <a:r>
              <a:rPr lang="en-CA" dirty="0">
                <a:solidFill>
                  <a:schemeClr val="accent6"/>
                </a:solidFill>
              </a:rPr>
              <a:t>.</a:t>
            </a:r>
          </a:p>
          <a:p>
            <a:r>
              <a:rPr lang="en-CA" dirty="0"/>
              <a:t>Develop computational language and vocabulary for the files and programs used in </a:t>
            </a:r>
            <a:r>
              <a:rPr lang="en-CA" b="1" dirty="0">
                <a:solidFill>
                  <a:srgbClr val="00FF00"/>
                </a:solidFill>
              </a:rPr>
              <a:t>APS106</a:t>
            </a:r>
            <a:r>
              <a:rPr lang="en-CA" dirty="0">
                <a:solidFill>
                  <a:schemeClr val="accent6"/>
                </a:solidFill>
              </a:rPr>
              <a:t>.</a:t>
            </a:r>
          </a:p>
          <a:p>
            <a:r>
              <a:rPr lang="en-CA" dirty="0"/>
              <a:t>Learn about the key differences in the software and tools used in APS106</a:t>
            </a:r>
            <a:r>
              <a:rPr lang="en-CA" dirty="0">
                <a:solidFill>
                  <a:schemeClr val="accent6"/>
                </a:solidFill>
              </a:rPr>
              <a:t>. </a:t>
            </a:r>
          </a:p>
          <a:p>
            <a:r>
              <a:rPr lang="en-CA" dirty="0"/>
              <a:t>Get experience opening and using the most important tools</a:t>
            </a:r>
            <a:r>
              <a:rPr lang="en-CA" dirty="0">
                <a:solidFill>
                  <a:schemeClr val="accent6"/>
                </a:solidFill>
              </a:rPr>
              <a:t>.</a:t>
            </a:r>
          </a:p>
          <a:p>
            <a:r>
              <a:rPr lang="en-CA" dirty="0"/>
              <a:t>Execute your first files of APS106</a:t>
            </a:r>
            <a:r>
              <a:rPr lang="en-CA" dirty="0">
                <a:solidFill>
                  <a:schemeClr val="accent6"/>
                </a:solidFill>
              </a:rPr>
              <a:t>!</a:t>
            </a:r>
          </a:p>
          <a:p>
            <a:r>
              <a:rPr lang="en-CA" dirty="0"/>
              <a:t>Create a folder structure for APS106</a:t>
            </a:r>
            <a:r>
              <a:rPr lang="en-CA" dirty="0">
                <a:solidFill>
                  <a:schemeClr val="accent6"/>
                </a:solidFill>
              </a:rPr>
              <a:t>.</a:t>
            </a:r>
          </a:p>
          <a:p>
            <a:r>
              <a:rPr lang="en-CA" b="1" dirty="0">
                <a:solidFill>
                  <a:srgbClr val="CC99FF"/>
                </a:solidFill>
              </a:rPr>
              <a:t>Assuming You Have Installed </a:t>
            </a:r>
            <a:r>
              <a:rPr lang="en-CA" b="1" dirty="0">
                <a:solidFill>
                  <a:srgbClr val="00FF00"/>
                </a:solidFill>
              </a:rPr>
              <a:t>Anaconda</a:t>
            </a:r>
            <a:r>
              <a:rPr lang="en-CA" b="1" dirty="0">
                <a:solidFill>
                  <a:srgbClr val="CC99FF"/>
                </a:solidFill>
              </a:rPr>
              <a:t> and </a:t>
            </a:r>
            <a:r>
              <a:rPr lang="en-CA" b="1" dirty="0" err="1">
                <a:solidFill>
                  <a:srgbClr val="00FF00"/>
                </a:solidFill>
              </a:rPr>
              <a:t>VSCode</a:t>
            </a:r>
            <a:r>
              <a:rPr lang="en-CA" b="1" dirty="0">
                <a:solidFill>
                  <a:schemeClr val="accent6"/>
                </a:solidFill>
              </a:rPr>
              <a:t>.</a:t>
            </a:r>
          </a:p>
          <a:p>
            <a:pPr lvl="1"/>
            <a:r>
              <a:rPr lang="en-CA" b="1" dirty="0">
                <a:solidFill>
                  <a:schemeClr val="accent6"/>
                </a:solidFill>
              </a:rPr>
              <a:t>If not</a:t>
            </a:r>
            <a:r>
              <a:rPr lang="en-CA" b="1" dirty="0">
                <a:solidFill>
                  <a:srgbClr val="CC99FF"/>
                </a:solidFill>
              </a:rPr>
              <a:t>,</a:t>
            </a:r>
            <a:r>
              <a:rPr lang="en-CA" b="1" dirty="0">
                <a:solidFill>
                  <a:schemeClr val="accent6"/>
                </a:solidFill>
              </a:rPr>
              <a:t> try to raise your hand for support</a:t>
            </a:r>
            <a:r>
              <a:rPr lang="en-CA" b="1" dirty="0">
                <a:solidFill>
                  <a:srgbClr val="CC99FF"/>
                </a:solidFill>
              </a:rPr>
              <a:t>.</a:t>
            </a:r>
          </a:p>
        </p:txBody>
      </p:sp>
    </p:spTree>
    <p:extLst>
      <p:ext uri="{BB962C8B-B14F-4D97-AF65-F5344CB8AC3E}">
        <p14:creationId xmlns:p14="http://schemas.microsoft.com/office/powerpoint/2010/main" val="3291940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52180-1680-6C37-676D-49B30AF6D9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678B16-2B8D-CAF9-EA61-D47385862247}"/>
              </a:ext>
            </a:extLst>
          </p:cNvPr>
          <p:cNvSpPr>
            <a:spLocks noGrp="1"/>
          </p:cNvSpPr>
          <p:nvPr>
            <p:ph type="title"/>
          </p:nvPr>
        </p:nvSpPr>
        <p:spPr/>
        <p:txBody>
          <a:bodyPr>
            <a:normAutofit fontScale="90000"/>
          </a:bodyPr>
          <a:lstStyle/>
          <a:p>
            <a:r>
              <a:rPr lang="en-CA" b="1" dirty="0"/>
              <a:t>APS106 Folder Structure</a:t>
            </a:r>
            <a:r>
              <a:rPr lang="en-CA" b="1" dirty="0">
                <a:solidFill>
                  <a:schemeClr val="accent6"/>
                </a:solidFill>
              </a:rPr>
              <a:t>.</a:t>
            </a:r>
            <a:endParaRPr lang="en-CA" b="1" dirty="0"/>
          </a:p>
        </p:txBody>
      </p:sp>
      <p:sp>
        <p:nvSpPr>
          <p:cNvPr id="3" name="Content Placeholder 2">
            <a:extLst>
              <a:ext uri="{FF2B5EF4-FFF2-40B4-BE49-F238E27FC236}">
                <a16:creationId xmlns:a16="http://schemas.microsoft.com/office/drawing/2014/main" id="{EE92A201-9108-D88F-C455-40CE8EB6F8FC}"/>
              </a:ext>
            </a:extLst>
          </p:cNvPr>
          <p:cNvSpPr>
            <a:spLocks noGrp="1"/>
          </p:cNvSpPr>
          <p:nvPr>
            <p:ph idx="1"/>
          </p:nvPr>
        </p:nvSpPr>
        <p:spPr>
          <a:xfrm>
            <a:off x="838199" y="1825624"/>
            <a:ext cx="10708465" cy="4835479"/>
          </a:xfrm>
        </p:spPr>
        <p:txBody>
          <a:bodyPr>
            <a:normAutofit fontScale="85000" lnSpcReduction="20000"/>
          </a:bodyPr>
          <a:lstStyle/>
          <a:p>
            <a:pPr>
              <a:buBlip>
                <a:blip r:embed="rId2"/>
              </a:buBlip>
            </a:pPr>
            <a:r>
              <a:rPr lang="en-CA" dirty="0"/>
              <a:t> Downloads</a:t>
            </a:r>
          </a:p>
          <a:p>
            <a:pPr lvl="1">
              <a:buBlip>
                <a:blip r:embed="rId3"/>
              </a:buBlip>
            </a:pPr>
            <a:r>
              <a:rPr lang="en-CA" dirty="0"/>
              <a:t>34567543.jpg</a:t>
            </a:r>
          </a:p>
          <a:p>
            <a:pPr lvl="1">
              <a:buBlip>
                <a:blip r:embed="rId3"/>
              </a:buBlip>
            </a:pPr>
            <a:r>
              <a:rPr lang="en-CA" dirty="0"/>
              <a:t>aaaaaaaaaaaaaaaa.py</a:t>
            </a:r>
          </a:p>
          <a:p>
            <a:pPr lvl="1">
              <a:buBlip>
                <a:blip r:embed="rId3"/>
              </a:buBlip>
            </a:pPr>
            <a:r>
              <a:rPr lang="en-CA" dirty="0"/>
              <a:t>week1_lecture2.ipynb</a:t>
            </a:r>
          </a:p>
          <a:p>
            <a:pPr lvl="1">
              <a:buBlip>
                <a:blip r:embed="rId3"/>
              </a:buBlip>
            </a:pPr>
            <a:r>
              <a:rPr lang="en-CA" dirty="0"/>
              <a:t>week1_lecture1.pdf</a:t>
            </a:r>
          </a:p>
          <a:p>
            <a:pPr lvl="1">
              <a:buBlip>
                <a:blip r:embed="rId3"/>
              </a:buBlip>
            </a:pPr>
            <a:r>
              <a:rPr lang="en-CA" dirty="0"/>
              <a:t>week1_lecture2(1).</a:t>
            </a:r>
            <a:r>
              <a:rPr lang="en-CA" dirty="0" err="1"/>
              <a:t>ipynb</a:t>
            </a:r>
            <a:endParaRPr lang="en-CA" dirty="0"/>
          </a:p>
          <a:p>
            <a:pPr lvl="1">
              <a:buBlip>
                <a:blip r:embed="rId3"/>
              </a:buBlip>
            </a:pPr>
            <a:r>
              <a:rPr lang="en-CA" dirty="0"/>
              <a:t>week1_lecture3.ipynb</a:t>
            </a:r>
          </a:p>
          <a:p>
            <a:pPr lvl="1">
              <a:buBlip>
                <a:blip r:embed="rId3"/>
              </a:buBlip>
            </a:pPr>
            <a:r>
              <a:rPr lang="en-CA" dirty="0"/>
              <a:t>please_work2.py</a:t>
            </a:r>
          </a:p>
          <a:p>
            <a:pPr lvl="1">
              <a:buBlip>
                <a:blip r:embed="rId3"/>
              </a:buBlip>
            </a:pPr>
            <a:r>
              <a:rPr lang="fr-FR" dirty="0"/>
              <a:t>taxes_2024_please_dont_audit_me.xlsx</a:t>
            </a:r>
            <a:endParaRPr lang="en-CA" dirty="0"/>
          </a:p>
          <a:p>
            <a:pPr lvl="1">
              <a:buBlip>
                <a:blip r:embed="rId3"/>
              </a:buBlip>
            </a:pPr>
            <a:r>
              <a:rPr lang="en-CA" dirty="0"/>
              <a:t>week12_lecture3(5).ipynb</a:t>
            </a:r>
          </a:p>
          <a:p>
            <a:pPr lvl="1">
              <a:buBlip>
                <a:blip r:embed="rId3"/>
              </a:buBlip>
            </a:pPr>
            <a:r>
              <a:rPr lang="en-CA" dirty="0"/>
              <a:t>APS111_Slides.pptx</a:t>
            </a:r>
          </a:p>
          <a:p>
            <a:pPr lvl="1">
              <a:buBlip>
                <a:blip r:embed="rId3"/>
              </a:buBlip>
            </a:pPr>
            <a:r>
              <a:rPr lang="en-US" dirty="0"/>
              <a:t>group_project_final_by_me_because_no_one_else_did_it.py</a:t>
            </a:r>
            <a:endParaRPr lang="en-CA" dirty="0"/>
          </a:p>
          <a:p>
            <a:pPr lvl="1">
              <a:buBlip>
                <a:blip r:embed="rId3"/>
              </a:buBlip>
            </a:pPr>
            <a:r>
              <a:rPr lang="en-CA" dirty="0"/>
              <a:t>crypto_strategy_guaranteed_profit.docx</a:t>
            </a:r>
          </a:p>
          <a:p>
            <a:pPr lvl="1">
              <a:buBlip>
                <a:blip r:embed="rId3"/>
              </a:buBlip>
            </a:pPr>
            <a:r>
              <a:rPr lang="en-CA" dirty="0"/>
              <a:t>screenshot_2026-01-04_1315.png</a:t>
            </a:r>
          </a:p>
          <a:p>
            <a:pPr lvl="1">
              <a:buBlip>
                <a:blip r:embed="rId3"/>
              </a:buBlip>
            </a:pPr>
            <a:r>
              <a:rPr lang="en-CA" dirty="0"/>
              <a:t>python_stuff.zip</a:t>
            </a:r>
          </a:p>
          <a:p>
            <a:pPr lvl="1">
              <a:buBlip>
                <a:blip r:embed="rId3"/>
              </a:buBlip>
            </a:pPr>
            <a:r>
              <a:rPr lang="en-US" dirty="0"/>
              <a:t>lab2_fixed_FIXED2_actuallyfixed.py</a:t>
            </a:r>
          </a:p>
          <a:p>
            <a:pPr lvl="1">
              <a:buBlip>
                <a:blip r:embed="rId3"/>
              </a:buBlip>
            </a:pPr>
            <a:r>
              <a:rPr lang="en-US" dirty="0"/>
              <a:t>passwords.txt </a:t>
            </a:r>
            <a:r>
              <a:rPr lang="en-US" b="1" dirty="0">
                <a:solidFill>
                  <a:schemeClr val="accent6"/>
                </a:solidFill>
              </a:rPr>
              <a:t>(“Don’t do this.”)</a:t>
            </a:r>
            <a:endParaRPr lang="en-CA" b="1" dirty="0">
              <a:solidFill>
                <a:schemeClr val="accent6"/>
              </a:solidFill>
            </a:endParaRPr>
          </a:p>
        </p:txBody>
      </p:sp>
      <p:sp>
        <p:nvSpPr>
          <p:cNvPr id="4" name="TextBox 3">
            <a:extLst>
              <a:ext uri="{FF2B5EF4-FFF2-40B4-BE49-F238E27FC236}">
                <a16:creationId xmlns:a16="http://schemas.microsoft.com/office/drawing/2014/main" id="{589BAB95-6258-EE76-1997-C3FBBB0B71A4}"/>
              </a:ext>
            </a:extLst>
          </p:cNvPr>
          <p:cNvSpPr txBox="1"/>
          <p:nvPr/>
        </p:nvSpPr>
        <p:spPr>
          <a:xfrm>
            <a:off x="8751490" y="1859339"/>
            <a:ext cx="2892395" cy="3139321"/>
          </a:xfrm>
          <a:prstGeom prst="rect">
            <a:avLst/>
          </a:prstGeom>
          <a:noFill/>
        </p:spPr>
        <p:txBody>
          <a:bodyPr wrap="none" rtlCol="0">
            <a:spAutoFit/>
          </a:bodyPr>
          <a:lstStyle/>
          <a:p>
            <a:r>
              <a:rPr lang="en-CA" sz="6600" b="1">
                <a:solidFill>
                  <a:srgbClr val="FFFFFF"/>
                </a:solidFill>
              </a:rPr>
              <a:t>DON</a:t>
            </a:r>
            <a:r>
              <a:rPr lang="en-CA" sz="6600" b="1">
                <a:solidFill>
                  <a:srgbClr val="00FF00"/>
                </a:solidFill>
              </a:rPr>
              <a:t>’</a:t>
            </a:r>
            <a:r>
              <a:rPr lang="en-CA" sz="6600" b="1">
                <a:solidFill>
                  <a:srgbClr val="FFFFFF"/>
                </a:solidFill>
              </a:rPr>
              <a:t>T</a:t>
            </a:r>
          </a:p>
          <a:p>
            <a:r>
              <a:rPr lang="en-CA" sz="6600" b="1">
                <a:solidFill>
                  <a:srgbClr val="FFFFFF"/>
                </a:solidFill>
              </a:rPr>
              <a:t>DO</a:t>
            </a:r>
          </a:p>
          <a:p>
            <a:r>
              <a:rPr lang="en-CA" sz="6600" b="1">
                <a:solidFill>
                  <a:srgbClr val="FFFFFF"/>
                </a:solidFill>
              </a:rPr>
              <a:t>THIS</a:t>
            </a:r>
            <a:r>
              <a:rPr lang="en-CA" sz="6600" b="1">
                <a:solidFill>
                  <a:srgbClr val="00FF00"/>
                </a:solidFill>
              </a:rPr>
              <a:t>.</a:t>
            </a:r>
            <a:endParaRPr lang="en-CA" sz="6600" b="1" dirty="0">
              <a:solidFill>
                <a:srgbClr val="00FF00"/>
              </a:solidFill>
            </a:endParaRPr>
          </a:p>
        </p:txBody>
      </p:sp>
    </p:spTree>
    <p:extLst>
      <p:ext uri="{BB962C8B-B14F-4D97-AF65-F5344CB8AC3E}">
        <p14:creationId xmlns:p14="http://schemas.microsoft.com/office/powerpoint/2010/main" val="3062858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2BB67-7A08-E18A-9633-A3948C2C629C}"/>
              </a:ext>
            </a:extLst>
          </p:cNvPr>
          <p:cNvSpPr>
            <a:spLocks noGrp="1"/>
          </p:cNvSpPr>
          <p:nvPr>
            <p:ph type="title"/>
          </p:nvPr>
        </p:nvSpPr>
        <p:spPr/>
        <p:txBody>
          <a:bodyPr>
            <a:normAutofit fontScale="90000"/>
          </a:bodyPr>
          <a:lstStyle/>
          <a:p>
            <a:r>
              <a:rPr lang="en-CA" b="1" dirty="0"/>
              <a:t>APS106 Folder Structure</a:t>
            </a:r>
            <a:r>
              <a:rPr lang="en-CA" b="1" dirty="0">
                <a:solidFill>
                  <a:schemeClr val="accent6"/>
                </a:solidFill>
              </a:rPr>
              <a:t>.</a:t>
            </a:r>
            <a:endParaRPr lang="en-CA" b="1" dirty="0"/>
          </a:p>
        </p:txBody>
      </p:sp>
      <p:sp>
        <p:nvSpPr>
          <p:cNvPr id="3" name="Content Placeholder 2">
            <a:extLst>
              <a:ext uri="{FF2B5EF4-FFF2-40B4-BE49-F238E27FC236}">
                <a16:creationId xmlns:a16="http://schemas.microsoft.com/office/drawing/2014/main" id="{9FF4464C-534C-C2CB-6BBF-D61B5551FD76}"/>
              </a:ext>
            </a:extLst>
          </p:cNvPr>
          <p:cNvSpPr>
            <a:spLocks noGrp="1"/>
          </p:cNvSpPr>
          <p:nvPr>
            <p:ph idx="1"/>
          </p:nvPr>
        </p:nvSpPr>
        <p:spPr>
          <a:xfrm>
            <a:off x="838200" y="1825624"/>
            <a:ext cx="5631968" cy="4835479"/>
          </a:xfrm>
        </p:spPr>
        <p:txBody>
          <a:bodyPr>
            <a:normAutofit fontScale="92500" lnSpcReduction="10000"/>
          </a:bodyPr>
          <a:lstStyle/>
          <a:p>
            <a:pPr>
              <a:buBlip>
                <a:blip r:embed="rId2"/>
              </a:buBlip>
            </a:pPr>
            <a:r>
              <a:rPr lang="en-CA" dirty="0"/>
              <a:t> Year 1 Courses</a:t>
            </a:r>
          </a:p>
          <a:p>
            <a:pPr lvl="1">
              <a:buBlip>
                <a:blip r:embed="rId2"/>
              </a:buBlip>
            </a:pPr>
            <a:r>
              <a:rPr lang="en-CA" dirty="0"/>
              <a:t> APS106</a:t>
            </a:r>
          </a:p>
          <a:p>
            <a:pPr lvl="2">
              <a:buBlip>
                <a:blip r:embed="rId2"/>
              </a:buBlip>
            </a:pPr>
            <a:r>
              <a:rPr lang="en-CA" dirty="0"/>
              <a:t> Lecture</a:t>
            </a:r>
          </a:p>
          <a:p>
            <a:pPr lvl="3">
              <a:buBlip>
                <a:blip r:embed="rId2"/>
              </a:buBlip>
            </a:pPr>
            <a:r>
              <a:rPr lang="en-CA" dirty="0"/>
              <a:t> Week 1</a:t>
            </a:r>
          </a:p>
          <a:p>
            <a:pPr lvl="4">
              <a:buBlip>
                <a:blip r:embed="rId2"/>
              </a:buBlip>
            </a:pPr>
            <a:r>
              <a:rPr lang="en-CA" dirty="0"/>
              <a:t> Lecture 1</a:t>
            </a:r>
          </a:p>
          <a:p>
            <a:pPr lvl="4">
              <a:buBlip>
                <a:blip r:embed="rId2"/>
              </a:buBlip>
            </a:pPr>
            <a:r>
              <a:rPr lang="en-CA" dirty="0"/>
              <a:t> Lecture 2</a:t>
            </a:r>
          </a:p>
          <a:p>
            <a:pPr lvl="4">
              <a:buBlip>
                <a:blip r:embed="rId2"/>
              </a:buBlip>
            </a:pPr>
            <a:r>
              <a:rPr lang="en-CA" dirty="0"/>
              <a:t> Lecture 3</a:t>
            </a:r>
          </a:p>
          <a:p>
            <a:pPr lvl="5">
              <a:buBlip>
                <a:blip r:embed="rId3"/>
              </a:buBlip>
            </a:pPr>
            <a:r>
              <a:rPr lang="en-CA" dirty="0">
                <a:solidFill>
                  <a:srgbClr val="FFFFFF"/>
                </a:solidFill>
              </a:rPr>
              <a:t>week1_lecture2_starter.ipynb</a:t>
            </a:r>
            <a:endParaRPr lang="en-CA" dirty="0"/>
          </a:p>
          <a:p>
            <a:pPr lvl="2">
              <a:buBlip>
                <a:blip r:embed="rId2"/>
              </a:buBlip>
            </a:pPr>
            <a:r>
              <a:rPr lang="en-CA" dirty="0"/>
              <a:t> Tutorial</a:t>
            </a:r>
          </a:p>
          <a:p>
            <a:pPr lvl="2">
              <a:buBlip>
                <a:blip r:embed="rId2"/>
              </a:buBlip>
            </a:pPr>
            <a:r>
              <a:rPr lang="en-CA" dirty="0"/>
              <a:t> Lab</a:t>
            </a:r>
          </a:p>
          <a:p>
            <a:pPr lvl="2">
              <a:buBlip>
                <a:blip r:embed="rId2"/>
              </a:buBlip>
            </a:pPr>
            <a:r>
              <a:rPr lang="en-CA" dirty="0"/>
              <a:t> Practice Problems</a:t>
            </a:r>
          </a:p>
          <a:p>
            <a:pPr lvl="2">
              <a:buBlip>
                <a:blip r:embed="rId2"/>
              </a:buBlip>
            </a:pPr>
            <a:r>
              <a:rPr lang="en-CA" dirty="0"/>
              <a:t> Studying</a:t>
            </a:r>
          </a:p>
          <a:p>
            <a:pPr lvl="3">
              <a:buBlip>
                <a:blip r:embed="rId2"/>
              </a:buBlip>
            </a:pPr>
            <a:r>
              <a:rPr lang="en-CA" dirty="0"/>
              <a:t> Term Test 1</a:t>
            </a:r>
          </a:p>
          <a:p>
            <a:pPr lvl="3">
              <a:buBlip>
                <a:blip r:embed="rId2"/>
              </a:buBlip>
            </a:pPr>
            <a:r>
              <a:rPr lang="en-CA" dirty="0"/>
              <a:t> Term Test 2</a:t>
            </a:r>
          </a:p>
          <a:p>
            <a:pPr lvl="3">
              <a:buBlip>
                <a:blip r:embed="rId2"/>
              </a:buBlip>
            </a:pPr>
            <a:r>
              <a:rPr lang="en-CA" dirty="0"/>
              <a:t> Final Exam</a:t>
            </a:r>
          </a:p>
          <a:p>
            <a:pPr lvl="1">
              <a:buBlip>
                <a:blip r:embed="rId2"/>
              </a:buBlip>
            </a:pPr>
            <a:r>
              <a:rPr lang="en-CA" dirty="0"/>
              <a:t> APS111</a:t>
            </a:r>
          </a:p>
        </p:txBody>
      </p:sp>
      <p:sp>
        <p:nvSpPr>
          <p:cNvPr id="4" name="TextBox 3">
            <a:extLst>
              <a:ext uri="{FF2B5EF4-FFF2-40B4-BE49-F238E27FC236}">
                <a16:creationId xmlns:a16="http://schemas.microsoft.com/office/drawing/2014/main" id="{C8C2A67E-1D14-811F-29E7-0D93965A7997}"/>
              </a:ext>
            </a:extLst>
          </p:cNvPr>
          <p:cNvSpPr txBox="1"/>
          <p:nvPr/>
        </p:nvSpPr>
        <p:spPr>
          <a:xfrm>
            <a:off x="8751490" y="1859339"/>
            <a:ext cx="2300630" cy="2123658"/>
          </a:xfrm>
          <a:prstGeom prst="rect">
            <a:avLst/>
          </a:prstGeom>
          <a:noFill/>
        </p:spPr>
        <p:txBody>
          <a:bodyPr wrap="none" rtlCol="0">
            <a:spAutoFit/>
          </a:bodyPr>
          <a:lstStyle/>
          <a:p>
            <a:r>
              <a:rPr lang="en-CA" sz="6600" b="1" dirty="0">
                <a:solidFill>
                  <a:srgbClr val="FFFFFF"/>
                </a:solidFill>
              </a:rPr>
              <a:t>DO</a:t>
            </a:r>
          </a:p>
          <a:p>
            <a:r>
              <a:rPr lang="en-CA" sz="6600" b="1" dirty="0">
                <a:solidFill>
                  <a:srgbClr val="FFFFFF"/>
                </a:solidFill>
              </a:rPr>
              <a:t>THIS</a:t>
            </a:r>
            <a:r>
              <a:rPr lang="en-CA" sz="6600" b="1" dirty="0">
                <a:solidFill>
                  <a:srgbClr val="00FF00"/>
                </a:solidFill>
              </a:rPr>
              <a:t>.</a:t>
            </a:r>
          </a:p>
        </p:txBody>
      </p:sp>
    </p:spTree>
    <p:extLst>
      <p:ext uri="{BB962C8B-B14F-4D97-AF65-F5344CB8AC3E}">
        <p14:creationId xmlns:p14="http://schemas.microsoft.com/office/powerpoint/2010/main" val="2415770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8A2C8-BAF7-DF1D-DE90-2B3833862D4F}"/>
              </a:ext>
            </a:extLst>
          </p:cNvPr>
          <p:cNvSpPr>
            <a:spLocks noGrp="1"/>
          </p:cNvSpPr>
          <p:nvPr>
            <p:ph type="title"/>
          </p:nvPr>
        </p:nvSpPr>
        <p:spPr/>
        <p:txBody>
          <a:bodyPr>
            <a:normAutofit fontScale="90000"/>
          </a:bodyPr>
          <a:lstStyle/>
          <a:p>
            <a:r>
              <a:rPr lang="en-CA" b="1" dirty="0"/>
              <a:t>Developer Toolkit</a:t>
            </a:r>
            <a:r>
              <a:rPr lang="en-CA" b="1" dirty="0">
                <a:solidFill>
                  <a:srgbClr val="00FF00"/>
                </a:solidFill>
              </a:rPr>
              <a:t>.</a:t>
            </a:r>
          </a:p>
        </p:txBody>
      </p:sp>
      <p:sp>
        <p:nvSpPr>
          <p:cNvPr id="5" name="TextBox 4">
            <a:extLst>
              <a:ext uri="{FF2B5EF4-FFF2-40B4-BE49-F238E27FC236}">
                <a16:creationId xmlns:a16="http://schemas.microsoft.com/office/drawing/2014/main" id="{08E1E62E-B002-B64D-0751-2BF8400D5A66}"/>
              </a:ext>
            </a:extLst>
          </p:cNvPr>
          <p:cNvSpPr txBox="1"/>
          <p:nvPr/>
        </p:nvSpPr>
        <p:spPr>
          <a:xfrm>
            <a:off x="4924748" y="5391806"/>
            <a:ext cx="2342501" cy="461665"/>
          </a:xfrm>
          <a:prstGeom prst="rect">
            <a:avLst/>
          </a:prstGeom>
          <a:noFill/>
        </p:spPr>
        <p:txBody>
          <a:bodyPr wrap="none" rtlCol="0">
            <a:spAutoFit/>
          </a:bodyPr>
          <a:lstStyle/>
          <a:p>
            <a:pPr algn="ctr"/>
            <a:r>
              <a:rPr lang="en-CA" sz="2400" b="1" dirty="0">
                <a:solidFill>
                  <a:srgbClr val="FFFFFF"/>
                </a:solidFill>
              </a:rPr>
              <a:t>Developer Seb</a:t>
            </a:r>
            <a:r>
              <a:rPr lang="en-CA" b="1" dirty="0">
                <a:solidFill>
                  <a:srgbClr val="00FF00"/>
                </a:solidFill>
              </a:rPr>
              <a:t>.</a:t>
            </a:r>
          </a:p>
        </p:txBody>
      </p:sp>
      <p:pic>
        <p:nvPicPr>
          <p:cNvPr id="5122" name="Picture 2" descr="Github White Icon SVG Vector &amp; PNG Free Download | UXWing">
            <a:extLst>
              <a:ext uri="{FF2B5EF4-FFF2-40B4-BE49-F238E27FC236}">
                <a16:creationId xmlns:a16="http://schemas.microsoft.com/office/drawing/2014/main" id="{B35F07EB-ABD9-A11B-836E-0F2F5BFFCA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81826" y="2213555"/>
            <a:ext cx="1471974" cy="147197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BF94A07-4EA9-4CC7-0E4A-E0ADB4533FE5}"/>
              </a:ext>
            </a:extLst>
          </p:cNvPr>
          <p:cNvSpPr txBox="1"/>
          <p:nvPr/>
        </p:nvSpPr>
        <p:spPr>
          <a:xfrm>
            <a:off x="9597342" y="3703592"/>
            <a:ext cx="2040944" cy="461665"/>
          </a:xfrm>
          <a:prstGeom prst="rect">
            <a:avLst/>
          </a:prstGeom>
          <a:noFill/>
        </p:spPr>
        <p:txBody>
          <a:bodyPr wrap="none" rtlCol="0">
            <a:spAutoFit/>
          </a:bodyPr>
          <a:lstStyle/>
          <a:p>
            <a:pPr algn="ctr"/>
            <a:r>
              <a:rPr lang="en-CA" sz="2400" b="1" dirty="0">
                <a:solidFill>
                  <a:srgbClr val="FFFFFF"/>
                </a:solidFill>
              </a:rPr>
              <a:t>Git </a:t>
            </a:r>
            <a:r>
              <a:rPr lang="en-CA" sz="2400" b="1" dirty="0">
                <a:solidFill>
                  <a:srgbClr val="00FF00"/>
                </a:solidFill>
              </a:rPr>
              <a:t>+ </a:t>
            </a:r>
            <a:r>
              <a:rPr lang="en-CA" sz="2400" b="1" dirty="0">
                <a:solidFill>
                  <a:srgbClr val="FFFFFF"/>
                </a:solidFill>
              </a:rPr>
              <a:t>GitHub</a:t>
            </a:r>
          </a:p>
        </p:txBody>
      </p:sp>
      <p:sp>
        <p:nvSpPr>
          <p:cNvPr id="7" name="TextBox 6">
            <a:extLst>
              <a:ext uri="{FF2B5EF4-FFF2-40B4-BE49-F238E27FC236}">
                <a16:creationId xmlns:a16="http://schemas.microsoft.com/office/drawing/2014/main" id="{8ECE5F8A-7D51-0C85-CDA8-F6FD0BBD161C}"/>
              </a:ext>
            </a:extLst>
          </p:cNvPr>
          <p:cNvSpPr txBox="1"/>
          <p:nvPr/>
        </p:nvSpPr>
        <p:spPr>
          <a:xfrm>
            <a:off x="9364200" y="1752748"/>
            <a:ext cx="2507226" cy="461665"/>
          </a:xfrm>
          <a:prstGeom prst="rect">
            <a:avLst/>
          </a:prstGeom>
          <a:noFill/>
        </p:spPr>
        <p:txBody>
          <a:bodyPr wrap="none" rtlCol="0">
            <a:spAutoFit/>
          </a:bodyPr>
          <a:lstStyle/>
          <a:p>
            <a:pPr algn="ctr"/>
            <a:r>
              <a:rPr lang="en-CA" sz="2400" b="1" dirty="0">
                <a:solidFill>
                  <a:schemeClr val="accent6"/>
                </a:solidFill>
              </a:rPr>
              <a:t>Version Control</a:t>
            </a:r>
            <a:r>
              <a:rPr lang="en-CA" sz="2400" b="1" dirty="0">
                <a:solidFill>
                  <a:srgbClr val="00FF00"/>
                </a:solidFill>
              </a:rPr>
              <a:t>.</a:t>
            </a:r>
          </a:p>
        </p:txBody>
      </p:sp>
      <p:pic>
        <p:nvPicPr>
          <p:cNvPr id="6146" name="Picture 2" descr="Download Laptop Clipart Transparent Background - Laptop Png PNG Image with No  Background - PNGkey.com">
            <a:extLst>
              <a:ext uri="{FF2B5EF4-FFF2-40B4-BE49-F238E27FC236}">
                <a16:creationId xmlns:a16="http://schemas.microsoft.com/office/drawing/2014/main" id="{83D8E25E-D179-2111-0A13-D7F64C3DA1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5674" y="943979"/>
            <a:ext cx="2321210" cy="154489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FCF12445-9C79-DC80-CC68-651E15D2B83A}"/>
              </a:ext>
            </a:extLst>
          </p:cNvPr>
          <p:cNvPicPr>
            <a:picLocks noChangeAspect="1"/>
          </p:cNvPicPr>
          <p:nvPr/>
        </p:nvPicPr>
        <p:blipFill>
          <a:blip r:embed="rId4"/>
          <a:stretch>
            <a:fillRect/>
          </a:stretch>
        </p:blipFill>
        <p:spPr>
          <a:xfrm>
            <a:off x="6865835" y="1004529"/>
            <a:ext cx="1847718" cy="1042153"/>
          </a:xfrm>
          <a:prstGeom prst="rect">
            <a:avLst/>
          </a:prstGeom>
        </p:spPr>
      </p:pic>
      <p:sp>
        <p:nvSpPr>
          <p:cNvPr id="9" name="TextBox 8">
            <a:extLst>
              <a:ext uri="{FF2B5EF4-FFF2-40B4-BE49-F238E27FC236}">
                <a16:creationId xmlns:a16="http://schemas.microsoft.com/office/drawing/2014/main" id="{9F9EB63C-B72C-DCC5-7375-88278FAC83DE}"/>
              </a:ext>
            </a:extLst>
          </p:cNvPr>
          <p:cNvSpPr txBox="1"/>
          <p:nvPr/>
        </p:nvSpPr>
        <p:spPr>
          <a:xfrm>
            <a:off x="6941434" y="433121"/>
            <a:ext cx="1689693" cy="461665"/>
          </a:xfrm>
          <a:prstGeom prst="rect">
            <a:avLst/>
          </a:prstGeom>
          <a:noFill/>
        </p:spPr>
        <p:txBody>
          <a:bodyPr wrap="none" rtlCol="0">
            <a:spAutoFit/>
          </a:bodyPr>
          <a:lstStyle/>
          <a:p>
            <a:pPr algn="ctr"/>
            <a:r>
              <a:rPr lang="en-CA" sz="2400" b="1" dirty="0">
                <a:solidFill>
                  <a:schemeClr val="accent6"/>
                </a:solidFill>
              </a:rPr>
              <a:t>Computer</a:t>
            </a:r>
            <a:r>
              <a:rPr lang="en-CA" sz="2400" b="1" dirty="0">
                <a:solidFill>
                  <a:srgbClr val="00FF00"/>
                </a:solidFill>
              </a:rPr>
              <a:t>.</a:t>
            </a:r>
          </a:p>
        </p:txBody>
      </p:sp>
      <p:pic>
        <p:nvPicPr>
          <p:cNvPr id="6150" name="Picture 6">
            <a:extLst>
              <a:ext uri="{FF2B5EF4-FFF2-40B4-BE49-F238E27FC236}">
                <a16:creationId xmlns:a16="http://schemas.microsoft.com/office/drawing/2014/main" id="{A69BECB3-0610-2A3A-ADEC-03FBCECA22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6307" y="5209115"/>
            <a:ext cx="965375" cy="96537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0FF4E11-D1E8-8B88-34D9-832A562BCFB1}"/>
              </a:ext>
            </a:extLst>
          </p:cNvPr>
          <p:cNvSpPr txBox="1"/>
          <p:nvPr/>
        </p:nvSpPr>
        <p:spPr>
          <a:xfrm>
            <a:off x="8099353" y="4604908"/>
            <a:ext cx="1764009" cy="461665"/>
          </a:xfrm>
          <a:prstGeom prst="rect">
            <a:avLst/>
          </a:prstGeom>
          <a:noFill/>
        </p:spPr>
        <p:txBody>
          <a:bodyPr wrap="none" rtlCol="0">
            <a:spAutoFit/>
          </a:bodyPr>
          <a:lstStyle/>
          <a:p>
            <a:pPr algn="ctr"/>
            <a:r>
              <a:rPr lang="en-CA" sz="2400" b="1" dirty="0">
                <a:solidFill>
                  <a:schemeClr val="accent6"/>
                </a:solidFill>
              </a:rPr>
              <a:t>Editor</a:t>
            </a:r>
            <a:r>
              <a:rPr lang="en-CA" sz="2400" b="1" dirty="0">
                <a:solidFill>
                  <a:srgbClr val="00FF00"/>
                </a:solidFill>
              </a:rPr>
              <a:t>/</a:t>
            </a:r>
            <a:r>
              <a:rPr lang="en-CA" sz="2400" b="1" dirty="0">
                <a:solidFill>
                  <a:schemeClr val="accent6"/>
                </a:solidFill>
              </a:rPr>
              <a:t>IDE</a:t>
            </a:r>
            <a:r>
              <a:rPr lang="en-CA" sz="2400" b="1" dirty="0">
                <a:solidFill>
                  <a:srgbClr val="00FF00"/>
                </a:solidFill>
              </a:rPr>
              <a:t>.</a:t>
            </a:r>
          </a:p>
        </p:txBody>
      </p:sp>
      <p:pic>
        <p:nvPicPr>
          <p:cNvPr id="6154" name="Picture 10">
            <a:extLst>
              <a:ext uri="{FF2B5EF4-FFF2-40B4-BE49-F238E27FC236}">
                <a16:creationId xmlns:a16="http://schemas.microsoft.com/office/drawing/2014/main" id="{BE8F2F94-3182-D845-D094-74B165753E5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75670" y="5164068"/>
            <a:ext cx="910097" cy="1055468"/>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33DF8D8-0164-2F4A-C0D5-79D0C5323A87}"/>
              </a:ext>
            </a:extLst>
          </p:cNvPr>
          <p:cNvSpPr txBox="1"/>
          <p:nvPr/>
        </p:nvSpPr>
        <p:spPr>
          <a:xfrm>
            <a:off x="7565150" y="6241961"/>
            <a:ext cx="2773068" cy="461665"/>
          </a:xfrm>
          <a:prstGeom prst="rect">
            <a:avLst/>
          </a:prstGeom>
          <a:noFill/>
        </p:spPr>
        <p:txBody>
          <a:bodyPr wrap="none" rtlCol="0">
            <a:spAutoFit/>
          </a:bodyPr>
          <a:lstStyle/>
          <a:p>
            <a:pPr algn="ctr"/>
            <a:r>
              <a:rPr lang="en-CA" sz="2400" b="1" dirty="0" err="1">
                <a:solidFill>
                  <a:srgbClr val="FFFFFF"/>
                </a:solidFill>
              </a:rPr>
              <a:t>VSCode</a:t>
            </a:r>
            <a:r>
              <a:rPr lang="en-CA" sz="2400" b="1" dirty="0">
                <a:solidFill>
                  <a:srgbClr val="FFFFFF"/>
                </a:solidFill>
              </a:rPr>
              <a:t> </a:t>
            </a:r>
            <a:r>
              <a:rPr lang="en-CA" sz="2400" b="1" dirty="0">
                <a:solidFill>
                  <a:srgbClr val="00FF00"/>
                </a:solidFill>
              </a:rPr>
              <a:t>+ </a:t>
            </a:r>
            <a:r>
              <a:rPr lang="en-CA" sz="2400" b="1" dirty="0" err="1">
                <a:solidFill>
                  <a:srgbClr val="FFFFFF"/>
                </a:solidFill>
              </a:rPr>
              <a:t>Jupyter</a:t>
            </a:r>
            <a:endParaRPr lang="en-CA" sz="2400" b="1" dirty="0">
              <a:solidFill>
                <a:srgbClr val="FFFFFF"/>
              </a:solidFill>
            </a:endParaRPr>
          </a:p>
        </p:txBody>
      </p:sp>
      <p:sp>
        <p:nvSpPr>
          <p:cNvPr id="12" name="TextBox 11">
            <a:extLst>
              <a:ext uri="{FF2B5EF4-FFF2-40B4-BE49-F238E27FC236}">
                <a16:creationId xmlns:a16="http://schemas.microsoft.com/office/drawing/2014/main" id="{9797EB70-D6D3-EDF4-9BB9-C9204DDEE205}"/>
              </a:ext>
            </a:extLst>
          </p:cNvPr>
          <p:cNvSpPr txBox="1"/>
          <p:nvPr/>
        </p:nvSpPr>
        <p:spPr>
          <a:xfrm>
            <a:off x="2044847" y="1585397"/>
            <a:ext cx="2939779" cy="461665"/>
          </a:xfrm>
          <a:prstGeom prst="rect">
            <a:avLst/>
          </a:prstGeom>
          <a:noFill/>
        </p:spPr>
        <p:txBody>
          <a:bodyPr wrap="none" rtlCol="0">
            <a:spAutoFit/>
          </a:bodyPr>
          <a:lstStyle/>
          <a:p>
            <a:pPr algn="ctr"/>
            <a:r>
              <a:rPr lang="en-CA" sz="2400" b="1" dirty="0">
                <a:solidFill>
                  <a:schemeClr val="accent6"/>
                </a:solidFill>
              </a:rPr>
              <a:t>Python Interpreter</a:t>
            </a:r>
            <a:r>
              <a:rPr lang="en-CA" sz="2400" b="1" dirty="0">
                <a:solidFill>
                  <a:srgbClr val="00FF00"/>
                </a:solidFill>
              </a:rPr>
              <a:t>.</a:t>
            </a:r>
          </a:p>
        </p:txBody>
      </p:sp>
      <p:sp>
        <p:nvSpPr>
          <p:cNvPr id="13" name="TextBox 12">
            <a:extLst>
              <a:ext uri="{FF2B5EF4-FFF2-40B4-BE49-F238E27FC236}">
                <a16:creationId xmlns:a16="http://schemas.microsoft.com/office/drawing/2014/main" id="{8F04624A-9D06-5039-A731-B81A871394CD}"/>
              </a:ext>
            </a:extLst>
          </p:cNvPr>
          <p:cNvSpPr txBox="1"/>
          <p:nvPr/>
        </p:nvSpPr>
        <p:spPr>
          <a:xfrm>
            <a:off x="32498" y="2949542"/>
            <a:ext cx="2941574" cy="461665"/>
          </a:xfrm>
          <a:prstGeom prst="rect">
            <a:avLst/>
          </a:prstGeom>
          <a:noFill/>
        </p:spPr>
        <p:txBody>
          <a:bodyPr wrap="none" rtlCol="0">
            <a:spAutoFit/>
          </a:bodyPr>
          <a:lstStyle/>
          <a:p>
            <a:pPr algn="ctr"/>
            <a:r>
              <a:rPr lang="en-CA" sz="2400" b="1" dirty="0">
                <a:solidFill>
                  <a:schemeClr val="accent6"/>
                </a:solidFill>
              </a:rPr>
              <a:t>Packages Manager</a:t>
            </a:r>
            <a:r>
              <a:rPr lang="en-CA" sz="2400" b="1" dirty="0">
                <a:solidFill>
                  <a:srgbClr val="00FF00"/>
                </a:solidFill>
              </a:rPr>
              <a:t>.</a:t>
            </a:r>
          </a:p>
        </p:txBody>
      </p:sp>
      <p:sp>
        <p:nvSpPr>
          <p:cNvPr id="14" name="TextBox 13">
            <a:extLst>
              <a:ext uri="{FF2B5EF4-FFF2-40B4-BE49-F238E27FC236}">
                <a16:creationId xmlns:a16="http://schemas.microsoft.com/office/drawing/2014/main" id="{6325F22B-81D1-BF8C-427D-C13A655694BD}"/>
              </a:ext>
            </a:extLst>
          </p:cNvPr>
          <p:cNvSpPr txBox="1"/>
          <p:nvPr/>
        </p:nvSpPr>
        <p:spPr>
          <a:xfrm>
            <a:off x="2527430" y="4664888"/>
            <a:ext cx="1520481" cy="461665"/>
          </a:xfrm>
          <a:prstGeom prst="rect">
            <a:avLst/>
          </a:prstGeom>
          <a:noFill/>
        </p:spPr>
        <p:txBody>
          <a:bodyPr wrap="none" rtlCol="0">
            <a:spAutoFit/>
          </a:bodyPr>
          <a:lstStyle/>
          <a:p>
            <a:pPr algn="ctr"/>
            <a:r>
              <a:rPr lang="en-CA" sz="2400" b="1" dirty="0">
                <a:solidFill>
                  <a:schemeClr val="accent6"/>
                </a:solidFill>
              </a:rPr>
              <a:t>Terminal</a:t>
            </a:r>
            <a:r>
              <a:rPr lang="en-CA" sz="2400" b="1" dirty="0">
                <a:solidFill>
                  <a:srgbClr val="00FF00"/>
                </a:solidFill>
              </a:rPr>
              <a:t>.</a:t>
            </a:r>
          </a:p>
        </p:txBody>
      </p:sp>
      <p:pic>
        <p:nvPicPr>
          <p:cNvPr id="6158" name="Picture 14" descr="Console Command-Line Icons Terminal Computer Linux Interface Transparent HQ  PNG Download | FreePNGimg">
            <a:extLst>
              <a:ext uri="{FF2B5EF4-FFF2-40B4-BE49-F238E27FC236}">
                <a16:creationId xmlns:a16="http://schemas.microsoft.com/office/drawing/2014/main" id="{2422FFD8-E93C-E700-C50D-BB8E5A369E9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85505" y="5066573"/>
            <a:ext cx="1280029" cy="128002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778C40C-9D02-D3AA-1241-453DCFDBA72E}"/>
              </a:ext>
            </a:extLst>
          </p:cNvPr>
          <p:cNvSpPr txBox="1"/>
          <p:nvPr/>
        </p:nvSpPr>
        <p:spPr>
          <a:xfrm>
            <a:off x="1804474" y="6275931"/>
            <a:ext cx="2966389" cy="461665"/>
          </a:xfrm>
          <a:prstGeom prst="rect">
            <a:avLst/>
          </a:prstGeom>
          <a:noFill/>
        </p:spPr>
        <p:txBody>
          <a:bodyPr wrap="none" rtlCol="0">
            <a:spAutoFit/>
          </a:bodyPr>
          <a:lstStyle/>
          <a:p>
            <a:pPr algn="ctr"/>
            <a:r>
              <a:rPr lang="en-CA" sz="2400" b="1" dirty="0">
                <a:solidFill>
                  <a:srgbClr val="FFFFFF"/>
                </a:solidFill>
              </a:rPr>
              <a:t>Anaconda Terminal</a:t>
            </a:r>
          </a:p>
        </p:txBody>
      </p:sp>
      <p:pic>
        <p:nvPicPr>
          <p:cNvPr id="6164" name="Picture 20" descr="Anaconda- Open-source distribution of Python &amp; R - Locus IT Services Nordic  | Your Trusted Partner for Data Science &amp; Analytics Solutions">
            <a:extLst>
              <a:ext uri="{FF2B5EF4-FFF2-40B4-BE49-F238E27FC236}">
                <a16:creationId xmlns:a16="http://schemas.microsoft.com/office/drawing/2014/main" id="{18CE5EF6-53A5-FFC6-E7DA-B841E987E4A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5900" y="3400094"/>
            <a:ext cx="2314770" cy="115479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0" descr="Anaconda- Open-source distribution of Python &amp; R - Locus IT Services Nordic  | Your Trusted Partner for Data Science &amp; Analytics Solutions">
            <a:extLst>
              <a:ext uri="{FF2B5EF4-FFF2-40B4-BE49-F238E27FC236}">
                <a16:creationId xmlns:a16="http://schemas.microsoft.com/office/drawing/2014/main" id="{D3466AEA-15CC-4C6D-1E6E-34E5A1338BA1}"/>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32264" r="32032" b="35377"/>
          <a:stretch>
            <a:fillRect/>
          </a:stretch>
        </p:blipFill>
        <p:spPr bwMode="auto">
          <a:xfrm>
            <a:off x="3309807" y="5143536"/>
            <a:ext cx="1280029" cy="1155818"/>
          </a:xfrm>
          <a:prstGeom prst="rect">
            <a:avLst/>
          </a:prstGeom>
          <a:noFill/>
          <a:extLst>
            <a:ext uri="{909E8E84-426E-40DD-AFC4-6F175D3DCCD1}">
              <a14:hiddenFill xmlns:a14="http://schemas.microsoft.com/office/drawing/2010/main">
                <a:solidFill>
                  <a:srgbClr val="FFFFFF"/>
                </a:solidFill>
              </a14:hiddenFill>
            </a:ext>
          </a:extLst>
        </p:spPr>
      </p:pic>
      <p:pic>
        <p:nvPicPr>
          <p:cNvPr id="6168" name="Picture 24" descr="Python icon transparent background 48332144 PNG">
            <a:extLst>
              <a:ext uri="{FF2B5EF4-FFF2-40B4-BE49-F238E27FC236}">
                <a16:creationId xmlns:a16="http://schemas.microsoft.com/office/drawing/2014/main" id="{1A2C468B-4A8C-5B29-C289-3924F48DA54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36828" y="1908646"/>
            <a:ext cx="1155818" cy="1155818"/>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Straight Arrow Connector 17">
            <a:extLst>
              <a:ext uri="{FF2B5EF4-FFF2-40B4-BE49-F238E27FC236}">
                <a16:creationId xmlns:a16="http://schemas.microsoft.com/office/drawing/2014/main" id="{DF0E5282-6C7B-9130-BDAA-54F4144F11BE}"/>
              </a:ext>
            </a:extLst>
          </p:cNvPr>
          <p:cNvCxnSpPr/>
          <p:nvPr/>
        </p:nvCxnSpPr>
        <p:spPr>
          <a:xfrm flipH="1" flipV="1">
            <a:off x="3998135" y="2711669"/>
            <a:ext cx="2097865" cy="113511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CF175EB6-04C4-4D2E-B626-2568842B2311}"/>
              </a:ext>
            </a:extLst>
          </p:cNvPr>
          <p:cNvCxnSpPr>
            <a:cxnSpLocks/>
          </p:cNvCxnSpPr>
          <p:nvPr/>
        </p:nvCxnSpPr>
        <p:spPr>
          <a:xfrm flipH="1" flipV="1">
            <a:off x="2208541" y="3812807"/>
            <a:ext cx="3946317" cy="4895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8418E4B-84BA-56FE-0D5F-E9771666A494}"/>
              </a:ext>
            </a:extLst>
          </p:cNvPr>
          <p:cNvCxnSpPr>
            <a:cxnSpLocks/>
          </p:cNvCxnSpPr>
          <p:nvPr/>
        </p:nvCxnSpPr>
        <p:spPr>
          <a:xfrm flipH="1">
            <a:off x="4439570" y="3845775"/>
            <a:ext cx="1656430" cy="141333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D671FBE-03DC-A44D-82B3-536E00910CCD}"/>
              </a:ext>
            </a:extLst>
          </p:cNvPr>
          <p:cNvCxnSpPr>
            <a:cxnSpLocks/>
          </p:cNvCxnSpPr>
          <p:nvPr/>
        </p:nvCxnSpPr>
        <p:spPr>
          <a:xfrm flipV="1">
            <a:off x="6201332" y="2575588"/>
            <a:ext cx="1127562" cy="128617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7E02E9C-CAB8-EAED-D26E-AAF27BB2EF7A}"/>
              </a:ext>
            </a:extLst>
          </p:cNvPr>
          <p:cNvCxnSpPr>
            <a:cxnSpLocks/>
          </p:cNvCxnSpPr>
          <p:nvPr/>
        </p:nvCxnSpPr>
        <p:spPr>
          <a:xfrm flipV="1">
            <a:off x="6142474" y="3064464"/>
            <a:ext cx="3573178" cy="84577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093EBBF-004A-20E4-6111-ACF666CA6D3B}"/>
              </a:ext>
            </a:extLst>
          </p:cNvPr>
          <p:cNvCxnSpPr>
            <a:cxnSpLocks/>
          </p:cNvCxnSpPr>
          <p:nvPr/>
        </p:nvCxnSpPr>
        <p:spPr>
          <a:xfrm>
            <a:off x="6154858" y="3910235"/>
            <a:ext cx="1778900" cy="138407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4" name="Picture 2" descr="Sebastian Goodfellow">
            <a:extLst>
              <a:ext uri="{FF2B5EF4-FFF2-40B4-BE49-F238E27FC236}">
                <a16:creationId xmlns:a16="http://schemas.microsoft.com/office/drawing/2014/main" id="{5607EF35-8EAF-DB74-E9C2-BC781D0FD08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05923" y="2583915"/>
            <a:ext cx="2580153" cy="2580153"/>
          </a:xfrm>
          <a:prstGeom prst="ellipse">
            <a:avLst/>
          </a:prstGeom>
          <a:ln w="6350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16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F8A5E-8107-658A-8571-C75ED357B4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D049D0-D07A-01DC-8600-8E4C442C5A56}"/>
              </a:ext>
            </a:extLst>
          </p:cNvPr>
          <p:cNvSpPr>
            <a:spLocks noGrp="1"/>
          </p:cNvSpPr>
          <p:nvPr>
            <p:ph type="title"/>
          </p:nvPr>
        </p:nvSpPr>
        <p:spPr/>
        <p:txBody>
          <a:bodyPr>
            <a:normAutofit fontScale="90000"/>
          </a:bodyPr>
          <a:lstStyle/>
          <a:p>
            <a:r>
              <a:rPr lang="en-CA" b="1" dirty="0"/>
              <a:t>Developer Toolkit</a:t>
            </a:r>
            <a:r>
              <a:rPr lang="en-CA" b="1" dirty="0">
                <a:solidFill>
                  <a:srgbClr val="00FF00"/>
                </a:solidFill>
              </a:rPr>
              <a:t>.</a:t>
            </a:r>
          </a:p>
        </p:txBody>
      </p:sp>
      <p:sp>
        <p:nvSpPr>
          <p:cNvPr id="5" name="TextBox 4">
            <a:extLst>
              <a:ext uri="{FF2B5EF4-FFF2-40B4-BE49-F238E27FC236}">
                <a16:creationId xmlns:a16="http://schemas.microsoft.com/office/drawing/2014/main" id="{88C2F47F-C0FA-0991-5B88-E2E656579E33}"/>
              </a:ext>
            </a:extLst>
          </p:cNvPr>
          <p:cNvSpPr txBox="1"/>
          <p:nvPr/>
        </p:nvSpPr>
        <p:spPr>
          <a:xfrm>
            <a:off x="4924748" y="5391806"/>
            <a:ext cx="2342501" cy="461665"/>
          </a:xfrm>
          <a:prstGeom prst="rect">
            <a:avLst/>
          </a:prstGeom>
          <a:noFill/>
        </p:spPr>
        <p:txBody>
          <a:bodyPr wrap="none" rtlCol="0">
            <a:spAutoFit/>
          </a:bodyPr>
          <a:lstStyle/>
          <a:p>
            <a:pPr algn="ctr"/>
            <a:r>
              <a:rPr lang="en-CA" sz="2400" b="1" dirty="0">
                <a:solidFill>
                  <a:srgbClr val="FFFFFF"/>
                </a:solidFill>
              </a:rPr>
              <a:t>Developer Seb</a:t>
            </a:r>
            <a:r>
              <a:rPr lang="en-CA" b="1" dirty="0">
                <a:solidFill>
                  <a:srgbClr val="00FF00"/>
                </a:solidFill>
              </a:rPr>
              <a:t>.</a:t>
            </a:r>
          </a:p>
        </p:txBody>
      </p:sp>
      <p:pic>
        <p:nvPicPr>
          <p:cNvPr id="5122" name="Picture 2" descr="Github White Icon SVG Vector &amp; PNG Free Download | UXWing">
            <a:extLst>
              <a:ext uri="{FF2B5EF4-FFF2-40B4-BE49-F238E27FC236}">
                <a16:creationId xmlns:a16="http://schemas.microsoft.com/office/drawing/2014/main" id="{74C0BE16-C948-CCA1-6E43-A445AAA796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81826" y="2213555"/>
            <a:ext cx="1471974" cy="147197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76F46A0-5D39-B2A4-2C50-99C2AC190B60}"/>
              </a:ext>
            </a:extLst>
          </p:cNvPr>
          <p:cNvSpPr txBox="1"/>
          <p:nvPr/>
        </p:nvSpPr>
        <p:spPr>
          <a:xfrm>
            <a:off x="9597342" y="3703592"/>
            <a:ext cx="2040944" cy="461665"/>
          </a:xfrm>
          <a:prstGeom prst="rect">
            <a:avLst/>
          </a:prstGeom>
          <a:noFill/>
        </p:spPr>
        <p:txBody>
          <a:bodyPr wrap="none" rtlCol="0">
            <a:spAutoFit/>
          </a:bodyPr>
          <a:lstStyle/>
          <a:p>
            <a:pPr algn="ctr"/>
            <a:r>
              <a:rPr lang="en-CA" sz="2400" b="1" dirty="0">
                <a:solidFill>
                  <a:srgbClr val="FFFFFF"/>
                </a:solidFill>
              </a:rPr>
              <a:t>Git </a:t>
            </a:r>
            <a:r>
              <a:rPr lang="en-CA" sz="2400" b="1" dirty="0">
                <a:solidFill>
                  <a:srgbClr val="00FF00"/>
                </a:solidFill>
              </a:rPr>
              <a:t>+ </a:t>
            </a:r>
            <a:r>
              <a:rPr lang="en-CA" sz="2400" b="1" dirty="0">
                <a:solidFill>
                  <a:srgbClr val="FFFFFF"/>
                </a:solidFill>
              </a:rPr>
              <a:t>GitHub</a:t>
            </a:r>
          </a:p>
        </p:txBody>
      </p:sp>
      <p:sp>
        <p:nvSpPr>
          <p:cNvPr id="7" name="TextBox 6">
            <a:extLst>
              <a:ext uri="{FF2B5EF4-FFF2-40B4-BE49-F238E27FC236}">
                <a16:creationId xmlns:a16="http://schemas.microsoft.com/office/drawing/2014/main" id="{FB6610BF-4E8A-FD63-47E4-138CD033C1EE}"/>
              </a:ext>
            </a:extLst>
          </p:cNvPr>
          <p:cNvSpPr txBox="1"/>
          <p:nvPr/>
        </p:nvSpPr>
        <p:spPr>
          <a:xfrm>
            <a:off x="9364200" y="1752748"/>
            <a:ext cx="2507226" cy="461665"/>
          </a:xfrm>
          <a:prstGeom prst="rect">
            <a:avLst/>
          </a:prstGeom>
          <a:noFill/>
        </p:spPr>
        <p:txBody>
          <a:bodyPr wrap="none" rtlCol="0">
            <a:spAutoFit/>
          </a:bodyPr>
          <a:lstStyle/>
          <a:p>
            <a:pPr algn="ctr"/>
            <a:r>
              <a:rPr lang="en-CA" sz="2400" b="1" dirty="0">
                <a:solidFill>
                  <a:schemeClr val="accent6"/>
                </a:solidFill>
              </a:rPr>
              <a:t>Version Control</a:t>
            </a:r>
            <a:r>
              <a:rPr lang="en-CA" sz="2400" b="1" dirty="0">
                <a:solidFill>
                  <a:srgbClr val="00FF00"/>
                </a:solidFill>
              </a:rPr>
              <a:t>.</a:t>
            </a:r>
          </a:p>
        </p:txBody>
      </p:sp>
      <p:pic>
        <p:nvPicPr>
          <p:cNvPr id="6146" name="Picture 2" descr="Download Laptop Clipart Transparent Background - Laptop Png PNG Image with No  Background - PNGkey.com">
            <a:extLst>
              <a:ext uri="{FF2B5EF4-FFF2-40B4-BE49-F238E27FC236}">
                <a16:creationId xmlns:a16="http://schemas.microsoft.com/office/drawing/2014/main" id="{04DFCFEC-84DC-7E4E-B2D8-CEA8C2FFC3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5674" y="943979"/>
            <a:ext cx="2321210" cy="154489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30AC0A7A-79C0-44E7-07EC-23D552470BE7}"/>
              </a:ext>
            </a:extLst>
          </p:cNvPr>
          <p:cNvPicPr>
            <a:picLocks noChangeAspect="1"/>
          </p:cNvPicPr>
          <p:nvPr/>
        </p:nvPicPr>
        <p:blipFill>
          <a:blip r:embed="rId4"/>
          <a:stretch>
            <a:fillRect/>
          </a:stretch>
        </p:blipFill>
        <p:spPr>
          <a:xfrm>
            <a:off x="6865835" y="1004529"/>
            <a:ext cx="1847718" cy="1042153"/>
          </a:xfrm>
          <a:prstGeom prst="rect">
            <a:avLst/>
          </a:prstGeom>
        </p:spPr>
      </p:pic>
      <p:sp>
        <p:nvSpPr>
          <p:cNvPr id="9" name="TextBox 8">
            <a:extLst>
              <a:ext uri="{FF2B5EF4-FFF2-40B4-BE49-F238E27FC236}">
                <a16:creationId xmlns:a16="http://schemas.microsoft.com/office/drawing/2014/main" id="{E5B48152-BB86-162A-CB24-CD5588F1AC39}"/>
              </a:ext>
            </a:extLst>
          </p:cNvPr>
          <p:cNvSpPr txBox="1"/>
          <p:nvPr/>
        </p:nvSpPr>
        <p:spPr>
          <a:xfrm>
            <a:off x="6941434" y="433121"/>
            <a:ext cx="1689693" cy="461665"/>
          </a:xfrm>
          <a:prstGeom prst="rect">
            <a:avLst/>
          </a:prstGeom>
          <a:noFill/>
        </p:spPr>
        <p:txBody>
          <a:bodyPr wrap="none" rtlCol="0">
            <a:spAutoFit/>
          </a:bodyPr>
          <a:lstStyle/>
          <a:p>
            <a:pPr algn="ctr"/>
            <a:r>
              <a:rPr lang="en-CA" sz="2400" b="1" dirty="0">
                <a:solidFill>
                  <a:schemeClr val="accent6"/>
                </a:solidFill>
              </a:rPr>
              <a:t>Computer</a:t>
            </a:r>
            <a:r>
              <a:rPr lang="en-CA" sz="2400" b="1" dirty="0">
                <a:solidFill>
                  <a:srgbClr val="00FF00"/>
                </a:solidFill>
              </a:rPr>
              <a:t>.</a:t>
            </a:r>
          </a:p>
        </p:txBody>
      </p:sp>
      <p:pic>
        <p:nvPicPr>
          <p:cNvPr id="6150" name="Picture 6">
            <a:extLst>
              <a:ext uri="{FF2B5EF4-FFF2-40B4-BE49-F238E27FC236}">
                <a16:creationId xmlns:a16="http://schemas.microsoft.com/office/drawing/2014/main" id="{6856773D-B3F2-8949-6591-078446415C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6307" y="5209115"/>
            <a:ext cx="965375" cy="96537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75F8B26-8228-90BA-8EB6-47D56B2F202A}"/>
              </a:ext>
            </a:extLst>
          </p:cNvPr>
          <p:cNvSpPr txBox="1"/>
          <p:nvPr/>
        </p:nvSpPr>
        <p:spPr>
          <a:xfrm>
            <a:off x="8099353" y="4604908"/>
            <a:ext cx="1764009" cy="461665"/>
          </a:xfrm>
          <a:prstGeom prst="rect">
            <a:avLst/>
          </a:prstGeom>
          <a:noFill/>
        </p:spPr>
        <p:txBody>
          <a:bodyPr wrap="none" rtlCol="0">
            <a:spAutoFit/>
          </a:bodyPr>
          <a:lstStyle/>
          <a:p>
            <a:pPr algn="ctr"/>
            <a:r>
              <a:rPr lang="en-CA" sz="2400" b="1" dirty="0">
                <a:solidFill>
                  <a:schemeClr val="accent6"/>
                </a:solidFill>
              </a:rPr>
              <a:t>Editor</a:t>
            </a:r>
            <a:r>
              <a:rPr lang="en-CA" sz="2400" b="1" dirty="0">
                <a:solidFill>
                  <a:srgbClr val="00FF00"/>
                </a:solidFill>
              </a:rPr>
              <a:t>/</a:t>
            </a:r>
            <a:r>
              <a:rPr lang="en-CA" sz="2400" b="1" dirty="0">
                <a:solidFill>
                  <a:schemeClr val="accent6"/>
                </a:solidFill>
              </a:rPr>
              <a:t>IDE</a:t>
            </a:r>
            <a:r>
              <a:rPr lang="en-CA" sz="2400" b="1" dirty="0">
                <a:solidFill>
                  <a:srgbClr val="00FF00"/>
                </a:solidFill>
              </a:rPr>
              <a:t>.</a:t>
            </a:r>
          </a:p>
        </p:txBody>
      </p:sp>
      <p:pic>
        <p:nvPicPr>
          <p:cNvPr id="6154" name="Picture 10">
            <a:extLst>
              <a:ext uri="{FF2B5EF4-FFF2-40B4-BE49-F238E27FC236}">
                <a16:creationId xmlns:a16="http://schemas.microsoft.com/office/drawing/2014/main" id="{BCC96BDE-267B-1E29-F80F-79E420911C3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75670" y="5164068"/>
            <a:ext cx="910097" cy="1055468"/>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53E67D4-57B5-28E3-7AC5-6BA6FA7E5DCB}"/>
              </a:ext>
            </a:extLst>
          </p:cNvPr>
          <p:cNvSpPr txBox="1"/>
          <p:nvPr/>
        </p:nvSpPr>
        <p:spPr>
          <a:xfrm>
            <a:off x="7565150" y="6241961"/>
            <a:ext cx="2773068" cy="461665"/>
          </a:xfrm>
          <a:prstGeom prst="rect">
            <a:avLst/>
          </a:prstGeom>
          <a:noFill/>
        </p:spPr>
        <p:txBody>
          <a:bodyPr wrap="none" rtlCol="0">
            <a:spAutoFit/>
          </a:bodyPr>
          <a:lstStyle/>
          <a:p>
            <a:pPr algn="ctr"/>
            <a:r>
              <a:rPr lang="en-CA" sz="2400" b="1" dirty="0" err="1">
                <a:solidFill>
                  <a:srgbClr val="FFFFFF"/>
                </a:solidFill>
              </a:rPr>
              <a:t>VSCode</a:t>
            </a:r>
            <a:r>
              <a:rPr lang="en-CA" sz="2400" b="1" dirty="0">
                <a:solidFill>
                  <a:srgbClr val="FFFFFF"/>
                </a:solidFill>
              </a:rPr>
              <a:t> </a:t>
            </a:r>
            <a:r>
              <a:rPr lang="en-CA" sz="2400" b="1" dirty="0">
                <a:solidFill>
                  <a:srgbClr val="00FF00"/>
                </a:solidFill>
              </a:rPr>
              <a:t>+ </a:t>
            </a:r>
            <a:r>
              <a:rPr lang="en-CA" sz="2400" b="1" dirty="0" err="1">
                <a:solidFill>
                  <a:srgbClr val="FFFFFF"/>
                </a:solidFill>
              </a:rPr>
              <a:t>Jupyter</a:t>
            </a:r>
            <a:endParaRPr lang="en-CA" sz="2400" b="1" dirty="0">
              <a:solidFill>
                <a:srgbClr val="FFFFFF"/>
              </a:solidFill>
            </a:endParaRPr>
          </a:p>
        </p:txBody>
      </p:sp>
      <p:sp>
        <p:nvSpPr>
          <p:cNvPr id="12" name="TextBox 11">
            <a:extLst>
              <a:ext uri="{FF2B5EF4-FFF2-40B4-BE49-F238E27FC236}">
                <a16:creationId xmlns:a16="http://schemas.microsoft.com/office/drawing/2014/main" id="{3A3EDD72-0F1C-8B50-647D-7A32A20BA9EA}"/>
              </a:ext>
            </a:extLst>
          </p:cNvPr>
          <p:cNvSpPr txBox="1"/>
          <p:nvPr/>
        </p:nvSpPr>
        <p:spPr>
          <a:xfrm>
            <a:off x="2044847" y="1585397"/>
            <a:ext cx="2939779" cy="461665"/>
          </a:xfrm>
          <a:prstGeom prst="rect">
            <a:avLst/>
          </a:prstGeom>
          <a:noFill/>
        </p:spPr>
        <p:txBody>
          <a:bodyPr wrap="none" rtlCol="0">
            <a:spAutoFit/>
          </a:bodyPr>
          <a:lstStyle/>
          <a:p>
            <a:pPr algn="ctr"/>
            <a:r>
              <a:rPr lang="en-CA" sz="2400" b="1" dirty="0">
                <a:solidFill>
                  <a:schemeClr val="accent6"/>
                </a:solidFill>
              </a:rPr>
              <a:t>Python Interpreter</a:t>
            </a:r>
            <a:r>
              <a:rPr lang="en-CA" sz="2400" b="1" dirty="0">
                <a:solidFill>
                  <a:srgbClr val="00FF00"/>
                </a:solidFill>
              </a:rPr>
              <a:t>.</a:t>
            </a:r>
          </a:p>
        </p:txBody>
      </p:sp>
      <p:sp>
        <p:nvSpPr>
          <p:cNvPr id="13" name="TextBox 12">
            <a:extLst>
              <a:ext uri="{FF2B5EF4-FFF2-40B4-BE49-F238E27FC236}">
                <a16:creationId xmlns:a16="http://schemas.microsoft.com/office/drawing/2014/main" id="{FB562276-1093-1529-EC9C-2E7D8CEF1E75}"/>
              </a:ext>
            </a:extLst>
          </p:cNvPr>
          <p:cNvSpPr txBox="1"/>
          <p:nvPr/>
        </p:nvSpPr>
        <p:spPr>
          <a:xfrm>
            <a:off x="32498" y="2949542"/>
            <a:ext cx="2941574" cy="461665"/>
          </a:xfrm>
          <a:prstGeom prst="rect">
            <a:avLst/>
          </a:prstGeom>
          <a:noFill/>
        </p:spPr>
        <p:txBody>
          <a:bodyPr wrap="none" rtlCol="0">
            <a:spAutoFit/>
          </a:bodyPr>
          <a:lstStyle/>
          <a:p>
            <a:pPr algn="ctr"/>
            <a:r>
              <a:rPr lang="en-CA" sz="2400" b="1" dirty="0">
                <a:solidFill>
                  <a:schemeClr val="accent6"/>
                </a:solidFill>
              </a:rPr>
              <a:t>Packages Manager</a:t>
            </a:r>
            <a:r>
              <a:rPr lang="en-CA" sz="2400" b="1" dirty="0">
                <a:solidFill>
                  <a:srgbClr val="00FF00"/>
                </a:solidFill>
              </a:rPr>
              <a:t>.</a:t>
            </a:r>
          </a:p>
        </p:txBody>
      </p:sp>
      <p:sp>
        <p:nvSpPr>
          <p:cNvPr id="14" name="TextBox 13">
            <a:extLst>
              <a:ext uri="{FF2B5EF4-FFF2-40B4-BE49-F238E27FC236}">
                <a16:creationId xmlns:a16="http://schemas.microsoft.com/office/drawing/2014/main" id="{BDEE30C4-0915-F64F-25BF-D532498274AD}"/>
              </a:ext>
            </a:extLst>
          </p:cNvPr>
          <p:cNvSpPr txBox="1"/>
          <p:nvPr/>
        </p:nvSpPr>
        <p:spPr>
          <a:xfrm>
            <a:off x="2527430" y="4664888"/>
            <a:ext cx="1520481" cy="461665"/>
          </a:xfrm>
          <a:prstGeom prst="rect">
            <a:avLst/>
          </a:prstGeom>
          <a:noFill/>
        </p:spPr>
        <p:txBody>
          <a:bodyPr wrap="none" rtlCol="0">
            <a:spAutoFit/>
          </a:bodyPr>
          <a:lstStyle/>
          <a:p>
            <a:pPr algn="ctr"/>
            <a:r>
              <a:rPr lang="en-CA" sz="2400" b="1" dirty="0">
                <a:solidFill>
                  <a:schemeClr val="accent6"/>
                </a:solidFill>
              </a:rPr>
              <a:t>Terminal</a:t>
            </a:r>
            <a:r>
              <a:rPr lang="en-CA" sz="2400" b="1" dirty="0">
                <a:solidFill>
                  <a:srgbClr val="00FF00"/>
                </a:solidFill>
              </a:rPr>
              <a:t>.</a:t>
            </a:r>
          </a:p>
        </p:txBody>
      </p:sp>
      <p:pic>
        <p:nvPicPr>
          <p:cNvPr id="6158" name="Picture 14" descr="Console Command-Line Icons Terminal Computer Linux Interface Transparent HQ  PNG Download | FreePNGimg">
            <a:extLst>
              <a:ext uri="{FF2B5EF4-FFF2-40B4-BE49-F238E27FC236}">
                <a16:creationId xmlns:a16="http://schemas.microsoft.com/office/drawing/2014/main" id="{A6980087-A2BA-F0C2-5349-8676518E65E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85505" y="5066573"/>
            <a:ext cx="1280029" cy="128002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8AFD4982-241E-5D78-6F9F-4563B18CD2F6}"/>
              </a:ext>
            </a:extLst>
          </p:cNvPr>
          <p:cNvSpPr txBox="1"/>
          <p:nvPr/>
        </p:nvSpPr>
        <p:spPr>
          <a:xfrm>
            <a:off x="1804474" y="6275931"/>
            <a:ext cx="2966389" cy="461665"/>
          </a:xfrm>
          <a:prstGeom prst="rect">
            <a:avLst/>
          </a:prstGeom>
          <a:noFill/>
        </p:spPr>
        <p:txBody>
          <a:bodyPr wrap="none" rtlCol="0">
            <a:spAutoFit/>
          </a:bodyPr>
          <a:lstStyle/>
          <a:p>
            <a:pPr algn="ctr"/>
            <a:r>
              <a:rPr lang="en-CA" sz="2400" b="1" dirty="0">
                <a:solidFill>
                  <a:srgbClr val="FFFFFF"/>
                </a:solidFill>
              </a:rPr>
              <a:t>Anaconda Terminal</a:t>
            </a:r>
          </a:p>
        </p:txBody>
      </p:sp>
      <p:pic>
        <p:nvPicPr>
          <p:cNvPr id="6164" name="Picture 20" descr="Anaconda- Open-source distribution of Python &amp; R - Locus IT Services Nordic  | Your Trusted Partner for Data Science &amp; Analytics Solutions">
            <a:extLst>
              <a:ext uri="{FF2B5EF4-FFF2-40B4-BE49-F238E27FC236}">
                <a16:creationId xmlns:a16="http://schemas.microsoft.com/office/drawing/2014/main" id="{5CFDFF65-E225-3FAB-48DF-AA27711E929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5900" y="3400094"/>
            <a:ext cx="2314770" cy="115479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0" descr="Anaconda- Open-source distribution of Python &amp; R - Locus IT Services Nordic  | Your Trusted Partner for Data Science &amp; Analytics Solutions">
            <a:extLst>
              <a:ext uri="{FF2B5EF4-FFF2-40B4-BE49-F238E27FC236}">
                <a16:creationId xmlns:a16="http://schemas.microsoft.com/office/drawing/2014/main" id="{B4C02F31-7256-1024-F53C-2859EA02EEC5}"/>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32264" r="32032" b="35377"/>
          <a:stretch>
            <a:fillRect/>
          </a:stretch>
        </p:blipFill>
        <p:spPr bwMode="auto">
          <a:xfrm>
            <a:off x="3309807" y="5143536"/>
            <a:ext cx="1280029" cy="1155818"/>
          </a:xfrm>
          <a:prstGeom prst="rect">
            <a:avLst/>
          </a:prstGeom>
          <a:noFill/>
          <a:extLst>
            <a:ext uri="{909E8E84-426E-40DD-AFC4-6F175D3DCCD1}">
              <a14:hiddenFill xmlns:a14="http://schemas.microsoft.com/office/drawing/2010/main">
                <a:solidFill>
                  <a:srgbClr val="FFFFFF"/>
                </a:solidFill>
              </a14:hiddenFill>
            </a:ext>
          </a:extLst>
        </p:spPr>
      </p:pic>
      <p:pic>
        <p:nvPicPr>
          <p:cNvPr id="6168" name="Picture 24" descr="Python icon transparent background 48332144 PNG">
            <a:extLst>
              <a:ext uri="{FF2B5EF4-FFF2-40B4-BE49-F238E27FC236}">
                <a16:creationId xmlns:a16="http://schemas.microsoft.com/office/drawing/2014/main" id="{13E29447-B565-E1F6-0853-5F6AE633FBA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36828" y="1908646"/>
            <a:ext cx="1155818" cy="1155818"/>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Straight Arrow Connector 24">
            <a:extLst>
              <a:ext uri="{FF2B5EF4-FFF2-40B4-BE49-F238E27FC236}">
                <a16:creationId xmlns:a16="http://schemas.microsoft.com/office/drawing/2014/main" id="{65737266-C10B-2877-3C83-E8F09B8C42DB}"/>
              </a:ext>
            </a:extLst>
          </p:cNvPr>
          <p:cNvCxnSpPr>
            <a:cxnSpLocks/>
          </p:cNvCxnSpPr>
          <p:nvPr/>
        </p:nvCxnSpPr>
        <p:spPr>
          <a:xfrm flipV="1">
            <a:off x="6201332" y="2575588"/>
            <a:ext cx="1127562" cy="128617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4" name="Picture 2" descr="Sebastian Goodfellow">
            <a:extLst>
              <a:ext uri="{FF2B5EF4-FFF2-40B4-BE49-F238E27FC236}">
                <a16:creationId xmlns:a16="http://schemas.microsoft.com/office/drawing/2014/main" id="{ED421389-B6A2-0095-6708-0E97BF006FA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05923" y="2583915"/>
            <a:ext cx="2580153" cy="2580153"/>
          </a:xfrm>
          <a:prstGeom prst="ellipse">
            <a:avLst/>
          </a:prstGeom>
          <a:ln w="6350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9E45A81-53CD-F210-EA06-28036B4AC2A4}"/>
              </a:ext>
            </a:extLst>
          </p:cNvPr>
          <p:cNvSpPr/>
          <p:nvPr/>
        </p:nvSpPr>
        <p:spPr>
          <a:xfrm>
            <a:off x="32498" y="2869324"/>
            <a:ext cx="3277309" cy="1835970"/>
          </a:xfrm>
          <a:prstGeom prst="rect">
            <a:avLst/>
          </a:prstGeom>
          <a:solidFill>
            <a:srgbClr val="2D2D2D">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Rectangle 16">
            <a:extLst>
              <a:ext uri="{FF2B5EF4-FFF2-40B4-BE49-F238E27FC236}">
                <a16:creationId xmlns:a16="http://schemas.microsoft.com/office/drawing/2014/main" id="{B57ECE5C-6242-0D8F-2A54-F2710B70C60C}"/>
              </a:ext>
            </a:extLst>
          </p:cNvPr>
          <p:cNvSpPr/>
          <p:nvPr/>
        </p:nvSpPr>
        <p:spPr>
          <a:xfrm>
            <a:off x="1252043" y="4705294"/>
            <a:ext cx="3518820" cy="1991896"/>
          </a:xfrm>
          <a:prstGeom prst="rect">
            <a:avLst/>
          </a:prstGeom>
          <a:solidFill>
            <a:srgbClr val="2D2D2D">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Rectangle 19">
            <a:extLst>
              <a:ext uri="{FF2B5EF4-FFF2-40B4-BE49-F238E27FC236}">
                <a16:creationId xmlns:a16="http://schemas.microsoft.com/office/drawing/2014/main" id="{D8ACE58B-0CE1-04FC-35AB-84B8B8BD8A62}"/>
              </a:ext>
            </a:extLst>
          </p:cNvPr>
          <p:cNvSpPr/>
          <p:nvPr/>
        </p:nvSpPr>
        <p:spPr>
          <a:xfrm>
            <a:off x="1888990" y="1378905"/>
            <a:ext cx="3035758" cy="1570637"/>
          </a:xfrm>
          <a:prstGeom prst="rect">
            <a:avLst/>
          </a:prstGeom>
          <a:solidFill>
            <a:srgbClr val="2D2D2D">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Rectangle 20">
            <a:extLst>
              <a:ext uri="{FF2B5EF4-FFF2-40B4-BE49-F238E27FC236}">
                <a16:creationId xmlns:a16="http://schemas.microsoft.com/office/drawing/2014/main" id="{0DFE457E-5328-0DD9-CC1C-B7F2B70A1332}"/>
              </a:ext>
            </a:extLst>
          </p:cNvPr>
          <p:cNvSpPr/>
          <p:nvPr/>
        </p:nvSpPr>
        <p:spPr>
          <a:xfrm>
            <a:off x="9156242" y="1693304"/>
            <a:ext cx="3035758" cy="2490016"/>
          </a:xfrm>
          <a:prstGeom prst="rect">
            <a:avLst/>
          </a:prstGeom>
          <a:solidFill>
            <a:srgbClr val="2D2D2D">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Rectangle 22">
            <a:extLst>
              <a:ext uri="{FF2B5EF4-FFF2-40B4-BE49-F238E27FC236}">
                <a16:creationId xmlns:a16="http://schemas.microsoft.com/office/drawing/2014/main" id="{35B0EF56-C942-EDFC-39CB-DED14BC64756}"/>
              </a:ext>
            </a:extLst>
          </p:cNvPr>
          <p:cNvSpPr/>
          <p:nvPr/>
        </p:nvSpPr>
        <p:spPr>
          <a:xfrm>
            <a:off x="7539961" y="4198502"/>
            <a:ext cx="3035758" cy="2490016"/>
          </a:xfrm>
          <a:prstGeom prst="rect">
            <a:avLst/>
          </a:prstGeom>
          <a:solidFill>
            <a:srgbClr val="2D2D2D">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145753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749FCED-7506-1272-74E1-AD41AA64469A}"/>
              </a:ext>
            </a:extLst>
          </p:cNvPr>
          <p:cNvSpPr txBox="1"/>
          <p:nvPr/>
        </p:nvSpPr>
        <p:spPr>
          <a:xfrm>
            <a:off x="660540" y="5396736"/>
            <a:ext cx="6544235" cy="1200329"/>
          </a:xfrm>
          <a:prstGeom prst="rect">
            <a:avLst/>
          </a:prstGeom>
          <a:noFill/>
          <a:ln>
            <a:solidFill>
              <a:schemeClr val="accent6"/>
            </a:solidFill>
          </a:ln>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CA" dirty="0">
                <a:solidFill>
                  <a:srgbClr val="FFFFFF"/>
                </a:solidFill>
              </a:rPr>
              <a:t>Software programs are usually stored and executed from RAM</a:t>
            </a:r>
            <a:r>
              <a:rPr lang="en-CA" dirty="0">
                <a:solidFill>
                  <a:srgbClr val="00FF00"/>
                </a:solidFill>
              </a:rPr>
              <a:t>.</a:t>
            </a:r>
          </a:p>
          <a:p>
            <a:pPr algn="ctr"/>
            <a:endParaRPr lang="en-CA" dirty="0">
              <a:solidFill>
                <a:srgbClr val="FFFFFF"/>
              </a:solidFill>
            </a:endParaRPr>
          </a:p>
          <a:p>
            <a:pPr algn="ctr"/>
            <a:r>
              <a:rPr lang="en-CA" dirty="0">
                <a:solidFill>
                  <a:srgbClr val="FFFFFF"/>
                </a:solidFill>
              </a:rPr>
              <a:t>Later this term</a:t>
            </a:r>
            <a:r>
              <a:rPr lang="en-CA" dirty="0">
                <a:solidFill>
                  <a:srgbClr val="00FF00"/>
                </a:solidFill>
              </a:rPr>
              <a:t>,</a:t>
            </a:r>
            <a:r>
              <a:rPr lang="en-CA" dirty="0">
                <a:solidFill>
                  <a:srgbClr val="FFFFFF"/>
                </a:solidFill>
              </a:rPr>
              <a:t> we will learn how to read from and write to long-term storage</a:t>
            </a:r>
            <a:r>
              <a:rPr lang="en-CA" dirty="0">
                <a:solidFill>
                  <a:srgbClr val="00FF00"/>
                </a:solidFill>
              </a:rPr>
              <a:t>.</a:t>
            </a:r>
          </a:p>
        </p:txBody>
      </p:sp>
      <p:sp>
        <p:nvSpPr>
          <p:cNvPr id="9" name="Title 1">
            <a:extLst>
              <a:ext uri="{FF2B5EF4-FFF2-40B4-BE49-F238E27FC236}">
                <a16:creationId xmlns:a16="http://schemas.microsoft.com/office/drawing/2014/main" id="{0157B79A-4715-7357-0F68-7E398ADD0FD8}"/>
              </a:ext>
            </a:extLst>
          </p:cNvPr>
          <p:cNvSpPr>
            <a:spLocks noGrp="1"/>
          </p:cNvSpPr>
          <p:nvPr>
            <p:ph type="title"/>
          </p:nvPr>
        </p:nvSpPr>
        <p:spPr>
          <a:xfrm>
            <a:off x="838200" y="727075"/>
            <a:ext cx="10515600" cy="657225"/>
          </a:xfrm>
        </p:spPr>
        <p:txBody>
          <a:bodyPr>
            <a:normAutofit fontScale="90000"/>
          </a:bodyPr>
          <a:lstStyle/>
          <a:p>
            <a:r>
              <a:rPr lang="en-CA" b="1" dirty="0"/>
              <a:t>Inside your computer</a:t>
            </a:r>
            <a:r>
              <a:rPr lang="en-CA" b="1" dirty="0">
                <a:solidFill>
                  <a:schemeClr val="accent6"/>
                </a:solidFill>
              </a:rPr>
              <a:t>?</a:t>
            </a:r>
          </a:p>
        </p:txBody>
      </p:sp>
      <p:sp>
        <p:nvSpPr>
          <p:cNvPr id="10" name="Content Placeholder 2">
            <a:extLst>
              <a:ext uri="{FF2B5EF4-FFF2-40B4-BE49-F238E27FC236}">
                <a16:creationId xmlns:a16="http://schemas.microsoft.com/office/drawing/2014/main" id="{1D73EF6B-AA1C-07D9-8558-6AAD6B2E39FE}"/>
              </a:ext>
            </a:extLst>
          </p:cNvPr>
          <p:cNvSpPr txBox="1">
            <a:spLocks/>
          </p:cNvSpPr>
          <p:nvPr/>
        </p:nvSpPr>
        <p:spPr>
          <a:xfrm>
            <a:off x="838200" y="1548040"/>
            <a:ext cx="5849470" cy="37365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chemeClr val="accent6"/>
              </a:buClr>
              <a:buFont typeface="Wingdings" panose="05000000000000000000" pitchFamily="2" charset="2"/>
              <a:buChar char="§"/>
              <a:defRPr sz="2800" kern="1200">
                <a:solidFill>
                  <a:srgbClr val="FFFFFF"/>
                </a:solidFill>
                <a:latin typeface="+mn-lt"/>
                <a:ea typeface="+mn-ea"/>
                <a:cs typeface="+mn-cs"/>
              </a:defRPr>
            </a:lvl1pPr>
            <a:lvl2pPr marL="685800" indent="-228600" algn="l" defTabSz="914400" rtl="0" eaLnBrk="1" latinLnBrk="0" hangingPunct="1">
              <a:lnSpc>
                <a:spcPct val="90000"/>
              </a:lnSpc>
              <a:spcBef>
                <a:spcPts val="500"/>
              </a:spcBef>
              <a:buClr>
                <a:schemeClr val="accent6"/>
              </a:buClr>
              <a:buFont typeface="Wingdings" panose="05000000000000000000" pitchFamily="2" charset="2"/>
              <a:buChar char="§"/>
              <a:defRPr sz="2400" kern="1200">
                <a:solidFill>
                  <a:srgbClr val="FFFFFF"/>
                </a:solidFill>
                <a:latin typeface="+mn-lt"/>
                <a:ea typeface="+mn-ea"/>
                <a:cs typeface="+mn-cs"/>
              </a:defRPr>
            </a:lvl2pPr>
            <a:lvl3pPr marL="1143000" indent="-228600" algn="l" defTabSz="914400" rtl="0" eaLnBrk="1" latinLnBrk="0" hangingPunct="1">
              <a:lnSpc>
                <a:spcPct val="90000"/>
              </a:lnSpc>
              <a:spcBef>
                <a:spcPts val="500"/>
              </a:spcBef>
              <a:buClr>
                <a:schemeClr val="accent6"/>
              </a:buClr>
              <a:buFont typeface="Wingdings" panose="05000000000000000000" pitchFamily="2" charset="2"/>
              <a:buChar char="§"/>
              <a:defRPr sz="2000" kern="1200">
                <a:solidFill>
                  <a:srgbClr val="FFFFFF"/>
                </a:solidFill>
                <a:latin typeface="+mn-lt"/>
                <a:ea typeface="+mn-ea"/>
                <a:cs typeface="+mn-cs"/>
              </a:defRPr>
            </a:lvl3pPr>
            <a:lvl4pPr marL="1600200" indent="-228600" algn="l" defTabSz="914400" rtl="0" eaLnBrk="1" latinLnBrk="0" hangingPunct="1">
              <a:lnSpc>
                <a:spcPct val="90000"/>
              </a:lnSpc>
              <a:spcBef>
                <a:spcPts val="500"/>
              </a:spcBef>
              <a:buClr>
                <a:schemeClr val="accent6"/>
              </a:buClr>
              <a:buFont typeface="Wingdings" panose="05000000000000000000" pitchFamily="2" charset="2"/>
              <a:buChar char="§"/>
              <a:defRPr sz="1800" kern="1200">
                <a:solidFill>
                  <a:srgbClr val="FFFFFF"/>
                </a:solidFill>
                <a:latin typeface="+mn-lt"/>
                <a:ea typeface="+mn-ea"/>
                <a:cs typeface="+mn-cs"/>
              </a:defRPr>
            </a:lvl4pPr>
            <a:lvl5pPr marL="2057400" indent="-228600" algn="l" defTabSz="914400" rtl="0" eaLnBrk="1" latinLnBrk="0" hangingPunct="1">
              <a:lnSpc>
                <a:spcPct val="90000"/>
              </a:lnSpc>
              <a:spcBef>
                <a:spcPts val="500"/>
              </a:spcBef>
              <a:buClr>
                <a:schemeClr val="accent6"/>
              </a:buClr>
              <a:buFont typeface="Wingdings" panose="05000000000000000000" pitchFamily="2" charset="2"/>
              <a:buChar char="§"/>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sz="2400" b="1" dirty="0"/>
              <a:t>Storage</a:t>
            </a:r>
            <a:r>
              <a:rPr lang="en-CA" sz="2400" b="1" dirty="0">
                <a:solidFill>
                  <a:schemeClr val="accent6"/>
                </a:solidFill>
              </a:rPr>
              <a:t>.</a:t>
            </a:r>
          </a:p>
          <a:p>
            <a:pPr lvl="1"/>
            <a:r>
              <a:rPr lang="en-CA" sz="2000" dirty="0"/>
              <a:t>Disks</a:t>
            </a:r>
            <a:r>
              <a:rPr lang="en-CA" sz="2000" dirty="0">
                <a:solidFill>
                  <a:schemeClr val="accent6"/>
                </a:solidFill>
              </a:rPr>
              <a:t>,</a:t>
            </a:r>
            <a:r>
              <a:rPr lang="en-CA" sz="2000" dirty="0"/>
              <a:t> hard drives</a:t>
            </a:r>
            <a:r>
              <a:rPr lang="en-CA" sz="2000" dirty="0">
                <a:solidFill>
                  <a:schemeClr val="accent6"/>
                </a:solidFill>
              </a:rPr>
              <a:t>,</a:t>
            </a:r>
            <a:r>
              <a:rPr lang="en-CA" sz="2000" dirty="0"/>
              <a:t> thumb drives</a:t>
            </a:r>
            <a:r>
              <a:rPr lang="en-CA" sz="2000" dirty="0">
                <a:solidFill>
                  <a:schemeClr val="accent6"/>
                </a:solidFill>
              </a:rPr>
              <a:t>,</a:t>
            </a:r>
            <a:r>
              <a:rPr lang="en-CA" sz="2000" dirty="0"/>
              <a:t> etc</a:t>
            </a:r>
            <a:r>
              <a:rPr lang="en-CA" sz="2000" dirty="0">
                <a:solidFill>
                  <a:schemeClr val="accent6"/>
                </a:solidFill>
              </a:rPr>
              <a:t>.</a:t>
            </a:r>
          </a:p>
          <a:p>
            <a:pPr lvl="1"/>
            <a:r>
              <a:rPr lang="en-CA" sz="2000" dirty="0"/>
              <a:t>Stores long</a:t>
            </a:r>
            <a:r>
              <a:rPr lang="en-CA" sz="2000" dirty="0">
                <a:solidFill>
                  <a:schemeClr val="accent6"/>
                </a:solidFill>
              </a:rPr>
              <a:t>-</a:t>
            </a:r>
            <a:r>
              <a:rPr lang="en-CA" sz="2000" dirty="0"/>
              <a:t>term data (files</a:t>
            </a:r>
            <a:r>
              <a:rPr lang="en-CA" sz="2000" dirty="0">
                <a:solidFill>
                  <a:schemeClr val="accent6"/>
                </a:solidFill>
              </a:rPr>
              <a:t>,</a:t>
            </a:r>
            <a:r>
              <a:rPr lang="en-CA" sz="2000" dirty="0"/>
              <a:t> programs</a:t>
            </a:r>
            <a:r>
              <a:rPr lang="en-CA" sz="2000" dirty="0">
                <a:solidFill>
                  <a:schemeClr val="accent6"/>
                </a:solidFill>
              </a:rPr>
              <a:t>,</a:t>
            </a:r>
            <a:r>
              <a:rPr lang="en-CA" sz="2000" dirty="0"/>
              <a:t> movies</a:t>
            </a:r>
            <a:r>
              <a:rPr lang="en-CA" sz="2000" dirty="0">
                <a:solidFill>
                  <a:schemeClr val="accent6"/>
                </a:solidFill>
              </a:rPr>
              <a:t>,</a:t>
            </a:r>
            <a:r>
              <a:rPr lang="en-CA" sz="2000" dirty="0"/>
              <a:t> etc</a:t>
            </a:r>
            <a:r>
              <a:rPr lang="en-CA" sz="2000" dirty="0">
                <a:solidFill>
                  <a:schemeClr val="accent6"/>
                </a:solidFill>
              </a:rPr>
              <a:t>.</a:t>
            </a:r>
            <a:r>
              <a:rPr lang="en-CA" sz="2000" dirty="0"/>
              <a:t>)</a:t>
            </a:r>
            <a:r>
              <a:rPr lang="en-CA" sz="2000" dirty="0">
                <a:solidFill>
                  <a:schemeClr val="accent6"/>
                </a:solidFill>
              </a:rPr>
              <a:t>.</a:t>
            </a:r>
          </a:p>
          <a:p>
            <a:pPr lvl="1"/>
            <a:r>
              <a:rPr lang="en-CA" sz="2000" dirty="0"/>
              <a:t>Non</a:t>
            </a:r>
            <a:r>
              <a:rPr lang="en-CA" sz="2000" dirty="0">
                <a:solidFill>
                  <a:schemeClr val="accent6"/>
                </a:solidFill>
              </a:rPr>
              <a:t>-</a:t>
            </a:r>
            <a:r>
              <a:rPr lang="en-CA" sz="2000" dirty="0"/>
              <a:t>volatile</a:t>
            </a:r>
            <a:r>
              <a:rPr lang="en-CA" sz="2000" dirty="0">
                <a:solidFill>
                  <a:schemeClr val="accent6"/>
                </a:solidFill>
              </a:rPr>
              <a:t>:</a:t>
            </a:r>
            <a:r>
              <a:rPr lang="en-CA" sz="2000" dirty="0"/>
              <a:t> maintains contents when powered off</a:t>
            </a:r>
            <a:r>
              <a:rPr lang="en-CA" sz="2000" dirty="0">
                <a:solidFill>
                  <a:schemeClr val="accent6"/>
                </a:solidFill>
              </a:rPr>
              <a:t>.</a:t>
            </a:r>
          </a:p>
          <a:p>
            <a:r>
              <a:rPr lang="en-CA" sz="2400" b="1" dirty="0"/>
              <a:t>Memory</a:t>
            </a:r>
            <a:r>
              <a:rPr lang="en-CA" sz="2400" b="1" dirty="0">
                <a:solidFill>
                  <a:schemeClr val="accent6"/>
                </a:solidFill>
              </a:rPr>
              <a:t>.</a:t>
            </a:r>
          </a:p>
          <a:p>
            <a:pPr lvl="1"/>
            <a:r>
              <a:rPr lang="en-CA" sz="2000" dirty="0"/>
              <a:t>Random Access Memory </a:t>
            </a:r>
            <a:r>
              <a:rPr lang="en-CA" sz="2000" dirty="0">
                <a:solidFill>
                  <a:srgbClr val="00FF00"/>
                </a:solidFill>
              </a:rPr>
              <a:t>(</a:t>
            </a:r>
            <a:r>
              <a:rPr lang="en-CA" sz="2000" dirty="0"/>
              <a:t>RAM</a:t>
            </a:r>
            <a:r>
              <a:rPr lang="en-CA" sz="2000" dirty="0">
                <a:solidFill>
                  <a:srgbClr val="00FF00"/>
                </a:solidFill>
              </a:rPr>
              <a:t>)</a:t>
            </a:r>
            <a:r>
              <a:rPr lang="en-CA" sz="2000" dirty="0">
                <a:solidFill>
                  <a:schemeClr val="accent6"/>
                </a:solidFill>
              </a:rPr>
              <a:t>.</a:t>
            </a:r>
          </a:p>
          <a:p>
            <a:pPr lvl="1"/>
            <a:r>
              <a:rPr lang="en-CA" sz="2000" dirty="0"/>
              <a:t>Stores short</a:t>
            </a:r>
            <a:r>
              <a:rPr lang="en-CA" sz="2000" dirty="0">
                <a:solidFill>
                  <a:schemeClr val="accent6"/>
                </a:solidFill>
              </a:rPr>
              <a:t>-</a:t>
            </a:r>
            <a:r>
              <a:rPr lang="en-CA" sz="2000" dirty="0"/>
              <a:t>term data required for open</a:t>
            </a:r>
            <a:r>
              <a:rPr lang="en-CA" sz="2000" dirty="0">
                <a:solidFill>
                  <a:schemeClr val="accent6"/>
                </a:solidFill>
              </a:rPr>
              <a:t>.</a:t>
            </a:r>
            <a:r>
              <a:rPr lang="en-CA" sz="2000" dirty="0"/>
              <a:t> programs and processes</a:t>
            </a:r>
            <a:r>
              <a:rPr lang="en-CA" sz="2000" dirty="0">
                <a:solidFill>
                  <a:schemeClr val="accent6"/>
                </a:solidFill>
              </a:rPr>
              <a:t>.</a:t>
            </a:r>
          </a:p>
          <a:p>
            <a:pPr lvl="1"/>
            <a:r>
              <a:rPr lang="en-CA" sz="2000" dirty="0"/>
              <a:t>Volatile</a:t>
            </a:r>
            <a:r>
              <a:rPr lang="en-CA" sz="2000" dirty="0">
                <a:solidFill>
                  <a:schemeClr val="accent6"/>
                </a:solidFill>
              </a:rPr>
              <a:t>:</a:t>
            </a:r>
            <a:r>
              <a:rPr lang="en-CA" sz="2000" dirty="0"/>
              <a:t> loses contents when powered off</a:t>
            </a:r>
            <a:r>
              <a:rPr lang="en-CA" sz="2000" dirty="0">
                <a:solidFill>
                  <a:schemeClr val="accent6"/>
                </a:solidFill>
              </a:rPr>
              <a:t>.</a:t>
            </a:r>
            <a:r>
              <a:rPr lang="en-CA" sz="2000" dirty="0"/>
              <a:t> </a:t>
            </a:r>
          </a:p>
          <a:p>
            <a:pPr lvl="1"/>
            <a:endParaRPr lang="en-CA" dirty="0">
              <a:solidFill>
                <a:schemeClr val="accent6"/>
              </a:solidFill>
            </a:endParaRPr>
          </a:p>
        </p:txBody>
      </p:sp>
      <p:pic>
        <p:nvPicPr>
          <p:cNvPr id="1030" name="Picture 6" descr="Image Collections Laptop Best PNG Transparent Background, Free Download  #6776 - FreeIconsPNG">
            <a:extLst>
              <a:ext uri="{FF2B5EF4-FFF2-40B4-BE49-F238E27FC236}">
                <a16:creationId xmlns:a16="http://schemas.microsoft.com/office/drawing/2014/main" id="{CC2B6204-1DE7-8B7C-2CA6-4261A5748F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7066" y="1242324"/>
            <a:ext cx="5411499" cy="54114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0715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404C4-6AF6-D226-BD04-78FC52AE3060}"/>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C46BFD9A-DDDC-096F-123D-F5DE4B84BD93}"/>
              </a:ext>
            </a:extLst>
          </p:cNvPr>
          <p:cNvSpPr>
            <a:spLocks noGrp="1"/>
          </p:cNvSpPr>
          <p:nvPr>
            <p:ph type="title"/>
          </p:nvPr>
        </p:nvSpPr>
        <p:spPr>
          <a:xfrm>
            <a:off x="838200" y="727075"/>
            <a:ext cx="10515600" cy="657225"/>
          </a:xfrm>
        </p:spPr>
        <p:txBody>
          <a:bodyPr>
            <a:normAutofit fontScale="90000"/>
          </a:bodyPr>
          <a:lstStyle/>
          <a:p>
            <a:r>
              <a:rPr lang="en-CA" b="1" dirty="0"/>
              <a:t>Inside your computer</a:t>
            </a:r>
            <a:r>
              <a:rPr lang="en-CA" b="1" dirty="0">
                <a:solidFill>
                  <a:schemeClr val="accent6"/>
                </a:solidFill>
              </a:rPr>
              <a:t>?</a:t>
            </a:r>
          </a:p>
        </p:txBody>
      </p:sp>
      <p:sp>
        <p:nvSpPr>
          <p:cNvPr id="10" name="Content Placeholder 2">
            <a:extLst>
              <a:ext uri="{FF2B5EF4-FFF2-40B4-BE49-F238E27FC236}">
                <a16:creationId xmlns:a16="http://schemas.microsoft.com/office/drawing/2014/main" id="{8F36FFC4-ECD6-BE82-90B3-469ADF9F5639}"/>
              </a:ext>
            </a:extLst>
          </p:cNvPr>
          <p:cNvSpPr txBox="1">
            <a:spLocks/>
          </p:cNvSpPr>
          <p:nvPr/>
        </p:nvSpPr>
        <p:spPr>
          <a:xfrm>
            <a:off x="838200" y="1548039"/>
            <a:ext cx="5849470" cy="51057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chemeClr val="accent6"/>
              </a:buClr>
              <a:buFont typeface="Wingdings" panose="05000000000000000000" pitchFamily="2" charset="2"/>
              <a:buChar char="§"/>
              <a:defRPr sz="2800" kern="1200">
                <a:solidFill>
                  <a:srgbClr val="FFFFFF"/>
                </a:solidFill>
                <a:latin typeface="+mn-lt"/>
                <a:ea typeface="+mn-ea"/>
                <a:cs typeface="+mn-cs"/>
              </a:defRPr>
            </a:lvl1pPr>
            <a:lvl2pPr marL="685800" indent="-228600" algn="l" defTabSz="914400" rtl="0" eaLnBrk="1" latinLnBrk="0" hangingPunct="1">
              <a:lnSpc>
                <a:spcPct val="90000"/>
              </a:lnSpc>
              <a:spcBef>
                <a:spcPts val="500"/>
              </a:spcBef>
              <a:buClr>
                <a:schemeClr val="accent6"/>
              </a:buClr>
              <a:buFont typeface="Wingdings" panose="05000000000000000000" pitchFamily="2" charset="2"/>
              <a:buChar char="§"/>
              <a:defRPr sz="2400" kern="1200">
                <a:solidFill>
                  <a:srgbClr val="FFFFFF"/>
                </a:solidFill>
                <a:latin typeface="+mn-lt"/>
                <a:ea typeface="+mn-ea"/>
                <a:cs typeface="+mn-cs"/>
              </a:defRPr>
            </a:lvl2pPr>
            <a:lvl3pPr marL="1143000" indent="-228600" algn="l" defTabSz="914400" rtl="0" eaLnBrk="1" latinLnBrk="0" hangingPunct="1">
              <a:lnSpc>
                <a:spcPct val="90000"/>
              </a:lnSpc>
              <a:spcBef>
                <a:spcPts val="500"/>
              </a:spcBef>
              <a:buClr>
                <a:schemeClr val="accent6"/>
              </a:buClr>
              <a:buFont typeface="Wingdings" panose="05000000000000000000" pitchFamily="2" charset="2"/>
              <a:buChar char="§"/>
              <a:defRPr sz="2000" kern="1200">
                <a:solidFill>
                  <a:srgbClr val="FFFFFF"/>
                </a:solidFill>
                <a:latin typeface="+mn-lt"/>
                <a:ea typeface="+mn-ea"/>
                <a:cs typeface="+mn-cs"/>
              </a:defRPr>
            </a:lvl3pPr>
            <a:lvl4pPr marL="1600200" indent="-228600" algn="l" defTabSz="914400" rtl="0" eaLnBrk="1" latinLnBrk="0" hangingPunct="1">
              <a:lnSpc>
                <a:spcPct val="90000"/>
              </a:lnSpc>
              <a:spcBef>
                <a:spcPts val="500"/>
              </a:spcBef>
              <a:buClr>
                <a:schemeClr val="accent6"/>
              </a:buClr>
              <a:buFont typeface="Wingdings" panose="05000000000000000000" pitchFamily="2" charset="2"/>
              <a:buChar char="§"/>
              <a:defRPr sz="1800" kern="1200">
                <a:solidFill>
                  <a:srgbClr val="FFFFFF"/>
                </a:solidFill>
                <a:latin typeface="+mn-lt"/>
                <a:ea typeface="+mn-ea"/>
                <a:cs typeface="+mn-cs"/>
              </a:defRPr>
            </a:lvl4pPr>
            <a:lvl5pPr marL="2057400" indent="-228600" algn="l" defTabSz="914400" rtl="0" eaLnBrk="1" latinLnBrk="0" hangingPunct="1">
              <a:lnSpc>
                <a:spcPct val="90000"/>
              </a:lnSpc>
              <a:spcBef>
                <a:spcPts val="500"/>
              </a:spcBef>
              <a:buClr>
                <a:schemeClr val="accent6"/>
              </a:buClr>
              <a:buFont typeface="Wingdings" panose="05000000000000000000" pitchFamily="2" charset="2"/>
              <a:buChar char="§"/>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sz="2400" b="1" dirty="0"/>
              <a:t>Central Processing Unit  </a:t>
            </a:r>
            <a:r>
              <a:rPr lang="en-CA" sz="2400" b="1" dirty="0">
                <a:solidFill>
                  <a:srgbClr val="00FF00"/>
                </a:solidFill>
              </a:rPr>
              <a:t>(</a:t>
            </a:r>
            <a:r>
              <a:rPr lang="en-CA" sz="2400" b="1" dirty="0"/>
              <a:t>CPU</a:t>
            </a:r>
            <a:r>
              <a:rPr lang="en-CA" sz="2400" b="1" dirty="0">
                <a:solidFill>
                  <a:srgbClr val="00FF00"/>
                </a:solidFill>
              </a:rPr>
              <a:t>)</a:t>
            </a:r>
            <a:r>
              <a:rPr lang="en-CA" sz="2400" b="1" dirty="0">
                <a:solidFill>
                  <a:schemeClr val="accent6"/>
                </a:solidFill>
              </a:rPr>
              <a:t>.</a:t>
            </a:r>
          </a:p>
          <a:p>
            <a:pPr lvl="1"/>
            <a:r>
              <a:rPr lang="en-US" sz="2000" dirty="0"/>
              <a:t>Runs the programs</a:t>
            </a:r>
            <a:r>
              <a:rPr lang="en-US" sz="2000" dirty="0">
                <a:solidFill>
                  <a:schemeClr val="accent6"/>
                </a:solidFill>
              </a:rPr>
              <a:t>,</a:t>
            </a:r>
            <a:r>
              <a:rPr lang="en-US" sz="2000" dirty="0"/>
              <a:t> including the operating system</a:t>
            </a:r>
            <a:r>
              <a:rPr lang="en-CA" sz="2000" dirty="0">
                <a:solidFill>
                  <a:schemeClr val="accent6"/>
                </a:solidFill>
              </a:rPr>
              <a:t>.</a:t>
            </a:r>
            <a:endParaRPr lang="en-US" sz="2000" dirty="0"/>
          </a:p>
          <a:p>
            <a:pPr lvl="1"/>
            <a:r>
              <a:rPr lang="en-US" sz="2000" dirty="0"/>
              <a:t>Reads and writes the data between storage and memory</a:t>
            </a:r>
            <a:r>
              <a:rPr lang="en-CA" sz="2000" dirty="0">
                <a:solidFill>
                  <a:schemeClr val="accent6"/>
                </a:solidFill>
              </a:rPr>
              <a:t>.</a:t>
            </a:r>
            <a:endParaRPr lang="en-US" sz="2000" dirty="0"/>
          </a:p>
          <a:p>
            <a:pPr lvl="1"/>
            <a:r>
              <a:rPr lang="en-US" sz="2000" dirty="0"/>
              <a:t>Composed of billions of miniature electronic switches called transistors</a:t>
            </a:r>
            <a:r>
              <a:rPr lang="en-CA" sz="2000" dirty="0">
                <a:solidFill>
                  <a:schemeClr val="accent6"/>
                </a:solidFill>
              </a:rPr>
              <a:t>.</a:t>
            </a:r>
            <a:endParaRPr lang="en-US" sz="2000" dirty="0"/>
          </a:p>
          <a:p>
            <a:pPr lvl="1"/>
            <a:r>
              <a:rPr lang="en-US" sz="2000" dirty="0"/>
              <a:t>Popular examples include Intel</a:t>
            </a:r>
            <a:r>
              <a:rPr lang="en-US" sz="2000" dirty="0">
                <a:solidFill>
                  <a:schemeClr val="accent6"/>
                </a:solidFill>
              </a:rPr>
              <a:t>’</a:t>
            </a:r>
            <a:r>
              <a:rPr lang="en-US" sz="2000" dirty="0"/>
              <a:t>s Core i7 and AMD</a:t>
            </a:r>
            <a:r>
              <a:rPr lang="en-US" sz="2000" dirty="0">
                <a:solidFill>
                  <a:schemeClr val="accent6"/>
                </a:solidFill>
              </a:rPr>
              <a:t>’</a:t>
            </a:r>
            <a:r>
              <a:rPr lang="en-US" sz="2000" dirty="0"/>
              <a:t>s Ryzen 7</a:t>
            </a:r>
            <a:r>
              <a:rPr lang="en-CA" sz="2000" dirty="0">
                <a:solidFill>
                  <a:schemeClr val="accent6"/>
                </a:solidFill>
              </a:rPr>
              <a:t>.</a:t>
            </a:r>
          </a:p>
          <a:p>
            <a:r>
              <a:rPr lang="en-CA" sz="2400" b="1" dirty="0"/>
              <a:t>Clock</a:t>
            </a:r>
            <a:r>
              <a:rPr lang="en-CA" sz="2400" b="1" dirty="0">
                <a:solidFill>
                  <a:schemeClr val="accent6"/>
                </a:solidFill>
              </a:rPr>
              <a:t>.</a:t>
            </a:r>
          </a:p>
          <a:p>
            <a:pPr lvl="1"/>
            <a:r>
              <a:rPr lang="en-US" sz="2000" dirty="0"/>
              <a:t>Controls the rate at which processors execute instructions </a:t>
            </a:r>
            <a:r>
              <a:rPr lang="en-US" sz="2000" dirty="0">
                <a:solidFill>
                  <a:srgbClr val="00FF00"/>
                </a:solidFill>
              </a:rPr>
              <a:t>(</a:t>
            </a:r>
            <a:r>
              <a:rPr lang="en-US" sz="2000" dirty="0"/>
              <a:t>recall</a:t>
            </a:r>
            <a:r>
              <a:rPr lang="en-US" sz="2000" dirty="0">
                <a:solidFill>
                  <a:schemeClr val="accent6"/>
                </a:solidFill>
              </a:rPr>
              <a:t>:</a:t>
            </a:r>
            <a:r>
              <a:rPr lang="en-US" sz="2000" dirty="0"/>
              <a:t> programming is just a series of instructions</a:t>
            </a:r>
            <a:r>
              <a:rPr lang="en-US" sz="2000" dirty="0">
                <a:solidFill>
                  <a:srgbClr val="00FF00"/>
                </a:solidFill>
              </a:rPr>
              <a:t>)</a:t>
            </a:r>
            <a:r>
              <a:rPr lang="en-CA" sz="2000" dirty="0">
                <a:solidFill>
                  <a:schemeClr val="accent6"/>
                </a:solidFill>
              </a:rPr>
              <a:t>.</a:t>
            </a:r>
            <a:endParaRPr lang="en-US" sz="2000" dirty="0"/>
          </a:p>
          <a:p>
            <a:pPr lvl="1"/>
            <a:r>
              <a:rPr lang="en-US" sz="2000" dirty="0"/>
              <a:t>Modern computers have clocks that beat around 4 GHz </a:t>
            </a:r>
            <a:r>
              <a:rPr lang="en-US" sz="2000" dirty="0">
                <a:solidFill>
                  <a:srgbClr val="00FF00"/>
                </a:solidFill>
              </a:rPr>
              <a:t>(</a:t>
            </a:r>
            <a:r>
              <a:rPr lang="en-US" sz="2000" dirty="0"/>
              <a:t>4 billion times per second</a:t>
            </a:r>
            <a:r>
              <a:rPr lang="en-US" sz="2000" dirty="0">
                <a:solidFill>
                  <a:schemeClr val="accent6"/>
                </a:solidFill>
              </a:rPr>
              <a:t>!</a:t>
            </a:r>
            <a:r>
              <a:rPr lang="en-US" sz="2000" dirty="0">
                <a:solidFill>
                  <a:srgbClr val="00FF00"/>
                </a:solidFill>
              </a:rPr>
              <a:t>)</a:t>
            </a:r>
            <a:r>
              <a:rPr lang="en-CA" sz="2000" dirty="0">
                <a:solidFill>
                  <a:schemeClr val="accent6"/>
                </a:solidFill>
              </a:rPr>
              <a:t>.</a:t>
            </a:r>
            <a:r>
              <a:rPr lang="en-CA" sz="2000" dirty="0"/>
              <a:t> </a:t>
            </a:r>
          </a:p>
          <a:p>
            <a:pPr lvl="1"/>
            <a:endParaRPr lang="en-CA" dirty="0">
              <a:solidFill>
                <a:schemeClr val="accent6"/>
              </a:solidFill>
            </a:endParaRPr>
          </a:p>
        </p:txBody>
      </p:sp>
      <p:pic>
        <p:nvPicPr>
          <p:cNvPr id="1030" name="Picture 6" descr="Image Collections Laptop Best PNG Transparent Background, Free Download  #6776 - FreeIconsPNG">
            <a:extLst>
              <a:ext uri="{FF2B5EF4-FFF2-40B4-BE49-F238E27FC236}">
                <a16:creationId xmlns:a16="http://schemas.microsoft.com/office/drawing/2014/main" id="{9C6100D4-C38C-58C2-AC2D-437C211CC2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7066" y="1242324"/>
            <a:ext cx="5411499" cy="541149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CFEA6F3-BEA8-85DF-517F-247E3B990FEB}"/>
              </a:ext>
            </a:extLst>
          </p:cNvPr>
          <p:cNvSpPr txBox="1"/>
          <p:nvPr/>
        </p:nvSpPr>
        <p:spPr>
          <a:xfrm>
            <a:off x="8034108" y="658560"/>
            <a:ext cx="3935073" cy="1015663"/>
          </a:xfrm>
          <a:prstGeom prst="rect">
            <a:avLst/>
          </a:prstGeom>
          <a:noFill/>
          <a:ln>
            <a:solidFill>
              <a:schemeClr val="accent6"/>
            </a:solidFill>
          </a:ln>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CA" sz="2000" dirty="0">
                <a:solidFill>
                  <a:srgbClr val="FFFFFF"/>
                </a:solidFill>
              </a:rPr>
              <a:t>World records for the number of transistors on a chip are held by U of T researchers in ECE</a:t>
            </a:r>
            <a:r>
              <a:rPr lang="en-CA" sz="2000" dirty="0">
                <a:solidFill>
                  <a:srgbClr val="00FF00"/>
                </a:solidFill>
              </a:rPr>
              <a:t>!</a:t>
            </a:r>
          </a:p>
        </p:txBody>
      </p:sp>
    </p:spTree>
    <p:extLst>
      <p:ext uri="{BB962C8B-B14F-4D97-AF65-F5344CB8AC3E}">
        <p14:creationId xmlns:p14="http://schemas.microsoft.com/office/powerpoint/2010/main" val="2542854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3BD80-DFC6-3F7D-6FE6-A9FBF3F27EC3}"/>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AEDE9A12-01B1-0D51-C1A4-258EABC677F7}"/>
              </a:ext>
            </a:extLst>
          </p:cNvPr>
          <p:cNvSpPr>
            <a:spLocks noGrp="1"/>
          </p:cNvSpPr>
          <p:nvPr>
            <p:ph type="title"/>
          </p:nvPr>
        </p:nvSpPr>
        <p:spPr/>
        <p:txBody>
          <a:bodyPr>
            <a:normAutofit fontScale="90000"/>
          </a:bodyPr>
          <a:lstStyle/>
          <a:p>
            <a:r>
              <a:rPr lang="en-CA" b="1" dirty="0"/>
              <a:t>Inside your computer</a:t>
            </a:r>
            <a:r>
              <a:rPr lang="en-CA" b="1" dirty="0">
                <a:solidFill>
                  <a:schemeClr val="accent6"/>
                </a:solidFill>
              </a:rPr>
              <a:t>?</a:t>
            </a:r>
          </a:p>
        </p:txBody>
      </p:sp>
      <p:sp>
        <p:nvSpPr>
          <p:cNvPr id="3" name="Content Placeholder 2">
            <a:extLst>
              <a:ext uri="{FF2B5EF4-FFF2-40B4-BE49-F238E27FC236}">
                <a16:creationId xmlns:a16="http://schemas.microsoft.com/office/drawing/2014/main" id="{BC528BB0-CE0F-6F04-2AF9-60BC1B6554D1}"/>
              </a:ext>
            </a:extLst>
          </p:cNvPr>
          <p:cNvSpPr>
            <a:spLocks noGrp="1"/>
          </p:cNvSpPr>
          <p:nvPr>
            <p:ph idx="1"/>
          </p:nvPr>
        </p:nvSpPr>
        <p:spPr>
          <a:xfrm>
            <a:off x="838200" y="1825624"/>
            <a:ext cx="6166760" cy="3616633"/>
          </a:xfrm>
        </p:spPr>
        <p:txBody>
          <a:bodyPr>
            <a:normAutofit fontScale="92500" lnSpcReduction="10000"/>
          </a:bodyPr>
          <a:lstStyle/>
          <a:p>
            <a:r>
              <a:rPr lang="en-CA" sz="2400" b="1" dirty="0"/>
              <a:t>Graphics Processing Unit  </a:t>
            </a:r>
            <a:r>
              <a:rPr lang="en-CA" sz="2400" b="1" dirty="0">
                <a:solidFill>
                  <a:srgbClr val="00FF00"/>
                </a:solidFill>
              </a:rPr>
              <a:t>(</a:t>
            </a:r>
            <a:r>
              <a:rPr lang="en-CA" sz="2400" b="1" dirty="0"/>
              <a:t>CPU</a:t>
            </a:r>
            <a:r>
              <a:rPr lang="en-CA" sz="2400" b="1" dirty="0">
                <a:solidFill>
                  <a:srgbClr val="00FF00"/>
                </a:solidFill>
              </a:rPr>
              <a:t>)</a:t>
            </a:r>
            <a:r>
              <a:rPr lang="en-CA" sz="2400" b="1" dirty="0">
                <a:solidFill>
                  <a:schemeClr val="accent6"/>
                </a:solidFill>
              </a:rPr>
              <a:t>.</a:t>
            </a:r>
          </a:p>
          <a:p>
            <a:pPr lvl="1"/>
            <a:r>
              <a:rPr lang="en-US" sz="2000" dirty="0"/>
              <a:t>A processor originally designed to render images by doing the same math operation on many pixels at once</a:t>
            </a:r>
            <a:r>
              <a:rPr lang="en-CA" sz="2000" dirty="0">
                <a:solidFill>
                  <a:schemeClr val="accent2"/>
                </a:solidFill>
              </a:rPr>
              <a:t>.</a:t>
            </a:r>
          </a:p>
          <a:p>
            <a:pPr lvl="1"/>
            <a:r>
              <a:rPr lang="en-US" sz="2000" dirty="0">
                <a:solidFill>
                  <a:schemeClr val="tx1"/>
                </a:solidFill>
              </a:rPr>
              <a:t>Training neural networks is dominated by matrix multiplications and vector operations </a:t>
            </a:r>
            <a:r>
              <a:rPr lang="en-US" sz="2000" dirty="0">
                <a:solidFill>
                  <a:srgbClr val="00FF00"/>
                </a:solidFill>
              </a:rPr>
              <a:t>(</a:t>
            </a:r>
            <a:r>
              <a:rPr lang="en-US" sz="2000" dirty="0">
                <a:solidFill>
                  <a:schemeClr val="tx1"/>
                </a:solidFill>
              </a:rPr>
              <a:t>linear algebra</a:t>
            </a:r>
            <a:r>
              <a:rPr lang="en-US" sz="2000" dirty="0">
                <a:solidFill>
                  <a:srgbClr val="00FF00"/>
                </a:solidFill>
              </a:rPr>
              <a:t>)</a:t>
            </a:r>
            <a:r>
              <a:rPr lang="en-US" sz="2000" dirty="0">
                <a:solidFill>
                  <a:schemeClr val="accent2"/>
                </a:solidFill>
              </a:rPr>
              <a:t>,</a:t>
            </a:r>
            <a:r>
              <a:rPr lang="en-US" sz="2000" dirty="0">
                <a:solidFill>
                  <a:schemeClr val="tx1"/>
                </a:solidFill>
              </a:rPr>
              <a:t> which map extremely well to GPU parallel hardware</a:t>
            </a:r>
            <a:r>
              <a:rPr lang="en-US" sz="2000" dirty="0">
                <a:solidFill>
                  <a:schemeClr val="accent2"/>
                </a:solidFill>
              </a:rPr>
              <a:t>.</a:t>
            </a:r>
            <a:endParaRPr lang="en-CA" sz="2000" dirty="0">
              <a:solidFill>
                <a:schemeClr val="accent2"/>
              </a:solidFill>
            </a:endParaRPr>
          </a:p>
          <a:p>
            <a:pPr lvl="1"/>
            <a:r>
              <a:rPr lang="en-US" sz="2000" dirty="0">
                <a:solidFill>
                  <a:schemeClr val="tx1"/>
                </a:solidFill>
              </a:rPr>
              <a:t>A CPU has a small number of powerful cores optimized for general</a:t>
            </a:r>
            <a:r>
              <a:rPr lang="en-US" sz="2000" dirty="0">
                <a:solidFill>
                  <a:schemeClr val="accent2"/>
                </a:solidFill>
              </a:rPr>
              <a:t>-</a:t>
            </a:r>
            <a:r>
              <a:rPr lang="en-US" sz="2000" dirty="0">
                <a:solidFill>
                  <a:schemeClr val="tx1"/>
                </a:solidFill>
              </a:rPr>
              <a:t>purpose</a:t>
            </a:r>
            <a:r>
              <a:rPr lang="en-US" sz="2000" dirty="0">
                <a:solidFill>
                  <a:schemeClr val="accent2"/>
                </a:solidFill>
              </a:rPr>
              <a:t>,</a:t>
            </a:r>
            <a:r>
              <a:rPr lang="en-US" sz="2000" dirty="0">
                <a:solidFill>
                  <a:schemeClr val="tx1"/>
                </a:solidFill>
              </a:rPr>
              <a:t> branching tasks </a:t>
            </a:r>
            <a:r>
              <a:rPr lang="en-US" sz="2000" dirty="0">
                <a:solidFill>
                  <a:srgbClr val="00FF00"/>
                </a:solidFill>
              </a:rPr>
              <a:t>(</a:t>
            </a:r>
            <a:r>
              <a:rPr lang="en-US" sz="2000" dirty="0">
                <a:solidFill>
                  <a:schemeClr val="tx1"/>
                </a:solidFill>
              </a:rPr>
              <a:t>running an OS</a:t>
            </a:r>
            <a:r>
              <a:rPr lang="en-US" sz="2000" dirty="0">
                <a:solidFill>
                  <a:schemeClr val="accent2"/>
                </a:solidFill>
              </a:rPr>
              <a:t>,</a:t>
            </a:r>
            <a:r>
              <a:rPr lang="en-US" sz="2000" dirty="0">
                <a:solidFill>
                  <a:schemeClr val="tx1"/>
                </a:solidFill>
              </a:rPr>
              <a:t> game logic</a:t>
            </a:r>
            <a:r>
              <a:rPr lang="en-US" sz="2000" dirty="0">
                <a:solidFill>
                  <a:schemeClr val="accent2"/>
                </a:solidFill>
              </a:rPr>
              <a:t>,</a:t>
            </a:r>
            <a:r>
              <a:rPr lang="en-US" sz="2000" dirty="0">
                <a:solidFill>
                  <a:schemeClr val="tx1"/>
                </a:solidFill>
              </a:rPr>
              <a:t> control flow</a:t>
            </a:r>
            <a:r>
              <a:rPr lang="en-US" sz="2000" dirty="0">
                <a:solidFill>
                  <a:srgbClr val="00FF00"/>
                </a:solidFill>
              </a:rPr>
              <a:t>)</a:t>
            </a:r>
            <a:r>
              <a:rPr lang="en-US" sz="2000" dirty="0">
                <a:solidFill>
                  <a:schemeClr val="accent2"/>
                </a:solidFill>
              </a:rPr>
              <a:t>,</a:t>
            </a:r>
            <a:r>
              <a:rPr lang="en-US" sz="2000" dirty="0">
                <a:solidFill>
                  <a:schemeClr val="tx1"/>
                </a:solidFill>
              </a:rPr>
              <a:t> while a GPU has many more smaller cores optimized for massively parallel math </a:t>
            </a:r>
            <a:r>
              <a:rPr lang="en-US" sz="2000" dirty="0">
                <a:solidFill>
                  <a:srgbClr val="00FF00"/>
                </a:solidFill>
              </a:rPr>
              <a:t>(</a:t>
            </a:r>
            <a:r>
              <a:rPr lang="en-US" sz="2000" dirty="0">
                <a:solidFill>
                  <a:schemeClr val="tx1"/>
                </a:solidFill>
              </a:rPr>
              <a:t>like the matrix operations that dominate deep learning</a:t>
            </a:r>
            <a:r>
              <a:rPr lang="en-US" sz="2000" dirty="0">
                <a:solidFill>
                  <a:srgbClr val="00FF00"/>
                </a:solidFill>
              </a:rPr>
              <a:t>)</a:t>
            </a:r>
            <a:r>
              <a:rPr lang="en-US" sz="2000" dirty="0">
                <a:solidFill>
                  <a:schemeClr val="accent2"/>
                </a:solidFill>
              </a:rPr>
              <a:t>.</a:t>
            </a:r>
            <a:endParaRPr lang="en-CA" sz="2000" dirty="0">
              <a:solidFill>
                <a:schemeClr val="accent2"/>
              </a:solidFill>
            </a:endParaRPr>
          </a:p>
        </p:txBody>
      </p:sp>
      <p:pic>
        <p:nvPicPr>
          <p:cNvPr id="3074" name="Picture 2" descr="Nvidia RTX Graphic Card PNG Image Background">
            <a:extLst>
              <a:ext uri="{FF2B5EF4-FFF2-40B4-BE49-F238E27FC236}">
                <a16:creationId xmlns:a16="http://schemas.microsoft.com/office/drawing/2014/main" id="{9006FD92-B802-B12D-3813-055CF7FFAEB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42" t="8066" r="6726" b="9512"/>
          <a:stretch>
            <a:fillRect/>
          </a:stretch>
        </p:blipFill>
        <p:spPr bwMode="auto">
          <a:xfrm>
            <a:off x="7011430" y="555118"/>
            <a:ext cx="4672899" cy="290790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36B0B8C5-239B-3AC8-418E-C89A0C059C7F}"/>
              </a:ext>
            </a:extLst>
          </p:cNvPr>
          <p:cNvGrpSpPr/>
          <p:nvPr/>
        </p:nvGrpSpPr>
        <p:grpSpPr>
          <a:xfrm>
            <a:off x="7005124" y="3429000"/>
            <a:ext cx="4951442" cy="3263633"/>
            <a:chOff x="7005124" y="3429000"/>
            <a:chExt cx="4951442" cy="3263633"/>
          </a:xfrm>
        </p:grpSpPr>
        <p:pic>
          <p:nvPicPr>
            <p:cNvPr id="5" name="Picture 4">
              <a:extLst>
                <a:ext uri="{FF2B5EF4-FFF2-40B4-BE49-F238E27FC236}">
                  <a16:creationId xmlns:a16="http://schemas.microsoft.com/office/drawing/2014/main" id="{913F1C9E-4B2B-F0F5-30F8-DACCE91B1C19}"/>
                </a:ext>
              </a:extLst>
            </p:cNvPr>
            <p:cNvPicPr>
              <a:picLocks noChangeAspect="1"/>
            </p:cNvPicPr>
            <p:nvPr/>
          </p:nvPicPr>
          <p:blipFill>
            <a:blip r:embed="rId3"/>
            <a:stretch>
              <a:fillRect/>
            </a:stretch>
          </p:blipFill>
          <p:spPr>
            <a:xfrm>
              <a:off x="7005124" y="3508490"/>
              <a:ext cx="4951442" cy="3184143"/>
            </a:xfrm>
            <a:prstGeom prst="rect">
              <a:avLst/>
            </a:prstGeom>
          </p:spPr>
        </p:pic>
        <p:sp>
          <p:nvSpPr>
            <p:cNvPr id="6" name="Rectangle 5">
              <a:extLst>
                <a:ext uri="{FF2B5EF4-FFF2-40B4-BE49-F238E27FC236}">
                  <a16:creationId xmlns:a16="http://schemas.microsoft.com/office/drawing/2014/main" id="{209E8BB5-4A88-E8E1-B2A3-D402FF517B34}"/>
                </a:ext>
              </a:extLst>
            </p:cNvPr>
            <p:cNvSpPr/>
            <p:nvPr/>
          </p:nvSpPr>
          <p:spPr>
            <a:xfrm>
              <a:off x="11016944" y="3429000"/>
              <a:ext cx="870256" cy="51080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grpSp>
      <p:sp>
        <p:nvSpPr>
          <p:cNvPr id="8" name="TextBox 7">
            <a:extLst>
              <a:ext uri="{FF2B5EF4-FFF2-40B4-BE49-F238E27FC236}">
                <a16:creationId xmlns:a16="http://schemas.microsoft.com/office/drawing/2014/main" id="{62BDE00C-5F50-9D0B-B505-F90EA85E9C6D}"/>
              </a:ext>
            </a:extLst>
          </p:cNvPr>
          <p:cNvSpPr txBox="1"/>
          <p:nvPr/>
        </p:nvSpPr>
        <p:spPr>
          <a:xfrm>
            <a:off x="9480845" y="3648803"/>
            <a:ext cx="2308389" cy="646331"/>
          </a:xfrm>
          <a:prstGeom prst="rect">
            <a:avLst/>
          </a:prstGeom>
          <a:noFill/>
        </p:spPr>
        <p:txBody>
          <a:bodyPr wrap="none" rtlCol="0">
            <a:spAutoFit/>
          </a:bodyPr>
          <a:lstStyle/>
          <a:p>
            <a:r>
              <a:rPr lang="en-CA" b="1" dirty="0"/>
              <a:t>Nvidia RTX 2080 Ti</a:t>
            </a:r>
            <a:r>
              <a:rPr lang="en-CA" b="1" dirty="0">
                <a:solidFill>
                  <a:schemeClr val="accent6"/>
                </a:solidFill>
              </a:rPr>
              <a:t>.</a:t>
            </a:r>
          </a:p>
          <a:p>
            <a:r>
              <a:rPr lang="en-CA" b="1" dirty="0">
                <a:solidFill>
                  <a:schemeClr val="accent6"/>
                </a:solidFill>
              </a:rPr>
              <a:t>(</a:t>
            </a:r>
            <a:r>
              <a:rPr lang="en-CA" b="1" dirty="0"/>
              <a:t>11 GB</a:t>
            </a:r>
            <a:r>
              <a:rPr lang="en-CA" b="1" dirty="0">
                <a:solidFill>
                  <a:schemeClr val="accent6"/>
                </a:solidFill>
              </a:rPr>
              <a:t>)</a:t>
            </a:r>
          </a:p>
        </p:txBody>
      </p:sp>
      <p:pic>
        <p:nvPicPr>
          <p:cNvPr id="3076" name="Picture 4" descr="GPU box art in the 90's was utterly crazy : r/pcmasterrace">
            <a:extLst>
              <a:ext uri="{FF2B5EF4-FFF2-40B4-BE49-F238E27FC236}">
                <a16:creationId xmlns:a16="http://schemas.microsoft.com/office/drawing/2014/main" id="{E2628694-209B-8DE2-2516-25BE4BA194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4625" y="5475280"/>
            <a:ext cx="1871176" cy="124257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99E35F83-A1C3-5DB9-0E82-ACC01529BA87}"/>
              </a:ext>
            </a:extLst>
          </p:cNvPr>
          <p:cNvSpPr txBox="1"/>
          <p:nvPr/>
        </p:nvSpPr>
        <p:spPr>
          <a:xfrm>
            <a:off x="3434237" y="5471543"/>
            <a:ext cx="1784335" cy="646331"/>
          </a:xfrm>
          <a:prstGeom prst="rect">
            <a:avLst/>
          </a:prstGeom>
          <a:noFill/>
        </p:spPr>
        <p:txBody>
          <a:bodyPr wrap="none" rtlCol="0">
            <a:spAutoFit/>
          </a:bodyPr>
          <a:lstStyle/>
          <a:p>
            <a:r>
              <a:rPr lang="en-CA" b="1" dirty="0"/>
              <a:t>3dfx Voodoo2</a:t>
            </a:r>
            <a:r>
              <a:rPr lang="en-CA" b="1" dirty="0">
                <a:solidFill>
                  <a:schemeClr val="accent6"/>
                </a:solidFill>
              </a:rPr>
              <a:t>.</a:t>
            </a:r>
          </a:p>
          <a:p>
            <a:r>
              <a:rPr lang="en-CA" b="1" dirty="0">
                <a:solidFill>
                  <a:schemeClr val="accent6"/>
                </a:solidFill>
              </a:rPr>
              <a:t>(</a:t>
            </a:r>
            <a:r>
              <a:rPr lang="en-CA" b="1" dirty="0"/>
              <a:t>8 MB</a:t>
            </a:r>
            <a:r>
              <a:rPr lang="en-CA" b="1" dirty="0">
                <a:solidFill>
                  <a:schemeClr val="accent6"/>
                </a:solidFill>
              </a:rPr>
              <a:t>)</a:t>
            </a:r>
          </a:p>
        </p:txBody>
      </p:sp>
    </p:spTree>
    <p:extLst>
      <p:ext uri="{BB962C8B-B14F-4D97-AF65-F5344CB8AC3E}">
        <p14:creationId xmlns:p14="http://schemas.microsoft.com/office/powerpoint/2010/main" val="4209572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07942-236B-596E-2248-A9C51F938C8F}"/>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796DF3E-2347-869F-4B73-C0019308DCD7}"/>
              </a:ext>
            </a:extLst>
          </p:cNvPr>
          <p:cNvSpPr>
            <a:spLocks noGrp="1"/>
          </p:cNvSpPr>
          <p:nvPr>
            <p:ph type="title"/>
          </p:nvPr>
        </p:nvSpPr>
        <p:spPr>
          <a:xfrm>
            <a:off x="838200" y="727075"/>
            <a:ext cx="10515600" cy="657225"/>
          </a:xfrm>
        </p:spPr>
        <p:txBody>
          <a:bodyPr>
            <a:normAutofit fontScale="90000"/>
          </a:bodyPr>
          <a:lstStyle/>
          <a:p>
            <a:r>
              <a:rPr lang="en-CA" b="1" dirty="0"/>
              <a:t>Outside your computer</a:t>
            </a:r>
            <a:r>
              <a:rPr lang="en-CA" b="1" dirty="0">
                <a:solidFill>
                  <a:schemeClr val="accent6"/>
                </a:solidFill>
              </a:rPr>
              <a:t>?</a:t>
            </a:r>
          </a:p>
        </p:txBody>
      </p:sp>
      <p:sp>
        <p:nvSpPr>
          <p:cNvPr id="10" name="Content Placeholder 2">
            <a:extLst>
              <a:ext uri="{FF2B5EF4-FFF2-40B4-BE49-F238E27FC236}">
                <a16:creationId xmlns:a16="http://schemas.microsoft.com/office/drawing/2014/main" id="{4375A518-7421-9F3E-5C7E-9FF6CC22EAD9}"/>
              </a:ext>
            </a:extLst>
          </p:cNvPr>
          <p:cNvSpPr txBox="1">
            <a:spLocks/>
          </p:cNvSpPr>
          <p:nvPr/>
        </p:nvSpPr>
        <p:spPr>
          <a:xfrm>
            <a:off x="838200" y="1548040"/>
            <a:ext cx="5849470" cy="506086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Clr>
                <a:schemeClr val="accent6"/>
              </a:buClr>
              <a:buFont typeface="Wingdings" panose="05000000000000000000" pitchFamily="2" charset="2"/>
              <a:buChar char="§"/>
              <a:defRPr sz="2800" kern="1200">
                <a:solidFill>
                  <a:srgbClr val="FFFFFF"/>
                </a:solidFill>
                <a:latin typeface="+mn-lt"/>
                <a:ea typeface="+mn-ea"/>
                <a:cs typeface="+mn-cs"/>
              </a:defRPr>
            </a:lvl1pPr>
            <a:lvl2pPr marL="685800" indent="-228600" algn="l" defTabSz="914400" rtl="0" eaLnBrk="1" latinLnBrk="0" hangingPunct="1">
              <a:lnSpc>
                <a:spcPct val="90000"/>
              </a:lnSpc>
              <a:spcBef>
                <a:spcPts val="500"/>
              </a:spcBef>
              <a:buClr>
                <a:schemeClr val="accent6"/>
              </a:buClr>
              <a:buFont typeface="Wingdings" panose="05000000000000000000" pitchFamily="2" charset="2"/>
              <a:buChar char="§"/>
              <a:defRPr sz="2400" kern="1200">
                <a:solidFill>
                  <a:srgbClr val="FFFFFF"/>
                </a:solidFill>
                <a:latin typeface="+mn-lt"/>
                <a:ea typeface="+mn-ea"/>
                <a:cs typeface="+mn-cs"/>
              </a:defRPr>
            </a:lvl2pPr>
            <a:lvl3pPr marL="1143000" indent="-228600" algn="l" defTabSz="914400" rtl="0" eaLnBrk="1" latinLnBrk="0" hangingPunct="1">
              <a:lnSpc>
                <a:spcPct val="90000"/>
              </a:lnSpc>
              <a:spcBef>
                <a:spcPts val="500"/>
              </a:spcBef>
              <a:buClr>
                <a:schemeClr val="accent6"/>
              </a:buClr>
              <a:buFont typeface="Wingdings" panose="05000000000000000000" pitchFamily="2" charset="2"/>
              <a:buChar char="§"/>
              <a:defRPr sz="2000" kern="1200">
                <a:solidFill>
                  <a:srgbClr val="FFFFFF"/>
                </a:solidFill>
                <a:latin typeface="+mn-lt"/>
                <a:ea typeface="+mn-ea"/>
                <a:cs typeface="+mn-cs"/>
              </a:defRPr>
            </a:lvl3pPr>
            <a:lvl4pPr marL="1600200" indent="-228600" algn="l" defTabSz="914400" rtl="0" eaLnBrk="1" latinLnBrk="0" hangingPunct="1">
              <a:lnSpc>
                <a:spcPct val="90000"/>
              </a:lnSpc>
              <a:spcBef>
                <a:spcPts val="500"/>
              </a:spcBef>
              <a:buClr>
                <a:schemeClr val="accent6"/>
              </a:buClr>
              <a:buFont typeface="Wingdings" panose="05000000000000000000" pitchFamily="2" charset="2"/>
              <a:buChar char="§"/>
              <a:defRPr sz="1800" kern="1200">
                <a:solidFill>
                  <a:srgbClr val="FFFFFF"/>
                </a:solidFill>
                <a:latin typeface="+mn-lt"/>
                <a:ea typeface="+mn-ea"/>
                <a:cs typeface="+mn-cs"/>
              </a:defRPr>
            </a:lvl4pPr>
            <a:lvl5pPr marL="2057400" indent="-228600" algn="l" defTabSz="914400" rtl="0" eaLnBrk="1" latinLnBrk="0" hangingPunct="1">
              <a:lnSpc>
                <a:spcPct val="90000"/>
              </a:lnSpc>
              <a:spcBef>
                <a:spcPts val="500"/>
              </a:spcBef>
              <a:buClr>
                <a:schemeClr val="accent6"/>
              </a:buClr>
              <a:buFont typeface="Wingdings" panose="05000000000000000000" pitchFamily="2" charset="2"/>
              <a:buChar char="§"/>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sz="2400" b="1" dirty="0"/>
              <a:t>Input Devices</a:t>
            </a:r>
            <a:r>
              <a:rPr lang="en-CA" sz="2400" b="1" dirty="0">
                <a:solidFill>
                  <a:schemeClr val="accent6"/>
                </a:solidFill>
              </a:rPr>
              <a:t>.</a:t>
            </a:r>
          </a:p>
          <a:p>
            <a:pPr lvl="1"/>
            <a:r>
              <a:rPr lang="en-US" sz="2000" dirty="0"/>
              <a:t>Keyboard</a:t>
            </a:r>
            <a:r>
              <a:rPr lang="en-US" sz="2000" dirty="0">
                <a:solidFill>
                  <a:schemeClr val="accent6"/>
                </a:solidFill>
              </a:rPr>
              <a:t>.</a:t>
            </a:r>
          </a:p>
          <a:p>
            <a:pPr lvl="1"/>
            <a:r>
              <a:rPr lang="en-US" sz="2000" dirty="0"/>
              <a:t>Mouse</a:t>
            </a:r>
            <a:r>
              <a:rPr lang="en-US" sz="2000" dirty="0">
                <a:solidFill>
                  <a:schemeClr val="accent6"/>
                </a:solidFill>
              </a:rPr>
              <a:t>.</a:t>
            </a:r>
          </a:p>
          <a:p>
            <a:pPr lvl="1"/>
            <a:r>
              <a:rPr lang="en-US" sz="2000" dirty="0"/>
              <a:t>Trackpad</a:t>
            </a:r>
            <a:r>
              <a:rPr lang="en-US" sz="2000" dirty="0">
                <a:solidFill>
                  <a:schemeClr val="accent6"/>
                </a:solidFill>
              </a:rPr>
              <a:t>.</a:t>
            </a:r>
          </a:p>
          <a:p>
            <a:pPr lvl="1"/>
            <a:r>
              <a:rPr lang="en-US" sz="2000" dirty="0"/>
              <a:t>Touch screen</a:t>
            </a:r>
            <a:r>
              <a:rPr lang="en-US" sz="2000" dirty="0">
                <a:solidFill>
                  <a:schemeClr val="accent6"/>
                </a:solidFill>
              </a:rPr>
              <a:t>.</a:t>
            </a:r>
          </a:p>
          <a:p>
            <a:pPr lvl="1"/>
            <a:r>
              <a:rPr lang="en-US" sz="2000" dirty="0"/>
              <a:t>Webcam</a:t>
            </a:r>
            <a:r>
              <a:rPr lang="en-US" sz="2000" dirty="0">
                <a:solidFill>
                  <a:schemeClr val="accent6"/>
                </a:solidFill>
              </a:rPr>
              <a:t>.</a:t>
            </a:r>
          </a:p>
          <a:p>
            <a:pPr lvl="1"/>
            <a:r>
              <a:rPr lang="en-US" sz="2000" dirty="0"/>
              <a:t>Gesture trackers</a:t>
            </a:r>
            <a:r>
              <a:rPr lang="en-US" sz="2000" dirty="0">
                <a:solidFill>
                  <a:schemeClr val="accent6"/>
                </a:solidFill>
              </a:rPr>
              <a:t>.</a:t>
            </a:r>
          </a:p>
          <a:p>
            <a:pPr lvl="1"/>
            <a:r>
              <a:rPr lang="en-US" sz="2000" dirty="0"/>
              <a:t>Eye trackers</a:t>
            </a:r>
            <a:r>
              <a:rPr lang="en-US" sz="2000" dirty="0">
                <a:solidFill>
                  <a:schemeClr val="accent6"/>
                </a:solidFill>
              </a:rPr>
              <a:t>.</a:t>
            </a:r>
            <a:endParaRPr lang="en-CA" sz="2000" dirty="0">
              <a:solidFill>
                <a:schemeClr val="accent6"/>
              </a:solidFill>
            </a:endParaRPr>
          </a:p>
          <a:p>
            <a:r>
              <a:rPr lang="en-CA" sz="2400" b="1" dirty="0"/>
              <a:t>Output Devices</a:t>
            </a:r>
            <a:r>
              <a:rPr lang="en-CA" sz="2400" b="1" dirty="0">
                <a:solidFill>
                  <a:schemeClr val="accent6"/>
                </a:solidFill>
              </a:rPr>
              <a:t>.</a:t>
            </a:r>
          </a:p>
          <a:p>
            <a:pPr lvl="1"/>
            <a:r>
              <a:rPr lang="en-US" sz="2000" dirty="0"/>
              <a:t>Monitors</a:t>
            </a:r>
            <a:r>
              <a:rPr lang="en-US" sz="2000" dirty="0">
                <a:solidFill>
                  <a:schemeClr val="accent6"/>
                </a:solidFill>
              </a:rPr>
              <a:t>.</a:t>
            </a:r>
          </a:p>
          <a:p>
            <a:pPr lvl="1"/>
            <a:r>
              <a:rPr lang="en-US" sz="2000" dirty="0"/>
              <a:t>Printers</a:t>
            </a:r>
            <a:r>
              <a:rPr lang="en-US" sz="2000" dirty="0">
                <a:solidFill>
                  <a:schemeClr val="accent6"/>
                </a:solidFill>
              </a:rPr>
              <a:t>.</a:t>
            </a:r>
          </a:p>
          <a:p>
            <a:pPr lvl="1"/>
            <a:r>
              <a:rPr lang="en-US" sz="2000" dirty="0"/>
              <a:t>Headphones</a:t>
            </a:r>
            <a:r>
              <a:rPr lang="en-US" sz="2000" dirty="0">
                <a:solidFill>
                  <a:schemeClr val="accent6"/>
                </a:solidFill>
              </a:rPr>
              <a:t>.</a:t>
            </a:r>
          </a:p>
          <a:p>
            <a:pPr lvl="1"/>
            <a:r>
              <a:rPr lang="en-US" sz="2000" dirty="0"/>
              <a:t>Speakers</a:t>
            </a:r>
            <a:r>
              <a:rPr lang="en-US" sz="2000" dirty="0">
                <a:solidFill>
                  <a:schemeClr val="accent6"/>
                </a:solidFill>
              </a:rPr>
              <a:t>.</a:t>
            </a:r>
          </a:p>
          <a:p>
            <a:pPr lvl="1"/>
            <a:r>
              <a:rPr lang="en-US" sz="2000" dirty="0"/>
              <a:t>Video</a:t>
            </a:r>
            <a:r>
              <a:rPr lang="en-US" sz="2000" dirty="0">
                <a:solidFill>
                  <a:schemeClr val="accent6"/>
                </a:solidFill>
              </a:rPr>
              <a:t>/</a:t>
            </a:r>
            <a:r>
              <a:rPr lang="en-US" sz="2000" dirty="0"/>
              <a:t>sound cards</a:t>
            </a:r>
            <a:r>
              <a:rPr lang="en-US" sz="2000" dirty="0">
                <a:solidFill>
                  <a:schemeClr val="accent6"/>
                </a:solidFill>
              </a:rPr>
              <a:t>.</a:t>
            </a:r>
          </a:p>
          <a:p>
            <a:pPr lvl="1"/>
            <a:r>
              <a:rPr lang="en-US" sz="2000" dirty="0"/>
              <a:t>Braille readers</a:t>
            </a:r>
            <a:r>
              <a:rPr lang="en-US" sz="2000" dirty="0">
                <a:solidFill>
                  <a:schemeClr val="accent6"/>
                </a:solidFill>
              </a:rPr>
              <a:t>.</a:t>
            </a:r>
            <a:endParaRPr lang="en-CA" sz="2000" dirty="0">
              <a:solidFill>
                <a:schemeClr val="accent6"/>
              </a:solidFill>
            </a:endParaRPr>
          </a:p>
          <a:p>
            <a:pPr lvl="1"/>
            <a:endParaRPr lang="en-CA" dirty="0">
              <a:solidFill>
                <a:schemeClr val="accent6"/>
              </a:solidFill>
            </a:endParaRPr>
          </a:p>
        </p:txBody>
      </p:sp>
      <p:pic>
        <p:nvPicPr>
          <p:cNvPr id="1030" name="Picture 6" descr="Image Collections Laptop Best PNG Transparent Background, Free Download  #6776 - FreeIconsPNG">
            <a:extLst>
              <a:ext uri="{FF2B5EF4-FFF2-40B4-BE49-F238E27FC236}">
                <a16:creationId xmlns:a16="http://schemas.microsoft.com/office/drawing/2014/main" id="{AA93681D-9207-492C-3562-9805D9E303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7066" y="1242324"/>
            <a:ext cx="5411499" cy="541149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omputer Mouse PNG Vector Images with Transparent background -  TransparentPNG">
            <a:extLst>
              <a:ext uri="{FF2B5EF4-FFF2-40B4-BE49-F238E27FC236}">
                <a16:creationId xmlns:a16="http://schemas.microsoft.com/office/drawing/2014/main" id="{1597CDA5-51A1-B197-EBB7-1EAFD4E527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4608" y="1822494"/>
            <a:ext cx="1840358" cy="2019793"/>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Printer PNG image transparent image download, size: 1000x795px">
            <a:extLst>
              <a:ext uri="{FF2B5EF4-FFF2-40B4-BE49-F238E27FC236}">
                <a16:creationId xmlns:a16="http://schemas.microsoft.com/office/drawing/2014/main" id="{9D293C38-AF80-4416-D871-580D779E65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9787" y="4499153"/>
            <a:ext cx="2710296" cy="2154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9629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6A98D-2956-FE98-5C65-FCF7ABD169E4}"/>
              </a:ext>
            </a:extLst>
          </p:cNvPr>
          <p:cNvSpPr>
            <a:spLocks noGrp="1"/>
          </p:cNvSpPr>
          <p:nvPr>
            <p:ph type="title"/>
          </p:nvPr>
        </p:nvSpPr>
        <p:spPr/>
        <p:txBody>
          <a:bodyPr>
            <a:normAutofit fontScale="90000"/>
          </a:bodyPr>
          <a:lstStyle/>
          <a:p>
            <a:r>
              <a:rPr lang="en-CA" b="1" dirty="0"/>
              <a:t>File Formats and Extensions</a:t>
            </a:r>
            <a:r>
              <a:rPr lang="en-CA" b="1" dirty="0">
                <a:solidFill>
                  <a:srgbClr val="00FF00"/>
                </a:solidFill>
              </a:rPr>
              <a:t>.</a:t>
            </a:r>
          </a:p>
        </p:txBody>
      </p:sp>
      <p:sp>
        <p:nvSpPr>
          <p:cNvPr id="3" name="Content Placeholder 2">
            <a:extLst>
              <a:ext uri="{FF2B5EF4-FFF2-40B4-BE49-F238E27FC236}">
                <a16:creationId xmlns:a16="http://schemas.microsoft.com/office/drawing/2014/main" id="{2A9AC7D7-B68B-DD37-128E-6B2A0F54C7B6}"/>
              </a:ext>
            </a:extLst>
          </p:cNvPr>
          <p:cNvSpPr>
            <a:spLocks noGrp="1"/>
          </p:cNvSpPr>
          <p:nvPr>
            <p:ph idx="1"/>
          </p:nvPr>
        </p:nvSpPr>
        <p:spPr/>
        <p:txBody>
          <a:bodyPr/>
          <a:lstStyle/>
          <a:p>
            <a:r>
              <a:rPr lang="en-CA" dirty="0"/>
              <a:t>Files store data in different formats based on specific definitions.</a:t>
            </a:r>
          </a:p>
          <a:p>
            <a:r>
              <a:rPr lang="en-CA" dirty="0"/>
              <a:t>An </a:t>
            </a:r>
            <a:r>
              <a:rPr lang="en-CA" dirty="0">
                <a:solidFill>
                  <a:srgbClr val="00FF00"/>
                </a:solidFill>
              </a:rPr>
              <a:t>“</a:t>
            </a:r>
            <a:r>
              <a:rPr lang="en-CA" dirty="0"/>
              <a:t>extension</a:t>
            </a:r>
            <a:r>
              <a:rPr lang="en-CA" dirty="0">
                <a:solidFill>
                  <a:srgbClr val="00FF00"/>
                </a:solidFill>
              </a:rPr>
              <a:t>”</a:t>
            </a:r>
            <a:r>
              <a:rPr lang="en-CA" dirty="0"/>
              <a:t> is the file name</a:t>
            </a:r>
            <a:r>
              <a:rPr lang="en-CA" dirty="0">
                <a:solidFill>
                  <a:schemeClr val="accent6"/>
                </a:solidFill>
              </a:rPr>
              <a:t>’</a:t>
            </a:r>
            <a:r>
              <a:rPr lang="en-CA" dirty="0"/>
              <a:t>s suffix</a:t>
            </a:r>
            <a:r>
              <a:rPr lang="en-CA" dirty="0">
                <a:solidFill>
                  <a:schemeClr val="accent6"/>
                </a:solidFill>
              </a:rPr>
              <a:t>,</a:t>
            </a:r>
            <a:r>
              <a:rPr lang="en-CA" dirty="0"/>
              <a:t> or the set of characters </a:t>
            </a:r>
            <a:r>
              <a:rPr lang="en-CA" dirty="0">
                <a:solidFill>
                  <a:srgbClr val="00FF00"/>
                </a:solidFill>
              </a:rPr>
              <a:t>(</a:t>
            </a:r>
            <a:r>
              <a:rPr lang="en-CA" dirty="0"/>
              <a:t>usually 2</a:t>
            </a:r>
            <a:r>
              <a:rPr lang="en-CA" dirty="0">
                <a:solidFill>
                  <a:schemeClr val="accent6"/>
                </a:solidFill>
              </a:rPr>
              <a:t>-</a:t>
            </a:r>
            <a:r>
              <a:rPr lang="en-CA" dirty="0"/>
              <a:t>4</a:t>
            </a:r>
            <a:r>
              <a:rPr lang="en-CA" dirty="0">
                <a:solidFill>
                  <a:srgbClr val="00FF00"/>
                </a:solidFill>
              </a:rPr>
              <a:t>)</a:t>
            </a:r>
            <a:r>
              <a:rPr lang="en-CA" dirty="0"/>
              <a:t> at the end of a file name</a:t>
            </a:r>
            <a:r>
              <a:rPr lang="en-CA" dirty="0">
                <a:solidFill>
                  <a:schemeClr val="accent6"/>
                </a:solidFill>
              </a:rPr>
              <a:t>,</a:t>
            </a:r>
            <a:r>
              <a:rPr lang="en-CA" dirty="0"/>
              <a:t> separated by a period </a:t>
            </a:r>
            <a:r>
              <a:rPr lang="en-CA" dirty="0">
                <a:solidFill>
                  <a:srgbClr val="00FF00"/>
                </a:solidFill>
              </a:rPr>
              <a:t>(</a:t>
            </a:r>
            <a:r>
              <a:rPr lang="en-CA" dirty="0">
                <a:solidFill>
                  <a:schemeClr val="accent6"/>
                </a:solidFill>
              </a:rPr>
              <a:t>.</a:t>
            </a:r>
            <a:r>
              <a:rPr lang="en-CA" dirty="0">
                <a:solidFill>
                  <a:srgbClr val="00FF00"/>
                </a:solidFill>
              </a:rPr>
              <a:t>)</a:t>
            </a:r>
            <a:r>
              <a:rPr lang="en-CA" dirty="0">
                <a:solidFill>
                  <a:schemeClr val="accent6"/>
                </a:solidFill>
              </a:rPr>
              <a:t>.</a:t>
            </a:r>
          </a:p>
          <a:p>
            <a:endParaRPr lang="en-CA" dirty="0"/>
          </a:p>
        </p:txBody>
      </p:sp>
      <p:graphicFrame>
        <p:nvGraphicFramePr>
          <p:cNvPr id="4" name="Table 3">
            <a:extLst>
              <a:ext uri="{FF2B5EF4-FFF2-40B4-BE49-F238E27FC236}">
                <a16:creationId xmlns:a16="http://schemas.microsoft.com/office/drawing/2014/main" id="{3FB859EC-F176-9066-94F4-EC675DA4A8D9}"/>
              </a:ext>
            </a:extLst>
          </p:cNvPr>
          <p:cNvGraphicFramePr>
            <a:graphicFrameLocks noGrp="1"/>
          </p:cNvGraphicFramePr>
          <p:nvPr>
            <p:extLst>
              <p:ext uri="{D42A27DB-BD31-4B8C-83A1-F6EECF244321}">
                <p14:modId xmlns:p14="http://schemas.microsoft.com/office/powerpoint/2010/main" val="3543547632"/>
              </p:ext>
            </p:extLst>
          </p:nvPr>
        </p:nvGraphicFramePr>
        <p:xfrm>
          <a:off x="1185043" y="3280530"/>
          <a:ext cx="6999704" cy="3352800"/>
        </p:xfrm>
        <a:graphic>
          <a:graphicData uri="http://schemas.openxmlformats.org/drawingml/2006/table">
            <a:tbl>
              <a:tblPr firstRow="1" bandRow="1">
                <a:tableStyleId>{5C22544A-7EE6-4342-B048-85BDC9FD1C3A}</a:tableStyleId>
              </a:tblPr>
              <a:tblGrid>
                <a:gridCol w="3499852">
                  <a:extLst>
                    <a:ext uri="{9D8B030D-6E8A-4147-A177-3AD203B41FA5}">
                      <a16:colId xmlns:a16="http://schemas.microsoft.com/office/drawing/2014/main" val="3306604620"/>
                    </a:ext>
                  </a:extLst>
                </a:gridCol>
                <a:gridCol w="3499852">
                  <a:extLst>
                    <a:ext uri="{9D8B030D-6E8A-4147-A177-3AD203B41FA5}">
                      <a16:colId xmlns:a16="http://schemas.microsoft.com/office/drawing/2014/main" val="2726236578"/>
                    </a:ext>
                  </a:extLst>
                </a:gridCol>
              </a:tblGrid>
              <a:tr h="286871">
                <a:tc>
                  <a:txBody>
                    <a:bodyPr/>
                    <a:lstStyle/>
                    <a:p>
                      <a:r>
                        <a:rPr lang="en-CA" sz="1600" dirty="0"/>
                        <a:t>File Types</a:t>
                      </a:r>
                    </a:p>
                  </a:txBody>
                  <a:tcPr/>
                </a:tc>
                <a:tc>
                  <a:txBody>
                    <a:bodyPr/>
                    <a:lstStyle/>
                    <a:p>
                      <a:r>
                        <a:rPr lang="en-CA" sz="1600" dirty="0"/>
                        <a:t>Common Extension Examples</a:t>
                      </a:r>
                    </a:p>
                  </a:txBody>
                  <a:tcPr/>
                </a:tc>
                <a:extLst>
                  <a:ext uri="{0D108BD9-81ED-4DB2-BD59-A6C34878D82A}">
                    <a16:rowId xmlns:a16="http://schemas.microsoft.com/office/drawing/2014/main" val="3646181090"/>
                  </a:ext>
                </a:extLst>
              </a:tr>
              <a:tr h="286871">
                <a:tc>
                  <a:txBody>
                    <a:bodyPr/>
                    <a:lstStyle/>
                    <a:p>
                      <a:r>
                        <a:rPr lang="en-CA" sz="1600" b="1" dirty="0">
                          <a:solidFill>
                            <a:srgbClr val="7030A0"/>
                          </a:solidFill>
                        </a:rPr>
                        <a:t>Plain text file</a:t>
                      </a:r>
                    </a:p>
                  </a:txBody>
                  <a:tcPr/>
                </a:tc>
                <a:tc>
                  <a:txBody>
                    <a:bodyPr/>
                    <a:lstStyle/>
                    <a:p>
                      <a:r>
                        <a:rPr lang="en-CA" sz="1600" b="1" dirty="0">
                          <a:solidFill>
                            <a:srgbClr val="7030A0"/>
                          </a:solidFill>
                        </a:rPr>
                        <a:t>.txt</a:t>
                      </a:r>
                    </a:p>
                  </a:txBody>
                  <a:tcPr/>
                </a:tc>
                <a:extLst>
                  <a:ext uri="{0D108BD9-81ED-4DB2-BD59-A6C34878D82A}">
                    <a16:rowId xmlns:a16="http://schemas.microsoft.com/office/drawing/2014/main" val="1134475943"/>
                  </a:ext>
                </a:extLst>
              </a:tr>
              <a:tr h="286871">
                <a:tc>
                  <a:txBody>
                    <a:bodyPr/>
                    <a:lstStyle/>
                    <a:p>
                      <a:r>
                        <a:rPr lang="en-CA" sz="1600" b="1" dirty="0">
                          <a:solidFill>
                            <a:srgbClr val="7030A0"/>
                          </a:solidFill>
                        </a:rPr>
                        <a:t>Document file</a:t>
                      </a:r>
                    </a:p>
                  </a:txBody>
                  <a:tcPr/>
                </a:tc>
                <a:tc>
                  <a:txBody>
                    <a:bodyPr/>
                    <a:lstStyle/>
                    <a:p>
                      <a:r>
                        <a:rPr lang="en-CA" sz="1600" dirty="0"/>
                        <a:t>.doc, .docx, </a:t>
                      </a:r>
                      <a:r>
                        <a:rPr lang="en-CA" sz="1600" b="1" dirty="0">
                          <a:solidFill>
                            <a:srgbClr val="7030A0"/>
                          </a:solidFill>
                        </a:rPr>
                        <a:t>.pdf</a:t>
                      </a:r>
                    </a:p>
                  </a:txBody>
                  <a:tcPr/>
                </a:tc>
                <a:extLst>
                  <a:ext uri="{0D108BD9-81ED-4DB2-BD59-A6C34878D82A}">
                    <a16:rowId xmlns:a16="http://schemas.microsoft.com/office/drawing/2014/main" val="2198717322"/>
                  </a:ext>
                </a:extLst>
              </a:tr>
              <a:tr h="286871">
                <a:tc>
                  <a:txBody>
                    <a:bodyPr/>
                    <a:lstStyle/>
                    <a:p>
                      <a:r>
                        <a:rPr lang="en-CA" sz="1600" dirty="0"/>
                        <a:t>Image file</a:t>
                      </a:r>
                    </a:p>
                  </a:txBody>
                  <a:tcPr/>
                </a:tc>
                <a:tc>
                  <a:txBody>
                    <a:bodyPr/>
                    <a:lstStyle/>
                    <a:p>
                      <a:r>
                        <a:rPr lang="en-CA" sz="1600" dirty="0"/>
                        <a:t>.jpg, .gif, .</a:t>
                      </a:r>
                      <a:r>
                        <a:rPr lang="en-CA" sz="1600" dirty="0" err="1"/>
                        <a:t>png</a:t>
                      </a:r>
                      <a:endParaRPr lang="en-CA" sz="1600" dirty="0"/>
                    </a:p>
                  </a:txBody>
                  <a:tcPr/>
                </a:tc>
                <a:extLst>
                  <a:ext uri="{0D108BD9-81ED-4DB2-BD59-A6C34878D82A}">
                    <a16:rowId xmlns:a16="http://schemas.microsoft.com/office/drawing/2014/main" val="4012340209"/>
                  </a:ext>
                </a:extLst>
              </a:tr>
              <a:tr h="286871">
                <a:tc>
                  <a:txBody>
                    <a:bodyPr/>
                    <a:lstStyle/>
                    <a:p>
                      <a:r>
                        <a:rPr lang="en-CA" sz="1600" b="1" dirty="0">
                          <a:solidFill>
                            <a:srgbClr val="7030A0"/>
                          </a:solidFill>
                        </a:rPr>
                        <a:t>Compressed/Archive file</a:t>
                      </a:r>
                    </a:p>
                  </a:txBody>
                  <a:tcPr/>
                </a:tc>
                <a:tc>
                  <a:txBody>
                    <a:bodyPr/>
                    <a:lstStyle/>
                    <a:p>
                      <a:r>
                        <a:rPr lang="en-CA" sz="1600" b="1" dirty="0">
                          <a:solidFill>
                            <a:srgbClr val="7030A0"/>
                          </a:solidFill>
                        </a:rPr>
                        <a:t>.zip</a:t>
                      </a:r>
                      <a:r>
                        <a:rPr lang="en-CA" sz="1600" dirty="0"/>
                        <a:t>, .</a:t>
                      </a:r>
                      <a:r>
                        <a:rPr lang="en-CA" sz="1600" dirty="0" err="1"/>
                        <a:t>rar</a:t>
                      </a:r>
                      <a:r>
                        <a:rPr lang="en-CA" sz="1600" dirty="0"/>
                        <a:t>, .7z</a:t>
                      </a:r>
                    </a:p>
                  </a:txBody>
                  <a:tcPr/>
                </a:tc>
                <a:extLst>
                  <a:ext uri="{0D108BD9-81ED-4DB2-BD59-A6C34878D82A}">
                    <a16:rowId xmlns:a16="http://schemas.microsoft.com/office/drawing/2014/main" val="1404256541"/>
                  </a:ext>
                </a:extLst>
              </a:tr>
              <a:tr h="286871">
                <a:tc>
                  <a:txBody>
                    <a:bodyPr/>
                    <a:lstStyle/>
                    <a:p>
                      <a:r>
                        <a:rPr lang="en-CA" sz="1600" dirty="0"/>
                        <a:t>Video file</a:t>
                      </a:r>
                    </a:p>
                  </a:txBody>
                  <a:tcPr/>
                </a:tc>
                <a:tc>
                  <a:txBody>
                    <a:bodyPr/>
                    <a:lstStyle/>
                    <a:p>
                      <a:r>
                        <a:rPr lang="en-CA" sz="1600" dirty="0"/>
                        <a:t>.mpg, .mp4, .</a:t>
                      </a:r>
                      <a:r>
                        <a:rPr lang="en-CA" sz="1600" dirty="0" err="1"/>
                        <a:t>avi</a:t>
                      </a:r>
                      <a:endParaRPr lang="en-CA" sz="1600" dirty="0"/>
                    </a:p>
                  </a:txBody>
                  <a:tcPr/>
                </a:tc>
                <a:extLst>
                  <a:ext uri="{0D108BD9-81ED-4DB2-BD59-A6C34878D82A}">
                    <a16:rowId xmlns:a16="http://schemas.microsoft.com/office/drawing/2014/main" val="433820206"/>
                  </a:ext>
                </a:extLst>
              </a:tr>
              <a:tr h="286871">
                <a:tc>
                  <a:txBody>
                    <a:bodyPr/>
                    <a:lstStyle/>
                    <a:p>
                      <a:r>
                        <a:rPr lang="en-CA" sz="1600" dirty="0"/>
                        <a:t>Executable file</a:t>
                      </a:r>
                    </a:p>
                  </a:txBody>
                  <a:tcPr/>
                </a:tc>
                <a:tc>
                  <a:txBody>
                    <a:bodyPr/>
                    <a:lstStyle/>
                    <a:p>
                      <a:r>
                        <a:rPr lang="en-CA" sz="1600" dirty="0"/>
                        <a:t>.exe, .bat, .bin</a:t>
                      </a:r>
                    </a:p>
                  </a:txBody>
                  <a:tcPr/>
                </a:tc>
                <a:extLst>
                  <a:ext uri="{0D108BD9-81ED-4DB2-BD59-A6C34878D82A}">
                    <a16:rowId xmlns:a16="http://schemas.microsoft.com/office/drawing/2014/main" val="2703570213"/>
                  </a:ext>
                </a:extLst>
              </a:tr>
              <a:tr h="286871">
                <a:tc>
                  <a:txBody>
                    <a:bodyPr/>
                    <a:lstStyle/>
                    <a:p>
                      <a:r>
                        <a:rPr lang="en-CA" sz="1600" b="1" dirty="0">
                          <a:solidFill>
                            <a:srgbClr val="7030A0"/>
                          </a:solidFill>
                        </a:rPr>
                        <a:t>Python file</a:t>
                      </a:r>
                    </a:p>
                  </a:txBody>
                  <a:tcPr/>
                </a:tc>
                <a:tc>
                  <a:txBody>
                    <a:bodyPr/>
                    <a:lstStyle/>
                    <a:p>
                      <a:r>
                        <a:rPr lang="en-CA" sz="1600" b="1" dirty="0">
                          <a:solidFill>
                            <a:srgbClr val="7030A0"/>
                          </a:solidFill>
                        </a:rPr>
                        <a:t>.</a:t>
                      </a:r>
                      <a:r>
                        <a:rPr lang="en-CA" sz="1600" b="1" dirty="0" err="1">
                          <a:solidFill>
                            <a:srgbClr val="7030A0"/>
                          </a:solidFill>
                        </a:rPr>
                        <a:t>py</a:t>
                      </a:r>
                      <a:endParaRPr lang="en-CA" sz="1600" b="1" dirty="0">
                        <a:solidFill>
                          <a:srgbClr val="7030A0"/>
                        </a:solidFill>
                      </a:endParaRPr>
                    </a:p>
                  </a:txBody>
                  <a:tcPr/>
                </a:tc>
                <a:extLst>
                  <a:ext uri="{0D108BD9-81ED-4DB2-BD59-A6C34878D82A}">
                    <a16:rowId xmlns:a16="http://schemas.microsoft.com/office/drawing/2014/main" val="1437966126"/>
                  </a:ext>
                </a:extLst>
              </a:tr>
              <a:tr h="286871">
                <a:tc>
                  <a:txBody>
                    <a:bodyPr/>
                    <a:lstStyle/>
                    <a:p>
                      <a:r>
                        <a:rPr lang="en-CA" sz="1600" b="1" dirty="0" err="1">
                          <a:solidFill>
                            <a:srgbClr val="7030A0"/>
                          </a:solidFill>
                        </a:rPr>
                        <a:t>Jupyter</a:t>
                      </a:r>
                      <a:r>
                        <a:rPr lang="en-CA" sz="1600" b="1" dirty="0">
                          <a:solidFill>
                            <a:srgbClr val="7030A0"/>
                          </a:solidFill>
                        </a:rPr>
                        <a:t> Notebook file</a:t>
                      </a:r>
                    </a:p>
                  </a:txBody>
                  <a:tcPr/>
                </a:tc>
                <a:tc>
                  <a:txBody>
                    <a:bodyPr/>
                    <a:lstStyle/>
                    <a:p>
                      <a:r>
                        <a:rPr lang="en-CA" sz="1600" b="1" dirty="0">
                          <a:solidFill>
                            <a:srgbClr val="7030A0"/>
                          </a:solidFill>
                        </a:rPr>
                        <a:t>.</a:t>
                      </a:r>
                      <a:r>
                        <a:rPr lang="en-CA" sz="1600" b="1" dirty="0" err="1">
                          <a:solidFill>
                            <a:srgbClr val="7030A0"/>
                          </a:solidFill>
                        </a:rPr>
                        <a:t>ipynb</a:t>
                      </a:r>
                      <a:endParaRPr lang="en-CA" sz="1600" b="1" dirty="0">
                        <a:solidFill>
                          <a:srgbClr val="7030A0"/>
                        </a:solidFill>
                      </a:endParaRPr>
                    </a:p>
                  </a:txBody>
                  <a:tcPr/>
                </a:tc>
                <a:extLst>
                  <a:ext uri="{0D108BD9-81ED-4DB2-BD59-A6C34878D82A}">
                    <a16:rowId xmlns:a16="http://schemas.microsoft.com/office/drawing/2014/main" val="1074306700"/>
                  </a:ext>
                </a:extLst>
              </a:tr>
              <a:tr h="286871">
                <a:tc>
                  <a:txBody>
                    <a:bodyPr/>
                    <a:lstStyle/>
                    <a:p>
                      <a:r>
                        <a:rPr lang="en-CA" sz="1600" b="1" dirty="0">
                          <a:solidFill>
                            <a:srgbClr val="7030A0"/>
                          </a:solidFill>
                        </a:rPr>
                        <a:t>Comma Separated Value file</a:t>
                      </a:r>
                    </a:p>
                  </a:txBody>
                  <a:tcPr/>
                </a:tc>
                <a:tc>
                  <a:txBody>
                    <a:bodyPr/>
                    <a:lstStyle/>
                    <a:p>
                      <a:r>
                        <a:rPr lang="en-CA" sz="1600" b="1" dirty="0">
                          <a:solidFill>
                            <a:srgbClr val="7030A0"/>
                          </a:solidFill>
                        </a:rPr>
                        <a:t>.csv</a:t>
                      </a:r>
                    </a:p>
                  </a:txBody>
                  <a:tcPr/>
                </a:tc>
                <a:extLst>
                  <a:ext uri="{0D108BD9-81ED-4DB2-BD59-A6C34878D82A}">
                    <a16:rowId xmlns:a16="http://schemas.microsoft.com/office/drawing/2014/main" val="582774429"/>
                  </a:ext>
                </a:extLst>
              </a:tr>
            </a:tbl>
          </a:graphicData>
        </a:graphic>
      </p:graphicFrame>
      <p:sp>
        <p:nvSpPr>
          <p:cNvPr id="5" name="TextBox 4">
            <a:extLst>
              <a:ext uri="{FF2B5EF4-FFF2-40B4-BE49-F238E27FC236}">
                <a16:creationId xmlns:a16="http://schemas.microsoft.com/office/drawing/2014/main" id="{0CB2E1A5-B97D-5DDF-8D1C-8570C3C10830}"/>
              </a:ext>
            </a:extLst>
          </p:cNvPr>
          <p:cNvSpPr txBox="1"/>
          <p:nvPr/>
        </p:nvSpPr>
        <p:spPr>
          <a:xfrm>
            <a:off x="8481140" y="4356765"/>
            <a:ext cx="3443897" cy="1200329"/>
          </a:xfrm>
          <a:prstGeom prst="rect">
            <a:avLst/>
          </a:prstGeom>
          <a:noFill/>
          <a:ln>
            <a:solidFill>
              <a:schemeClr val="accent6"/>
            </a:solidFill>
          </a:ln>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CA" b="1" dirty="0">
                <a:solidFill>
                  <a:srgbClr val="FFFFFF"/>
                </a:solidFill>
              </a:rPr>
              <a:t>File extensions help indicate</a:t>
            </a:r>
            <a:r>
              <a:rPr lang="en-CA" b="1" dirty="0">
                <a:solidFill>
                  <a:schemeClr val="accent6"/>
                </a:solidFill>
              </a:rPr>
              <a:t>:</a:t>
            </a:r>
            <a:r>
              <a:rPr lang="en-CA" dirty="0">
                <a:solidFill>
                  <a:srgbClr val="FFFFFF"/>
                </a:solidFill>
              </a:rPr>
              <a:t> </a:t>
            </a:r>
          </a:p>
          <a:p>
            <a:pPr marL="285750" indent="-285750">
              <a:buClr>
                <a:schemeClr val="accent6"/>
              </a:buClr>
              <a:buFont typeface="Wingdings" panose="05000000000000000000" pitchFamily="2" charset="2"/>
              <a:buChar char="§"/>
              <a:tabLst>
                <a:tab pos="79375" algn="l"/>
              </a:tabLst>
            </a:pPr>
            <a:r>
              <a:rPr lang="en-CA" dirty="0">
                <a:solidFill>
                  <a:srgbClr val="FFFFFF"/>
                </a:solidFill>
              </a:rPr>
              <a:t>The file format</a:t>
            </a:r>
            <a:r>
              <a:rPr lang="en-CA" dirty="0">
                <a:solidFill>
                  <a:schemeClr val="accent6"/>
                </a:solidFill>
              </a:rPr>
              <a:t>.</a:t>
            </a:r>
          </a:p>
          <a:p>
            <a:pPr marL="285750" indent="-285750">
              <a:buClr>
                <a:schemeClr val="accent6"/>
              </a:buClr>
              <a:buFont typeface="Wingdings" panose="05000000000000000000" pitchFamily="2" charset="2"/>
              <a:buChar char="§"/>
              <a:tabLst>
                <a:tab pos="79375" algn="l"/>
              </a:tabLst>
            </a:pPr>
            <a:r>
              <a:rPr lang="en-CA" dirty="0">
                <a:solidFill>
                  <a:srgbClr val="FFFFFF"/>
                </a:solidFill>
              </a:rPr>
              <a:t>How the data is structured</a:t>
            </a:r>
            <a:r>
              <a:rPr lang="en-CA" dirty="0">
                <a:solidFill>
                  <a:schemeClr val="accent6"/>
                </a:solidFill>
              </a:rPr>
              <a:t>.</a:t>
            </a:r>
          </a:p>
          <a:p>
            <a:pPr marL="285750" indent="-285750">
              <a:buClr>
                <a:schemeClr val="accent6"/>
              </a:buClr>
              <a:buFont typeface="Wingdings" panose="05000000000000000000" pitchFamily="2" charset="2"/>
              <a:buChar char="§"/>
              <a:tabLst>
                <a:tab pos="79375" algn="l"/>
              </a:tabLst>
            </a:pPr>
            <a:r>
              <a:rPr lang="en-CA" dirty="0">
                <a:solidFill>
                  <a:srgbClr val="FFFFFF"/>
                </a:solidFill>
              </a:rPr>
              <a:t>Which programs can open it</a:t>
            </a:r>
            <a:r>
              <a:rPr lang="en-CA" dirty="0">
                <a:solidFill>
                  <a:schemeClr val="accent6"/>
                </a:solidFill>
              </a:rPr>
              <a:t>?</a:t>
            </a:r>
          </a:p>
        </p:txBody>
      </p:sp>
    </p:spTree>
    <p:extLst>
      <p:ext uri="{BB962C8B-B14F-4D97-AF65-F5344CB8AC3E}">
        <p14:creationId xmlns:p14="http://schemas.microsoft.com/office/powerpoint/2010/main" val="4230219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E416D-DB04-8271-FD87-C22884A105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9EFE0E-6B22-D9B1-70C8-E0F3E1D8290B}"/>
              </a:ext>
            </a:extLst>
          </p:cNvPr>
          <p:cNvSpPr>
            <a:spLocks noGrp="1"/>
          </p:cNvSpPr>
          <p:nvPr>
            <p:ph type="title"/>
          </p:nvPr>
        </p:nvSpPr>
        <p:spPr/>
        <p:txBody>
          <a:bodyPr>
            <a:normAutofit fontScale="90000"/>
          </a:bodyPr>
          <a:lstStyle/>
          <a:p>
            <a:r>
              <a:rPr lang="en-CA" b="1" dirty="0"/>
              <a:t>Developer Toolkit</a:t>
            </a:r>
            <a:r>
              <a:rPr lang="en-CA" b="1" dirty="0">
                <a:solidFill>
                  <a:srgbClr val="00FF00"/>
                </a:solidFill>
              </a:rPr>
              <a:t>.</a:t>
            </a:r>
          </a:p>
        </p:txBody>
      </p:sp>
      <p:sp>
        <p:nvSpPr>
          <p:cNvPr id="5" name="TextBox 4">
            <a:extLst>
              <a:ext uri="{FF2B5EF4-FFF2-40B4-BE49-F238E27FC236}">
                <a16:creationId xmlns:a16="http://schemas.microsoft.com/office/drawing/2014/main" id="{4A2E0E15-B498-568D-D0E8-F0F0D47D085C}"/>
              </a:ext>
            </a:extLst>
          </p:cNvPr>
          <p:cNvSpPr txBox="1"/>
          <p:nvPr/>
        </p:nvSpPr>
        <p:spPr>
          <a:xfrm>
            <a:off x="4924748" y="5391806"/>
            <a:ext cx="2342501" cy="461665"/>
          </a:xfrm>
          <a:prstGeom prst="rect">
            <a:avLst/>
          </a:prstGeom>
          <a:noFill/>
        </p:spPr>
        <p:txBody>
          <a:bodyPr wrap="none" rtlCol="0">
            <a:spAutoFit/>
          </a:bodyPr>
          <a:lstStyle/>
          <a:p>
            <a:pPr algn="ctr"/>
            <a:r>
              <a:rPr lang="en-CA" sz="2400" b="1" dirty="0">
                <a:solidFill>
                  <a:srgbClr val="FFFFFF"/>
                </a:solidFill>
              </a:rPr>
              <a:t>Developer Seb</a:t>
            </a:r>
            <a:r>
              <a:rPr lang="en-CA" b="1" dirty="0">
                <a:solidFill>
                  <a:srgbClr val="00FF00"/>
                </a:solidFill>
              </a:rPr>
              <a:t>.</a:t>
            </a:r>
          </a:p>
        </p:txBody>
      </p:sp>
      <p:pic>
        <p:nvPicPr>
          <p:cNvPr id="5122" name="Picture 2" descr="Github White Icon SVG Vector &amp; PNG Free Download | UXWing">
            <a:extLst>
              <a:ext uri="{FF2B5EF4-FFF2-40B4-BE49-F238E27FC236}">
                <a16:creationId xmlns:a16="http://schemas.microsoft.com/office/drawing/2014/main" id="{83C9AEC6-362A-8AE5-0088-17F11EC9FC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81826" y="2213555"/>
            <a:ext cx="1471974" cy="147197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4AB9C7D-1D5B-2F26-3A32-25D8442ECA4E}"/>
              </a:ext>
            </a:extLst>
          </p:cNvPr>
          <p:cNvSpPr txBox="1"/>
          <p:nvPr/>
        </p:nvSpPr>
        <p:spPr>
          <a:xfrm>
            <a:off x="9597342" y="3703592"/>
            <a:ext cx="2040944" cy="461665"/>
          </a:xfrm>
          <a:prstGeom prst="rect">
            <a:avLst/>
          </a:prstGeom>
          <a:noFill/>
        </p:spPr>
        <p:txBody>
          <a:bodyPr wrap="none" rtlCol="0">
            <a:spAutoFit/>
          </a:bodyPr>
          <a:lstStyle/>
          <a:p>
            <a:pPr algn="ctr"/>
            <a:r>
              <a:rPr lang="en-CA" sz="2400" b="1" dirty="0">
                <a:solidFill>
                  <a:srgbClr val="FFFFFF"/>
                </a:solidFill>
              </a:rPr>
              <a:t>Git </a:t>
            </a:r>
            <a:r>
              <a:rPr lang="en-CA" sz="2400" b="1" dirty="0">
                <a:solidFill>
                  <a:srgbClr val="00FF00"/>
                </a:solidFill>
              </a:rPr>
              <a:t>+ </a:t>
            </a:r>
            <a:r>
              <a:rPr lang="en-CA" sz="2400" b="1" dirty="0">
                <a:solidFill>
                  <a:srgbClr val="FFFFFF"/>
                </a:solidFill>
              </a:rPr>
              <a:t>GitHub</a:t>
            </a:r>
          </a:p>
        </p:txBody>
      </p:sp>
      <p:sp>
        <p:nvSpPr>
          <p:cNvPr id="7" name="TextBox 6">
            <a:extLst>
              <a:ext uri="{FF2B5EF4-FFF2-40B4-BE49-F238E27FC236}">
                <a16:creationId xmlns:a16="http://schemas.microsoft.com/office/drawing/2014/main" id="{03D97C44-21E3-52E6-41B3-41C6509B1C77}"/>
              </a:ext>
            </a:extLst>
          </p:cNvPr>
          <p:cNvSpPr txBox="1"/>
          <p:nvPr/>
        </p:nvSpPr>
        <p:spPr>
          <a:xfrm>
            <a:off x="9364200" y="1752748"/>
            <a:ext cx="2507226" cy="461665"/>
          </a:xfrm>
          <a:prstGeom prst="rect">
            <a:avLst/>
          </a:prstGeom>
          <a:noFill/>
        </p:spPr>
        <p:txBody>
          <a:bodyPr wrap="none" rtlCol="0">
            <a:spAutoFit/>
          </a:bodyPr>
          <a:lstStyle/>
          <a:p>
            <a:pPr algn="ctr"/>
            <a:r>
              <a:rPr lang="en-CA" sz="2400" b="1" dirty="0">
                <a:solidFill>
                  <a:schemeClr val="accent6"/>
                </a:solidFill>
              </a:rPr>
              <a:t>Version Control</a:t>
            </a:r>
            <a:r>
              <a:rPr lang="en-CA" sz="2400" b="1" dirty="0">
                <a:solidFill>
                  <a:srgbClr val="00FF00"/>
                </a:solidFill>
              </a:rPr>
              <a:t>.</a:t>
            </a:r>
          </a:p>
        </p:txBody>
      </p:sp>
      <p:pic>
        <p:nvPicPr>
          <p:cNvPr id="6146" name="Picture 2" descr="Download Laptop Clipart Transparent Background - Laptop Png PNG Image with No  Background - PNGkey.com">
            <a:extLst>
              <a:ext uri="{FF2B5EF4-FFF2-40B4-BE49-F238E27FC236}">
                <a16:creationId xmlns:a16="http://schemas.microsoft.com/office/drawing/2014/main" id="{3491540C-ABEB-709B-CA74-47AD03213F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5674" y="943979"/>
            <a:ext cx="2321210" cy="154489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B3D96BC5-585E-64F1-AF8D-38FD688F81CC}"/>
              </a:ext>
            </a:extLst>
          </p:cNvPr>
          <p:cNvPicPr>
            <a:picLocks noChangeAspect="1"/>
          </p:cNvPicPr>
          <p:nvPr/>
        </p:nvPicPr>
        <p:blipFill>
          <a:blip r:embed="rId4"/>
          <a:stretch>
            <a:fillRect/>
          </a:stretch>
        </p:blipFill>
        <p:spPr>
          <a:xfrm>
            <a:off x="6865835" y="1004529"/>
            <a:ext cx="1847718" cy="1042153"/>
          </a:xfrm>
          <a:prstGeom prst="rect">
            <a:avLst/>
          </a:prstGeom>
        </p:spPr>
      </p:pic>
      <p:sp>
        <p:nvSpPr>
          <p:cNvPr id="9" name="TextBox 8">
            <a:extLst>
              <a:ext uri="{FF2B5EF4-FFF2-40B4-BE49-F238E27FC236}">
                <a16:creationId xmlns:a16="http://schemas.microsoft.com/office/drawing/2014/main" id="{2BEBADD9-516D-8081-E523-EC2FEF90201B}"/>
              </a:ext>
            </a:extLst>
          </p:cNvPr>
          <p:cNvSpPr txBox="1"/>
          <p:nvPr/>
        </p:nvSpPr>
        <p:spPr>
          <a:xfrm>
            <a:off x="6941434" y="433121"/>
            <a:ext cx="1689693" cy="461665"/>
          </a:xfrm>
          <a:prstGeom prst="rect">
            <a:avLst/>
          </a:prstGeom>
          <a:noFill/>
        </p:spPr>
        <p:txBody>
          <a:bodyPr wrap="none" rtlCol="0">
            <a:spAutoFit/>
          </a:bodyPr>
          <a:lstStyle/>
          <a:p>
            <a:pPr algn="ctr"/>
            <a:r>
              <a:rPr lang="en-CA" sz="2400" b="1" dirty="0">
                <a:solidFill>
                  <a:schemeClr val="accent6"/>
                </a:solidFill>
              </a:rPr>
              <a:t>Computer</a:t>
            </a:r>
            <a:r>
              <a:rPr lang="en-CA" sz="2400" b="1" dirty="0">
                <a:solidFill>
                  <a:srgbClr val="00FF00"/>
                </a:solidFill>
              </a:rPr>
              <a:t>.</a:t>
            </a:r>
          </a:p>
        </p:txBody>
      </p:sp>
      <p:pic>
        <p:nvPicPr>
          <p:cNvPr id="6150" name="Picture 6">
            <a:extLst>
              <a:ext uri="{FF2B5EF4-FFF2-40B4-BE49-F238E27FC236}">
                <a16:creationId xmlns:a16="http://schemas.microsoft.com/office/drawing/2014/main" id="{6AFA4412-F9C4-1438-B023-ED9005C646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6307" y="5209115"/>
            <a:ext cx="965375" cy="96537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576CEC68-2A90-7B7A-903A-6606C9B57DE2}"/>
              </a:ext>
            </a:extLst>
          </p:cNvPr>
          <p:cNvSpPr txBox="1"/>
          <p:nvPr/>
        </p:nvSpPr>
        <p:spPr>
          <a:xfrm>
            <a:off x="8099353" y="4604908"/>
            <a:ext cx="1764009" cy="461665"/>
          </a:xfrm>
          <a:prstGeom prst="rect">
            <a:avLst/>
          </a:prstGeom>
          <a:noFill/>
        </p:spPr>
        <p:txBody>
          <a:bodyPr wrap="none" rtlCol="0">
            <a:spAutoFit/>
          </a:bodyPr>
          <a:lstStyle/>
          <a:p>
            <a:pPr algn="ctr"/>
            <a:r>
              <a:rPr lang="en-CA" sz="2400" b="1" dirty="0">
                <a:solidFill>
                  <a:schemeClr val="accent6"/>
                </a:solidFill>
              </a:rPr>
              <a:t>Editor</a:t>
            </a:r>
            <a:r>
              <a:rPr lang="en-CA" sz="2400" b="1" dirty="0">
                <a:solidFill>
                  <a:srgbClr val="00FF00"/>
                </a:solidFill>
              </a:rPr>
              <a:t>/</a:t>
            </a:r>
            <a:r>
              <a:rPr lang="en-CA" sz="2400" b="1" dirty="0">
                <a:solidFill>
                  <a:schemeClr val="accent6"/>
                </a:solidFill>
              </a:rPr>
              <a:t>IDE</a:t>
            </a:r>
            <a:r>
              <a:rPr lang="en-CA" sz="2400" b="1" dirty="0">
                <a:solidFill>
                  <a:srgbClr val="00FF00"/>
                </a:solidFill>
              </a:rPr>
              <a:t>.</a:t>
            </a:r>
          </a:p>
        </p:txBody>
      </p:sp>
      <p:pic>
        <p:nvPicPr>
          <p:cNvPr id="6154" name="Picture 10">
            <a:extLst>
              <a:ext uri="{FF2B5EF4-FFF2-40B4-BE49-F238E27FC236}">
                <a16:creationId xmlns:a16="http://schemas.microsoft.com/office/drawing/2014/main" id="{DF45AA9B-F0AE-C464-E102-7D8A79260DA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75670" y="5164068"/>
            <a:ext cx="910097" cy="1055468"/>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A3532746-8889-26B8-A712-970E4FFDCB2B}"/>
              </a:ext>
            </a:extLst>
          </p:cNvPr>
          <p:cNvSpPr txBox="1"/>
          <p:nvPr/>
        </p:nvSpPr>
        <p:spPr>
          <a:xfrm>
            <a:off x="7565150" y="6241961"/>
            <a:ext cx="2773068" cy="461665"/>
          </a:xfrm>
          <a:prstGeom prst="rect">
            <a:avLst/>
          </a:prstGeom>
          <a:noFill/>
        </p:spPr>
        <p:txBody>
          <a:bodyPr wrap="none" rtlCol="0">
            <a:spAutoFit/>
          </a:bodyPr>
          <a:lstStyle/>
          <a:p>
            <a:pPr algn="ctr"/>
            <a:r>
              <a:rPr lang="en-CA" sz="2400" b="1" dirty="0" err="1">
                <a:solidFill>
                  <a:srgbClr val="FFFFFF"/>
                </a:solidFill>
              </a:rPr>
              <a:t>VSCode</a:t>
            </a:r>
            <a:r>
              <a:rPr lang="en-CA" sz="2400" b="1" dirty="0">
                <a:solidFill>
                  <a:srgbClr val="FFFFFF"/>
                </a:solidFill>
              </a:rPr>
              <a:t> </a:t>
            </a:r>
            <a:r>
              <a:rPr lang="en-CA" sz="2400" b="1" dirty="0">
                <a:solidFill>
                  <a:srgbClr val="00FF00"/>
                </a:solidFill>
              </a:rPr>
              <a:t>+ </a:t>
            </a:r>
            <a:r>
              <a:rPr lang="en-CA" sz="2400" b="1" dirty="0" err="1">
                <a:solidFill>
                  <a:srgbClr val="FFFFFF"/>
                </a:solidFill>
              </a:rPr>
              <a:t>Jupyter</a:t>
            </a:r>
            <a:endParaRPr lang="en-CA" sz="2400" b="1" dirty="0">
              <a:solidFill>
                <a:srgbClr val="FFFFFF"/>
              </a:solidFill>
            </a:endParaRPr>
          </a:p>
        </p:txBody>
      </p:sp>
      <p:sp>
        <p:nvSpPr>
          <p:cNvPr id="12" name="TextBox 11">
            <a:extLst>
              <a:ext uri="{FF2B5EF4-FFF2-40B4-BE49-F238E27FC236}">
                <a16:creationId xmlns:a16="http://schemas.microsoft.com/office/drawing/2014/main" id="{3A1176B9-33F9-66C4-804B-6232E046D656}"/>
              </a:ext>
            </a:extLst>
          </p:cNvPr>
          <p:cNvSpPr txBox="1"/>
          <p:nvPr/>
        </p:nvSpPr>
        <p:spPr>
          <a:xfrm>
            <a:off x="2044847" y="1585397"/>
            <a:ext cx="2939779" cy="461665"/>
          </a:xfrm>
          <a:prstGeom prst="rect">
            <a:avLst/>
          </a:prstGeom>
          <a:noFill/>
        </p:spPr>
        <p:txBody>
          <a:bodyPr wrap="none" rtlCol="0">
            <a:spAutoFit/>
          </a:bodyPr>
          <a:lstStyle/>
          <a:p>
            <a:pPr algn="ctr"/>
            <a:r>
              <a:rPr lang="en-CA" sz="2400" b="1" dirty="0">
                <a:solidFill>
                  <a:schemeClr val="accent6"/>
                </a:solidFill>
              </a:rPr>
              <a:t>Python Interpreter</a:t>
            </a:r>
            <a:r>
              <a:rPr lang="en-CA" sz="2400" b="1" dirty="0">
                <a:solidFill>
                  <a:srgbClr val="00FF00"/>
                </a:solidFill>
              </a:rPr>
              <a:t>.</a:t>
            </a:r>
          </a:p>
        </p:txBody>
      </p:sp>
      <p:sp>
        <p:nvSpPr>
          <p:cNvPr id="13" name="TextBox 12">
            <a:extLst>
              <a:ext uri="{FF2B5EF4-FFF2-40B4-BE49-F238E27FC236}">
                <a16:creationId xmlns:a16="http://schemas.microsoft.com/office/drawing/2014/main" id="{F615653D-DA0B-A75E-8BCC-59A0393F4B1B}"/>
              </a:ext>
            </a:extLst>
          </p:cNvPr>
          <p:cNvSpPr txBox="1"/>
          <p:nvPr/>
        </p:nvSpPr>
        <p:spPr>
          <a:xfrm>
            <a:off x="32498" y="2949542"/>
            <a:ext cx="2941574" cy="461665"/>
          </a:xfrm>
          <a:prstGeom prst="rect">
            <a:avLst/>
          </a:prstGeom>
          <a:noFill/>
        </p:spPr>
        <p:txBody>
          <a:bodyPr wrap="none" rtlCol="0">
            <a:spAutoFit/>
          </a:bodyPr>
          <a:lstStyle/>
          <a:p>
            <a:pPr algn="ctr"/>
            <a:r>
              <a:rPr lang="en-CA" sz="2400" b="1" dirty="0">
                <a:solidFill>
                  <a:schemeClr val="accent6"/>
                </a:solidFill>
              </a:rPr>
              <a:t>Packages Manager</a:t>
            </a:r>
            <a:r>
              <a:rPr lang="en-CA" sz="2400" b="1" dirty="0">
                <a:solidFill>
                  <a:srgbClr val="00FF00"/>
                </a:solidFill>
              </a:rPr>
              <a:t>.</a:t>
            </a:r>
          </a:p>
        </p:txBody>
      </p:sp>
      <p:sp>
        <p:nvSpPr>
          <p:cNvPr id="14" name="TextBox 13">
            <a:extLst>
              <a:ext uri="{FF2B5EF4-FFF2-40B4-BE49-F238E27FC236}">
                <a16:creationId xmlns:a16="http://schemas.microsoft.com/office/drawing/2014/main" id="{81404ECB-62D2-B419-4603-9621CAF5AA74}"/>
              </a:ext>
            </a:extLst>
          </p:cNvPr>
          <p:cNvSpPr txBox="1"/>
          <p:nvPr/>
        </p:nvSpPr>
        <p:spPr>
          <a:xfrm>
            <a:off x="2527430" y="4664888"/>
            <a:ext cx="1520481" cy="461665"/>
          </a:xfrm>
          <a:prstGeom prst="rect">
            <a:avLst/>
          </a:prstGeom>
          <a:noFill/>
        </p:spPr>
        <p:txBody>
          <a:bodyPr wrap="none" rtlCol="0">
            <a:spAutoFit/>
          </a:bodyPr>
          <a:lstStyle/>
          <a:p>
            <a:pPr algn="ctr"/>
            <a:r>
              <a:rPr lang="en-CA" sz="2400" b="1" dirty="0">
                <a:solidFill>
                  <a:schemeClr val="accent6"/>
                </a:solidFill>
              </a:rPr>
              <a:t>Terminal</a:t>
            </a:r>
            <a:r>
              <a:rPr lang="en-CA" sz="2400" b="1" dirty="0">
                <a:solidFill>
                  <a:srgbClr val="00FF00"/>
                </a:solidFill>
              </a:rPr>
              <a:t>.</a:t>
            </a:r>
          </a:p>
        </p:txBody>
      </p:sp>
      <p:pic>
        <p:nvPicPr>
          <p:cNvPr id="6158" name="Picture 14" descr="Console Command-Line Icons Terminal Computer Linux Interface Transparent HQ  PNG Download | FreePNGimg">
            <a:extLst>
              <a:ext uri="{FF2B5EF4-FFF2-40B4-BE49-F238E27FC236}">
                <a16:creationId xmlns:a16="http://schemas.microsoft.com/office/drawing/2014/main" id="{CFE02B8C-64A4-EC91-3C45-C57C791CD0E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85505" y="5066573"/>
            <a:ext cx="1280029" cy="128002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3DA90A4E-E67A-BDC8-DFA3-AF0BF939F327}"/>
              </a:ext>
            </a:extLst>
          </p:cNvPr>
          <p:cNvSpPr txBox="1"/>
          <p:nvPr/>
        </p:nvSpPr>
        <p:spPr>
          <a:xfrm>
            <a:off x="1804474" y="6275931"/>
            <a:ext cx="2966389" cy="461665"/>
          </a:xfrm>
          <a:prstGeom prst="rect">
            <a:avLst/>
          </a:prstGeom>
          <a:noFill/>
        </p:spPr>
        <p:txBody>
          <a:bodyPr wrap="none" rtlCol="0">
            <a:spAutoFit/>
          </a:bodyPr>
          <a:lstStyle/>
          <a:p>
            <a:pPr algn="ctr"/>
            <a:r>
              <a:rPr lang="en-CA" sz="2400" b="1" dirty="0">
                <a:solidFill>
                  <a:srgbClr val="FFFFFF"/>
                </a:solidFill>
              </a:rPr>
              <a:t>Anaconda Terminal</a:t>
            </a:r>
          </a:p>
        </p:txBody>
      </p:sp>
      <p:pic>
        <p:nvPicPr>
          <p:cNvPr id="6164" name="Picture 20" descr="Anaconda- Open-source distribution of Python &amp; R - Locus IT Services Nordic  | Your Trusted Partner for Data Science &amp; Analytics Solutions">
            <a:extLst>
              <a:ext uri="{FF2B5EF4-FFF2-40B4-BE49-F238E27FC236}">
                <a16:creationId xmlns:a16="http://schemas.microsoft.com/office/drawing/2014/main" id="{A9720E27-2BD9-2887-E481-5A979AE2C36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5900" y="3400094"/>
            <a:ext cx="2314770" cy="115479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0" descr="Anaconda- Open-source distribution of Python &amp; R - Locus IT Services Nordic  | Your Trusted Partner for Data Science &amp; Analytics Solutions">
            <a:extLst>
              <a:ext uri="{FF2B5EF4-FFF2-40B4-BE49-F238E27FC236}">
                <a16:creationId xmlns:a16="http://schemas.microsoft.com/office/drawing/2014/main" id="{F206FC4C-0647-AEC6-4B48-09F9E2F80F9E}"/>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32264" r="32032" b="35377"/>
          <a:stretch>
            <a:fillRect/>
          </a:stretch>
        </p:blipFill>
        <p:spPr bwMode="auto">
          <a:xfrm>
            <a:off x="3309807" y="5143536"/>
            <a:ext cx="1280029" cy="1155818"/>
          </a:xfrm>
          <a:prstGeom prst="rect">
            <a:avLst/>
          </a:prstGeom>
          <a:noFill/>
          <a:extLst>
            <a:ext uri="{909E8E84-426E-40DD-AFC4-6F175D3DCCD1}">
              <a14:hiddenFill xmlns:a14="http://schemas.microsoft.com/office/drawing/2010/main">
                <a:solidFill>
                  <a:srgbClr val="FFFFFF"/>
                </a:solidFill>
              </a14:hiddenFill>
            </a:ext>
          </a:extLst>
        </p:spPr>
      </p:pic>
      <p:pic>
        <p:nvPicPr>
          <p:cNvPr id="6168" name="Picture 24" descr="Python icon transparent background 48332144 PNG">
            <a:extLst>
              <a:ext uri="{FF2B5EF4-FFF2-40B4-BE49-F238E27FC236}">
                <a16:creationId xmlns:a16="http://schemas.microsoft.com/office/drawing/2014/main" id="{2BA825B0-67D5-66D7-8B9C-8B8D06EFFC4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36828" y="1908646"/>
            <a:ext cx="1155818" cy="1155818"/>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Straight Arrow Connector 17">
            <a:extLst>
              <a:ext uri="{FF2B5EF4-FFF2-40B4-BE49-F238E27FC236}">
                <a16:creationId xmlns:a16="http://schemas.microsoft.com/office/drawing/2014/main" id="{F692E21E-BA08-9053-401E-8C19B1244CF0}"/>
              </a:ext>
            </a:extLst>
          </p:cNvPr>
          <p:cNvCxnSpPr/>
          <p:nvPr/>
        </p:nvCxnSpPr>
        <p:spPr>
          <a:xfrm flipH="1" flipV="1">
            <a:off x="3998135" y="2711669"/>
            <a:ext cx="2097865" cy="113511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4" name="Picture 2" descr="Sebastian Goodfellow">
            <a:extLst>
              <a:ext uri="{FF2B5EF4-FFF2-40B4-BE49-F238E27FC236}">
                <a16:creationId xmlns:a16="http://schemas.microsoft.com/office/drawing/2014/main" id="{C7B29002-D16C-CB6A-8A9A-E251DFB0C8A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05923" y="2583915"/>
            <a:ext cx="2580153" cy="2580153"/>
          </a:xfrm>
          <a:prstGeom prst="ellipse">
            <a:avLst/>
          </a:prstGeom>
          <a:ln w="6350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B07D9B26-5E5D-94A1-06AD-6B446ED6FD57}"/>
              </a:ext>
            </a:extLst>
          </p:cNvPr>
          <p:cNvSpPr/>
          <p:nvPr/>
        </p:nvSpPr>
        <p:spPr>
          <a:xfrm>
            <a:off x="32498" y="2869324"/>
            <a:ext cx="3277309" cy="1835970"/>
          </a:xfrm>
          <a:prstGeom prst="rect">
            <a:avLst/>
          </a:prstGeom>
          <a:solidFill>
            <a:srgbClr val="2D2D2D">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Rectangle 16">
            <a:extLst>
              <a:ext uri="{FF2B5EF4-FFF2-40B4-BE49-F238E27FC236}">
                <a16:creationId xmlns:a16="http://schemas.microsoft.com/office/drawing/2014/main" id="{3D698107-74ED-BAD7-D030-4252F80224E2}"/>
              </a:ext>
            </a:extLst>
          </p:cNvPr>
          <p:cNvSpPr/>
          <p:nvPr/>
        </p:nvSpPr>
        <p:spPr>
          <a:xfrm>
            <a:off x="1252043" y="4705294"/>
            <a:ext cx="3518820" cy="1991896"/>
          </a:xfrm>
          <a:prstGeom prst="rect">
            <a:avLst/>
          </a:prstGeom>
          <a:solidFill>
            <a:srgbClr val="2D2D2D">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Rectangle 19">
            <a:extLst>
              <a:ext uri="{FF2B5EF4-FFF2-40B4-BE49-F238E27FC236}">
                <a16:creationId xmlns:a16="http://schemas.microsoft.com/office/drawing/2014/main" id="{B934E6DC-DED4-DA4F-A65E-1C5736DE38B1}"/>
              </a:ext>
            </a:extLst>
          </p:cNvPr>
          <p:cNvSpPr/>
          <p:nvPr/>
        </p:nvSpPr>
        <p:spPr>
          <a:xfrm>
            <a:off x="9156242" y="1693304"/>
            <a:ext cx="3035758" cy="2490016"/>
          </a:xfrm>
          <a:prstGeom prst="rect">
            <a:avLst/>
          </a:prstGeom>
          <a:solidFill>
            <a:srgbClr val="2D2D2D">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Rectangle 20">
            <a:extLst>
              <a:ext uri="{FF2B5EF4-FFF2-40B4-BE49-F238E27FC236}">
                <a16:creationId xmlns:a16="http://schemas.microsoft.com/office/drawing/2014/main" id="{F9941275-4E72-807B-F7C1-4294DDE5EAE1}"/>
              </a:ext>
            </a:extLst>
          </p:cNvPr>
          <p:cNvSpPr/>
          <p:nvPr/>
        </p:nvSpPr>
        <p:spPr>
          <a:xfrm>
            <a:off x="7539961" y="4198502"/>
            <a:ext cx="3035758" cy="2490016"/>
          </a:xfrm>
          <a:prstGeom prst="rect">
            <a:avLst/>
          </a:prstGeom>
          <a:solidFill>
            <a:srgbClr val="2D2D2D">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Rectangle 22">
            <a:extLst>
              <a:ext uri="{FF2B5EF4-FFF2-40B4-BE49-F238E27FC236}">
                <a16:creationId xmlns:a16="http://schemas.microsoft.com/office/drawing/2014/main" id="{24D37AEE-BAB0-D2C8-551F-11CAADC08797}"/>
              </a:ext>
            </a:extLst>
          </p:cNvPr>
          <p:cNvSpPr/>
          <p:nvPr/>
        </p:nvSpPr>
        <p:spPr>
          <a:xfrm>
            <a:off x="6521431" y="517916"/>
            <a:ext cx="2733742" cy="2005544"/>
          </a:xfrm>
          <a:prstGeom prst="rect">
            <a:avLst/>
          </a:prstGeom>
          <a:solidFill>
            <a:srgbClr val="2D2D2D">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400786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rrow: Right 10">
            <a:extLst>
              <a:ext uri="{FF2B5EF4-FFF2-40B4-BE49-F238E27FC236}">
                <a16:creationId xmlns:a16="http://schemas.microsoft.com/office/drawing/2014/main" id="{A654E30E-7D4C-8041-936F-8E22EBADDA5D}"/>
              </a:ext>
            </a:extLst>
          </p:cNvPr>
          <p:cNvSpPr/>
          <p:nvPr/>
        </p:nvSpPr>
        <p:spPr>
          <a:xfrm rot="5400000">
            <a:off x="8863898" y="4937176"/>
            <a:ext cx="1069336" cy="513956"/>
          </a:xfrm>
          <a:prstGeom prst="rightArrow">
            <a:avLst>
              <a:gd name="adj1" fmla="val 52454"/>
              <a:gd name="adj2" fmla="val 86123"/>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a:extLst>
              <a:ext uri="{FF2B5EF4-FFF2-40B4-BE49-F238E27FC236}">
                <a16:creationId xmlns:a16="http://schemas.microsoft.com/office/drawing/2014/main" id="{DE4E27F3-EBE2-4534-F15C-3948FD688ED3}"/>
              </a:ext>
            </a:extLst>
          </p:cNvPr>
          <p:cNvSpPr>
            <a:spLocks noGrp="1"/>
          </p:cNvSpPr>
          <p:nvPr>
            <p:ph type="title"/>
          </p:nvPr>
        </p:nvSpPr>
        <p:spPr/>
        <p:txBody>
          <a:bodyPr>
            <a:normAutofit fontScale="90000"/>
          </a:bodyPr>
          <a:lstStyle/>
          <a:p>
            <a:r>
              <a:rPr lang="en-CA" b="1" dirty="0"/>
              <a:t>Python Interpreter</a:t>
            </a:r>
            <a:r>
              <a:rPr lang="en-CA" b="1" dirty="0">
                <a:solidFill>
                  <a:schemeClr val="accent6"/>
                </a:solidFill>
              </a:rPr>
              <a:t>.</a:t>
            </a:r>
          </a:p>
        </p:txBody>
      </p:sp>
      <p:sp>
        <p:nvSpPr>
          <p:cNvPr id="3" name="Content Placeholder 2">
            <a:extLst>
              <a:ext uri="{FF2B5EF4-FFF2-40B4-BE49-F238E27FC236}">
                <a16:creationId xmlns:a16="http://schemas.microsoft.com/office/drawing/2014/main" id="{6A805FC4-4E22-5CFA-8630-FE4108FA1BBE}"/>
              </a:ext>
            </a:extLst>
          </p:cNvPr>
          <p:cNvSpPr>
            <a:spLocks noGrp="1"/>
          </p:cNvSpPr>
          <p:nvPr>
            <p:ph idx="1"/>
          </p:nvPr>
        </p:nvSpPr>
        <p:spPr>
          <a:xfrm>
            <a:off x="838199" y="1825624"/>
            <a:ext cx="5132243" cy="4835479"/>
          </a:xfrm>
        </p:spPr>
        <p:txBody>
          <a:bodyPr>
            <a:normAutofit fontScale="85000" lnSpcReduction="10000"/>
          </a:bodyPr>
          <a:lstStyle/>
          <a:p>
            <a:r>
              <a:rPr lang="en-US" dirty="0"/>
              <a:t>You write code in a </a:t>
            </a:r>
            <a:r>
              <a:rPr lang="en-US" b="1" dirty="0">
                <a:solidFill>
                  <a:srgbClr val="00FF00"/>
                </a:solidFill>
                <a:latin typeface="Consolas" panose="020B0609020204030204" pitchFamily="49" charset="0"/>
              </a:rPr>
              <a:t>.</a:t>
            </a:r>
            <a:r>
              <a:rPr lang="en-US" b="1" dirty="0" err="1">
                <a:solidFill>
                  <a:srgbClr val="00FF00"/>
                </a:solidFill>
                <a:latin typeface="Consolas" panose="020B0609020204030204" pitchFamily="49" charset="0"/>
              </a:rPr>
              <a:t>py</a:t>
            </a:r>
            <a:r>
              <a:rPr lang="en-US" b="1" dirty="0">
                <a:solidFill>
                  <a:srgbClr val="00FF00"/>
                </a:solidFill>
                <a:latin typeface="Consolas" panose="020B0609020204030204" pitchFamily="49" charset="0"/>
              </a:rPr>
              <a:t> </a:t>
            </a:r>
            <a:r>
              <a:rPr lang="en-US" dirty="0"/>
              <a:t>file </a:t>
            </a:r>
            <a:r>
              <a:rPr lang="en-US" dirty="0">
                <a:solidFill>
                  <a:srgbClr val="00FF00"/>
                </a:solidFill>
              </a:rPr>
              <a:t>(</a:t>
            </a:r>
            <a:r>
              <a:rPr lang="en-US" dirty="0"/>
              <a:t>plain text</a:t>
            </a:r>
            <a:r>
              <a:rPr lang="en-US" dirty="0">
                <a:solidFill>
                  <a:srgbClr val="00FF00"/>
                </a:solidFill>
              </a:rPr>
              <a:t>)</a:t>
            </a:r>
            <a:r>
              <a:rPr lang="en-US" dirty="0">
                <a:solidFill>
                  <a:schemeClr val="accent6"/>
                </a:solidFill>
              </a:rPr>
              <a:t>.</a:t>
            </a:r>
          </a:p>
          <a:p>
            <a:r>
              <a:rPr lang="en-US" dirty="0"/>
              <a:t>In the terminal you run</a:t>
            </a:r>
            <a:r>
              <a:rPr lang="en-US" dirty="0">
                <a:solidFill>
                  <a:schemeClr val="accent6"/>
                </a:solidFill>
              </a:rPr>
              <a:t>:</a:t>
            </a:r>
            <a:r>
              <a:rPr lang="en-US" dirty="0"/>
              <a:t> </a:t>
            </a:r>
          </a:p>
          <a:p>
            <a:pPr lvl="1"/>
            <a:r>
              <a:rPr lang="en-US" b="1" dirty="0">
                <a:solidFill>
                  <a:srgbClr val="00FF00"/>
                </a:solidFill>
                <a:latin typeface="Consolas" panose="020B0609020204030204" pitchFamily="49" charset="0"/>
              </a:rPr>
              <a:t>python myfile.py</a:t>
            </a:r>
            <a:endParaRPr lang="en-US" dirty="0">
              <a:solidFill>
                <a:schemeClr val="accent6"/>
              </a:solidFill>
              <a:latin typeface="Consolas" panose="020B0609020204030204" pitchFamily="49" charset="0"/>
            </a:endParaRPr>
          </a:p>
          <a:p>
            <a:r>
              <a:rPr lang="en-US" dirty="0"/>
              <a:t>The Python interpreter reads your file top to bottom</a:t>
            </a:r>
            <a:r>
              <a:rPr lang="en-US" dirty="0">
                <a:solidFill>
                  <a:schemeClr val="accent6"/>
                </a:solidFill>
              </a:rPr>
              <a:t>,</a:t>
            </a:r>
            <a:r>
              <a:rPr lang="en-US" dirty="0"/>
              <a:t> translating it into actions as it goes</a:t>
            </a:r>
            <a:r>
              <a:rPr lang="en-US" dirty="0">
                <a:solidFill>
                  <a:schemeClr val="accent6"/>
                </a:solidFill>
              </a:rPr>
              <a:t>.</a:t>
            </a:r>
          </a:p>
          <a:p>
            <a:r>
              <a:rPr lang="en-US" dirty="0"/>
              <a:t>It executes the instructions </a:t>
            </a:r>
            <a:r>
              <a:rPr lang="en-US" dirty="0">
                <a:solidFill>
                  <a:srgbClr val="00FF00"/>
                </a:solidFill>
              </a:rPr>
              <a:t>(</a:t>
            </a:r>
            <a:r>
              <a:rPr lang="en-US" dirty="0"/>
              <a:t>does calculations</a:t>
            </a:r>
            <a:r>
              <a:rPr lang="en-US" dirty="0">
                <a:solidFill>
                  <a:schemeClr val="accent6"/>
                </a:solidFill>
              </a:rPr>
              <a:t>,</a:t>
            </a:r>
            <a:r>
              <a:rPr lang="en-US" dirty="0"/>
              <a:t> calls functions</a:t>
            </a:r>
            <a:r>
              <a:rPr lang="en-US" dirty="0">
                <a:solidFill>
                  <a:schemeClr val="accent6"/>
                </a:solidFill>
              </a:rPr>
              <a:t>,</a:t>
            </a:r>
            <a:r>
              <a:rPr lang="en-US" dirty="0"/>
              <a:t> reads input</a:t>
            </a:r>
            <a:r>
              <a:rPr lang="en-US" dirty="0">
                <a:solidFill>
                  <a:schemeClr val="accent6"/>
                </a:solidFill>
              </a:rPr>
              <a:t>,</a:t>
            </a:r>
            <a:r>
              <a:rPr lang="en-US" dirty="0"/>
              <a:t> etc</a:t>
            </a:r>
            <a:r>
              <a:rPr lang="en-US" dirty="0">
                <a:solidFill>
                  <a:schemeClr val="accent6"/>
                </a:solidFill>
              </a:rPr>
              <a:t>.</a:t>
            </a:r>
            <a:r>
              <a:rPr lang="en-US" dirty="0">
                <a:solidFill>
                  <a:srgbClr val="00FF00"/>
                </a:solidFill>
              </a:rPr>
              <a:t>)</a:t>
            </a:r>
            <a:r>
              <a:rPr lang="en-US" dirty="0">
                <a:solidFill>
                  <a:schemeClr val="accent6"/>
                </a:solidFill>
              </a:rPr>
              <a:t>.</a:t>
            </a:r>
          </a:p>
          <a:p>
            <a:r>
              <a:rPr lang="en-US" dirty="0"/>
              <a:t>Results appear as output </a:t>
            </a:r>
            <a:r>
              <a:rPr lang="en-US" dirty="0">
                <a:solidFill>
                  <a:srgbClr val="00FF00"/>
                </a:solidFill>
              </a:rPr>
              <a:t>(</a:t>
            </a:r>
            <a:r>
              <a:rPr lang="en-US" dirty="0"/>
              <a:t>printed text</a:t>
            </a:r>
            <a:r>
              <a:rPr lang="en-US" dirty="0">
                <a:solidFill>
                  <a:schemeClr val="accent6"/>
                </a:solidFill>
              </a:rPr>
              <a:t>,</a:t>
            </a:r>
            <a:r>
              <a:rPr lang="en-US" dirty="0"/>
              <a:t> files saved, graphs shown</a:t>
            </a:r>
            <a:r>
              <a:rPr lang="en-US" dirty="0">
                <a:solidFill>
                  <a:srgbClr val="00FF00"/>
                </a:solidFill>
              </a:rPr>
              <a:t>)</a:t>
            </a:r>
            <a:r>
              <a:rPr lang="en-US" dirty="0">
                <a:solidFill>
                  <a:schemeClr val="accent6"/>
                </a:solidFill>
              </a:rPr>
              <a:t>,</a:t>
            </a:r>
            <a:r>
              <a:rPr lang="en-US" dirty="0"/>
              <a:t> and if something is wrong you get an error message</a:t>
            </a:r>
            <a:r>
              <a:rPr lang="en-US" dirty="0">
                <a:solidFill>
                  <a:schemeClr val="accent6"/>
                </a:solidFill>
              </a:rPr>
              <a:t>/</a:t>
            </a:r>
            <a:r>
              <a:rPr lang="en-US" dirty="0"/>
              <a:t>traceback</a:t>
            </a:r>
            <a:r>
              <a:rPr lang="en-US" dirty="0">
                <a:solidFill>
                  <a:schemeClr val="accent6"/>
                </a:solidFill>
              </a:rPr>
              <a:t>.</a:t>
            </a:r>
            <a:endParaRPr lang="en-CA" dirty="0">
              <a:solidFill>
                <a:schemeClr val="accent6"/>
              </a:solidFill>
            </a:endParaRPr>
          </a:p>
        </p:txBody>
      </p:sp>
      <p:sp>
        <p:nvSpPr>
          <p:cNvPr id="5" name="Rectangle: Rounded Corners 4">
            <a:extLst>
              <a:ext uri="{FF2B5EF4-FFF2-40B4-BE49-F238E27FC236}">
                <a16:creationId xmlns:a16="http://schemas.microsoft.com/office/drawing/2014/main" id="{8FB6C512-E822-CBC7-66F6-BA17B343CF78}"/>
              </a:ext>
            </a:extLst>
          </p:cNvPr>
          <p:cNvSpPr/>
          <p:nvPr/>
        </p:nvSpPr>
        <p:spPr>
          <a:xfrm>
            <a:off x="6861153" y="964846"/>
            <a:ext cx="4874698" cy="1254939"/>
          </a:xfrm>
          <a:prstGeom prst="roundRect">
            <a:avLst/>
          </a:prstGeom>
          <a:noFill/>
          <a:ln w="5715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C6319A94-CBA5-0EFF-C830-155FC8E6D1F4}"/>
              </a:ext>
            </a:extLst>
          </p:cNvPr>
          <p:cNvSpPr txBox="1"/>
          <p:nvPr/>
        </p:nvSpPr>
        <p:spPr>
          <a:xfrm>
            <a:off x="6732927" y="564287"/>
            <a:ext cx="1358770" cy="369332"/>
          </a:xfrm>
          <a:prstGeom prst="rect">
            <a:avLst/>
          </a:prstGeom>
          <a:noFill/>
        </p:spPr>
        <p:txBody>
          <a:bodyPr wrap="none" rtlCol="0">
            <a:spAutoFit/>
          </a:bodyPr>
          <a:lstStyle/>
          <a:p>
            <a:r>
              <a:rPr lang="en-CA" b="1" dirty="0">
                <a:solidFill>
                  <a:srgbClr val="FFFFFF"/>
                </a:solidFill>
              </a:rPr>
              <a:t>test_file</a:t>
            </a:r>
            <a:r>
              <a:rPr lang="en-CA" b="1" dirty="0">
                <a:solidFill>
                  <a:srgbClr val="00FF00"/>
                </a:solidFill>
              </a:rPr>
              <a:t>.</a:t>
            </a:r>
            <a:r>
              <a:rPr lang="en-CA" b="1" dirty="0">
                <a:solidFill>
                  <a:srgbClr val="FFFFFF"/>
                </a:solidFill>
              </a:rPr>
              <a:t>py</a:t>
            </a:r>
          </a:p>
        </p:txBody>
      </p:sp>
      <p:sp>
        <p:nvSpPr>
          <p:cNvPr id="7" name="TextBox 6">
            <a:extLst>
              <a:ext uri="{FF2B5EF4-FFF2-40B4-BE49-F238E27FC236}">
                <a16:creationId xmlns:a16="http://schemas.microsoft.com/office/drawing/2014/main" id="{26634CFB-550B-68A5-CFEA-3D4638D7BD30}"/>
              </a:ext>
            </a:extLst>
          </p:cNvPr>
          <p:cNvSpPr txBox="1"/>
          <p:nvPr/>
        </p:nvSpPr>
        <p:spPr>
          <a:xfrm>
            <a:off x="7037727" y="1129178"/>
            <a:ext cx="2360839" cy="369332"/>
          </a:xfrm>
          <a:prstGeom prst="rect">
            <a:avLst/>
          </a:prstGeom>
          <a:noFill/>
        </p:spPr>
        <p:txBody>
          <a:bodyPr wrap="none" rtlCol="0">
            <a:spAutoFit/>
          </a:bodyPr>
          <a:lstStyle/>
          <a:p>
            <a:r>
              <a:rPr lang="en-CA" b="1" dirty="0">
                <a:solidFill>
                  <a:srgbClr val="FFFFFF"/>
                </a:solidFill>
              </a:rPr>
              <a:t>print(“Hello Class!”)</a:t>
            </a:r>
          </a:p>
        </p:txBody>
      </p:sp>
      <p:pic>
        <p:nvPicPr>
          <p:cNvPr id="9" name="Picture 24" descr="Python icon transparent background 48332144 PNG">
            <a:extLst>
              <a:ext uri="{FF2B5EF4-FFF2-40B4-BE49-F238E27FC236}">
                <a16:creationId xmlns:a16="http://schemas.microsoft.com/office/drawing/2014/main" id="{013066DB-358B-E0BC-341E-A9005B0BDC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0877" y="2810433"/>
            <a:ext cx="2295378" cy="2295378"/>
          </a:xfrm>
          <a:prstGeom prst="rect">
            <a:avLst/>
          </a:prstGeom>
          <a:noFill/>
          <a:extLst>
            <a:ext uri="{909E8E84-426E-40DD-AFC4-6F175D3DCCD1}">
              <a14:hiddenFill xmlns:a14="http://schemas.microsoft.com/office/drawing/2010/main">
                <a:solidFill>
                  <a:srgbClr val="FFFFFF"/>
                </a:solidFill>
              </a14:hiddenFill>
            </a:ext>
          </a:extLst>
        </p:spPr>
      </p:pic>
      <p:sp>
        <p:nvSpPr>
          <p:cNvPr id="10" name="Arrow: Right 9">
            <a:extLst>
              <a:ext uri="{FF2B5EF4-FFF2-40B4-BE49-F238E27FC236}">
                <a16:creationId xmlns:a16="http://schemas.microsoft.com/office/drawing/2014/main" id="{C7970953-0979-9CEF-6818-E640D9E66E69}"/>
              </a:ext>
            </a:extLst>
          </p:cNvPr>
          <p:cNvSpPr/>
          <p:nvPr/>
        </p:nvSpPr>
        <p:spPr>
          <a:xfrm rot="5400000">
            <a:off x="8977263" y="2363057"/>
            <a:ext cx="842606" cy="513956"/>
          </a:xfrm>
          <a:prstGeom prst="rightArrow">
            <a:avLst>
              <a:gd name="adj1" fmla="val 52454"/>
              <a:gd name="adj2" fmla="val 86123"/>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Rectangle: Rounded Corners 13">
            <a:extLst>
              <a:ext uri="{FF2B5EF4-FFF2-40B4-BE49-F238E27FC236}">
                <a16:creationId xmlns:a16="http://schemas.microsoft.com/office/drawing/2014/main" id="{3AF58EAC-AD65-60D4-DAFD-5383CF288B80}"/>
              </a:ext>
            </a:extLst>
          </p:cNvPr>
          <p:cNvSpPr/>
          <p:nvPr/>
        </p:nvSpPr>
        <p:spPr>
          <a:xfrm>
            <a:off x="6861153" y="5789092"/>
            <a:ext cx="4874698" cy="775669"/>
          </a:xfrm>
          <a:prstGeom prst="roundRect">
            <a:avLst/>
          </a:prstGeom>
          <a:noFill/>
          <a:ln w="5715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TextBox 14">
            <a:extLst>
              <a:ext uri="{FF2B5EF4-FFF2-40B4-BE49-F238E27FC236}">
                <a16:creationId xmlns:a16="http://schemas.microsoft.com/office/drawing/2014/main" id="{02FEBA94-CF16-132F-2230-D79F439E4017}"/>
              </a:ext>
            </a:extLst>
          </p:cNvPr>
          <p:cNvSpPr txBox="1"/>
          <p:nvPr/>
        </p:nvSpPr>
        <p:spPr>
          <a:xfrm>
            <a:off x="6732927" y="5111062"/>
            <a:ext cx="1943865" cy="646331"/>
          </a:xfrm>
          <a:prstGeom prst="rect">
            <a:avLst/>
          </a:prstGeom>
          <a:noFill/>
        </p:spPr>
        <p:txBody>
          <a:bodyPr wrap="none" rtlCol="0">
            <a:spAutoFit/>
          </a:bodyPr>
          <a:lstStyle/>
          <a:p>
            <a:r>
              <a:rPr lang="en-CA" b="1" dirty="0">
                <a:solidFill>
                  <a:srgbClr val="FFFFFF"/>
                </a:solidFill>
              </a:rPr>
              <a:t>standard output</a:t>
            </a:r>
          </a:p>
          <a:p>
            <a:r>
              <a:rPr lang="en-CA" b="1" dirty="0">
                <a:solidFill>
                  <a:srgbClr val="00FF00"/>
                </a:solidFill>
              </a:rPr>
              <a:t>(</a:t>
            </a:r>
            <a:r>
              <a:rPr lang="en-CA" b="1" dirty="0" err="1">
                <a:solidFill>
                  <a:srgbClr val="FFFFFF"/>
                </a:solidFill>
              </a:rPr>
              <a:t>stdout</a:t>
            </a:r>
            <a:r>
              <a:rPr lang="en-CA" b="1" dirty="0">
                <a:solidFill>
                  <a:srgbClr val="00FF00"/>
                </a:solidFill>
              </a:rPr>
              <a:t>)</a:t>
            </a:r>
          </a:p>
        </p:txBody>
      </p:sp>
      <p:sp>
        <p:nvSpPr>
          <p:cNvPr id="16" name="TextBox 15">
            <a:extLst>
              <a:ext uri="{FF2B5EF4-FFF2-40B4-BE49-F238E27FC236}">
                <a16:creationId xmlns:a16="http://schemas.microsoft.com/office/drawing/2014/main" id="{2250E53B-C77E-3227-70E9-CF35AA457124}"/>
              </a:ext>
            </a:extLst>
          </p:cNvPr>
          <p:cNvSpPr txBox="1"/>
          <p:nvPr/>
        </p:nvSpPr>
        <p:spPr>
          <a:xfrm>
            <a:off x="7037727" y="5953424"/>
            <a:ext cx="1433406" cy="369332"/>
          </a:xfrm>
          <a:prstGeom prst="rect">
            <a:avLst/>
          </a:prstGeom>
          <a:noFill/>
        </p:spPr>
        <p:txBody>
          <a:bodyPr wrap="none" rtlCol="0">
            <a:spAutoFit/>
          </a:bodyPr>
          <a:lstStyle/>
          <a:p>
            <a:r>
              <a:rPr lang="en-CA" b="1" dirty="0">
                <a:solidFill>
                  <a:srgbClr val="FFFFFF"/>
                </a:solidFill>
              </a:rPr>
              <a:t>Hello Class!</a:t>
            </a:r>
          </a:p>
        </p:txBody>
      </p:sp>
      <p:sp>
        <p:nvSpPr>
          <p:cNvPr id="17" name="Right Brace 16">
            <a:extLst>
              <a:ext uri="{FF2B5EF4-FFF2-40B4-BE49-F238E27FC236}">
                <a16:creationId xmlns:a16="http://schemas.microsoft.com/office/drawing/2014/main" id="{6D56BE96-E372-0AAF-17B0-35EDD06B5FF4}"/>
              </a:ext>
            </a:extLst>
          </p:cNvPr>
          <p:cNvSpPr/>
          <p:nvPr/>
        </p:nvSpPr>
        <p:spPr>
          <a:xfrm>
            <a:off x="5459075" y="1616900"/>
            <a:ext cx="2029317" cy="4902335"/>
          </a:xfrm>
          <a:prstGeom prst="rightBrace">
            <a:avLst>
              <a:gd name="adj1" fmla="val 42455"/>
              <a:gd name="adj2" fmla="val 48950"/>
            </a:avLst>
          </a:prstGeom>
          <a:ln w="38100">
            <a:solidFill>
              <a:srgbClr val="CC99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Tree>
    <p:extLst>
      <p:ext uri="{BB962C8B-B14F-4D97-AF65-F5344CB8AC3E}">
        <p14:creationId xmlns:p14="http://schemas.microsoft.com/office/powerpoint/2010/main" val="14599001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8C20D-41B3-C1F3-0C09-D37E6AFB1D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BF621B-528A-3BEF-4566-4FC607021422}"/>
              </a:ext>
            </a:extLst>
          </p:cNvPr>
          <p:cNvSpPr>
            <a:spLocks noGrp="1"/>
          </p:cNvSpPr>
          <p:nvPr>
            <p:ph type="title"/>
          </p:nvPr>
        </p:nvSpPr>
        <p:spPr/>
        <p:txBody>
          <a:bodyPr>
            <a:normAutofit fontScale="90000"/>
          </a:bodyPr>
          <a:lstStyle/>
          <a:p>
            <a:r>
              <a:rPr lang="en-CA" b="1" dirty="0"/>
              <a:t>Python Interpreter</a:t>
            </a:r>
            <a:r>
              <a:rPr lang="en-CA" b="1" dirty="0">
                <a:solidFill>
                  <a:schemeClr val="accent6"/>
                </a:solidFill>
              </a:rPr>
              <a:t>.</a:t>
            </a:r>
          </a:p>
        </p:txBody>
      </p:sp>
      <p:sp>
        <p:nvSpPr>
          <p:cNvPr id="3" name="Content Placeholder 2">
            <a:extLst>
              <a:ext uri="{FF2B5EF4-FFF2-40B4-BE49-F238E27FC236}">
                <a16:creationId xmlns:a16="http://schemas.microsoft.com/office/drawing/2014/main" id="{D3B50B8B-337B-BEE3-03F8-07C983EBEE75}"/>
              </a:ext>
            </a:extLst>
          </p:cNvPr>
          <p:cNvSpPr>
            <a:spLocks noGrp="1"/>
          </p:cNvSpPr>
          <p:nvPr>
            <p:ph idx="1"/>
          </p:nvPr>
        </p:nvSpPr>
        <p:spPr>
          <a:xfrm>
            <a:off x="838199" y="1825624"/>
            <a:ext cx="5132243" cy="4835479"/>
          </a:xfrm>
        </p:spPr>
        <p:txBody>
          <a:bodyPr>
            <a:normAutofit fontScale="85000" lnSpcReduction="10000"/>
          </a:bodyPr>
          <a:lstStyle/>
          <a:p>
            <a:r>
              <a:rPr lang="en-US" dirty="0"/>
              <a:t>You write code in a </a:t>
            </a:r>
            <a:r>
              <a:rPr lang="en-US" b="1" dirty="0">
                <a:solidFill>
                  <a:srgbClr val="00FF00"/>
                </a:solidFill>
                <a:latin typeface="Consolas" panose="020B0609020204030204" pitchFamily="49" charset="0"/>
              </a:rPr>
              <a:t>.</a:t>
            </a:r>
            <a:r>
              <a:rPr lang="en-US" b="1" dirty="0" err="1">
                <a:solidFill>
                  <a:srgbClr val="00FF00"/>
                </a:solidFill>
                <a:latin typeface="Consolas" panose="020B0609020204030204" pitchFamily="49" charset="0"/>
              </a:rPr>
              <a:t>py</a:t>
            </a:r>
            <a:r>
              <a:rPr lang="en-US" b="1" dirty="0">
                <a:solidFill>
                  <a:srgbClr val="00FF00"/>
                </a:solidFill>
                <a:latin typeface="Consolas" panose="020B0609020204030204" pitchFamily="49" charset="0"/>
              </a:rPr>
              <a:t> </a:t>
            </a:r>
            <a:r>
              <a:rPr lang="en-US" dirty="0"/>
              <a:t>file </a:t>
            </a:r>
            <a:r>
              <a:rPr lang="en-US" dirty="0">
                <a:solidFill>
                  <a:srgbClr val="00FF00"/>
                </a:solidFill>
              </a:rPr>
              <a:t>(</a:t>
            </a:r>
            <a:r>
              <a:rPr lang="en-US" dirty="0"/>
              <a:t>plain text</a:t>
            </a:r>
            <a:r>
              <a:rPr lang="en-US" dirty="0">
                <a:solidFill>
                  <a:srgbClr val="00FF00"/>
                </a:solidFill>
              </a:rPr>
              <a:t>)</a:t>
            </a:r>
            <a:r>
              <a:rPr lang="en-US" dirty="0">
                <a:solidFill>
                  <a:schemeClr val="accent6"/>
                </a:solidFill>
              </a:rPr>
              <a:t>.</a:t>
            </a:r>
          </a:p>
          <a:p>
            <a:r>
              <a:rPr lang="en-US" dirty="0"/>
              <a:t>In the terminal you run</a:t>
            </a:r>
            <a:r>
              <a:rPr lang="en-US" dirty="0">
                <a:solidFill>
                  <a:schemeClr val="accent6"/>
                </a:solidFill>
              </a:rPr>
              <a:t>:</a:t>
            </a:r>
            <a:r>
              <a:rPr lang="en-US" dirty="0"/>
              <a:t> </a:t>
            </a:r>
          </a:p>
          <a:p>
            <a:pPr lvl="1"/>
            <a:r>
              <a:rPr lang="en-US" b="1" dirty="0">
                <a:solidFill>
                  <a:srgbClr val="00FF00"/>
                </a:solidFill>
                <a:latin typeface="Consolas" panose="020B0609020204030204" pitchFamily="49" charset="0"/>
              </a:rPr>
              <a:t>python myfile.py</a:t>
            </a:r>
            <a:endParaRPr lang="en-US" dirty="0">
              <a:solidFill>
                <a:schemeClr val="accent6"/>
              </a:solidFill>
              <a:latin typeface="Consolas" panose="020B0609020204030204" pitchFamily="49" charset="0"/>
            </a:endParaRPr>
          </a:p>
          <a:p>
            <a:r>
              <a:rPr lang="en-US" dirty="0"/>
              <a:t>The Python interpreter reads your file top to bottom</a:t>
            </a:r>
            <a:r>
              <a:rPr lang="en-US" dirty="0">
                <a:solidFill>
                  <a:schemeClr val="accent6"/>
                </a:solidFill>
              </a:rPr>
              <a:t>,</a:t>
            </a:r>
            <a:r>
              <a:rPr lang="en-US" dirty="0"/>
              <a:t> translating it into actions as it goes</a:t>
            </a:r>
            <a:r>
              <a:rPr lang="en-US" dirty="0">
                <a:solidFill>
                  <a:schemeClr val="accent6"/>
                </a:solidFill>
              </a:rPr>
              <a:t>.</a:t>
            </a:r>
          </a:p>
          <a:p>
            <a:r>
              <a:rPr lang="en-US" dirty="0"/>
              <a:t>It executes the instructions </a:t>
            </a:r>
            <a:r>
              <a:rPr lang="en-US" dirty="0">
                <a:solidFill>
                  <a:srgbClr val="00FF00"/>
                </a:solidFill>
              </a:rPr>
              <a:t>(</a:t>
            </a:r>
            <a:r>
              <a:rPr lang="en-US" dirty="0"/>
              <a:t>does calculations</a:t>
            </a:r>
            <a:r>
              <a:rPr lang="en-US" dirty="0">
                <a:solidFill>
                  <a:schemeClr val="accent6"/>
                </a:solidFill>
              </a:rPr>
              <a:t>,</a:t>
            </a:r>
            <a:r>
              <a:rPr lang="en-US" dirty="0"/>
              <a:t> calls functions</a:t>
            </a:r>
            <a:r>
              <a:rPr lang="en-US" dirty="0">
                <a:solidFill>
                  <a:schemeClr val="accent6"/>
                </a:solidFill>
              </a:rPr>
              <a:t>,</a:t>
            </a:r>
            <a:r>
              <a:rPr lang="en-US" dirty="0"/>
              <a:t> reads input</a:t>
            </a:r>
            <a:r>
              <a:rPr lang="en-US" dirty="0">
                <a:solidFill>
                  <a:schemeClr val="accent6"/>
                </a:solidFill>
              </a:rPr>
              <a:t>,</a:t>
            </a:r>
            <a:r>
              <a:rPr lang="en-US" dirty="0"/>
              <a:t> etc</a:t>
            </a:r>
            <a:r>
              <a:rPr lang="en-US" dirty="0">
                <a:solidFill>
                  <a:schemeClr val="accent6"/>
                </a:solidFill>
              </a:rPr>
              <a:t>.</a:t>
            </a:r>
            <a:r>
              <a:rPr lang="en-US" dirty="0">
                <a:solidFill>
                  <a:srgbClr val="00FF00"/>
                </a:solidFill>
              </a:rPr>
              <a:t>)</a:t>
            </a:r>
            <a:r>
              <a:rPr lang="en-US" dirty="0">
                <a:solidFill>
                  <a:schemeClr val="accent6"/>
                </a:solidFill>
              </a:rPr>
              <a:t>.</a:t>
            </a:r>
          </a:p>
          <a:p>
            <a:r>
              <a:rPr lang="en-US" dirty="0"/>
              <a:t>Results appear as output </a:t>
            </a:r>
            <a:r>
              <a:rPr lang="en-US" dirty="0">
                <a:solidFill>
                  <a:srgbClr val="00FF00"/>
                </a:solidFill>
              </a:rPr>
              <a:t>(</a:t>
            </a:r>
            <a:r>
              <a:rPr lang="en-US" dirty="0"/>
              <a:t>printed text</a:t>
            </a:r>
            <a:r>
              <a:rPr lang="en-US" dirty="0">
                <a:solidFill>
                  <a:schemeClr val="accent6"/>
                </a:solidFill>
              </a:rPr>
              <a:t>,</a:t>
            </a:r>
            <a:r>
              <a:rPr lang="en-US" dirty="0"/>
              <a:t> files saved, graphs shown</a:t>
            </a:r>
            <a:r>
              <a:rPr lang="en-US" dirty="0">
                <a:solidFill>
                  <a:srgbClr val="00FF00"/>
                </a:solidFill>
              </a:rPr>
              <a:t>)</a:t>
            </a:r>
            <a:r>
              <a:rPr lang="en-US" dirty="0">
                <a:solidFill>
                  <a:schemeClr val="accent6"/>
                </a:solidFill>
              </a:rPr>
              <a:t>,</a:t>
            </a:r>
            <a:r>
              <a:rPr lang="en-US" dirty="0"/>
              <a:t> and if something is wrong you get an error message</a:t>
            </a:r>
            <a:r>
              <a:rPr lang="en-US" dirty="0">
                <a:solidFill>
                  <a:schemeClr val="accent6"/>
                </a:solidFill>
              </a:rPr>
              <a:t>/</a:t>
            </a:r>
            <a:r>
              <a:rPr lang="en-US" dirty="0"/>
              <a:t>traceback</a:t>
            </a:r>
            <a:r>
              <a:rPr lang="en-US" dirty="0">
                <a:solidFill>
                  <a:schemeClr val="accent6"/>
                </a:solidFill>
              </a:rPr>
              <a:t>.</a:t>
            </a:r>
            <a:endParaRPr lang="en-CA" dirty="0">
              <a:solidFill>
                <a:schemeClr val="accent6"/>
              </a:solidFill>
            </a:endParaRPr>
          </a:p>
        </p:txBody>
      </p:sp>
      <p:sp>
        <p:nvSpPr>
          <p:cNvPr id="4" name="Rectangle: Rounded Corners 3">
            <a:extLst>
              <a:ext uri="{FF2B5EF4-FFF2-40B4-BE49-F238E27FC236}">
                <a16:creationId xmlns:a16="http://schemas.microsoft.com/office/drawing/2014/main" id="{15CFD129-BC11-2049-0D2C-9E2F8C4CC062}"/>
              </a:ext>
            </a:extLst>
          </p:cNvPr>
          <p:cNvSpPr/>
          <p:nvPr/>
        </p:nvSpPr>
        <p:spPr>
          <a:xfrm>
            <a:off x="7664115" y="1949006"/>
            <a:ext cx="3958389" cy="4418765"/>
          </a:xfrm>
          <a:prstGeom prst="roundRect">
            <a:avLst/>
          </a:prstGeom>
          <a:noFill/>
          <a:ln w="762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dirty="0">
                <a:solidFill>
                  <a:srgbClr val="FFFFFF"/>
                </a:solidFill>
              </a:rPr>
              <a:t>Let</a:t>
            </a:r>
            <a:r>
              <a:rPr lang="en-US" sz="4400" b="1" dirty="0">
                <a:solidFill>
                  <a:srgbClr val="00FF00"/>
                </a:solidFill>
              </a:rPr>
              <a:t>’</a:t>
            </a:r>
            <a:r>
              <a:rPr lang="en-US" sz="4400" b="1" dirty="0">
                <a:solidFill>
                  <a:srgbClr val="FFFFFF"/>
                </a:solidFill>
              </a:rPr>
              <a:t>s Code</a:t>
            </a:r>
            <a:r>
              <a:rPr lang="en-US" sz="4400" b="1" dirty="0">
                <a:solidFill>
                  <a:srgbClr val="00FF00"/>
                </a:solidFill>
              </a:rPr>
              <a:t>!</a:t>
            </a:r>
          </a:p>
          <a:p>
            <a:endParaRPr lang="en-US" sz="4400" b="1" dirty="0">
              <a:solidFill>
                <a:srgbClr val="FFFFFF"/>
              </a:solidFill>
            </a:endParaRPr>
          </a:p>
          <a:p>
            <a:r>
              <a:rPr lang="en-US" sz="2800" b="1" dirty="0">
                <a:solidFill>
                  <a:srgbClr val="FFFFFF"/>
                </a:solidFill>
              </a:rPr>
              <a:t>Open</a:t>
            </a:r>
            <a:r>
              <a:rPr lang="en-US" sz="2800" b="1" dirty="0">
                <a:solidFill>
                  <a:schemeClr val="accent6"/>
                </a:solidFill>
              </a:rPr>
              <a:t>:</a:t>
            </a:r>
          </a:p>
          <a:p>
            <a:pPr marL="514350" indent="-514350">
              <a:buAutoNum type="arabicPeriod"/>
            </a:pPr>
            <a:r>
              <a:rPr lang="en-US" sz="2400" b="1" dirty="0">
                <a:solidFill>
                  <a:schemeClr val="accent6"/>
                </a:solidFill>
              </a:rPr>
              <a:t>Anaconda Prompt</a:t>
            </a:r>
          </a:p>
          <a:p>
            <a:pPr marL="514350" indent="-514350">
              <a:buAutoNum type="arabicPeriod"/>
            </a:pPr>
            <a:r>
              <a:rPr lang="en-US" sz="2400" b="1" dirty="0">
                <a:solidFill>
                  <a:schemeClr val="accent6"/>
                </a:solidFill>
              </a:rPr>
              <a:t>A Text Editor</a:t>
            </a:r>
          </a:p>
        </p:txBody>
      </p:sp>
    </p:spTree>
    <p:extLst>
      <p:ext uri="{BB962C8B-B14F-4D97-AF65-F5344CB8AC3E}">
        <p14:creationId xmlns:p14="http://schemas.microsoft.com/office/powerpoint/2010/main" val="29399948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F40B3-3BC9-992B-4A7E-738FD4E1DA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564A49-06F0-891A-AA32-1FC560C17663}"/>
              </a:ext>
            </a:extLst>
          </p:cNvPr>
          <p:cNvSpPr>
            <a:spLocks noGrp="1"/>
          </p:cNvSpPr>
          <p:nvPr>
            <p:ph type="title"/>
          </p:nvPr>
        </p:nvSpPr>
        <p:spPr/>
        <p:txBody>
          <a:bodyPr>
            <a:normAutofit fontScale="90000"/>
          </a:bodyPr>
          <a:lstStyle/>
          <a:p>
            <a:r>
              <a:rPr lang="en-CA" b="1" dirty="0"/>
              <a:t>Developer Toolkit</a:t>
            </a:r>
            <a:r>
              <a:rPr lang="en-CA" b="1" dirty="0">
                <a:solidFill>
                  <a:srgbClr val="00FF00"/>
                </a:solidFill>
              </a:rPr>
              <a:t>.</a:t>
            </a:r>
          </a:p>
        </p:txBody>
      </p:sp>
      <p:sp>
        <p:nvSpPr>
          <p:cNvPr id="5" name="TextBox 4">
            <a:extLst>
              <a:ext uri="{FF2B5EF4-FFF2-40B4-BE49-F238E27FC236}">
                <a16:creationId xmlns:a16="http://schemas.microsoft.com/office/drawing/2014/main" id="{97CCA707-BD5E-E49B-4EDA-E561A9074924}"/>
              </a:ext>
            </a:extLst>
          </p:cNvPr>
          <p:cNvSpPr txBox="1"/>
          <p:nvPr/>
        </p:nvSpPr>
        <p:spPr>
          <a:xfrm>
            <a:off x="4924748" y="5391806"/>
            <a:ext cx="2342501" cy="461665"/>
          </a:xfrm>
          <a:prstGeom prst="rect">
            <a:avLst/>
          </a:prstGeom>
          <a:noFill/>
        </p:spPr>
        <p:txBody>
          <a:bodyPr wrap="none" rtlCol="0">
            <a:spAutoFit/>
          </a:bodyPr>
          <a:lstStyle/>
          <a:p>
            <a:pPr algn="ctr"/>
            <a:r>
              <a:rPr lang="en-CA" sz="2400" b="1" dirty="0">
                <a:solidFill>
                  <a:srgbClr val="FFFFFF"/>
                </a:solidFill>
              </a:rPr>
              <a:t>Developer Seb</a:t>
            </a:r>
            <a:r>
              <a:rPr lang="en-CA" b="1" dirty="0">
                <a:solidFill>
                  <a:srgbClr val="00FF00"/>
                </a:solidFill>
              </a:rPr>
              <a:t>.</a:t>
            </a:r>
          </a:p>
        </p:txBody>
      </p:sp>
      <p:pic>
        <p:nvPicPr>
          <p:cNvPr id="5122" name="Picture 2" descr="Github White Icon SVG Vector &amp; PNG Free Download | UXWing">
            <a:extLst>
              <a:ext uri="{FF2B5EF4-FFF2-40B4-BE49-F238E27FC236}">
                <a16:creationId xmlns:a16="http://schemas.microsoft.com/office/drawing/2014/main" id="{1F832B72-DACB-1055-A650-DE7E30D103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81826" y="2213555"/>
            <a:ext cx="1471974" cy="147197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EC4566F-C5E8-2D91-B580-B272D9104208}"/>
              </a:ext>
            </a:extLst>
          </p:cNvPr>
          <p:cNvSpPr txBox="1"/>
          <p:nvPr/>
        </p:nvSpPr>
        <p:spPr>
          <a:xfrm>
            <a:off x="9597342" y="3703592"/>
            <a:ext cx="2040944" cy="461665"/>
          </a:xfrm>
          <a:prstGeom prst="rect">
            <a:avLst/>
          </a:prstGeom>
          <a:noFill/>
        </p:spPr>
        <p:txBody>
          <a:bodyPr wrap="none" rtlCol="0">
            <a:spAutoFit/>
          </a:bodyPr>
          <a:lstStyle/>
          <a:p>
            <a:pPr algn="ctr"/>
            <a:r>
              <a:rPr lang="en-CA" sz="2400" b="1" dirty="0">
                <a:solidFill>
                  <a:srgbClr val="FFFFFF"/>
                </a:solidFill>
              </a:rPr>
              <a:t>Git </a:t>
            </a:r>
            <a:r>
              <a:rPr lang="en-CA" sz="2400" b="1" dirty="0">
                <a:solidFill>
                  <a:srgbClr val="00FF00"/>
                </a:solidFill>
              </a:rPr>
              <a:t>+ </a:t>
            </a:r>
            <a:r>
              <a:rPr lang="en-CA" sz="2400" b="1" dirty="0">
                <a:solidFill>
                  <a:srgbClr val="FFFFFF"/>
                </a:solidFill>
              </a:rPr>
              <a:t>GitHub</a:t>
            </a:r>
          </a:p>
        </p:txBody>
      </p:sp>
      <p:sp>
        <p:nvSpPr>
          <p:cNvPr id="7" name="TextBox 6">
            <a:extLst>
              <a:ext uri="{FF2B5EF4-FFF2-40B4-BE49-F238E27FC236}">
                <a16:creationId xmlns:a16="http://schemas.microsoft.com/office/drawing/2014/main" id="{0FC00024-4201-2B0A-C3A0-EAA009DEA0C1}"/>
              </a:ext>
            </a:extLst>
          </p:cNvPr>
          <p:cNvSpPr txBox="1"/>
          <p:nvPr/>
        </p:nvSpPr>
        <p:spPr>
          <a:xfrm>
            <a:off x="9364200" y="1752748"/>
            <a:ext cx="2507226" cy="461665"/>
          </a:xfrm>
          <a:prstGeom prst="rect">
            <a:avLst/>
          </a:prstGeom>
          <a:noFill/>
        </p:spPr>
        <p:txBody>
          <a:bodyPr wrap="none" rtlCol="0">
            <a:spAutoFit/>
          </a:bodyPr>
          <a:lstStyle/>
          <a:p>
            <a:pPr algn="ctr"/>
            <a:r>
              <a:rPr lang="en-CA" sz="2400" b="1" dirty="0">
                <a:solidFill>
                  <a:schemeClr val="accent6"/>
                </a:solidFill>
              </a:rPr>
              <a:t>Version Control</a:t>
            </a:r>
            <a:r>
              <a:rPr lang="en-CA" sz="2400" b="1" dirty="0">
                <a:solidFill>
                  <a:srgbClr val="00FF00"/>
                </a:solidFill>
              </a:rPr>
              <a:t>.</a:t>
            </a:r>
          </a:p>
        </p:txBody>
      </p:sp>
      <p:pic>
        <p:nvPicPr>
          <p:cNvPr id="6146" name="Picture 2" descr="Download Laptop Clipart Transparent Background - Laptop Png PNG Image with No  Background - PNGkey.com">
            <a:extLst>
              <a:ext uri="{FF2B5EF4-FFF2-40B4-BE49-F238E27FC236}">
                <a16:creationId xmlns:a16="http://schemas.microsoft.com/office/drawing/2014/main" id="{7950FA1A-716A-7B8D-976C-33B0C45FB6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5674" y="943979"/>
            <a:ext cx="2321210" cy="154489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72542DC1-B216-BAD9-BC74-5ACE1B9D690F}"/>
              </a:ext>
            </a:extLst>
          </p:cNvPr>
          <p:cNvPicPr>
            <a:picLocks noChangeAspect="1"/>
          </p:cNvPicPr>
          <p:nvPr/>
        </p:nvPicPr>
        <p:blipFill>
          <a:blip r:embed="rId4"/>
          <a:stretch>
            <a:fillRect/>
          </a:stretch>
        </p:blipFill>
        <p:spPr>
          <a:xfrm>
            <a:off x="6865835" y="1004529"/>
            <a:ext cx="1847718" cy="1042153"/>
          </a:xfrm>
          <a:prstGeom prst="rect">
            <a:avLst/>
          </a:prstGeom>
        </p:spPr>
      </p:pic>
      <p:sp>
        <p:nvSpPr>
          <p:cNvPr id="9" name="TextBox 8">
            <a:extLst>
              <a:ext uri="{FF2B5EF4-FFF2-40B4-BE49-F238E27FC236}">
                <a16:creationId xmlns:a16="http://schemas.microsoft.com/office/drawing/2014/main" id="{AE4724A2-2068-DF8E-E093-ADA11AA11F5F}"/>
              </a:ext>
            </a:extLst>
          </p:cNvPr>
          <p:cNvSpPr txBox="1"/>
          <p:nvPr/>
        </p:nvSpPr>
        <p:spPr>
          <a:xfrm>
            <a:off x="6941434" y="433121"/>
            <a:ext cx="1689693" cy="461665"/>
          </a:xfrm>
          <a:prstGeom prst="rect">
            <a:avLst/>
          </a:prstGeom>
          <a:noFill/>
        </p:spPr>
        <p:txBody>
          <a:bodyPr wrap="none" rtlCol="0">
            <a:spAutoFit/>
          </a:bodyPr>
          <a:lstStyle/>
          <a:p>
            <a:pPr algn="ctr"/>
            <a:r>
              <a:rPr lang="en-CA" sz="2400" b="1" dirty="0">
                <a:solidFill>
                  <a:schemeClr val="accent6"/>
                </a:solidFill>
              </a:rPr>
              <a:t>Computer</a:t>
            </a:r>
            <a:r>
              <a:rPr lang="en-CA" sz="2400" b="1" dirty="0">
                <a:solidFill>
                  <a:srgbClr val="00FF00"/>
                </a:solidFill>
              </a:rPr>
              <a:t>.</a:t>
            </a:r>
          </a:p>
        </p:txBody>
      </p:sp>
      <p:pic>
        <p:nvPicPr>
          <p:cNvPr id="6150" name="Picture 6">
            <a:extLst>
              <a:ext uri="{FF2B5EF4-FFF2-40B4-BE49-F238E27FC236}">
                <a16:creationId xmlns:a16="http://schemas.microsoft.com/office/drawing/2014/main" id="{07A81E16-FCF8-B102-4B13-F1B31E1194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6307" y="5209115"/>
            <a:ext cx="965375" cy="96537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71A914D-3532-5B06-50A8-32068D7B3E82}"/>
              </a:ext>
            </a:extLst>
          </p:cNvPr>
          <p:cNvSpPr txBox="1"/>
          <p:nvPr/>
        </p:nvSpPr>
        <p:spPr>
          <a:xfrm>
            <a:off x="8099353" y="4604908"/>
            <a:ext cx="1764009" cy="461665"/>
          </a:xfrm>
          <a:prstGeom prst="rect">
            <a:avLst/>
          </a:prstGeom>
          <a:noFill/>
        </p:spPr>
        <p:txBody>
          <a:bodyPr wrap="none" rtlCol="0">
            <a:spAutoFit/>
          </a:bodyPr>
          <a:lstStyle/>
          <a:p>
            <a:pPr algn="ctr"/>
            <a:r>
              <a:rPr lang="en-CA" sz="2400" b="1" dirty="0">
                <a:solidFill>
                  <a:schemeClr val="accent6"/>
                </a:solidFill>
              </a:rPr>
              <a:t>Editor</a:t>
            </a:r>
            <a:r>
              <a:rPr lang="en-CA" sz="2400" b="1" dirty="0">
                <a:solidFill>
                  <a:srgbClr val="00FF00"/>
                </a:solidFill>
              </a:rPr>
              <a:t>/</a:t>
            </a:r>
            <a:r>
              <a:rPr lang="en-CA" sz="2400" b="1" dirty="0">
                <a:solidFill>
                  <a:schemeClr val="accent6"/>
                </a:solidFill>
              </a:rPr>
              <a:t>IDE</a:t>
            </a:r>
            <a:r>
              <a:rPr lang="en-CA" sz="2400" b="1" dirty="0">
                <a:solidFill>
                  <a:srgbClr val="00FF00"/>
                </a:solidFill>
              </a:rPr>
              <a:t>.</a:t>
            </a:r>
          </a:p>
        </p:txBody>
      </p:sp>
      <p:pic>
        <p:nvPicPr>
          <p:cNvPr id="6154" name="Picture 10">
            <a:extLst>
              <a:ext uri="{FF2B5EF4-FFF2-40B4-BE49-F238E27FC236}">
                <a16:creationId xmlns:a16="http://schemas.microsoft.com/office/drawing/2014/main" id="{D8B7E274-9C54-AF23-79A0-889FAEAEB8B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75670" y="5164068"/>
            <a:ext cx="910097" cy="1055468"/>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570E78F-BECD-FBF7-1F35-4636328D895E}"/>
              </a:ext>
            </a:extLst>
          </p:cNvPr>
          <p:cNvSpPr txBox="1"/>
          <p:nvPr/>
        </p:nvSpPr>
        <p:spPr>
          <a:xfrm>
            <a:off x="7565150" y="6241961"/>
            <a:ext cx="2773068" cy="461665"/>
          </a:xfrm>
          <a:prstGeom prst="rect">
            <a:avLst/>
          </a:prstGeom>
          <a:noFill/>
        </p:spPr>
        <p:txBody>
          <a:bodyPr wrap="none" rtlCol="0">
            <a:spAutoFit/>
          </a:bodyPr>
          <a:lstStyle/>
          <a:p>
            <a:pPr algn="ctr"/>
            <a:r>
              <a:rPr lang="en-CA" sz="2400" b="1" dirty="0" err="1">
                <a:solidFill>
                  <a:srgbClr val="FFFFFF"/>
                </a:solidFill>
              </a:rPr>
              <a:t>VSCode</a:t>
            </a:r>
            <a:r>
              <a:rPr lang="en-CA" sz="2400" b="1" dirty="0">
                <a:solidFill>
                  <a:srgbClr val="FFFFFF"/>
                </a:solidFill>
              </a:rPr>
              <a:t> </a:t>
            </a:r>
            <a:r>
              <a:rPr lang="en-CA" sz="2400" b="1" dirty="0">
                <a:solidFill>
                  <a:srgbClr val="00FF00"/>
                </a:solidFill>
              </a:rPr>
              <a:t>+ </a:t>
            </a:r>
            <a:r>
              <a:rPr lang="en-CA" sz="2400" b="1" dirty="0" err="1">
                <a:solidFill>
                  <a:srgbClr val="FFFFFF"/>
                </a:solidFill>
              </a:rPr>
              <a:t>Jupyter</a:t>
            </a:r>
            <a:endParaRPr lang="en-CA" sz="2400" b="1" dirty="0">
              <a:solidFill>
                <a:srgbClr val="FFFFFF"/>
              </a:solidFill>
            </a:endParaRPr>
          </a:p>
        </p:txBody>
      </p:sp>
      <p:sp>
        <p:nvSpPr>
          <p:cNvPr id="12" name="TextBox 11">
            <a:extLst>
              <a:ext uri="{FF2B5EF4-FFF2-40B4-BE49-F238E27FC236}">
                <a16:creationId xmlns:a16="http://schemas.microsoft.com/office/drawing/2014/main" id="{A3B1899E-9866-65F4-CA83-D23E46C9FA9A}"/>
              </a:ext>
            </a:extLst>
          </p:cNvPr>
          <p:cNvSpPr txBox="1"/>
          <p:nvPr/>
        </p:nvSpPr>
        <p:spPr>
          <a:xfrm>
            <a:off x="2044847" y="1585397"/>
            <a:ext cx="2939779" cy="461665"/>
          </a:xfrm>
          <a:prstGeom prst="rect">
            <a:avLst/>
          </a:prstGeom>
          <a:noFill/>
        </p:spPr>
        <p:txBody>
          <a:bodyPr wrap="none" rtlCol="0">
            <a:spAutoFit/>
          </a:bodyPr>
          <a:lstStyle/>
          <a:p>
            <a:pPr algn="ctr"/>
            <a:r>
              <a:rPr lang="en-CA" sz="2400" b="1" dirty="0">
                <a:solidFill>
                  <a:schemeClr val="accent6"/>
                </a:solidFill>
              </a:rPr>
              <a:t>Python Interpreter</a:t>
            </a:r>
            <a:r>
              <a:rPr lang="en-CA" sz="2400" b="1" dirty="0">
                <a:solidFill>
                  <a:srgbClr val="00FF00"/>
                </a:solidFill>
              </a:rPr>
              <a:t>.</a:t>
            </a:r>
          </a:p>
        </p:txBody>
      </p:sp>
      <p:sp>
        <p:nvSpPr>
          <p:cNvPr id="13" name="TextBox 12">
            <a:extLst>
              <a:ext uri="{FF2B5EF4-FFF2-40B4-BE49-F238E27FC236}">
                <a16:creationId xmlns:a16="http://schemas.microsoft.com/office/drawing/2014/main" id="{5790A7A1-1E81-FEC2-56AE-ABF18D93A14C}"/>
              </a:ext>
            </a:extLst>
          </p:cNvPr>
          <p:cNvSpPr txBox="1"/>
          <p:nvPr/>
        </p:nvSpPr>
        <p:spPr>
          <a:xfrm>
            <a:off x="32498" y="2949542"/>
            <a:ext cx="2941574" cy="461665"/>
          </a:xfrm>
          <a:prstGeom prst="rect">
            <a:avLst/>
          </a:prstGeom>
          <a:noFill/>
        </p:spPr>
        <p:txBody>
          <a:bodyPr wrap="none" rtlCol="0">
            <a:spAutoFit/>
          </a:bodyPr>
          <a:lstStyle/>
          <a:p>
            <a:pPr algn="ctr"/>
            <a:r>
              <a:rPr lang="en-CA" sz="2400" b="1" dirty="0">
                <a:solidFill>
                  <a:schemeClr val="accent6"/>
                </a:solidFill>
              </a:rPr>
              <a:t>Packages Manager</a:t>
            </a:r>
            <a:r>
              <a:rPr lang="en-CA" sz="2400" b="1" dirty="0">
                <a:solidFill>
                  <a:srgbClr val="00FF00"/>
                </a:solidFill>
              </a:rPr>
              <a:t>.</a:t>
            </a:r>
          </a:p>
        </p:txBody>
      </p:sp>
      <p:sp>
        <p:nvSpPr>
          <p:cNvPr id="14" name="TextBox 13">
            <a:extLst>
              <a:ext uri="{FF2B5EF4-FFF2-40B4-BE49-F238E27FC236}">
                <a16:creationId xmlns:a16="http://schemas.microsoft.com/office/drawing/2014/main" id="{BCE05F72-E1E5-AEB8-376A-1B9239BEC232}"/>
              </a:ext>
            </a:extLst>
          </p:cNvPr>
          <p:cNvSpPr txBox="1"/>
          <p:nvPr/>
        </p:nvSpPr>
        <p:spPr>
          <a:xfrm>
            <a:off x="2527430" y="4664888"/>
            <a:ext cx="1520481" cy="461665"/>
          </a:xfrm>
          <a:prstGeom prst="rect">
            <a:avLst/>
          </a:prstGeom>
          <a:noFill/>
        </p:spPr>
        <p:txBody>
          <a:bodyPr wrap="none" rtlCol="0">
            <a:spAutoFit/>
          </a:bodyPr>
          <a:lstStyle/>
          <a:p>
            <a:pPr algn="ctr"/>
            <a:r>
              <a:rPr lang="en-CA" sz="2400" b="1" dirty="0">
                <a:solidFill>
                  <a:schemeClr val="accent6"/>
                </a:solidFill>
              </a:rPr>
              <a:t>Terminal</a:t>
            </a:r>
            <a:r>
              <a:rPr lang="en-CA" sz="2400" b="1" dirty="0">
                <a:solidFill>
                  <a:srgbClr val="00FF00"/>
                </a:solidFill>
              </a:rPr>
              <a:t>.</a:t>
            </a:r>
          </a:p>
        </p:txBody>
      </p:sp>
      <p:pic>
        <p:nvPicPr>
          <p:cNvPr id="6158" name="Picture 14" descr="Console Command-Line Icons Terminal Computer Linux Interface Transparent HQ  PNG Download | FreePNGimg">
            <a:extLst>
              <a:ext uri="{FF2B5EF4-FFF2-40B4-BE49-F238E27FC236}">
                <a16:creationId xmlns:a16="http://schemas.microsoft.com/office/drawing/2014/main" id="{7623BED2-B4C9-D61A-E0CF-3FD928A0DA6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85505" y="5066573"/>
            <a:ext cx="1280029" cy="128002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23A5FA4F-3E1D-770A-EA6C-79A78ADD41AE}"/>
              </a:ext>
            </a:extLst>
          </p:cNvPr>
          <p:cNvSpPr txBox="1"/>
          <p:nvPr/>
        </p:nvSpPr>
        <p:spPr>
          <a:xfrm>
            <a:off x="1804474" y="6275931"/>
            <a:ext cx="2966389" cy="461665"/>
          </a:xfrm>
          <a:prstGeom prst="rect">
            <a:avLst/>
          </a:prstGeom>
          <a:noFill/>
        </p:spPr>
        <p:txBody>
          <a:bodyPr wrap="none" rtlCol="0">
            <a:spAutoFit/>
          </a:bodyPr>
          <a:lstStyle/>
          <a:p>
            <a:pPr algn="ctr"/>
            <a:r>
              <a:rPr lang="en-CA" sz="2400" b="1" dirty="0">
                <a:solidFill>
                  <a:srgbClr val="FFFFFF"/>
                </a:solidFill>
              </a:rPr>
              <a:t>Anaconda Terminal</a:t>
            </a:r>
          </a:p>
        </p:txBody>
      </p:sp>
      <p:pic>
        <p:nvPicPr>
          <p:cNvPr id="6164" name="Picture 20" descr="Anaconda- Open-source distribution of Python &amp; R - Locus IT Services Nordic  | Your Trusted Partner for Data Science &amp; Analytics Solutions">
            <a:extLst>
              <a:ext uri="{FF2B5EF4-FFF2-40B4-BE49-F238E27FC236}">
                <a16:creationId xmlns:a16="http://schemas.microsoft.com/office/drawing/2014/main" id="{34613C8F-0216-1914-E077-E53C48AC622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5900" y="3400094"/>
            <a:ext cx="2314770" cy="115479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0" descr="Anaconda- Open-source distribution of Python &amp; R - Locus IT Services Nordic  | Your Trusted Partner for Data Science &amp; Analytics Solutions">
            <a:extLst>
              <a:ext uri="{FF2B5EF4-FFF2-40B4-BE49-F238E27FC236}">
                <a16:creationId xmlns:a16="http://schemas.microsoft.com/office/drawing/2014/main" id="{FD91CF61-4A7B-2BB9-E4EC-BB493B95A6B9}"/>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32264" r="32032" b="35377"/>
          <a:stretch>
            <a:fillRect/>
          </a:stretch>
        </p:blipFill>
        <p:spPr bwMode="auto">
          <a:xfrm>
            <a:off x="3309807" y="5143536"/>
            <a:ext cx="1280029" cy="1155818"/>
          </a:xfrm>
          <a:prstGeom prst="rect">
            <a:avLst/>
          </a:prstGeom>
          <a:noFill/>
          <a:extLst>
            <a:ext uri="{909E8E84-426E-40DD-AFC4-6F175D3DCCD1}">
              <a14:hiddenFill xmlns:a14="http://schemas.microsoft.com/office/drawing/2010/main">
                <a:solidFill>
                  <a:srgbClr val="FFFFFF"/>
                </a:solidFill>
              </a14:hiddenFill>
            </a:ext>
          </a:extLst>
        </p:spPr>
      </p:pic>
      <p:pic>
        <p:nvPicPr>
          <p:cNvPr id="6168" name="Picture 24" descr="Python icon transparent background 48332144 PNG">
            <a:extLst>
              <a:ext uri="{FF2B5EF4-FFF2-40B4-BE49-F238E27FC236}">
                <a16:creationId xmlns:a16="http://schemas.microsoft.com/office/drawing/2014/main" id="{C29FC4FC-0941-8A99-B69B-2A8D9C87109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36828" y="1908646"/>
            <a:ext cx="1155818" cy="1155818"/>
          </a:xfrm>
          <a:prstGeom prst="rect">
            <a:avLst/>
          </a:prstGeom>
          <a:noFill/>
          <a:extLst>
            <a:ext uri="{909E8E84-426E-40DD-AFC4-6F175D3DCCD1}">
              <a14:hiddenFill xmlns:a14="http://schemas.microsoft.com/office/drawing/2010/main">
                <a:solidFill>
                  <a:srgbClr val="FFFFFF"/>
                </a:solidFill>
              </a14:hiddenFill>
            </a:ext>
          </a:extLst>
        </p:spPr>
      </p:pic>
      <p:cxnSp>
        <p:nvCxnSpPr>
          <p:cNvPr id="31" name="Straight Arrow Connector 30">
            <a:extLst>
              <a:ext uri="{FF2B5EF4-FFF2-40B4-BE49-F238E27FC236}">
                <a16:creationId xmlns:a16="http://schemas.microsoft.com/office/drawing/2014/main" id="{141EDAC9-1EB6-2AD9-FC01-264F6D9711F5}"/>
              </a:ext>
            </a:extLst>
          </p:cNvPr>
          <p:cNvCxnSpPr>
            <a:cxnSpLocks/>
          </p:cNvCxnSpPr>
          <p:nvPr/>
        </p:nvCxnSpPr>
        <p:spPr>
          <a:xfrm>
            <a:off x="6154858" y="3910235"/>
            <a:ext cx="1778900" cy="138407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4" name="Picture 2" descr="Sebastian Goodfellow">
            <a:extLst>
              <a:ext uri="{FF2B5EF4-FFF2-40B4-BE49-F238E27FC236}">
                <a16:creationId xmlns:a16="http://schemas.microsoft.com/office/drawing/2014/main" id="{85CF09A5-892E-43BB-AF68-8A2AFD71A92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05923" y="2583915"/>
            <a:ext cx="2580153" cy="2580153"/>
          </a:xfrm>
          <a:prstGeom prst="ellipse">
            <a:avLst/>
          </a:prstGeom>
          <a:ln w="6350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B194AA0E-D4E9-8DE0-9E6F-E61D8E795A09}"/>
              </a:ext>
            </a:extLst>
          </p:cNvPr>
          <p:cNvSpPr/>
          <p:nvPr/>
        </p:nvSpPr>
        <p:spPr>
          <a:xfrm>
            <a:off x="32498" y="2869324"/>
            <a:ext cx="3277309" cy="1835970"/>
          </a:xfrm>
          <a:prstGeom prst="rect">
            <a:avLst/>
          </a:prstGeom>
          <a:solidFill>
            <a:srgbClr val="2D2D2D">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Rectangle 16">
            <a:extLst>
              <a:ext uri="{FF2B5EF4-FFF2-40B4-BE49-F238E27FC236}">
                <a16:creationId xmlns:a16="http://schemas.microsoft.com/office/drawing/2014/main" id="{D8B04BF0-2FB3-51E5-720D-AC4A75DBD1C3}"/>
              </a:ext>
            </a:extLst>
          </p:cNvPr>
          <p:cNvSpPr/>
          <p:nvPr/>
        </p:nvSpPr>
        <p:spPr>
          <a:xfrm>
            <a:off x="1252043" y="4705294"/>
            <a:ext cx="3518820" cy="1991896"/>
          </a:xfrm>
          <a:prstGeom prst="rect">
            <a:avLst/>
          </a:prstGeom>
          <a:solidFill>
            <a:srgbClr val="2D2D2D">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Rectangle 19">
            <a:extLst>
              <a:ext uri="{FF2B5EF4-FFF2-40B4-BE49-F238E27FC236}">
                <a16:creationId xmlns:a16="http://schemas.microsoft.com/office/drawing/2014/main" id="{753E6DB1-CA28-E619-FAC5-4E8FBADBE57B}"/>
              </a:ext>
            </a:extLst>
          </p:cNvPr>
          <p:cNvSpPr/>
          <p:nvPr/>
        </p:nvSpPr>
        <p:spPr>
          <a:xfrm>
            <a:off x="9156242" y="1693304"/>
            <a:ext cx="3035758" cy="2490016"/>
          </a:xfrm>
          <a:prstGeom prst="rect">
            <a:avLst/>
          </a:prstGeom>
          <a:solidFill>
            <a:srgbClr val="2D2D2D">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Rectangle 22">
            <a:extLst>
              <a:ext uri="{FF2B5EF4-FFF2-40B4-BE49-F238E27FC236}">
                <a16:creationId xmlns:a16="http://schemas.microsoft.com/office/drawing/2014/main" id="{E2549394-F93E-51B0-4A51-5D1537DDA71A}"/>
              </a:ext>
            </a:extLst>
          </p:cNvPr>
          <p:cNvSpPr/>
          <p:nvPr/>
        </p:nvSpPr>
        <p:spPr>
          <a:xfrm>
            <a:off x="6521431" y="517916"/>
            <a:ext cx="2733742" cy="2005544"/>
          </a:xfrm>
          <a:prstGeom prst="rect">
            <a:avLst/>
          </a:prstGeom>
          <a:solidFill>
            <a:srgbClr val="2D2D2D">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Rectangle 23">
            <a:extLst>
              <a:ext uri="{FF2B5EF4-FFF2-40B4-BE49-F238E27FC236}">
                <a16:creationId xmlns:a16="http://schemas.microsoft.com/office/drawing/2014/main" id="{7EEE5B0A-7DA4-74A6-09CA-54ACB1845E25}"/>
              </a:ext>
            </a:extLst>
          </p:cNvPr>
          <p:cNvSpPr/>
          <p:nvPr/>
        </p:nvSpPr>
        <p:spPr>
          <a:xfrm>
            <a:off x="1888990" y="1378905"/>
            <a:ext cx="3035758" cy="1570637"/>
          </a:xfrm>
          <a:prstGeom prst="rect">
            <a:avLst/>
          </a:prstGeom>
          <a:solidFill>
            <a:srgbClr val="2D2D2D">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4018772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DAF4A-ECA0-BFDB-2FCA-B061D8563C35}"/>
              </a:ext>
            </a:extLst>
          </p:cNvPr>
          <p:cNvSpPr>
            <a:spLocks noGrp="1"/>
          </p:cNvSpPr>
          <p:nvPr>
            <p:ph type="title"/>
          </p:nvPr>
        </p:nvSpPr>
        <p:spPr/>
        <p:txBody>
          <a:bodyPr>
            <a:normAutofit fontScale="90000"/>
          </a:bodyPr>
          <a:lstStyle/>
          <a:p>
            <a:r>
              <a:rPr lang="en-CA" b="1" dirty="0"/>
              <a:t>Editors </a:t>
            </a:r>
            <a:r>
              <a:rPr lang="en-CA" b="1" dirty="0">
                <a:solidFill>
                  <a:srgbClr val="00FF00"/>
                </a:solidFill>
              </a:rPr>
              <a:t>&amp;</a:t>
            </a:r>
            <a:r>
              <a:rPr lang="en-CA" b="1" dirty="0"/>
              <a:t> IDEs</a:t>
            </a:r>
            <a:r>
              <a:rPr lang="en-CA" b="1" dirty="0">
                <a:solidFill>
                  <a:srgbClr val="00FF00"/>
                </a:solidFill>
              </a:rPr>
              <a:t>.</a:t>
            </a:r>
            <a:endParaRPr lang="en-CA" dirty="0"/>
          </a:p>
        </p:txBody>
      </p:sp>
      <p:sp>
        <p:nvSpPr>
          <p:cNvPr id="19" name="Rectangle: Rounded Corners 18">
            <a:extLst>
              <a:ext uri="{FF2B5EF4-FFF2-40B4-BE49-F238E27FC236}">
                <a16:creationId xmlns:a16="http://schemas.microsoft.com/office/drawing/2014/main" id="{FBA24C9D-2304-9D36-A308-E2BD0620FAC7}"/>
              </a:ext>
            </a:extLst>
          </p:cNvPr>
          <p:cNvSpPr/>
          <p:nvPr/>
        </p:nvSpPr>
        <p:spPr>
          <a:xfrm>
            <a:off x="611177" y="2826154"/>
            <a:ext cx="2536095" cy="3569313"/>
          </a:xfrm>
          <a:prstGeom prst="round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Rounded Corners 3">
            <a:extLst>
              <a:ext uri="{FF2B5EF4-FFF2-40B4-BE49-F238E27FC236}">
                <a16:creationId xmlns:a16="http://schemas.microsoft.com/office/drawing/2014/main" id="{78EA6DE9-AC0F-9415-D0E4-87DBB0BB788E}"/>
              </a:ext>
            </a:extLst>
          </p:cNvPr>
          <p:cNvSpPr/>
          <p:nvPr/>
        </p:nvSpPr>
        <p:spPr>
          <a:xfrm>
            <a:off x="3431102" y="2826153"/>
            <a:ext cx="2536095" cy="3569313"/>
          </a:xfrm>
          <a:prstGeom prst="round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Rounded Corners 4">
            <a:extLst>
              <a:ext uri="{FF2B5EF4-FFF2-40B4-BE49-F238E27FC236}">
                <a16:creationId xmlns:a16="http://schemas.microsoft.com/office/drawing/2014/main" id="{F8A67333-C2CF-3487-05F6-48219EE7C14B}"/>
              </a:ext>
            </a:extLst>
          </p:cNvPr>
          <p:cNvSpPr/>
          <p:nvPr/>
        </p:nvSpPr>
        <p:spPr>
          <a:xfrm>
            <a:off x="6251027" y="2826152"/>
            <a:ext cx="2536095" cy="3569313"/>
          </a:xfrm>
          <a:prstGeom prst="round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Rectangle: Rounded Corners 5">
            <a:extLst>
              <a:ext uri="{FF2B5EF4-FFF2-40B4-BE49-F238E27FC236}">
                <a16:creationId xmlns:a16="http://schemas.microsoft.com/office/drawing/2014/main" id="{5CD96314-6447-F901-A5E8-D5740BE11AAE}"/>
              </a:ext>
            </a:extLst>
          </p:cNvPr>
          <p:cNvSpPr/>
          <p:nvPr/>
        </p:nvSpPr>
        <p:spPr>
          <a:xfrm>
            <a:off x="9070952" y="2826151"/>
            <a:ext cx="2536095" cy="3569313"/>
          </a:xfrm>
          <a:prstGeom prst="round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Arrow: Right 6">
            <a:extLst>
              <a:ext uri="{FF2B5EF4-FFF2-40B4-BE49-F238E27FC236}">
                <a16:creationId xmlns:a16="http://schemas.microsoft.com/office/drawing/2014/main" id="{294DD4A0-07AB-3970-F522-A137E15362D6}"/>
              </a:ext>
            </a:extLst>
          </p:cNvPr>
          <p:cNvSpPr/>
          <p:nvPr/>
        </p:nvSpPr>
        <p:spPr>
          <a:xfrm>
            <a:off x="3140967" y="4358558"/>
            <a:ext cx="283830" cy="504497"/>
          </a:xfrm>
          <a:prstGeom prst="rightArrow">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Arrow: Right 7">
            <a:extLst>
              <a:ext uri="{FF2B5EF4-FFF2-40B4-BE49-F238E27FC236}">
                <a16:creationId xmlns:a16="http://schemas.microsoft.com/office/drawing/2014/main" id="{996F6D11-733B-57D6-6430-460900D5B8D0}"/>
              </a:ext>
            </a:extLst>
          </p:cNvPr>
          <p:cNvSpPr/>
          <p:nvPr/>
        </p:nvSpPr>
        <p:spPr>
          <a:xfrm>
            <a:off x="5960391" y="4358558"/>
            <a:ext cx="283830" cy="504497"/>
          </a:xfrm>
          <a:prstGeom prst="rightArrow">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Arrow: Right 8">
            <a:extLst>
              <a:ext uri="{FF2B5EF4-FFF2-40B4-BE49-F238E27FC236}">
                <a16:creationId xmlns:a16="http://schemas.microsoft.com/office/drawing/2014/main" id="{70BA5CE0-FC3B-721E-18DB-335D84CFBB30}"/>
              </a:ext>
            </a:extLst>
          </p:cNvPr>
          <p:cNvSpPr/>
          <p:nvPr/>
        </p:nvSpPr>
        <p:spPr>
          <a:xfrm>
            <a:off x="8781316" y="4358558"/>
            <a:ext cx="283830" cy="504497"/>
          </a:xfrm>
          <a:prstGeom prst="rightArrow">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AFD1361E-B73D-0238-A457-E3E00D6CC4BA}"/>
              </a:ext>
            </a:extLst>
          </p:cNvPr>
          <p:cNvSpPr txBox="1"/>
          <p:nvPr/>
        </p:nvSpPr>
        <p:spPr>
          <a:xfrm>
            <a:off x="503573" y="2350193"/>
            <a:ext cx="1970604" cy="461665"/>
          </a:xfrm>
          <a:prstGeom prst="rect">
            <a:avLst/>
          </a:prstGeom>
          <a:noFill/>
        </p:spPr>
        <p:txBody>
          <a:bodyPr wrap="none" rtlCol="0">
            <a:spAutoFit/>
          </a:bodyPr>
          <a:lstStyle/>
          <a:p>
            <a:r>
              <a:rPr lang="en-CA" sz="2400" b="1" dirty="0">
                <a:solidFill>
                  <a:srgbClr val="FFFFFF"/>
                </a:solidFill>
              </a:rPr>
              <a:t>Text Editors</a:t>
            </a:r>
            <a:r>
              <a:rPr lang="en-CA" sz="2400" b="1" dirty="0">
                <a:solidFill>
                  <a:srgbClr val="00FF00"/>
                </a:solidFill>
              </a:rPr>
              <a:t>.</a:t>
            </a:r>
          </a:p>
        </p:txBody>
      </p:sp>
      <p:sp>
        <p:nvSpPr>
          <p:cNvPr id="11" name="TextBox 10">
            <a:extLst>
              <a:ext uri="{FF2B5EF4-FFF2-40B4-BE49-F238E27FC236}">
                <a16:creationId xmlns:a16="http://schemas.microsoft.com/office/drawing/2014/main" id="{3898CC83-FAA3-9FC3-0019-E28BA25CD27A}"/>
              </a:ext>
            </a:extLst>
          </p:cNvPr>
          <p:cNvSpPr txBox="1"/>
          <p:nvPr/>
        </p:nvSpPr>
        <p:spPr>
          <a:xfrm>
            <a:off x="3303370" y="1609608"/>
            <a:ext cx="3152582" cy="1200329"/>
          </a:xfrm>
          <a:prstGeom prst="rect">
            <a:avLst/>
          </a:prstGeom>
          <a:noFill/>
        </p:spPr>
        <p:txBody>
          <a:bodyPr wrap="square" rtlCol="0">
            <a:spAutoFit/>
          </a:bodyPr>
          <a:lstStyle/>
          <a:p>
            <a:r>
              <a:rPr lang="en-CA" sz="2400" b="1" dirty="0">
                <a:solidFill>
                  <a:srgbClr val="FFFFFF"/>
                </a:solidFill>
              </a:rPr>
              <a:t>Interactive Computing</a:t>
            </a:r>
          </a:p>
          <a:p>
            <a:r>
              <a:rPr lang="en-CA" sz="2400" b="1" dirty="0">
                <a:solidFill>
                  <a:srgbClr val="FFFFFF"/>
                </a:solidFill>
              </a:rPr>
              <a:t>Environment</a:t>
            </a:r>
            <a:r>
              <a:rPr lang="en-CA" sz="2400" b="1" dirty="0">
                <a:solidFill>
                  <a:srgbClr val="00FF00"/>
                </a:solidFill>
              </a:rPr>
              <a:t>.</a:t>
            </a:r>
          </a:p>
        </p:txBody>
      </p:sp>
      <p:sp>
        <p:nvSpPr>
          <p:cNvPr id="12" name="TextBox 11">
            <a:extLst>
              <a:ext uri="{FF2B5EF4-FFF2-40B4-BE49-F238E27FC236}">
                <a16:creationId xmlns:a16="http://schemas.microsoft.com/office/drawing/2014/main" id="{39FDACEF-5D3E-B6E4-4615-F125EC2B5CDF}"/>
              </a:ext>
            </a:extLst>
          </p:cNvPr>
          <p:cNvSpPr txBox="1"/>
          <p:nvPr/>
        </p:nvSpPr>
        <p:spPr>
          <a:xfrm>
            <a:off x="6121750" y="1233994"/>
            <a:ext cx="2130904" cy="1569660"/>
          </a:xfrm>
          <a:prstGeom prst="rect">
            <a:avLst/>
          </a:prstGeom>
          <a:noFill/>
        </p:spPr>
        <p:txBody>
          <a:bodyPr wrap="none" rtlCol="0">
            <a:spAutoFit/>
          </a:bodyPr>
          <a:lstStyle/>
          <a:p>
            <a:r>
              <a:rPr lang="en-CA" sz="2400" b="1" dirty="0">
                <a:solidFill>
                  <a:srgbClr val="FFFFFF"/>
                </a:solidFill>
              </a:rPr>
              <a:t>Integrated</a:t>
            </a:r>
          </a:p>
          <a:p>
            <a:r>
              <a:rPr lang="en-CA" sz="2400" b="1" dirty="0">
                <a:solidFill>
                  <a:srgbClr val="FFFFFF"/>
                </a:solidFill>
              </a:rPr>
              <a:t>Development</a:t>
            </a:r>
          </a:p>
          <a:p>
            <a:r>
              <a:rPr lang="en-CA" sz="2400" b="1" dirty="0">
                <a:solidFill>
                  <a:srgbClr val="FFFFFF"/>
                </a:solidFill>
              </a:rPr>
              <a:t>Environment</a:t>
            </a:r>
          </a:p>
          <a:p>
            <a:r>
              <a:rPr lang="en-CA" sz="2400" b="1" dirty="0">
                <a:solidFill>
                  <a:srgbClr val="CC99FF"/>
                </a:solidFill>
              </a:rPr>
              <a:t>(</a:t>
            </a:r>
            <a:r>
              <a:rPr lang="en-CA" sz="2400" b="1" dirty="0">
                <a:solidFill>
                  <a:srgbClr val="FFFFFF"/>
                </a:solidFill>
              </a:rPr>
              <a:t>IDE</a:t>
            </a:r>
            <a:r>
              <a:rPr lang="en-CA" sz="2400" b="1" dirty="0">
                <a:solidFill>
                  <a:srgbClr val="CC99FF"/>
                </a:solidFill>
              </a:rPr>
              <a:t>)</a:t>
            </a:r>
            <a:r>
              <a:rPr lang="en-CA" sz="2400" b="1" dirty="0">
                <a:solidFill>
                  <a:srgbClr val="00FF00"/>
                </a:solidFill>
              </a:rPr>
              <a:t>.</a:t>
            </a:r>
          </a:p>
        </p:txBody>
      </p:sp>
      <p:sp>
        <p:nvSpPr>
          <p:cNvPr id="13" name="TextBox 12">
            <a:extLst>
              <a:ext uri="{FF2B5EF4-FFF2-40B4-BE49-F238E27FC236}">
                <a16:creationId xmlns:a16="http://schemas.microsoft.com/office/drawing/2014/main" id="{36EF2E65-C878-CD2B-77E1-FA378C0C84C7}"/>
              </a:ext>
            </a:extLst>
          </p:cNvPr>
          <p:cNvSpPr txBox="1"/>
          <p:nvPr/>
        </p:nvSpPr>
        <p:spPr>
          <a:xfrm>
            <a:off x="8940585" y="1981938"/>
            <a:ext cx="1250855" cy="830997"/>
          </a:xfrm>
          <a:prstGeom prst="rect">
            <a:avLst/>
          </a:prstGeom>
          <a:noFill/>
        </p:spPr>
        <p:txBody>
          <a:bodyPr wrap="none" rtlCol="0">
            <a:spAutoFit/>
          </a:bodyPr>
          <a:lstStyle/>
          <a:p>
            <a:r>
              <a:rPr lang="en-CA" sz="2400" b="1" dirty="0">
                <a:solidFill>
                  <a:srgbClr val="FFFFFF"/>
                </a:solidFill>
              </a:rPr>
              <a:t>AI</a:t>
            </a:r>
            <a:r>
              <a:rPr lang="en-CA" sz="2400" b="1" dirty="0">
                <a:solidFill>
                  <a:srgbClr val="CC99FF"/>
                </a:solidFill>
              </a:rPr>
              <a:t>-</a:t>
            </a:r>
            <a:r>
              <a:rPr lang="en-CA" sz="2400" b="1" dirty="0">
                <a:solidFill>
                  <a:srgbClr val="FFFFFF"/>
                </a:solidFill>
              </a:rPr>
              <a:t>First</a:t>
            </a:r>
          </a:p>
          <a:p>
            <a:r>
              <a:rPr lang="en-CA" sz="2400" b="1" dirty="0">
                <a:solidFill>
                  <a:srgbClr val="FFFFFF"/>
                </a:solidFill>
              </a:rPr>
              <a:t>IDE</a:t>
            </a:r>
            <a:r>
              <a:rPr lang="en-CA" sz="2400" b="1" dirty="0">
                <a:solidFill>
                  <a:srgbClr val="00FF00"/>
                </a:solidFill>
              </a:rPr>
              <a:t>.</a:t>
            </a:r>
          </a:p>
        </p:txBody>
      </p:sp>
      <p:pic>
        <p:nvPicPr>
          <p:cNvPr id="7170" name="Picture 2">
            <a:extLst>
              <a:ext uri="{FF2B5EF4-FFF2-40B4-BE49-F238E27FC236}">
                <a16:creationId xmlns:a16="http://schemas.microsoft.com/office/drawing/2014/main" id="{4757F322-2D5A-BE3B-5FA7-8C725D2145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115" y="3094008"/>
            <a:ext cx="1160342" cy="116034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descr="Sublimetext Icon icon - Free Download PNG &amp; SVG | Streamline">
            <a:extLst>
              <a:ext uri="{FF2B5EF4-FFF2-40B4-BE49-F238E27FC236}">
                <a16:creationId xmlns:a16="http://schemas.microsoft.com/office/drawing/2014/main" id="{72C7FCFE-CA66-D28F-B996-F6661A2C4C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8208" y="3942032"/>
            <a:ext cx="1160343" cy="1160343"/>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Emacs Logo Sticker Pack | FSF Shop">
            <a:extLst>
              <a:ext uri="{FF2B5EF4-FFF2-40B4-BE49-F238E27FC236}">
                <a16:creationId xmlns:a16="http://schemas.microsoft.com/office/drawing/2014/main" id="{162373A5-8375-AFAE-5BB3-15D0042D09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3606" y="4988555"/>
            <a:ext cx="1368972" cy="136897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Jupyter Notebooks. Amazing Tools For Data Science">
            <a:extLst>
              <a:ext uri="{FF2B5EF4-FFF2-40B4-BE49-F238E27FC236}">
                <a16:creationId xmlns:a16="http://schemas.microsoft.com/office/drawing/2014/main" id="{F4B42A65-49EB-8971-B3B2-5D98C40B23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60701" y="3020270"/>
            <a:ext cx="1162345" cy="134800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6" descr="macOS app icon doesn't follow human interface guidelines · Issue #613 ·  jupyterlab/jupyterlab-desktop">
            <a:extLst>
              <a:ext uri="{FF2B5EF4-FFF2-40B4-BE49-F238E27FC236}">
                <a16:creationId xmlns:a16="http://schemas.microsoft.com/office/drawing/2014/main" id="{4B8CC963-8761-57E9-52EC-EF2D8530500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82746" y="4061404"/>
            <a:ext cx="1368972" cy="136897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0">
            <a:extLst>
              <a:ext uri="{FF2B5EF4-FFF2-40B4-BE49-F238E27FC236}">
                <a16:creationId xmlns:a16="http://schemas.microsoft.com/office/drawing/2014/main" id="{9FCAB061-4F6C-8B68-10B7-854DC90B467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50982" y="5504002"/>
            <a:ext cx="1927638" cy="67693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6" descr="PyCharm Logo Update – IDEs Support (IntelliJ Platform) | JetBrains">
            <a:extLst>
              <a:ext uri="{FF2B5EF4-FFF2-40B4-BE49-F238E27FC236}">
                <a16:creationId xmlns:a16="http://schemas.microsoft.com/office/drawing/2014/main" id="{29D18C76-E537-0BA5-07BA-286EC1D5D5E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49523" y="3020270"/>
            <a:ext cx="1404473" cy="140447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6">
            <a:extLst>
              <a:ext uri="{FF2B5EF4-FFF2-40B4-BE49-F238E27FC236}">
                <a16:creationId xmlns:a16="http://schemas.microsoft.com/office/drawing/2014/main" id="{98E6AFB3-629A-A402-B2C0-C7C360EA681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05806" y="4283214"/>
            <a:ext cx="1159681" cy="115968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8">
            <a:extLst>
              <a:ext uri="{FF2B5EF4-FFF2-40B4-BE49-F238E27FC236}">
                <a16:creationId xmlns:a16="http://schemas.microsoft.com/office/drawing/2014/main" id="{D33A9879-E5C9-E1C8-33BF-6C9D6A2CEE6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26656" y="5044165"/>
            <a:ext cx="1159681" cy="1159681"/>
          </a:xfrm>
          <a:prstGeom prst="rect">
            <a:avLst/>
          </a:prstGeom>
          <a:noFill/>
          <a:extLst>
            <a:ext uri="{909E8E84-426E-40DD-AFC4-6F175D3DCCD1}">
              <a14:hiddenFill xmlns:a14="http://schemas.microsoft.com/office/drawing/2010/main">
                <a:solidFill>
                  <a:srgbClr val="FFFFFF"/>
                </a:solidFill>
              </a14:hiddenFill>
            </a:ext>
          </a:extLst>
        </p:spPr>
      </p:pic>
      <p:pic>
        <p:nvPicPr>
          <p:cNvPr id="13314" name="Picture 2" descr="Cursor AI Logo Icon for Modern Designs">
            <a:extLst>
              <a:ext uri="{FF2B5EF4-FFF2-40B4-BE49-F238E27FC236}">
                <a16:creationId xmlns:a16="http://schemas.microsoft.com/office/drawing/2014/main" id="{9B2F2182-82E5-13A5-9480-924806A6D5F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229558" y="3043560"/>
            <a:ext cx="1583261" cy="1583261"/>
          </a:xfrm>
          <a:prstGeom prst="rect">
            <a:avLst/>
          </a:prstGeom>
          <a:noFill/>
          <a:extLst>
            <a:ext uri="{909E8E84-426E-40DD-AFC4-6F175D3DCCD1}">
              <a14:hiddenFill xmlns:a14="http://schemas.microsoft.com/office/drawing/2010/main">
                <a:solidFill>
                  <a:srgbClr val="FFFFFF"/>
                </a:solidFill>
              </a14:hiddenFill>
            </a:ext>
          </a:extLst>
        </p:spPr>
      </p:pic>
      <p:pic>
        <p:nvPicPr>
          <p:cNvPr id="13324" name="Picture 12" descr="Windsurf Plugin (formerly Codeium): AI Coding Autocomplete and Chat for  Python, JavaScript, TypeScript, and more - Visual Studio Marketplace">
            <a:extLst>
              <a:ext uri="{FF2B5EF4-FFF2-40B4-BE49-F238E27FC236}">
                <a16:creationId xmlns:a16="http://schemas.microsoft.com/office/drawing/2014/main" id="{E0BC45C4-4DA1-E94E-1A2C-DDD9F7D4C00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148101" y="4888385"/>
            <a:ext cx="1083982" cy="108398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13403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30CF7-8FE5-2596-950E-722F082DF3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9183CF-4CD5-3A9F-C0FD-447550C61AE1}"/>
              </a:ext>
            </a:extLst>
          </p:cNvPr>
          <p:cNvSpPr>
            <a:spLocks noGrp="1"/>
          </p:cNvSpPr>
          <p:nvPr>
            <p:ph type="title"/>
          </p:nvPr>
        </p:nvSpPr>
        <p:spPr/>
        <p:txBody>
          <a:bodyPr>
            <a:normAutofit fontScale="90000"/>
          </a:bodyPr>
          <a:lstStyle/>
          <a:p>
            <a:r>
              <a:rPr lang="en-CA" b="1" dirty="0"/>
              <a:t>Editors </a:t>
            </a:r>
            <a:r>
              <a:rPr lang="en-CA" b="1" dirty="0">
                <a:solidFill>
                  <a:srgbClr val="00FF00"/>
                </a:solidFill>
              </a:rPr>
              <a:t>&amp;</a:t>
            </a:r>
            <a:r>
              <a:rPr lang="en-CA" b="1" dirty="0"/>
              <a:t> IDEs</a:t>
            </a:r>
            <a:r>
              <a:rPr lang="en-CA" b="1" dirty="0">
                <a:solidFill>
                  <a:srgbClr val="00FF00"/>
                </a:solidFill>
              </a:rPr>
              <a:t>.</a:t>
            </a:r>
            <a:endParaRPr lang="en-CA" dirty="0"/>
          </a:p>
        </p:txBody>
      </p:sp>
      <p:sp>
        <p:nvSpPr>
          <p:cNvPr id="19" name="Rectangle: Rounded Corners 18">
            <a:extLst>
              <a:ext uri="{FF2B5EF4-FFF2-40B4-BE49-F238E27FC236}">
                <a16:creationId xmlns:a16="http://schemas.microsoft.com/office/drawing/2014/main" id="{774E5606-4C1F-AC7B-CD6D-3C87CC45FD1B}"/>
              </a:ext>
            </a:extLst>
          </p:cNvPr>
          <p:cNvSpPr/>
          <p:nvPr/>
        </p:nvSpPr>
        <p:spPr>
          <a:xfrm>
            <a:off x="611177" y="2826154"/>
            <a:ext cx="2536095" cy="3569313"/>
          </a:xfrm>
          <a:prstGeom prst="round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Rounded Corners 3">
            <a:extLst>
              <a:ext uri="{FF2B5EF4-FFF2-40B4-BE49-F238E27FC236}">
                <a16:creationId xmlns:a16="http://schemas.microsoft.com/office/drawing/2014/main" id="{BFD136AB-4846-DE60-1414-A46D8944C8E8}"/>
              </a:ext>
            </a:extLst>
          </p:cNvPr>
          <p:cNvSpPr/>
          <p:nvPr/>
        </p:nvSpPr>
        <p:spPr>
          <a:xfrm>
            <a:off x="3431102" y="2826153"/>
            <a:ext cx="2536095" cy="3569313"/>
          </a:xfrm>
          <a:prstGeom prst="round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Rounded Corners 4">
            <a:extLst>
              <a:ext uri="{FF2B5EF4-FFF2-40B4-BE49-F238E27FC236}">
                <a16:creationId xmlns:a16="http://schemas.microsoft.com/office/drawing/2014/main" id="{9D0456EB-AE4B-A774-3C8D-707779DC0E04}"/>
              </a:ext>
            </a:extLst>
          </p:cNvPr>
          <p:cNvSpPr/>
          <p:nvPr/>
        </p:nvSpPr>
        <p:spPr>
          <a:xfrm>
            <a:off x="6251027" y="2826152"/>
            <a:ext cx="2536095" cy="3569313"/>
          </a:xfrm>
          <a:prstGeom prst="round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Rectangle: Rounded Corners 5">
            <a:extLst>
              <a:ext uri="{FF2B5EF4-FFF2-40B4-BE49-F238E27FC236}">
                <a16:creationId xmlns:a16="http://schemas.microsoft.com/office/drawing/2014/main" id="{7C8378FE-FEE8-1E5D-207B-8C2A0E487A3B}"/>
              </a:ext>
            </a:extLst>
          </p:cNvPr>
          <p:cNvSpPr/>
          <p:nvPr/>
        </p:nvSpPr>
        <p:spPr>
          <a:xfrm>
            <a:off x="9070952" y="2826151"/>
            <a:ext cx="2536095" cy="3569313"/>
          </a:xfrm>
          <a:prstGeom prst="round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Arrow: Right 6">
            <a:extLst>
              <a:ext uri="{FF2B5EF4-FFF2-40B4-BE49-F238E27FC236}">
                <a16:creationId xmlns:a16="http://schemas.microsoft.com/office/drawing/2014/main" id="{42E42FC0-8C59-53CD-F5D6-6F90FD25BC2F}"/>
              </a:ext>
            </a:extLst>
          </p:cNvPr>
          <p:cNvSpPr/>
          <p:nvPr/>
        </p:nvSpPr>
        <p:spPr>
          <a:xfrm>
            <a:off x="3140967" y="4358558"/>
            <a:ext cx="283830" cy="504497"/>
          </a:xfrm>
          <a:prstGeom prst="rightArrow">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Arrow: Right 7">
            <a:extLst>
              <a:ext uri="{FF2B5EF4-FFF2-40B4-BE49-F238E27FC236}">
                <a16:creationId xmlns:a16="http://schemas.microsoft.com/office/drawing/2014/main" id="{2B38973C-786C-54F7-8C04-19A18691B3C2}"/>
              </a:ext>
            </a:extLst>
          </p:cNvPr>
          <p:cNvSpPr/>
          <p:nvPr/>
        </p:nvSpPr>
        <p:spPr>
          <a:xfrm>
            <a:off x="5960391" y="4358558"/>
            <a:ext cx="283830" cy="504497"/>
          </a:xfrm>
          <a:prstGeom prst="rightArrow">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Arrow: Right 8">
            <a:extLst>
              <a:ext uri="{FF2B5EF4-FFF2-40B4-BE49-F238E27FC236}">
                <a16:creationId xmlns:a16="http://schemas.microsoft.com/office/drawing/2014/main" id="{1B549139-41DF-7B41-C0CC-13E9A5FC8EF7}"/>
              </a:ext>
            </a:extLst>
          </p:cNvPr>
          <p:cNvSpPr/>
          <p:nvPr/>
        </p:nvSpPr>
        <p:spPr>
          <a:xfrm>
            <a:off x="8781316" y="4358558"/>
            <a:ext cx="283830" cy="504497"/>
          </a:xfrm>
          <a:prstGeom prst="rightArrow">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B78E98E3-E219-5499-FAB9-1437521DF421}"/>
              </a:ext>
            </a:extLst>
          </p:cNvPr>
          <p:cNvSpPr txBox="1"/>
          <p:nvPr/>
        </p:nvSpPr>
        <p:spPr>
          <a:xfrm>
            <a:off x="503573" y="2350193"/>
            <a:ext cx="1970604" cy="461665"/>
          </a:xfrm>
          <a:prstGeom prst="rect">
            <a:avLst/>
          </a:prstGeom>
          <a:noFill/>
        </p:spPr>
        <p:txBody>
          <a:bodyPr wrap="none" rtlCol="0">
            <a:spAutoFit/>
          </a:bodyPr>
          <a:lstStyle/>
          <a:p>
            <a:r>
              <a:rPr lang="en-CA" sz="2400" b="1" dirty="0">
                <a:solidFill>
                  <a:srgbClr val="FFFFFF"/>
                </a:solidFill>
              </a:rPr>
              <a:t>Text Editors</a:t>
            </a:r>
            <a:r>
              <a:rPr lang="en-CA" sz="2400" b="1" dirty="0">
                <a:solidFill>
                  <a:srgbClr val="00FF00"/>
                </a:solidFill>
              </a:rPr>
              <a:t>.</a:t>
            </a:r>
          </a:p>
        </p:txBody>
      </p:sp>
      <p:sp>
        <p:nvSpPr>
          <p:cNvPr id="11" name="TextBox 10">
            <a:extLst>
              <a:ext uri="{FF2B5EF4-FFF2-40B4-BE49-F238E27FC236}">
                <a16:creationId xmlns:a16="http://schemas.microsoft.com/office/drawing/2014/main" id="{E4BF5806-048B-4700-E17C-5C5CF8AD2BAC}"/>
              </a:ext>
            </a:extLst>
          </p:cNvPr>
          <p:cNvSpPr txBox="1"/>
          <p:nvPr/>
        </p:nvSpPr>
        <p:spPr>
          <a:xfrm>
            <a:off x="3303370" y="1609608"/>
            <a:ext cx="3152582" cy="1200329"/>
          </a:xfrm>
          <a:prstGeom prst="rect">
            <a:avLst/>
          </a:prstGeom>
          <a:noFill/>
        </p:spPr>
        <p:txBody>
          <a:bodyPr wrap="square" rtlCol="0">
            <a:spAutoFit/>
          </a:bodyPr>
          <a:lstStyle/>
          <a:p>
            <a:r>
              <a:rPr lang="en-CA" sz="2400" b="1" dirty="0">
                <a:solidFill>
                  <a:srgbClr val="FFFFFF"/>
                </a:solidFill>
              </a:rPr>
              <a:t>Interactive Computing</a:t>
            </a:r>
          </a:p>
          <a:p>
            <a:r>
              <a:rPr lang="en-CA" sz="2400" b="1" dirty="0">
                <a:solidFill>
                  <a:srgbClr val="FFFFFF"/>
                </a:solidFill>
              </a:rPr>
              <a:t>Environment</a:t>
            </a:r>
            <a:r>
              <a:rPr lang="en-CA" sz="2400" b="1" dirty="0">
                <a:solidFill>
                  <a:srgbClr val="00FF00"/>
                </a:solidFill>
              </a:rPr>
              <a:t>.</a:t>
            </a:r>
          </a:p>
        </p:txBody>
      </p:sp>
      <p:sp>
        <p:nvSpPr>
          <p:cNvPr id="12" name="TextBox 11">
            <a:extLst>
              <a:ext uri="{FF2B5EF4-FFF2-40B4-BE49-F238E27FC236}">
                <a16:creationId xmlns:a16="http://schemas.microsoft.com/office/drawing/2014/main" id="{51726DBF-0387-36D4-BFA6-7C5AE6365FB3}"/>
              </a:ext>
            </a:extLst>
          </p:cNvPr>
          <p:cNvSpPr txBox="1"/>
          <p:nvPr/>
        </p:nvSpPr>
        <p:spPr>
          <a:xfrm>
            <a:off x="6121750" y="1233994"/>
            <a:ext cx="2130904" cy="1569660"/>
          </a:xfrm>
          <a:prstGeom prst="rect">
            <a:avLst/>
          </a:prstGeom>
          <a:noFill/>
        </p:spPr>
        <p:txBody>
          <a:bodyPr wrap="none" rtlCol="0">
            <a:spAutoFit/>
          </a:bodyPr>
          <a:lstStyle/>
          <a:p>
            <a:r>
              <a:rPr lang="en-CA" sz="2400" b="1" dirty="0">
                <a:solidFill>
                  <a:srgbClr val="FFFFFF"/>
                </a:solidFill>
              </a:rPr>
              <a:t>Integrated</a:t>
            </a:r>
          </a:p>
          <a:p>
            <a:r>
              <a:rPr lang="en-CA" sz="2400" b="1" dirty="0">
                <a:solidFill>
                  <a:srgbClr val="FFFFFF"/>
                </a:solidFill>
              </a:rPr>
              <a:t>Development</a:t>
            </a:r>
          </a:p>
          <a:p>
            <a:r>
              <a:rPr lang="en-CA" sz="2400" b="1" dirty="0">
                <a:solidFill>
                  <a:srgbClr val="FFFFFF"/>
                </a:solidFill>
              </a:rPr>
              <a:t>Environment</a:t>
            </a:r>
          </a:p>
          <a:p>
            <a:r>
              <a:rPr lang="en-CA" sz="2400" b="1" dirty="0">
                <a:solidFill>
                  <a:srgbClr val="CC99FF"/>
                </a:solidFill>
              </a:rPr>
              <a:t>(</a:t>
            </a:r>
            <a:r>
              <a:rPr lang="en-CA" sz="2400" b="1" dirty="0">
                <a:solidFill>
                  <a:srgbClr val="FFFFFF"/>
                </a:solidFill>
              </a:rPr>
              <a:t>IDE</a:t>
            </a:r>
            <a:r>
              <a:rPr lang="en-CA" sz="2400" b="1" dirty="0">
                <a:solidFill>
                  <a:srgbClr val="CC99FF"/>
                </a:solidFill>
              </a:rPr>
              <a:t>)</a:t>
            </a:r>
            <a:r>
              <a:rPr lang="en-CA" sz="2400" b="1" dirty="0">
                <a:solidFill>
                  <a:srgbClr val="00FF00"/>
                </a:solidFill>
              </a:rPr>
              <a:t>.</a:t>
            </a:r>
          </a:p>
        </p:txBody>
      </p:sp>
      <p:sp>
        <p:nvSpPr>
          <p:cNvPr id="13" name="TextBox 12">
            <a:extLst>
              <a:ext uri="{FF2B5EF4-FFF2-40B4-BE49-F238E27FC236}">
                <a16:creationId xmlns:a16="http://schemas.microsoft.com/office/drawing/2014/main" id="{BC219C51-6EF1-00D5-E08E-8DED2E2969D5}"/>
              </a:ext>
            </a:extLst>
          </p:cNvPr>
          <p:cNvSpPr txBox="1"/>
          <p:nvPr/>
        </p:nvSpPr>
        <p:spPr>
          <a:xfrm>
            <a:off x="8940585" y="1981938"/>
            <a:ext cx="1250855" cy="830997"/>
          </a:xfrm>
          <a:prstGeom prst="rect">
            <a:avLst/>
          </a:prstGeom>
          <a:noFill/>
        </p:spPr>
        <p:txBody>
          <a:bodyPr wrap="none" rtlCol="0">
            <a:spAutoFit/>
          </a:bodyPr>
          <a:lstStyle/>
          <a:p>
            <a:r>
              <a:rPr lang="en-CA" sz="2400" b="1" dirty="0">
                <a:solidFill>
                  <a:srgbClr val="FFFFFF"/>
                </a:solidFill>
              </a:rPr>
              <a:t>AI</a:t>
            </a:r>
            <a:r>
              <a:rPr lang="en-CA" sz="2400" b="1" dirty="0">
                <a:solidFill>
                  <a:srgbClr val="CC99FF"/>
                </a:solidFill>
              </a:rPr>
              <a:t>-</a:t>
            </a:r>
            <a:r>
              <a:rPr lang="en-CA" sz="2400" b="1" dirty="0">
                <a:solidFill>
                  <a:srgbClr val="FFFFFF"/>
                </a:solidFill>
              </a:rPr>
              <a:t>First</a:t>
            </a:r>
          </a:p>
          <a:p>
            <a:r>
              <a:rPr lang="en-CA" sz="2400" b="1" dirty="0">
                <a:solidFill>
                  <a:srgbClr val="FFFFFF"/>
                </a:solidFill>
              </a:rPr>
              <a:t>IDE</a:t>
            </a:r>
            <a:r>
              <a:rPr lang="en-CA" sz="2400" b="1" dirty="0">
                <a:solidFill>
                  <a:srgbClr val="00FF00"/>
                </a:solidFill>
              </a:rPr>
              <a:t>.</a:t>
            </a:r>
          </a:p>
        </p:txBody>
      </p:sp>
      <p:pic>
        <p:nvPicPr>
          <p:cNvPr id="7170" name="Picture 2">
            <a:extLst>
              <a:ext uri="{FF2B5EF4-FFF2-40B4-BE49-F238E27FC236}">
                <a16:creationId xmlns:a16="http://schemas.microsoft.com/office/drawing/2014/main" id="{D12EBB17-493A-33E1-C527-7CF4AFE0E5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115" y="3094008"/>
            <a:ext cx="1160342" cy="116034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descr="Sublimetext Icon icon - Free Download PNG &amp; SVG | Streamline">
            <a:extLst>
              <a:ext uri="{FF2B5EF4-FFF2-40B4-BE49-F238E27FC236}">
                <a16:creationId xmlns:a16="http://schemas.microsoft.com/office/drawing/2014/main" id="{B6350DFE-DFA3-919B-19CC-96191F5A98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8208" y="3942032"/>
            <a:ext cx="1160343" cy="1160343"/>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Emacs Logo Sticker Pack | FSF Shop">
            <a:extLst>
              <a:ext uri="{FF2B5EF4-FFF2-40B4-BE49-F238E27FC236}">
                <a16:creationId xmlns:a16="http://schemas.microsoft.com/office/drawing/2014/main" id="{78E0AE9A-2940-5FBA-E784-2589FC23EF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3606" y="4988555"/>
            <a:ext cx="1368972" cy="136897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Jupyter Notebooks. Amazing Tools For Data Science">
            <a:extLst>
              <a:ext uri="{FF2B5EF4-FFF2-40B4-BE49-F238E27FC236}">
                <a16:creationId xmlns:a16="http://schemas.microsoft.com/office/drawing/2014/main" id="{7EEB106E-2E1D-F1E3-5ECA-60FABF79B8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60701" y="3020270"/>
            <a:ext cx="1162345" cy="134800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6" descr="macOS app icon doesn't follow human interface guidelines · Issue #613 ·  jupyterlab/jupyterlab-desktop">
            <a:extLst>
              <a:ext uri="{FF2B5EF4-FFF2-40B4-BE49-F238E27FC236}">
                <a16:creationId xmlns:a16="http://schemas.microsoft.com/office/drawing/2014/main" id="{BD6A5DDE-B597-51C8-57DB-DD10DD3ECF3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82746" y="4061404"/>
            <a:ext cx="1368972" cy="136897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0">
            <a:extLst>
              <a:ext uri="{FF2B5EF4-FFF2-40B4-BE49-F238E27FC236}">
                <a16:creationId xmlns:a16="http://schemas.microsoft.com/office/drawing/2014/main" id="{9257B9C4-4A6A-02C2-3F67-2F66C2F51E8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50982" y="5504002"/>
            <a:ext cx="1927638" cy="67693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6" descr="PyCharm Logo Update – IDEs Support (IntelliJ Platform) | JetBrains">
            <a:extLst>
              <a:ext uri="{FF2B5EF4-FFF2-40B4-BE49-F238E27FC236}">
                <a16:creationId xmlns:a16="http://schemas.microsoft.com/office/drawing/2014/main" id="{9B8D334F-1A6B-8B7D-1F65-6776BE0A7B6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49523" y="3020270"/>
            <a:ext cx="1404473" cy="140447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6">
            <a:extLst>
              <a:ext uri="{FF2B5EF4-FFF2-40B4-BE49-F238E27FC236}">
                <a16:creationId xmlns:a16="http://schemas.microsoft.com/office/drawing/2014/main" id="{CC7C1D2F-02E5-8AAC-E8D5-30696BE70CE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05806" y="4283214"/>
            <a:ext cx="1159681" cy="115968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8">
            <a:extLst>
              <a:ext uri="{FF2B5EF4-FFF2-40B4-BE49-F238E27FC236}">
                <a16:creationId xmlns:a16="http://schemas.microsoft.com/office/drawing/2014/main" id="{451C15FE-3550-47BC-56DF-355C648EDD0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26656" y="5044165"/>
            <a:ext cx="1159681" cy="1159681"/>
          </a:xfrm>
          <a:prstGeom prst="rect">
            <a:avLst/>
          </a:prstGeom>
          <a:noFill/>
          <a:extLst>
            <a:ext uri="{909E8E84-426E-40DD-AFC4-6F175D3DCCD1}">
              <a14:hiddenFill xmlns:a14="http://schemas.microsoft.com/office/drawing/2010/main">
                <a:solidFill>
                  <a:srgbClr val="FFFFFF"/>
                </a:solidFill>
              </a14:hiddenFill>
            </a:ext>
          </a:extLst>
        </p:spPr>
      </p:pic>
      <p:pic>
        <p:nvPicPr>
          <p:cNvPr id="13314" name="Picture 2" descr="Cursor AI Logo Icon for Modern Designs">
            <a:extLst>
              <a:ext uri="{FF2B5EF4-FFF2-40B4-BE49-F238E27FC236}">
                <a16:creationId xmlns:a16="http://schemas.microsoft.com/office/drawing/2014/main" id="{E7DD398C-286C-8A48-CEA8-3A7AF28C1B4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229558" y="3043560"/>
            <a:ext cx="1583261" cy="1583261"/>
          </a:xfrm>
          <a:prstGeom prst="rect">
            <a:avLst/>
          </a:prstGeom>
          <a:noFill/>
          <a:extLst>
            <a:ext uri="{909E8E84-426E-40DD-AFC4-6F175D3DCCD1}">
              <a14:hiddenFill xmlns:a14="http://schemas.microsoft.com/office/drawing/2010/main">
                <a:solidFill>
                  <a:srgbClr val="FFFFFF"/>
                </a:solidFill>
              </a14:hiddenFill>
            </a:ext>
          </a:extLst>
        </p:spPr>
      </p:pic>
      <p:pic>
        <p:nvPicPr>
          <p:cNvPr id="13324" name="Picture 12" descr="Windsurf Plugin (formerly Codeium): AI Coding Autocomplete and Chat for  Python, JavaScript, TypeScript, and more - Visual Studio Marketplace">
            <a:extLst>
              <a:ext uri="{FF2B5EF4-FFF2-40B4-BE49-F238E27FC236}">
                <a16:creationId xmlns:a16="http://schemas.microsoft.com/office/drawing/2014/main" id="{AC9F9725-6391-ADBE-6B42-79B93793C2E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148101" y="4888385"/>
            <a:ext cx="1083982" cy="108398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58A3F03-C8CC-229B-5E49-158EA557C273}"/>
              </a:ext>
            </a:extLst>
          </p:cNvPr>
          <p:cNvSpPr/>
          <p:nvPr/>
        </p:nvSpPr>
        <p:spPr>
          <a:xfrm>
            <a:off x="3163278" y="1286466"/>
            <a:ext cx="8723922" cy="5290908"/>
          </a:xfrm>
          <a:prstGeom prst="rect">
            <a:avLst/>
          </a:prstGeom>
          <a:solidFill>
            <a:srgbClr val="2D2D2D">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8146158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7D25D-23BA-A199-6435-708154194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9C6991-D2F1-9EBD-58A3-236785323369}"/>
              </a:ext>
            </a:extLst>
          </p:cNvPr>
          <p:cNvSpPr>
            <a:spLocks noGrp="1"/>
          </p:cNvSpPr>
          <p:nvPr>
            <p:ph type="title"/>
          </p:nvPr>
        </p:nvSpPr>
        <p:spPr/>
        <p:txBody>
          <a:bodyPr>
            <a:normAutofit fontScale="90000"/>
          </a:bodyPr>
          <a:lstStyle/>
          <a:p>
            <a:r>
              <a:rPr lang="en-CA" b="1" dirty="0"/>
              <a:t>Text Editor</a:t>
            </a:r>
            <a:r>
              <a:rPr lang="en-CA" b="1" dirty="0">
                <a:solidFill>
                  <a:srgbClr val="00FF00"/>
                </a:solidFill>
              </a:rPr>
              <a:t>.</a:t>
            </a:r>
          </a:p>
        </p:txBody>
      </p:sp>
      <p:sp>
        <p:nvSpPr>
          <p:cNvPr id="3" name="Content Placeholder 2">
            <a:extLst>
              <a:ext uri="{FF2B5EF4-FFF2-40B4-BE49-F238E27FC236}">
                <a16:creationId xmlns:a16="http://schemas.microsoft.com/office/drawing/2014/main" id="{396570C5-44D8-138E-3DE2-38D782FE1370}"/>
              </a:ext>
            </a:extLst>
          </p:cNvPr>
          <p:cNvSpPr>
            <a:spLocks noGrp="1"/>
          </p:cNvSpPr>
          <p:nvPr>
            <p:ph idx="1"/>
          </p:nvPr>
        </p:nvSpPr>
        <p:spPr>
          <a:xfrm>
            <a:off x="838200" y="1825624"/>
            <a:ext cx="5833767" cy="4835479"/>
          </a:xfrm>
        </p:spPr>
        <p:txBody>
          <a:bodyPr>
            <a:normAutofit fontScale="85000" lnSpcReduction="20000"/>
          </a:bodyPr>
          <a:lstStyle/>
          <a:p>
            <a:r>
              <a:rPr lang="en-US" b="1" dirty="0">
                <a:solidFill>
                  <a:srgbClr val="CC99FF"/>
                </a:solidFill>
              </a:rPr>
              <a:t>What it is</a:t>
            </a:r>
            <a:r>
              <a:rPr lang="en-US" b="1" dirty="0">
                <a:solidFill>
                  <a:srgbClr val="00FF00"/>
                </a:solidFill>
              </a:rPr>
              <a:t>:</a:t>
            </a:r>
            <a:r>
              <a:rPr lang="en-US" b="1" dirty="0">
                <a:solidFill>
                  <a:srgbClr val="CC99FF"/>
                </a:solidFill>
              </a:rPr>
              <a:t> </a:t>
            </a:r>
            <a:r>
              <a:rPr lang="en-US" dirty="0"/>
              <a:t>A lightweight app for writing and editing plain</a:t>
            </a:r>
            <a:r>
              <a:rPr lang="en-US" dirty="0">
                <a:solidFill>
                  <a:schemeClr val="accent6"/>
                </a:solidFill>
              </a:rPr>
              <a:t>-</a:t>
            </a:r>
            <a:r>
              <a:rPr lang="en-US" dirty="0"/>
              <a:t>text files </a:t>
            </a:r>
            <a:r>
              <a:rPr lang="en-US" dirty="0">
                <a:solidFill>
                  <a:srgbClr val="00FF00"/>
                </a:solidFill>
              </a:rPr>
              <a:t>(</a:t>
            </a:r>
            <a:r>
              <a:rPr lang="en-US" dirty="0"/>
              <a:t>including code</a:t>
            </a:r>
            <a:r>
              <a:rPr lang="en-US" dirty="0">
                <a:solidFill>
                  <a:srgbClr val="00FF00"/>
                </a:solidFill>
              </a:rPr>
              <a:t>)</a:t>
            </a:r>
            <a:r>
              <a:rPr lang="en-US" dirty="0">
                <a:solidFill>
                  <a:schemeClr val="accent6"/>
                </a:solidFill>
              </a:rPr>
              <a:t>,</a:t>
            </a:r>
            <a:r>
              <a:rPr lang="en-US" dirty="0"/>
              <a:t> with minimal setup</a:t>
            </a:r>
            <a:r>
              <a:rPr lang="en-US" dirty="0">
                <a:solidFill>
                  <a:schemeClr val="accent6"/>
                </a:solidFill>
              </a:rPr>
              <a:t>.</a:t>
            </a:r>
          </a:p>
          <a:p>
            <a:r>
              <a:rPr lang="en-US" b="1" dirty="0">
                <a:solidFill>
                  <a:srgbClr val="CC99FF"/>
                </a:solidFill>
              </a:rPr>
              <a:t>What you get</a:t>
            </a:r>
            <a:r>
              <a:rPr lang="en-US" b="1" dirty="0">
                <a:solidFill>
                  <a:srgbClr val="00FF00"/>
                </a:solidFill>
              </a:rPr>
              <a:t>:</a:t>
            </a:r>
            <a:r>
              <a:rPr lang="en-US" b="1" dirty="0">
                <a:solidFill>
                  <a:srgbClr val="CC99FF"/>
                </a:solidFill>
              </a:rPr>
              <a:t> </a:t>
            </a:r>
            <a:r>
              <a:rPr lang="en-US" dirty="0"/>
              <a:t>Fast startup</a:t>
            </a:r>
            <a:r>
              <a:rPr lang="en-US" dirty="0">
                <a:solidFill>
                  <a:schemeClr val="accent6"/>
                </a:solidFill>
              </a:rPr>
              <a:t>,</a:t>
            </a:r>
            <a:r>
              <a:rPr lang="en-US" dirty="0"/>
              <a:t> syntax highlighting</a:t>
            </a:r>
            <a:r>
              <a:rPr lang="en-US" dirty="0">
                <a:solidFill>
                  <a:schemeClr val="accent6"/>
                </a:solidFill>
              </a:rPr>
              <a:t>,</a:t>
            </a:r>
            <a:r>
              <a:rPr lang="en-US" dirty="0"/>
              <a:t> find</a:t>
            </a:r>
            <a:r>
              <a:rPr lang="en-US" dirty="0">
                <a:solidFill>
                  <a:schemeClr val="accent6"/>
                </a:solidFill>
              </a:rPr>
              <a:t>/</a:t>
            </a:r>
            <a:r>
              <a:rPr lang="en-US" dirty="0"/>
              <a:t>replace</a:t>
            </a:r>
            <a:r>
              <a:rPr lang="en-US" dirty="0">
                <a:solidFill>
                  <a:schemeClr val="accent6"/>
                </a:solidFill>
              </a:rPr>
              <a:t>,</a:t>
            </a:r>
            <a:r>
              <a:rPr lang="en-US" dirty="0"/>
              <a:t> multiple files</a:t>
            </a:r>
            <a:r>
              <a:rPr lang="en-US" dirty="0">
                <a:solidFill>
                  <a:schemeClr val="accent6"/>
                </a:solidFill>
              </a:rPr>
              <a:t>/</a:t>
            </a:r>
            <a:r>
              <a:rPr lang="en-US" dirty="0"/>
              <a:t>tabs</a:t>
            </a:r>
            <a:r>
              <a:rPr lang="en-US" dirty="0">
                <a:solidFill>
                  <a:schemeClr val="accent6"/>
                </a:solidFill>
              </a:rPr>
              <a:t>, </a:t>
            </a:r>
            <a:r>
              <a:rPr lang="en-US" dirty="0"/>
              <a:t>basic project folders</a:t>
            </a:r>
            <a:r>
              <a:rPr lang="en-US" dirty="0">
                <a:solidFill>
                  <a:schemeClr val="accent6"/>
                </a:solidFill>
              </a:rPr>
              <a:t>.</a:t>
            </a:r>
          </a:p>
          <a:p>
            <a:r>
              <a:rPr lang="en-US" b="1" dirty="0">
                <a:solidFill>
                  <a:srgbClr val="CC99FF"/>
                </a:solidFill>
              </a:rPr>
              <a:t>What you don</a:t>
            </a:r>
            <a:r>
              <a:rPr lang="en-US" b="1" dirty="0">
                <a:solidFill>
                  <a:srgbClr val="00FF00"/>
                </a:solidFill>
              </a:rPr>
              <a:t>’</a:t>
            </a:r>
            <a:r>
              <a:rPr lang="en-US" b="1" dirty="0">
                <a:solidFill>
                  <a:srgbClr val="CC99FF"/>
                </a:solidFill>
              </a:rPr>
              <a:t>t </a:t>
            </a:r>
            <a:r>
              <a:rPr lang="en-US" b="1" dirty="0">
                <a:solidFill>
                  <a:srgbClr val="00FF00"/>
                </a:solidFill>
              </a:rPr>
              <a:t>(</a:t>
            </a:r>
            <a:r>
              <a:rPr lang="en-US" b="1" dirty="0">
                <a:solidFill>
                  <a:srgbClr val="CC99FF"/>
                </a:solidFill>
              </a:rPr>
              <a:t>usually</a:t>
            </a:r>
            <a:r>
              <a:rPr lang="en-US" b="1" dirty="0">
                <a:solidFill>
                  <a:srgbClr val="00FF00"/>
                </a:solidFill>
              </a:rPr>
              <a:t>)</a:t>
            </a:r>
            <a:r>
              <a:rPr lang="en-US" b="1" dirty="0">
                <a:solidFill>
                  <a:srgbClr val="CC99FF"/>
                </a:solidFill>
              </a:rPr>
              <a:t> get</a:t>
            </a:r>
            <a:r>
              <a:rPr lang="en-US" b="1" dirty="0">
                <a:solidFill>
                  <a:srgbClr val="00FF00"/>
                </a:solidFill>
              </a:rPr>
              <a:t>:</a:t>
            </a:r>
            <a:r>
              <a:rPr lang="en-US" b="1" dirty="0">
                <a:solidFill>
                  <a:srgbClr val="CC99FF"/>
                </a:solidFill>
              </a:rPr>
              <a:t> </a:t>
            </a:r>
            <a:r>
              <a:rPr lang="en-US" dirty="0"/>
              <a:t>Integrated debugging</a:t>
            </a:r>
            <a:r>
              <a:rPr lang="en-US" dirty="0">
                <a:solidFill>
                  <a:schemeClr val="accent6"/>
                </a:solidFill>
              </a:rPr>
              <a:t>,</a:t>
            </a:r>
            <a:r>
              <a:rPr lang="en-US" dirty="0"/>
              <a:t> deep refactoring</a:t>
            </a:r>
            <a:r>
              <a:rPr lang="en-US" dirty="0">
                <a:solidFill>
                  <a:schemeClr val="accent6"/>
                </a:solidFill>
              </a:rPr>
              <a:t>,</a:t>
            </a:r>
            <a:r>
              <a:rPr lang="en-US" dirty="0"/>
              <a:t> environment management</a:t>
            </a:r>
            <a:r>
              <a:rPr lang="en-US" dirty="0">
                <a:solidFill>
                  <a:schemeClr val="accent6"/>
                </a:solidFill>
              </a:rPr>
              <a:t>, </a:t>
            </a:r>
            <a:r>
              <a:rPr lang="en-US" dirty="0"/>
              <a:t>and one</a:t>
            </a:r>
            <a:r>
              <a:rPr lang="en-US" dirty="0">
                <a:solidFill>
                  <a:schemeClr val="accent6"/>
                </a:solidFill>
              </a:rPr>
              <a:t>-</a:t>
            </a:r>
            <a:r>
              <a:rPr lang="en-US" dirty="0"/>
              <a:t>click test runners</a:t>
            </a:r>
            <a:r>
              <a:rPr lang="en-US" dirty="0">
                <a:solidFill>
                  <a:schemeClr val="accent6"/>
                </a:solidFill>
              </a:rPr>
              <a:t>.</a:t>
            </a:r>
          </a:p>
          <a:p>
            <a:r>
              <a:rPr lang="en-US" b="1" dirty="0">
                <a:solidFill>
                  <a:srgbClr val="CC99FF"/>
                </a:solidFill>
              </a:rPr>
              <a:t>Typical workflow</a:t>
            </a:r>
            <a:r>
              <a:rPr lang="en-US" b="1" dirty="0">
                <a:solidFill>
                  <a:srgbClr val="00FF00"/>
                </a:solidFill>
              </a:rPr>
              <a:t>:</a:t>
            </a:r>
            <a:r>
              <a:rPr lang="en-US" b="1" dirty="0">
                <a:solidFill>
                  <a:srgbClr val="CC99FF"/>
                </a:solidFill>
              </a:rPr>
              <a:t> </a:t>
            </a:r>
            <a:r>
              <a:rPr lang="en-US" dirty="0"/>
              <a:t>Edit code in the editor</a:t>
            </a:r>
            <a:r>
              <a:rPr lang="en-US" dirty="0">
                <a:solidFill>
                  <a:schemeClr val="accent6"/>
                </a:solidFill>
              </a:rPr>
              <a:t>,</a:t>
            </a:r>
            <a:r>
              <a:rPr lang="en-US" dirty="0"/>
              <a:t> then run it in a separate terminal </a:t>
            </a:r>
            <a:r>
              <a:rPr lang="en-US" dirty="0">
                <a:solidFill>
                  <a:srgbClr val="00FF00"/>
                </a:solidFill>
              </a:rPr>
              <a:t>(</a:t>
            </a:r>
            <a:r>
              <a:rPr lang="en-US" b="1" dirty="0">
                <a:latin typeface="Consolas" panose="020B0609020204030204" pitchFamily="49" charset="0"/>
              </a:rPr>
              <a:t>python myfile</a:t>
            </a:r>
            <a:r>
              <a:rPr lang="en-US" b="1" dirty="0">
                <a:solidFill>
                  <a:schemeClr val="accent6"/>
                </a:solidFill>
                <a:latin typeface="Consolas" panose="020B0609020204030204" pitchFamily="49" charset="0"/>
              </a:rPr>
              <a:t>.</a:t>
            </a:r>
            <a:r>
              <a:rPr lang="en-US" b="1" dirty="0">
                <a:latin typeface="Consolas" panose="020B0609020204030204" pitchFamily="49" charset="0"/>
              </a:rPr>
              <a:t>py</a:t>
            </a:r>
            <a:r>
              <a:rPr lang="en-US" dirty="0">
                <a:solidFill>
                  <a:srgbClr val="00FF00"/>
                </a:solidFill>
              </a:rPr>
              <a:t>)</a:t>
            </a:r>
            <a:r>
              <a:rPr lang="en-US" dirty="0">
                <a:solidFill>
                  <a:schemeClr val="accent6"/>
                </a:solidFill>
              </a:rPr>
              <a:t>.</a:t>
            </a:r>
          </a:p>
          <a:p>
            <a:r>
              <a:rPr lang="en-US" b="1" dirty="0">
                <a:solidFill>
                  <a:srgbClr val="CC99FF"/>
                </a:solidFill>
              </a:rPr>
              <a:t>Best for</a:t>
            </a:r>
            <a:r>
              <a:rPr lang="en-US" b="1" dirty="0">
                <a:solidFill>
                  <a:srgbClr val="00FF00"/>
                </a:solidFill>
              </a:rPr>
              <a:t>:</a:t>
            </a:r>
            <a:r>
              <a:rPr lang="en-US" b="1" dirty="0">
                <a:solidFill>
                  <a:srgbClr val="CC99FF"/>
                </a:solidFill>
              </a:rPr>
              <a:t> </a:t>
            </a:r>
            <a:r>
              <a:rPr lang="en-US" dirty="0"/>
              <a:t>Quick edits</a:t>
            </a:r>
            <a:r>
              <a:rPr lang="en-US" dirty="0">
                <a:solidFill>
                  <a:schemeClr val="accent6"/>
                </a:solidFill>
              </a:rPr>
              <a:t>,</a:t>
            </a:r>
            <a:r>
              <a:rPr lang="en-US" dirty="0"/>
              <a:t> small scripts</a:t>
            </a:r>
            <a:r>
              <a:rPr lang="en-US" dirty="0">
                <a:solidFill>
                  <a:schemeClr val="accent6"/>
                </a:solidFill>
              </a:rPr>
              <a:t>,</a:t>
            </a:r>
            <a:r>
              <a:rPr lang="en-US" dirty="0"/>
              <a:t> configuration files</a:t>
            </a:r>
            <a:r>
              <a:rPr lang="en-US" dirty="0">
                <a:solidFill>
                  <a:schemeClr val="accent6"/>
                </a:solidFill>
              </a:rPr>
              <a:t>,</a:t>
            </a:r>
            <a:r>
              <a:rPr lang="en-US" dirty="0"/>
              <a:t> and learning fundamentals without heavy tooling</a:t>
            </a:r>
            <a:r>
              <a:rPr lang="en-US" dirty="0">
                <a:solidFill>
                  <a:schemeClr val="accent6"/>
                </a:solidFill>
              </a:rPr>
              <a:t>.</a:t>
            </a:r>
          </a:p>
        </p:txBody>
      </p:sp>
      <p:pic>
        <p:nvPicPr>
          <p:cNvPr id="5" name="Picture 4">
            <a:extLst>
              <a:ext uri="{FF2B5EF4-FFF2-40B4-BE49-F238E27FC236}">
                <a16:creationId xmlns:a16="http://schemas.microsoft.com/office/drawing/2014/main" id="{4C37EBD3-953B-8763-832B-A8A94F36F5AB}"/>
              </a:ext>
            </a:extLst>
          </p:cNvPr>
          <p:cNvPicPr>
            <a:picLocks noChangeAspect="1"/>
          </p:cNvPicPr>
          <p:nvPr/>
        </p:nvPicPr>
        <p:blipFill>
          <a:blip r:embed="rId2"/>
          <a:stretch>
            <a:fillRect/>
          </a:stretch>
        </p:blipFill>
        <p:spPr>
          <a:xfrm>
            <a:off x="6939668" y="572653"/>
            <a:ext cx="5161944" cy="6082144"/>
          </a:xfrm>
          <a:prstGeom prst="rect">
            <a:avLst/>
          </a:prstGeom>
        </p:spPr>
      </p:pic>
      <p:sp>
        <p:nvSpPr>
          <p:cNvPr id="4" name="Oval 3">
            <a:extLst>
              <a:ext uri="{FF2B5EF4-FFF2-40B4-BE49-F238E27FC236}">
                <a16:creationId xmlns:a16="http://schemas.microsoft.com/office/drawing/2014/main" id="{7F3F4A18-1FB7-61A0-0F83-961AA3F49C3B}"/>
              </a:ext>
            </a:extLst>
          </p:cNvPr>
          <p:cNvSpPr/>
          <p:nvPr/>
        </p:nvSpPr>
        <p:spPr>
          <a:xfrm>
            <a:off x="7176463" y="630620"/>
            <a:ext cx="769358" cy="321617"/>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Arrow: Right 5">
            <a:extLst>
              <a:ext uri="{FF2B5EF4-FFF2-40B4-BE49-F238E27FC236}">
                <a16:creationId xmlns:a16="http://schemas.microsoft.com/office/drawing/2014/main" id="{0E73556B-150A-6354-6893-AD4EE064385B}"/>
              </a:ext>
            </a:extLst>
          </p:cNvPr>
          <p:cNvSpPr/>
          <p:nvPr/>
        </p:nvSpPr>
        <p:spPr>
          <a:xfrm flipH="1">
            <a:off x="5817788" y="714902"/>
            <a:ext cx="1358675" cy="171666"/>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C6D298AC-5580-0828-7CAA-DD598CCC35B5}"/>
              </a:ext>
            </a:extLst>
          </p:cNvPr>
          <p:cNvSpPr txBox="1"/>
          <p:nvPr/>
        </p:nvSpPr>
        <p:spPr>
          <a:xfrm>
            <a:off x="3941717" y="210731"/>
            <a:ext cx="1863459" cy="1200329"/>
          </a:xfrm>
          <a:prstGeom prst="rect">
            <a:avLst/>
          </a:prstGeom>
          <a:noFill/>
        </p:spPr>
        <p:txBody>
          <a:bodyPr wrap="none" rtlCol="0">
            <a:spAutoFit/>
          </a:bodyPr>
          <a:lstStyle/>
          <a:p>
            <a:r>
              <a:rPr lang="en-CA" b="1" dirty="0">
                <a:solidFill>
                  <a:schemeClr val="accent6"/>
                </a:solidFill>
              </a:rPr>
              <a:t>APS106</a:t>
            </a:r>
          </a:p>
          <a:p>
            <a:r>
              <a:rPr lang="en-CA" b="1" dirty="0">
                <a:solidFill>
                  <a:srgbClr val="FFFFFF"/>
                </a:solidFill>
              </a:rPr>
              <a:t>File Type </a:t>
            </a:r>
            <a:r>
              <a:rPr lang="en-CA" b="1" dirty="0">
                <a:solidFill>
                  <a:schemeClr val="accent6"/>
                </a:solidFill>
              </a:rPr>
              <a:t>#</a:t>
            </a:r>
            <a:r>
              <a:rPr lang="en-CA" b="1" dirty="0">
                <a:solidFill>
                  <a:srgbClr val="FFFFFF"/>
                </a:solidFill>
              </a:rPr>
              <a:t>1</a:t>
            </a:r>
            <a:r>
              <a:rPr lang="en-CA" b="1" dirty="0">
                <a:solidFill>
                  <a:schemeClr val="accent6"/>
                </a:solidFill>
              </a:rPr>
              <a:t>.</a:t>
            </a:r>
          </a:p>
          <a:p>
            <a:r>
              <a:rPr lang="en-CA" b="1" dirty="0">
                <a:solidFill>
                  <a:srgbClr val="FFFFFF"/>
                </a:solidFill>
              </a:rPr>
              <a:t>The Python File</a:t>
            </a:r>
          </a:p>
          <a:p>
            <a:r>
              <a:rPr lang="en-CA" b="1" dirty="0">
                <a:solidFill>
                  <a:srgbClr val="00FF00"/>
                </a:solidFill>
                <a:latin typeface="Consolas" panose="020B0609020204030204" pitchFamily="49" charset="0"/>
              </a:rPr>
              <a:t>.</a:t>
            </a:r>
            <a:r>
              <a:rPr lang="en-CA" b="1" dirty="0" err="1">
                <a:solidFill>
                  <a:srgbClr val="00FF00"/>
                </a:solidFill>
                <a:latin typeface="Consolas" panose="020B0609020204030204" pitchFamily="49" charset="0"/>
              </a:rPr>
              <a:t>py</a:t>
            </a:r>
            <a:endParaRPr lang="en-CA" b="1" dirty="0">
              <a:solidFill>
                <a:srgbClr val="00FF00"/>
              </a:solidFill>
              <a:latin typeface="Consolas" panose="020B0609020204030204" pitchFamily="49" charset="0"/>
            </a:endParaRPr>
          </a:p>
        </p:txBody>
      </p:sp>
    </p:spTree>
    <p:extLst>
      <p:ext uri="{BB962C8B-B14F-4D97-AF65-F5344CB8AC3E}">
        <p14:creationId xmlns:p14="http://schemas.microsoft.com/office/powerpoint/2010/main" val="34115548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952B1-1A1D-F8CB-D31A-F10512FFD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60289C-6360-1AB6-054B-B7CD477C58BF}"/>
              </a:ext>
            </a:extLst>
          </p:cNvPr>
          <p:cNvSpPr>
            <a:spLocks noGrp="1"/>
          </p:cNvSpPr>
          <p:nvPr>
            <p:ph type="title"/>
          </p:nvPr>
        </p:nvSpPr>
        <p:spPr/>
        <p:txBody>
          <a:bodyPr>
            <a:normAutofit fontScale="90000"/>
          </a:bodyPr>
          <a:lstStyle/>
          <a:p>
            <a:r>
              <a:rPr lang="en-CA" b="1" dirty="0"/>
              <a:t>Text Editor</a:t>
            </a:r>
            <a:r>
              <a:rPr lang="en-CA" b="1" dirty="0">
                <a:solidFill>
                  <a:srgbClr val="00FF00"/>
                </a:solidFill>
              </a:rPr>
              <a:t>.</a:t>
            </a:r>
          </a:p>
        </p:txBody>
      </p:sp>
      <p:sp>
        <p:nvSpPr>
          <p:cNvPr id="3" name="Content Placeholder 2">
            <a:extLst>
              <a:ext uri="{FF2B5EF4-FFF2-40B4-BE49-F238E27FC236}">
                <a16:creationId xmlns:a16="http://schemas.microsoft.com/office/drawing/2014/main" id="{2EFFB2FA-D9BC-0274-7D1A-5FD9EB125E6A}"/>
              </a:ext>
            </a:extLst>
          </p:cNvPr>
          <p:cNvSpPr>
            <a:spLocks noGrp="1"/>
          </p:cNvSpPr>
          <p:nvPr>
            <p:ph idx="1"/>
          </p:nvPr>
        </p:nvSpPr>
        <p:spPr>
          <a:xfrm>
            <a:off x="838200" y="1825624"/>
            <a:ext cx="5833767" cy="4835479"/>
          </a:xfrm>
        </p:spPr>
        <p:txBody>
          <a:bodyPr>
            <a:normAutofit fontScale="85000" lnSpcReduction="20000"/>
          </a:bodyPr>
          <a:lstStyle/>
          <a:p>
            <a:r>
              <a:rPr lang="en-US" b="1" dirty="0">
                <a:solidFill>
                  <a:srgbClr val="CC99FF"/>
                </a:solidFill>
              </a:rPr>
              <a:t>What it is</a:t>
            </a:r>
            <a:r>
              <a:rPr lang="en-US" b="1" dirty="0">
                <a:solidFill>
                  <a:srgbClr val="00FF00"/>
                </a:solidFill>
              </a:rPr>
              <a:t>:</a:t>
            </a:r>
            <a:r>
              <a:rPr lang="en-US" b="1" dirty="0">
                <a:solidFill>
                  <a:srgbClr val="CC99FF"/>
                </a:solidFill>
              </a:rPr>
              <a:t> </a:t>
            </a:r>
            <a:r>
              <a:rPr lang="en-US" dirty="0"/>
              <a:t>A lightweight app for writing and editing plain</a:t>
            </a:r>
            <a:r>
              <a:rPr lang="en-US" dirty="0">
                <a:solidFill>
                  <a:schemeClr val="accent6"/>
                </a:solidFill>
              </a:rPr>
              <a:t>-</a:t>
            </a:r>
            <a:r>
              <a:rPr lang="en-US" dirty="0"/>
              <a:t>text files </a:t>
            </a:r>
            <a:r>
              <a:rPr lang="en-US" dirty="0">
                <a:solidFill>
                  <a:srgbClr val="00FF00"/>
                </a:solidFill>
              </a:rPr>
              <a:t>(</a:t>
            </a:r>
            <a:r>
              <a:rPr lang="en-US" dirty="0"/>
              <a:t>including code</a:t>
            </a:r>
            <a:r>
              <a:rPr lang="en-US" dirty="0">
                <a:solidFill>
                  <a:srgbClr val="00FF00"/>
                </a:solidFill>
              </a:rPr>
              <a:t>)</a:t>
            </a:r>
            <a:r>
              <a:rPr lang="en-US" dirty="0">
                <a:solidFill>
                  <a:schemeClr val="accent6"/>
                </a:solidFill>
              </a:rPr>
              <a:t>,</a:t>
            </a:r>
            <a:r>
              <a:rPr lang="en-US" dirty="0"/>
              <a:t> with minimal setup</a:t>
            </a:r>
            <a:r>
              <a:rPr lang="en-US" dirty="0">
                <a:solidFill>
                  <a:schemeClr val="accent6"/>
                </a:solidFill>
              </a:rPr>
              <a:t>.</a:t>
            </a:r>
          </a:p>
          <a:p>
            <a:r>
              <a:rPr lang="en-US" b="1" dirty="0">
                <a:solidFill>
                  <a:srgbClr val="CC99FF"/>
                </a:solidFill>
              </a:rPr>
              <a:t>What you get</a:t>
            </a:r>
            <a:r>
              <a:rPr lang="en-US" b="1" dirty="0">
                <a:solidFill>
                  <a:srgbClr val="00FF00"/>
                </a:solidFill>
              </a:rPr>
              <a:t>:</a:t>
            </a:r>
            <a:r>
              <a:rPr lang="en-US" b="1" dirty="0">
                <a:solidFill>
                  <a:srgbClr val="CC99FF"/>
                </a:solidFill>
              </a:rPr>
              <a:t> </a:t>
            </a:r>
            <a:r>
              <a:rPr lang="en-US" dirty="0"/>
              <a:t>Fast startup</a:t>
            </a:r>
            <a:r>
              <a:rPr lang="en-US" dirty="0">
                <a:solidFill>
                  <a:schemeClr val="accent6"/>
                </a:solidFill>
              </a:rPr>
              <a:t>,</a:t>
            </a:r>
            <a:r>
              <a:rPr lang="en-US" dirty="0"/>
              <a:t> syntax highlighting</a:t>
            </a:r>
            <a:r>
              <a:rPr lang="en-US" dirty="0">
                <a:solidFill>
                  <a:schemeClr val="accent6"/>
                </a:solidFill>
              </a:rPr>
              <a:t>,</a:t>
            </a:r>
            <a:r>
              <a:rPr lang="en-US" dirty="0"/>
              <a:t> find</a:t>
            </a:r>
            <a:r>
              <a:rPr lang="en-US" dirty="0">
                <a:solidFill>
                  <a:schemeClr val="accent6"/>
                </a:solidFill>
              </a:rPr>
              <a:t>/</a:t>
            </a:r>
            <a:r>
              <a:rPr lang="en-US" dirty="0"/>
              <a:t>replace</a:t>
            </a:r>
            <a:r>
              <a:rPr lang="en-US" dirty="0">
                <a:solidFill>
                  <a:schemeClr val="accent6"/>
                </a:solidFill>
              </a:rPr>
              <a:t>,</a:t>
            </a:r>
            <a:r>
              <a:rPr lang="en-US" dirty="0"/>
              <a:t> multiple files</a:t>
            </a:r>
            <a:r>
              <a:rPr lang="en-US" dirty="0">
                <a:solidFill>
                  <a:schemeClr val="accent6"/>
                </a:solidFill>
              </a:rPr>
              <a:t>/</a:t>
            </a:r>
            <a:r>
              <a:rPr lang="en-US" dirty="0"/>
              <a:t>tabs</a:t>
            </a:r>
            <a:r>
              <a:rPr lang="en-US" dirty="0">
                <a:solidFill>
                  <a:schemeClr val="accent6"/>
                </a:solidFill>
              </a:rPr>
              <a:t>, </a:t>
            </a:r>
            <a:r>
              <a:rPr lang="en-US" dirty="0"/>
              <a:t>basic project folders</a:t>
            </a:r>
            <a:r>
              <a:rPr lang="en-US" dirty="0">
                <a:solidFill>
                  <a:schemeClr val="accent6"/>
                </a:solidFill>
              </a:rPr>
              <a:t>.</a:t>
            </a:r>
          </a:p>
          <a:p>
            <a:r>
              <a:rPr lang="en-US" b="1" dirty="0">
                <a:solidFill>
                  <a:srgbClr val="CC99FF"/>
                </a:solidFill>
              </a:rPr>
              <a:t>What you don</a:t>
            </a:r>
            <a:r>
              <a:rPr lang="en-US" b="1" dirty="0">
                <a:solidFill>
                  <a:srgbClr val="00FF00"/>
                </a:solidFill>
              </a:rPr>
              <a:t>’</a:t>
            </a:r>
            <a:r>
              <a:rPr lang="en-US" b="1" dirty="0">
                <a:solidFill>
                  <a:srgbClr val="CC99FF"/>
                </a:solidFill>
              </a:rPr>
              <a:t>t </a:t>
            </a:r>
            <a:r>
              <a:rPr lang="en-US" b="1" dirty="0">
                <a:solidFill>
                  <a:srgbClr val="00FF00"/>
                </a:solidFill>
              </a:rPr>
              <a:t>(</a:t>
            </a:r>
            <a:r>
              <a:rPr lang="en-US" b="1" dirty="0">
                <a:solidFill>
                  <a:srgbClr val="CC99FF"/>
                </a:solidFill>
              </a:rPr>
              <a:t>usually</a:t>
            </a:r>
            <a:r>
              <a:rPr lang="en-US" b="1" dirty="0">
                <a:solidFill>
                  <a:srgbClr val="00FF00"/>
                </a:solidFill>
              </a:rPr>
              <a:t>)</a:t>
            </a:r>
            <a:r>
              <a:rPr lang="en-US" b="1" dirty="0">
                <a:solidFill>
                  <a:srgbClr val="CC99FF"/>
                </a:solidFill>
              </a:rPr>
              <a:t> get</a:t>
            </a:r>
            <a:r>
              <a:rPr lang="en-US" b="1" dirty="0">
                <a:solidFill>
                  <a:srgbClr val="00FF00"/>
                </a:solidFill>
              </a:rPr>
              <a:t>:</a:t>
            </a:r>
            <a:r>
              <a:rPr lang="en-US" b="1" dirty="0">
                <a:solidFill>
                  <a:srgbClr val="CC99FF"/>
                </a:solidFill>
              </a:rPr>
              <a:t> </a:t>
            </a:r>
            <a:r>
              <a:rPr lang="en-US" dirty="0"/>
              <a:t>Integrated debugging</a:t>
            </a:r>
            <a:r>
              <a:rPr lang="en-US" dirty="0">
                <a:solidFill>
                  <a:schemeClr val="accent6"/>
                </a:solidFill>
              </a:rPr>
              <a:t>,</a:t>
            </a:r>
            <a:r>
              <a:rPr lang="en-US" dirty="0"/>
              <a:t> deep refactoring</a:t>
            </a:r>
            <a:r>
              <a:rPr lang="en-US" dirty="0">
                <a:solidFill>
                  <a:schemeClr val="accent6"/>
                </a:solidFill>
              </a:rPr>
              <a:t>,</a:t>
            </a:r>
            <a:r>
              <a:rPr lang="en-US" dirty="0"/>
              <a:t> environment management</a:t>
            </a:r>
            <a:r>
              <a:rPr lang="en-US" dirty="0">
                <a:solidFill>
                  <a:schemeClr val="accent6"/>
                </a:solidFill>
              </a:rPr>
              <a:t>, </a:t>
            </a:r>
            <a:r>
              <a:rPr lang="en-US" dirty="0"/>
              <a:t>and one</a:t>
            </a:r>
            <a:r>
              <a:rPr lang="en-US" dirty="0">
                <a:solidFill>
                  <a:schemeClr val="accent6"/>
                </a:solidFill>
              </a:rPr>
              <a:t>-</a:t>
            </a:r>
            <a:r>
              <a:rPr lang="en-US" dirty="0"/>
              <a:t>click test runners</a:t>
            </a:r>
            <a:r>
              <a:rPr lang="en-US" dirty="0">
                <a:solidFill>
                  <a:schemeClr val="accent6"/>
                </a:solidFill>
              </a:rPr>
              <a:t>.</a:t>
            </a:r>
          </a:p>
          <a:p>
            <a:r>
              <a:rPr lang="en-US" b="1" dirty="0">
                <a:solidFill>
                  <a:srgbClr val="CC99FF"/>
                </a:solidFill>
              </a:rPr>
              <a:t>Typical workflow</a:t>
            </a:r>
            <a:r>
              <a:rPr lang="en-US" b="1" dirty="0">
                <a:solidFill>
                  <a:srgbClr val="00FF00"/>
                </a:solidFill>
              </a:rPr>
              <a:t>:</a:t>
            </a:r>
            <a:r>
              <a:rPr lang="en-US" b="1" dirty="0">
                <a:solidFill>
                  <a:srgbClr val="CC99FF"/>
                </a:solidFill>
              </a:rPr>
              <a:t> </a:t>
            </a:r>
            <a:r>
              <a:rPr lang="en-US" dirty="0"/>
              <a:t>Edit code in the editor</a:t>
            </a:r>
            <a:r>
              <a:rPr lang="en-US" dirty="0">
                <a:solidFill>
                  <a:schemeClr val="accent6"/>
                </a:solidFill>
              </a:rPr>
              <a:t>,</a:t>
            </a:r>
            <a:r>
              <a:rPr lang="en-US" dirty="0"/>
              <a:t> then run it in a separate terminal </a:t>
            </a:r>
            <a:r>
              <a:rPr lang="en-US" dirty="0">
                <a:solidFill>
                  <a:srgbClr val="00FF00"/>
                </a:solidFill>
              </a:rPr>
              <a:t>(</a:t>
            </a:r>
            <a:r>
              <a:rPr lang="en-US" b="1" dirty="0">
                <a:latin typeface="Consolas" panose="020B0609020204030204" pitchFamily="49" charset="0"/>
              </a:rPr>
              <a:t>python myfile</a:t>
            </a:r>
            <a:r>
              <a:rPr lang="en-US" b="1" dirty="0">
                <a:solidFill>
                  <a:schemeClr val="accent6"/>
                </a:solidFill>
                <a:latin typeface="Consolas" panose="020B0609020204030204" pitchFamily="49" charset="0"/>
              </a:rPr>
              <a:t>.</a:t>
            </a:r>
            <a:r>
              <a:rPr lang="en-US" b="1" dirty="0">
                <a:latin typeface="Consolas" panose="020B0609020204030204" pitchFamily="49" charset="0"/>
              </a:rPr>
              <a:t>py</a:t>
            </a:r>
            <a:r>
              <a:rPr lang="en-US" dirty="0">
                <a:solidFill>
                  <a:srgbClr val="00FF00"/>
                </a:solidFill>
              </a:rPr>
              <a:t>)</a:t>
            </a:r>
            <a:r>
              <a:rPr lang="en-US" dirty="0">
                <a:solidFill>
                  <a:schemeClr val="accent6"/>
                </a:solidFill>
              </a:rPr>
              <a:t>.</a:t>
            </a:r>
          </a:p>
          <a:p>
            <a:r>
              <a:rPr lang="en-US" b="1" dirty="0">
                <a:solidFill>
                  <a:srgbClr val="CC99FF"/>
                </a:solidFill>
              </a:rPr>
              <a:t>Best for</a:t>
            </a:r>
            <a:r>
              <a:rPr lang="en-US" b="1" dirty="0">
                <a:solidFill>
                  <a:srgbClr val="00FF00"/>
                </a:solidFill>
              </a:rPr>
              <a:t>:</a:t>
            </a:r>
            <a:r>
              <a:rPr lang="en-US" b="1" dirty="0">
                <a:solidFill>
                  <a:srgbClr val="CC99FF"/>
                </a:solidFill>
              </a:rPr>
              <a:t> </a:t>
            </a:r>
            <a:r>
              <a:rPr lang="en-US" dirty="0"/>
              <a:t>Quick edits</a:t>
            </a:r>
            <a:r>
              <a:rPr lang="en-US" dirty="0">
                <a:solidFill>
                  <a:schemeClr val="accent6"/>
                </a:solidFill>
              </a:rPr>
              <a:t>,</a:t>
            </a:r>
            <a:r>
              <a:rPr lang="en-US" dirty="0"/>
              <a:t> small scripts</a:t>
            </a:r>
            <a:r>
              <a:rPr lang="en-US" dirty="0">
                <a:solidFill>
                  <a:schemeClr val="accent6"/>
                </a:solidFill>
              </a:rPr>
              <a:t>,</a:t>
            </a:r>
            <a:r>
              <a:rPr lang="en-US" dirty="0"/>
              <a:t> configuration files</a:t>
            </a:r>
            <a:r>
              <a:rPr lang="en-US" dirty="0">
                <a:solidFill>
                  <a:schemeClr val="accent6"/>
                </a:solidFill>
              </a:rPr>
              <a:t>,</a:t>
            </a:r>
            <a:r>
              <a:rPr lang="en-US" dirty="0"/>
              <a:t> and learning fundamentals without heavy tooling</a:t>
            </a:r>
            <a:r>
              <a:rPr lang="en-US" dirty="0">
                <a:solidFill>
                  <a:schemeClr val="accent6"/>
                </a:solidFill>
              </a:rPr>
              <a:t>.</a:t>
            </a:r>
          </a:p>
        </p:txBody>
      </p:sp>
      <p:pic>
        <p:nvPicPr>
          <p:cNvPr id="9" name="Picture 8">
            <a:extLst>
              <a:ext uri="{FF2B5EF4-FFF2-40B4-BE49-F238E27FC236}">
                <a16:creationId xmlns:a16="http://schemas.microsoft.com/office/drawing/2014/main" id="{2D39B338-12CF-8468-725B-977FEE3A1B86}"/>
              </a:ext>
            </a:extLst>
          </p:cNvPr>
          <p:cNvPicPr>
            <a:picLocks noChangeAspect="1"/>
          </p:cNvPicPr>
          <p:nvPr/>
        </p:nvPicPr>
        <p:blipFill>
          <a:blip r:embed="rId2"/>
          <a:stretch>
            <a:fillRect/>
          </a:stretch>
        </p:blipFill>
        <p:spPr>
          <a:xfrm>
            <a:off x="7018808" y="504497"/>
            <a:ext cx="5165902" cy="6228963"/>
          </a:xfrm>
          <a:prstGeom prst="rect">
            <a:avLst/>
          </a:prstGeom>
        </p:spPr>
      </p:pic>
      <p:sp>
        <p:nvSpPr>
          <p:cNvPr id="10" name="Rectangle 9">
            <a:extLst>
              <a:ext uri="{FF2B5EF4-FFF2-40B4-BE49-F238E27FC236}">
                <a16:creationId xmlns:a16="http://schemas.microsoft.com/office/drawing/2014/main" id="{216FD3A5-8788-476A-7845-230B81EE4D57}"/>
              </a:ext>
            </a:extLst>
          </p:cNvPr>
          <p:cNvSpPr/>
          <p:nvPr/>
        </p:nvSpPr>
        <p:spPr>
          <a:xfrm>
            <a:off x="6900175" y="303085"/>
            <a:ext cx="136303" cy="6495190"/>
          </a:xfrm>
          <a:prstGeom prst="rect">
            <a:avLst/>
          </a:prstGeom>
          <a:solidFill>
            <a:srgbClr val="1717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352B7F9-DC31-B7AB-0B70-781D5B63317E}"/>
              </a:ext>
            </a:extLst>
          </p:cNvPr>
          <p:cNvSpPr txBox="1"/>
          <p:nvPr/>
        </p:nvSpPr>
        <p:spPr>
          <a:xfrm>
            <a:off x="10273885" y="3422694"/>
            <a:ext cx="1863459" cy="1200329"/>
          </a:xfrm>
          <a:prstGeom prst="rect">
            <a:avLst/>
          </a:prstGeom>
          <a:noFill/>
        </p:spPr>
        <p:txBody>
          <a:bodyPr wrap="none" rtlCol="0">
            <a:spAutoFit/>
          </a:bodyPr>
          <a:lstStyle/>
          <a:p>
            <a:r>
              <a:rPr lang="en-CA" b="1" dirty="0">
                <a:solidFill>
                  <a:schemeClr val="accent1"/>
                </a:solidFill>
              </a:rPr>
              <a:t>APS106</a:t>
            </a:r>
          </a:p>
          <a:p>
            <a:r>
              <a:rPr lang="en-CA" b="1" dirty="0"/>
              <a:t>File Type </a:t>
            </a:r>
            <a:r>
              <a:rPr lang="en-CA" b="1" dirty="0">
                <a:solidFill>
                  <a:schemeClr val="accent1"/>
                </a:solidFill>
              </a:rPr>
              <a:t>#</a:t>
            </a:r>
            <a:r>
              <a:rPr lang="en-CA" b="1" dirty="0"/>
              <a:t>1</a:t>
            </a:r>
            <a:r>
              <a:rPr lang="en-CA" b="1" dirty="0">
                <a:solidFill>
                  <a:schemeClr val="accent1"/>
                </a:solidFill>
              </a:rPr>
              <a:t>.</a:t>
            </a:r>
          </a:p>
          <a:p>
            <a:r>
              <a:rPr lang="en-CA" b="1" dirty="0"/>
              <a:t>The Python File</a:t>
            </a:r>
          </a:p>
          <a:p>
            <a:r>
              <a:rPr lang="en-CA" b="1" dirty="0">
                <a:solidFill>
                  <a:schemeClr val="accent1"/>
                </a:solidFill>
                <a:latin typeface="Consolas" panose="020B0609020204030204" pitchFamily="49" charset="0"/>
              </a:rPr>
              <a:t>.</a:t>
            </a:r>
            <a:r>
              <a:rPr lang="en-CA" b="1" dirty="0" err="1">
                <a:solidFill>
                  <a:schemeClr val="accent1"/>
                </a:solidFill>
                <a:latin typeface="Consolas" panose="020B0609020204030204" pitchFamily="49" charset="0"/>
              </a:rPr>
              <a:t>py</a:t>
            </a:r>
            <a:endParaRPr lang="en-CA" b="1" dirty="0">
              <a:solidFill>
                <a:schemeClr val="accent1"/>
              </a:solidFill>
              <a:latin typeface="Consolas" panose="020B0609020204030204" pitchFamily="49" charset="0"/>
            </a:endParaRPr>
          </a:p>
        </p:txBody>
      </p:sp>
      <p:sp>
        <p:nvSpPr>
          <p:cNvPr id="11" name="Arrow: Right 10">
            <a:extLst>
              <a:ext uri="{FF2B5EF4-FFF2-40B4-BE49-F238E27FC236}">
                <a16:creationId xmlns:a16="http://schemas.microsoft.com/office/drawing/2014/main" id="{8A7E199B-D4FD-6785-5C72-5B14F53EB6CC}"/>
              </a:ext>
            </a:extLst>
          </p:cNvPr>
          <p:cNvSpPr/>
          <p:nvPr/>
        </p:nvSpPr>
        <p:spPr>
          <a:xfrm flipH="1">
            <a:off x="9052872" y="3839775"/>
            <a:ext cx="1264082" cy="171666"/>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7185965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E7DE0-44D9-9607-46A7-DEAEEC982D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53EE8E-9DEE-A9C3-4ECB-1D792F7B3243}"/>
              </a:ext>
            </a:extLst>
          </p:cNvPr>
          <p:cNvSpPr>
            <a:spLocks noGrp="1"/>
          </p:cNvSpPr>
          <p:nvPr>
            <p:ph type="title"/>
          </p:nvPr>
        </p:nvSpPr>
        <p:spPr/>
        <p:txBody>
          <a:bodyPr>
            <a:normAutofit fontScale="90000"/>
          </a:bodyPr>
          <a:lstStyle/>
          <a:p>
            <a:r>
              <a:rPr lang="en-CA" b="1" dirty="0"/>
              <a:t>Editors </a:t>
            </a:r>
            <a:r>
              <a:rPr lang="en-CA" b="1" dirty="0">
                <a:solidFill>
                  <a:srgbClr val="00FF00"/>
                </a:solidFill>
              </a:rPr>
              <a:t>&amp;</a:t>
            </a:r>
            <a:r>
              <a:rPr lang="en-CA" b="1" dirty="0"/>
              <a:t> IDEs</a:t>
            </a:r>
            <a:r>
              <a:rPr lang="en-CA" b="1" dirty="0">
                <a:solidFill>
                  <a:srgbClr val="00FF00"/>
                </a:solidFill>
              </a:rPr>
              <a:t>.</a:t>
            </a:r>
            <a:endParaRPr lang="en-CA" dirty="0"/>
          </a:p>
        </p:txBody>
      </p:sp>
      <p:sp>
        <p:nvSpPr>
          <p:cNvPr id="19" name="Rectangle: Rounded Corners 18">
            <a:extLst>
              <a:ext uri="{FF2B5EF4-FFF2-40B4-BE49-F238E27FC236}">
                <a16:creationId xmlns:a16="http://schemas.microsoft.com/office/drawing/2014/main" id="{4C723084-EC4E-8C83-F2F0-E9C73594E189}"/>
              </a:ext>
            </a:extLst>
          </p:cNvPr>
          <p:cNvSpPr/>
          <p:nvPr/>
        </p:nvSpPr>
        <p:spPr>
          <a:xfrm>
            <a:off x="611177" y="2826154"/>
            <a:ext cx="2536095" cy="3569313"/>
          </a:xfrm>
          <a:prstGeom prst="round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Rounded Corners 3">
            <a:extLst>
              <a:ext uri="{FF2B5EF4-FFF2-40B4-BE49-F238E27FC236}">
                <a16:creationId xmlns:a16="http://schemas.microsoft.com/office/drawing/2014/main" id="{7E0CAE6F-E613-238E-1102-5C4B9363B222}"/>
              </a:ext>
            </a:extLst>
          </p:cNvPr>
          <p:cNvSpPr/>
          <p:nvPr/>
        </p:nvSpPr>
        <p:spPr>
          <a:xfrm>
            <a:off x="3431102" y="2826153"/>
            <a:ext cx="2536095" cy="3569313"/>
          </a:xfrm>
          <a:prstGeom prst="round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Rounded Corners 4">
            <a:extLst>
              <a:ext uri="{FF2B5EF4-FFF2-40B4-BE49-F238E27FC236}">
                <a16:creationId xmlns:a16="http://schemas.microsoft.com/office/drawing/2014/main" id="{743BBDC7-6F1F-BD70-DC0A-BB8CA3490981}"/>
              </a:ext>
            </a:extLst>
          </p:cNvPr>
          <p:cNvSpPr/>
          <p:nvPr/>
        </p:nvSpPr>
        <p:spPr>
          <a:xfrm>
            <a:off x="6251027" y="2826152"/>
            <a:ext cx="2536095" cy="3569313"/>
          </a:xfrm>
          <a:prstGeom prst="round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Rectangle: Rounded Corners 5">
            <a:extLst>
              <a:ext uri="{FF2B5EF4-FFF2-40B4-BE49-F238E27FC236}">
                <a16:creationId xmlns:a16="http://schemas.microsoft.com/office/drawing/2014/main" id="{CF40A76C-A7DA-3C92-2A74-63AC04D73CCF}"/>
              </a:ext>
            </a:extLst>
          </p:cNvPr>
          <p:cNvSpPr/>
          <p:nvPr/>
        </p:nvSpPr>
        <p:spPr>
          <a:xfrm>
            <a:off x="9070952" y="2826151"/>
            <a:ext cx="2536095" cy="3569313"/>
          </a:xfrm>
          <a:prstGeom prst="round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Arrow: Right 6">
            <a:extLst>
              <a:ext uri="{FF2B5EF4-FFF2-40B4-BE49-F238E27FC236}">
                <a16:creationId xmlns:a16="http://schemas.microsoft.com/office/drawing/2014/main" id="{890F53D4-38DC-BDE1-8545-261F74CE19C9}"/>
              </a:ext>
            </a:extLst>
          </p:cNvPr>
          <p:cNvSpPr/>
          <p:nvPr/>
        </p:nvSpPr>
        <p:spPr>
          <a:xfrm>
            <a:off x="3140967" y="4358558"/>
            <a:ext cx="283830" cy="504497"/>
          </a:xfrm>
          <a:prstGeom prst="rightArrow">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Arrow: Right 7">
            <a:extLst>
              <a:ext uri="{FF2B5EF4-FFF2-40B4-BE49-F238E27FC236}">
                <a16:creationId xmlns:a16="http://schemas.microsoft.com/office/drawing/2014/main" id="{02B8D8C3-20C0-0D0A-12D3-6B8E6C9FBF8F}"/>
              </a:ext>
            </a:extLst>
          </p:cNvPr>
          <p:cNvSpPr/>
          <p:nvPr/>
        </p:nvSpPr>
        <p:spPr>
          <a:xfrm>
            <a:off x="5960391" y="4358558"/>
            <a:ext cx="283830" cy="504497"/>
          </a:xfrm>
          <a:prstGeom prst="rightArrow">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Arrow: Right 8">
            <a:extLst>
              <a:ext uri="{FF2B5EF4-FFF2-40B4-BE49-F238E27FC236}">
                <a16:creationId xmlns:a16="http://schemas.microsoft.com/office/drawing/2014/main" id="{45FDE981-53FE-2037-285A-6FF09CC4367E}"/>
              </a:ext>
            </a:extLst>
          </p:cNvPr>
          <p:cNvSpPr/>
          <p:nvPr/>
        </p:nvSpPr>
        <p:spPr>
          <a:xfrm>
            <a:off x="8781316" y="4358558"/>
            <a:ext cx="283830" cy="504497"/>
          </a:xfrm>
          <a:prstGeom prst="rightArrow">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B71BFB4B-6CEA-D027-7E91-99915187481A}"/>
              </a:ext>
            </a:extLst>
          </p:cNvPr>
          <p:cNvSpPr txBox="1"/>
          <p:nvPr/>
        </p:nvSpPr>
        <p:spPr>
          <a:xfrm>
            <a:off x="503573" y="2350193"/>
            <a:ext cx="1970604" cy="461665"/>
          </a:xfrm>
          <a:prstGeom prst="rect">
            <a:avLst/>
          </a:prstGeom>
          <a:noFill/>
        </p:spPr>
        <p:txBody>
          <a:bodyPr wrap="none" rtlCol="0">
            <a:spAutoFit/>
          </a:bodyPr>
          <a:lstStyle/>
          <a:p>
            <a:r>
              <a:rPr lang="en-CA" sz="2400" b="1" dirty="0">
                <a:solidFill>
                  <a:srgbClr val="FFFFFF"/>
                </a:solidFill>
              </a:rPr>
              <a:t>Text Editors</a:t>
            </a:r>
            <a:r>
              <a:rPr lang="en-CA" sz="2400" b="1" dirty="0">
                <a:solidFill>
                  <a:srgbClr val="00FF00"/>
                </a:solidFill>
              </a:rPr>
              <a:t>.</a:t>
            </a:r>
          </a:p>
        </p:txBody>
      </p:sp>
      <p:sp>
        <p:nvSpPr>
          <p:cNvPr id="11" name="TextBox 10">
            <a:extLst>
              <a:ext uri="{FF2B5EF4-FFF2-40B4-BE49-F238E27FC236}">
                <a16:creationId xmlns:a16="http://schemas.microsoft.com/office/drawing/2014/main" id="{E515F630-0039-45E8-CA55-0A0018967A4D}"/>
              </a:ext>
            </a:extLst>
          </p:cNvPr>
          <p:cNvSpPr txBox="1"/>
          <p:nvPr/>
        </p:nvSpPr>
        <p:spPr>
          <a:xfrm>
            <a:off x="3303370" y="1609608"/>
            <a:ext cx="3152582" cy="1200329"/>
          </a:xfrm>
          <a:prstGeom prst="rect">
            <a:avLst/>
          </a:prstGeom>
          <a:noFill/>
        </p:spPr>
        <p:txBody>
          <a:bodyPr wrap="square" rtlCol="0">
            <a:spAutoFit/>
          </a:bodyPr>
          <a:lstStyle/>
          <a:p>
            <a:r>
              <a:rPr lang="en-CA" sz="2400" b="1" dirty="0">
                <a:solidFill>
                  <a:srgbClr val="FFFFFF"/>
                </a:solidFill>
              </a:rPr>
              <a:t>Interactive Computing</a:t>
            </a:r>
          </a:p>
          <a:p>
            <a:r>
              <a:rPr lang="en-CA" sz="2400" b="1" dirty="0">
                <a:solidFill>
                  <a:srgbClr val="FFFFFF"/>
                </a:solidFill>
              </a:rPr>
              <a:t>Environment</a:t>
            </a:r>
            <a:r>
              <a:rPr lang="en-CA" sz="2400" b="1" dirty="0">
                <a:solidFill>
                  <a:srgbClr val="00FF00"/>
                </a:solidFill>
              </a:rPr>
              <a:t>.</a:t>
            </a:r>
          </a:p>
        </p:txBody>
      </p:sp>
      <p:sp>
        <p:nvSpPr>
          <p:cNvPr id="12" name="TextBox 11">
            <a:extLst>
              <a:ext uri="{FF2B5EF4-FFF2-40B4-BE49-F238E27FC236}">
                <a16:creationId xmlns:a16="http://schemas.microsoft.com/office/drawing/2014/main" id="{54CAA6C9-5D61-5ECB-ECF7-0D3E9191891B}"/>
              </a:ext>
            </a:extLst>
          </p:cNvPr>
          <p:cNvSpPr txBox="1"/>
          <p:nvPr/>
        </p:nvSpPr>
        <p:spPr>
          <a:xfrm>
            <a:off x="6121750" y="1233994"/>
            <a:ext cx="2130904" cy="1569660"/>
          </a:xfrm>
          <a:prstGeom prst="rect">
            <a:avLst/>
          </a:prstGeom>
          <a:noFill/>
        </p:spPr>
        <p:txBody>
          <a:bodyPr wrap="none" rtlCol="0">
            <a:spAutoFit/>
          </a:bodyPr>
          <a:lstStyle/>
          <a:p>
            <a:r>
              <a:rPr lang="en-CA" sz="2400" b="1" dirty="0">
                <a:solidFill>
                  <a:srgbClr val="FFFFFF"/>
                </a:solidFill>
              </a:rPr>
              <a:t>Integrated</a:t>
            </a:r>
          </a:p>
          <a:p>
            <a:r>
              <a:rPr lang="en-CA" sz="2400" b="1" dirty="0">
                <a:solidFill>
                  <a:srgbClr val="FFFFFF"/>
                </a:solidFill>
              </a:rPr>
              <a:t>Development</a:t>
            </a:r>
          </a:p>
          <a:p>
            <a:r>
              <a:rPr lang="en-CA" sz="2400" b="1" dirty="0">
                <a:solidFill>
                  <a:srgbClr val="FFFFFF"/>
                </a:solidFill>
              </a:rPr>
              <a:t>Environment</a:t>
            </a:r>
          </a:p>
          <a:p>
            <a:r>
              <a:rPr lang="en-CA" sz="2400" b="1" dirty="0">
                <a:solidFill>
                  <a:srgbClr val="CC99FF"/>
                </a:solidFill>
              </a:rPr>
              <a:t>(</a:t>
            </a:r>
            <a:r>
              <a:rPr lang="en-CA" sz="2400" b="1" dirty="0">
                <a:solidFill>
                  <a:srgbClr val="FFFFFF"/>
                </a:solidFill>
              </a:rPr>
              <a:t>IDE</a:t>
            </a:r>
            <a:r>
              <a:rPr lang="en-CA" sz="2400" b="1" dirty="0">
                <a:solidFill>
                  <a:srgbClr val="CC99FF"/>
                </a:solidFill>
              </a:rPr>
              <a:t>)</a:t>
            </a:r>
            <a:r>
              <a:rPr lang="en-CA" sz="2400" b="1" dirty="0">
                <a:solidFill>
                  <a:srgbClr val="00FF00"/>
                </a:solidFill>
              </a:rPr>
              <a:t>.</a:t>
            </a:r>
          </a:p>
        </p:txBody>
      </p:sp>
      <p:sp>
        <p:nvSpPr>
          <p:cNvPr id="13" name="TextBox 12">
            <a:extLst>
              <a:ext uri="{FF2B5EF4-FFF2-40B4-BE49-F238E27FC236}">
                <a16:creationId xmlns:a16="http://schemas.microsoft.com/office/drawing/2014/main" id="{C59CE7D6-AB72-C863-477B-6805B49812B6}"/>
              </a:ext>
            </a:extLst>
          </p:cNvPr>
          <p:cNvSpPr txBox="1"/>
          <p:nvPr/>
        </p:nvSpPr>
        <p:spPr>
          <a:xfrm>
            <a:off x="8940585" y="1981938"/>
            <a:ext cx="1250855" cy="830997"/>
          </a:xfrm>
          <a:prstGeom prst="rect">
            <a:avLst/>
          </a:prstGeom>
          <a:noFill/>
        </p:spPr>
        <p:txBody>
          <a:bodyPr wrap="none" rtlCol="0">
            <a:spAutoFit/>
          </a:bodyPr>
          <a:lstStyle/>
          <a:p>
            <a:r>
              <a:rPr lang="en-CA" sz="2400" b="1" dirty="0">
                <a:solidFill>
                  <a:srgbClr val="FFFFFF"/>
                </a:solidFill>
              </a:rPr>
              <a:t>AI</a:t>
            </a:r>
            <a:r>
              <a:rPr lang="en-CA" sz="2400" b="1" dirty="0">
                <a:solidFill>
                  <a:srgbClr val="CC99FF"/>
                </a:solidFill>
              </a:rPr>
              <a:t>-</a:t>
            </a:r>
            <a:r>
              <a:rPr lang="en-CA" sz="2400" b="1" dirty="0">
                <a:solidFill>
                  <a:srgbClr val="FFFFFF"/>
                </a:solidFill>
              </a:rPr>
              <a:t>First</a:t>
            </a:r>
          </a:p>
          <a:p>
            <a:r>
              <a:rPr lang="en-CA" sz="2400" b="1" dirty="0">
                <a:solidFill>
                  <a:srgbClr val="FFFFFF"/>
                </a:solidFill>
              </a:rPr>
              <a:t>IDE</a:t>
            </a:r>
            <a:r>
              <a:rPr lang="en-CA" sz="2400" b="1" dirty="0">
                <a:solidFill>
                  <a:srgbClr val="00FF00"/>
                </a:solidFill>
              </a:rPr>
              <a:t>.</a:t>
            </a:r>
          </a:p>
        </p:txBody>
      </p:sp>
      <p:pic>
        <p:nvPicPr>
          <p:cNvPr id="7170" name="Picture 2">
            <a:extLst>
              <a:ext uri="{FF2B5EF4-FFF2-40B4-BE49-F238E27FC236}">
                <a16:creationId xmlns:a16="http://schemas.microsoft.com/office/drawing/2014/main" id="{62AC6501-77E2-4614-A52D-A3BF5F1EEC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115" y="3094008"/>
            <a:ext cx="1160342" cy="116034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descr="Sublimetext Icon icon - Free Download PNG &amp; SVG | Streamline">
            <a:extLst>
              <a:ext uri="{FF2B5EF4-FFF2-40B4-BE49-F238E27FC236}">
                <a16:creationId xmlns:a16="http://schemas.microsoft.com/office/drawing/2014/main" id="{E50B0CE0-81D7-1937-D237-425273E411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8208" y="3942032"/>
            <a:ext cx="1160343" cy="1160343"/>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Emacs Logo Sticker Pack | FSF Shop">
            <a:extLst>
              <a:ext uri="{FF2B5EF4-FFF2-40B4-BE49-F238E27FC236}">
                <a16:creationId xmlns:a16="http://schemas.microsoft.com/office/drawing/2014/main" id="{503CA6F6-4752-4DC6-DBCD-2D5DE3D41D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3606" y="4988555"/>
            <a:ext cx="1368972" cy="136897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Jupyter Notebooks. Amazing Tools For Data Science">
            <a:extLst>
              <a:ext uri="{FF2B5EF4-FFF2-40B4-BE49-F238E27FC236}">
                <a16:creationId xmlns:a16="http://schemas.microsoft.com/office/drawing/2014/main" id="{6DC7DD6B-C2B6-04B9-329A-9F8F7E18B4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60701" y="3020270"/>
            <a:ext cx="1162345" cy="134800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6" descr="macOS app icon doesn't follow human interface guidelines · Issue #613 ·  jupyterlab/jupyterlab-desktop">
            <a:extLst>
              <a:ext uri="{FF2B5EF4-FFF2-40B4-BE49-F238E27FC236}">
                <a16:creationId xmlns:a16="http://schemas.microsoft.com/office/drawing/2014/main" id="{2A05B96E-405A-9505-C2BC-8E4869C8FA3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82746" y="4061404"/>
            <a:ext cx="1368972" cy="136897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0">
            <a:extLst>
              <a:ext uri="{FF2B5EF4-FFF2-40B4-BE49-F238E27FC236}">
                <a16:creationId xmlns:a16="http://schemas.microsoft.com/office/drawing/2014/main" id="{467CC221-2F44-097A-A3CF-91A8D96825E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50982" y="5504002"/>
            <a:ext cx="1927638" cy="67693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6" descr="PyCharm Logo Update – IDEs Support (IntelliJ Platform) | JetBrains">
            <a:extLst>
              <a:ext uri="{FF2B5EF4-FFF2-40B4-BE49-F238E27FC236}">
                <a16:creationId xmlns:a16="http://schemas.microsoft.com/office/drawing/2014/main" id="{0A1CFED3-DD69-7154-6F70-666A14CDF69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49523" y="3020270"/>
            <a:ext cx="1404473" cy="140447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6">
            <a:extLst>
              <a:ext uri="{FF2B5EF4-FFF2-40B4-BE49-F238E27FC236}">
                <a16:creationId xmlns:a16="http://schemas.microsoft.com/office/drawing/2014/main" id="{DA298D5E-68E2-8D76-10F8-5169D69424C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05806" y="4283214"/>
            <a:ext cx="1159681" cy="115968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8">
            <a:extLst>
              <a:ext uri="{FF2B5EF4-FFF2-40B4-BE49-F238E27FC236}">
                <a16:creationId xmlns:a16="http://schemas.microsoft.com/office/drawing/2014/main" id="{9C563CA4-2235-C53A-636B-C4CB0CCA73C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26656" y="5044165"/>
            <a:ext cx="1159681" cy="1159681"/>
          </a:xfrm>
          <a:prstGeom prst="rect">
            <a:avLst/>
          </a:prstGeom>
          <a:noFill/>
          <a:extLst>
            <a:ext uri="{909E8E84-426E-40DD-AFC4-6F175D3DCCD1}">
              <a14:hiddenFill xmlns:a14="http://schemas.microsoft.com/office/drawing/2010/main">
                <a:solidFill>
                  <a:srgbClr val="FFFFFF"/>
                </a:solidFill>
              </a14:hiddenFill>
            </a:ext>
          </a:extLst>
        </p:spPr>
      </p:pic>
      <p:pic>
        <p:nvPicPr>
          <p:cNvPr id="13314" name="Picture 2" descr="Cursor AI Logo Icon for Modern Designs">
            <a:extLst>
              <a:ext uri="{FF2B5EF4-FFF2-40B4-BE49-F238E27FC236}">
                <a16:creationId xmlns:a16="http://schemas.microsoft.com/office/drawing/2014/main" id="{B0CED7A2-8912-B1C6-06D2-2CE6DC1EA21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229558" y="3043560"/>
            <a:ext cx="1583261" cy="1583261"/>
          </a:xfrm>
          <a:prstGeom prst="rect">
            <a:avLst/>
          </a:prstGeom>
          <a:noFill/>
          <a:extLst>
            <a:ext uri="{909E8E84-426E-40DD-AFC4-6F175D3DCCD1}">
              <a14:hiddenFill xmlns:a14="http://schemas.microsoft.com/office/drawing/2010/main">
                <a:solidFill>
                  <a:srgbClr val="FFFFFF"/>
                </a:solidFill>
              </a14:hiddenFill>
            </a:ext>
          </a:extLst>
        </p:spPr>
      </p:pic>
      <p:pic>
        <p:nvPicPr>
          <p:cNvPr id="13324" name="Picture 12" descr="Windsurf Plugin (formerly Codeium): AI Coding Autocomplete and Chat for  Python, JavaScript, TypeScript, and more - Visual Studio Marketplace">
            <a:extLst>
              <a:ext uri="{FF2B5EF4-FFF2-40B4-BE49-F238E27FC236}">
                <a16:creationId xmlns:a16="http://schemas.microsoft.com/office/drawing/2014/main" id="{DA4157A4-7D8B-6345-BA3A-921BFF42D21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148101" y="4888385"/>
            <a:ext cx="1083982" cy="108398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5E032F0F-3702-6794-3BF8-7B22C9D650BA}"/>
              </a:ext>
            </a:extLst>
          </p:cNvPr>
          <p:cNvSpPr/>
          <p:nvPr/>
        </p:nvSpPr>
        <p:spPr>
          <a:xfrm>
            <a:off x="5985888" y="1286466"/>
            <a:ext cx="5888700" cy="5290908"/>
          </a:xfrm>
          <a:prstGeom prst="rect">
            <a:avLst/>
          </a:prstGeom>
          <a:solidFill>
            <a:srgbClr val="2D2D2D">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Rectangle 21">
            <a:extLst>
              <a:ext uri="{FF2B5EF4-FFF2-40B4-BE49-F238E27FC236}">
                <a16:creationId xmlns:a16="http://schemas.microsoft.com/office/drawing/2014/main" id="{99B447F0-6574-6F91-0435-AB60B22CD3DB}"/>
              </a:ext>
            </a:extLst>
          </p:cNvPr>
          <p:cNvSpPr/>
          <p:nvPr/>
        </p:nvSpPr>
        <p:spPr>
          <a:xfrm>
            <a:off x="323718" y="2434196"/>
            <a:ext cx="3094999" cy="4143178"/>
          </a:xfrm>
          <a:prstGeom prst="rect">
            <a:avLst/>
          </a:prstGeom>
          <a:solidFill>
            <a:srgbClr val="2D2D2D">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7267135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439EA-8019-8629-C3B9-5577E13BBC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99AF00-0A5A-8980-FB23-104E69F2E494}"/>
              </a:ext>
            </a:extLst>
          </p:cNvPr>
          <p:cNvSpPr>
            <a:spLocks noGrp="1"/>
          </p:cNvSpPr>
          <p:nvPr>
            <p:ph type="title"/>
          </p:nvPr>
        </p:nvSpPr>
        <p:spPr>
          <a:xfrm>
            <a:off x="838200" y="815798"/>
            <a:ext cx="3462633" cy="656148"/>
          </a:xfrm>
        </p:spPr>
        <p:txBody>
          <a:bodyPr>
            <a:noAutofit/>
          </a:bodyPr>
          <a:lstStyle/>
          <a:p>
            <a:r>
              <a:rPr lang="en-CA" sz="2800" b="1" dirty="0"/>
              <a:t>Interactive Computing</a:t>
            </a:r>
            <a:br>
              <a:rPr lang="en-CA" sz="2800" b="1" dirty="0"/>
            </a:br>
            <a:r>
              <a:rPr lang="en-CA" sz="2800" b="1" dirty="0"/>
              <a:t>Environment</a:t>
            </a:r>
            <a:r>
              <a:rPr lang="en-CA" sz="2800" b="1" dirty="0">
                <a:solidFill>
                  <a:srgbClr val="00FF00"/>
                </a:solidFill>
              </a:rPr>
              <a:t>.</a:t>
            </a:r>
          </a:p>
        </p:txBody>
      </p:sp>
      <p:sp>
        <p:nvSpPr>
          <p:cNvPr id="3" name="Content Placeholder 2">
            <a:extLst>
              <a:ext uri="{FF2B5EF4-FFF2-40B4-BE49-F238E27FC236}">
                <a16:creationId xmlns:a16="http://schemas.microsoft.com/office/drawing/2014/main" id="{ACE303DE-45CE-A932-911E-FC4D04033554}"/>
              </a:ext>
            </a:extLst>
          </p:cNvPr>
          <p:cNvSpPr>
            <a:spLocks noGrp="1"/>
          </p:cNvSpPr>
          <p:nvPr>
            <p:ph idx="1"/>
          </p:nvPr>
        </p:nvSpPr>
        <p:spPr>
          <a:xfrm>
            <a:off x="838200" y="1825624"/>
            <a:ext cx="5978810" cy="4835479"/>
          </a:xfrm>
        </p:spPr>
        <p:txBody>
          <a:bodyPr>
            <a:normAutofit fontScale="70000" lnSpcReduction="20000"/>
          </a:bodyPr>
          <a:lstStyle/>
          <a:p>
            <a:r>
              <a:rPr lang="en-US" b="1" dirty="0">
                <a:solidFill>
                  <a:srgbClr val="CC99FF"/>
                </a:solidFill>
              </a:rPr>
              <a:t>What it is</a:t>
            </a:r>
            <a:r>
              <a:rPr lang="en-US" b="1" dirty="0">
                <a:solidFill>
                  <a:srgbClr val="00FF00"/>
                </a:solidFill>
              </a:rPr>
              <a:t>:</a:t>
            </a:r>
            <a:r>
              <a:rPr lang="en-US" b="1" dirty="0">
                <a:solidFill>
                  <a:srgbClr val="CC99FF"/>
                </a:solidFill>
              </a:rPr>
              <a:t> </a:t>
            </a:r>
            <a:r>
              <a:rPr lang="en-US" dirty="0"/>
              <a:t>An environment for running code interactively in small chunks </a:t>
            </a:r>
            <a:r>
              <a:rPr lang="en-US" dirty="0">
                <a:solidFill>
                  <a:srgbClr val="00FF00"/>
                </a:solidFill>
              </a:rPr>
              <a:t>(</a:t>
            </a:r>
            <a:r>
              <a:rPr lang="en-US" dirty="0"/>
              <a:t>cells</a:t>
            </a:r>
            <a:r>
              <a:rPr lang="en-US" dirty="0">
                <a:solidFill>
                  <a:srgbClr val="00FF00"/>
                </a:solidFill>
              </a:rPr>
              <a:t>)</a:t>
            </a:r>
            <a:r>
              <a:rPr lang="en-US" dirty="0"/>
              <a:t> while keeping notes and results in the same document</a:t>
            </a:r>
            <a:r>
              <a:rPr lang="en-US" dirty="0">
                <a:solidFill>
                  <a:schemeClr val="accent6"/>
                </a:solidFill>
              </a:rPr>
              <a:t>.</a:t>
            </a:r>
          </a:p>
          <a:p>
            <a:r>
              <a:rPr lang="en-US" b="1" dirty="0">
                <a:solidFill>
                  <a:srgbClr val="CC99FF"/>
                </a:solidFill>
              </a:rPr>
              <a:t>How it works</a:t>
            </a:r>
            <a:r>
              <a:rPr lang="en-US" b="1" dirty="0">
                <a:solidFill>
                  <a:srgbClr val="00FF00"/>
                </a:solidFill>
              </a:rPr>
              <a:t>:</a:t>
            </a:r>
            <a:r>
              <a:rPr lang="en-US" b="1" dirty="0">
                <a:solidFill>
                  <a:srgbClr val="CC99FF"/>
                </a:solidFill>
              </a:rPr>
              <a:t> </a:t>
            </a:r>
            <a:r>
              <a:rPr lang="en-US" dirty="0"/>
              <a:t>A notebook </a:t>
            </a:r>
            <a:r>
              <a:rPr lang="en-US" dirty="0">
                <a:solidFill>
                  <a:srgbClr val="00FF00"/>
                </a:solidFill>
              </a:rPr>
              <a:t>(</a:t>
            </a:r>
            <a:r>
              <a:rPr lang="en-US" b="1" dirty="0">
                <a:solidFill>
                  <a:schemeClr val="accent6"/>
                </a:solidFill>
                <a:latin typeface="Consolas" panose="020B0609020204030204" pitchFamily="49" charset="0"/>
              </a:rPr>
              <a:t>.</a:t>
            </a:r>
            <a:r>
              <a:rPr lang="en-US" b="1" dirty="0" err="1">
                <a:latin typeface="Consolas" panose="020B0609020204030204" pitchFamily="49" charset="0"/>
              </a:rPr>
              <a:t>ipynb</a:t>
            </a:r>
            <a:r>
              <a:rPr lang="en-US" dirty="0">
                <a:solidFill>
                  <a:srgbClr val="00FF00"/>
                </a:solidFill>
              </a:rPr>
              <a:t>) </a:t>
            </a:r>
            <a:r>
              <a:rPr lang="en-US" dirty="0"/>
              <a:t>connects to a live kernel </a:t>
            </a:r>
            <a:r>
              <a:rPr lang="en-US" dirty="0">
                <a:solidFill>
                  <a:srgbClr val="00FF00"/>
                </a:solidFill>
              </a:rPr>
              <a:t>(</a:t>
            </a:r>
            <a:r>
              <a:rPr lang="en-US" dirty="0"/>
              <a:t>a running Python process</a:t>
            </a:r>
            <a:r>
              <a:rPr lang="en-US" dirty="0">
                <a:solidFill>
                  <a:srgbClr val="00FF00"/>
                </a:solidFill>
              </a:rPr>
              <a:t>)</a:t>
            </a:r>
            <a:r>
              <a:rPr lang="en-US" dirty="0"/>
              <a:t> that remembers variables between cells</a:t>
            </a:r>
            <a:r>
              <a:rPr lang="en-US" dirty="0">
                <a:solidFill>
                  <a:schemeClr val="accent6"/>
                </a:solidFill>
              </a:rPr>
              <a:t>.</a:t>
            </a:r>
          </a:p>
          <a:p>
            <a:r>
              <a:rPr lang="en-US" b="1" dirty="0">
                <a:solidFill>
                  <a:srgbClr val="CC99FF"/>
                </a:solidFill>
              </a:rPr>
              <a:t>What you get</a:t>
            </a:r>
            <a:r>
              <a:rPr lang="en-US" b="1" dirty="0">
                <a:solidFill>
                  <a:srgbClr val="00FF00"/>
                </a:solidFill>
              </a:rPr>
              <a:t>:</a:t>
            </a:r>
            <a:r>
              <a:rPr lang="en-US" b="1" dirty="0">
                <a:solidFill>
                  <a:srgbClr val="CC99FF"/>
                </a:solidFill>
              </a:rPr>
              <a:t> </a:t>
            </a:r>
            <a:r>
              <a:rPr lang="en-US" dirty="0"/>
              <a:t>Immediate output </a:t>
            </a:r>
            <a:r>
              <a:rPr lang="en-US" dirty="0">
                <a:solidFill>
                  <a:srgbClr val="00FF00"/>
                </a:solidFill>
              </a:rPr>
              <a:t>(</a:t>
            </a:r>
            <a:r>
              <a:rPr lang="en-US" dirty="0"/>
              <a:t>text</a:t>
            </a:r>
            <a:r>
              <a:rPr lang="en-US" dirty="0">
                <a:solidFill>
                  <a:schemeClr val="accent6"/>
                </a:solidFill>
              </a:rPr>
              <a:t>/</a:t>
            </a:r>
            <a:r>
              <a:rPr lang="en-US" dirty="0"/>
              <a:t>tables</a:t>
            </a:r>
            <a:r>
              <a:rPr lang="en-US" dirty="0">
                <a:solidFill>
                  <a:schemeClr val="accent6"/>
                </a:solidFill>
              </a:rPr>
              <a:t>/</a:t>
            </a:r>
            <a:r>
              <a:rPr lang="en-US" dirty="0"/>
              <a:t>plots</a:t>
            </a:r>
            <a:r>
              <a:rPr lang="en-US" dirty="0">
                <a:solidFill>
                  <a:srgbClr val="00FF00"/>
                </a:solidFill>
              </a:rPr>
              <a:t>)</a:t>
            </a:r>
            <a:r>
              <a:rPr lang="en-US" dirty="0">
                <a:solidFill>
                  <a:schemeClr val="accent6"/>
                </a:solidFill>
              </a:rPr>
              <a:t>,</a:t>
            </a:r>
            <a:r>
              <a:rPr lang="en-US" dirty="0"/>
              <a:t> easy experimentation</a:t>
            </a:r>
            <a:r>
              <a:rPr lang="en-US" dirty="0">
                <a:solidFill>
                  <a:schemeClr val="accent6"/>
                </a:solidFill>
              </a:rPr>
              <a:t>,</a:t>
            </a:r>
            <a:r>
              <a:rPr lang="en-US" dirty="0"/>
              <a:t> and a natural format for explanation </a:t>
            </a:r>
            <a:r>
              <a:rPr lang="en-US" dirty="0">
                <a:solidFill>
                  <a:schemeClr val="accent6"/>
                </a:solidFill>
              </a:rPr>
              <a:t>+</a:t>
            </a:r>
            <a:r>
              <a:rPr lang="en-US" dirty="0"/>
              <a:t> code </a:t>
            </a:r>
            <a:r>
              <a:rPr lang="en-US" dirty="0">
                <a:solidFill>
                  <a:schemeClr val="accent6"/>
                </a:solidFill>
              </a:rPr>
              <a:t>+</a:t>
            </a:r>
            <a:r>
              <a:rPr lang="en-US" dirty="0"/>
              <a:t> results</a:t>
            </a:r>
            <a:r>
              <a:rPr lang="en-US" dirty="0">
                <a:solidFill>
                  <a:schemeClr val="accent6"/>
                </a:solidFill>
              </a:rPr>
              <a:t>.</a:t>
            </a:r>
          </a:p>
          <a:p>
            <a:r>
              <a:rPr lang="en-US" b="1" dirty="0">
                <a:solidFill>
                  <a:srgbClr val="CC99FF"/>
                </a:solidFill>
              </a:rPr>
              <a:t>Typical workflow</a:t>
            </a:r>
            <a:r>
              <a:rPr lang="en-US" b="1" dirty="0">
                <a:solidFill>
                  <a:srgbClr val="00FF00"/>
                </a:solidFill>
              </a:rPr>
              <a:t>:</a:t>
            </a:r>
            <a:r>
              <a:rPr lang="en-US" b="1" dirty="0">
                <a:solidFill>
                  <a:srgbClr val="CC99FF"/>
                </a:solidFill>
              </a:rPr>
              <a:t> </a:t>
            </a:r>
            <a:r>
              <a:rPr lang="en-US" dirty="0"/>
              <a:t>Write a cell </a:t>
            </a:r>
            <a:r>
              <a:rPr lang="en-US" dirty="0">
                <a:solidFill>
                  <a:schemeClr val="accent6"/>
                </a:solidFill>
              </a:rPr>
              <a:t>→</a:t>
            </a:r>
            <a:r>
              <a:rPr lang="en-US" dirty="0"/>
              <a:t> run it </a:t>
            </a:r>
            <a:r>
              <a:rPr lang="en-US" dirty="0">
                <a:solidFill>
                  <a:schemeClr val="accent6"/>
                </a:solidFill>
              </a:rPr>
              <a:t>→</a:t>
            </a:r>
            <a:r>
              <a:rPr lang="en-US" dirty="0"/>
              <a:t> inspect output </a:t>
            </a:r>
            <a:r>
              <a:rPr lang="en-US" dirty="0">
                <a:solidFill>
                  <a:schemeClr val="accent6"/>
                </a:solidFill>
              </a:rPr>
              <a:t>→</a:t>
            </a:r>
            <a:r>
              <a:rPr lang="en-US" dirty="0"/>
              <a:t> iterate</a:t>
            </a:r>
            <a:r>
              <a:rPr lang="en-US" dirty="0">
                <a:solidFill>
                  <a:schemeClr val="accent6"/>
                </a:solidFill>
              </a:rPr>
              <a:t>;</a:t>
            </a:r>
            <a:r>
              <a:rPr lang="en-US" dirty="0"/>
              <a:t> often used for data analysis, visualization, and demos.</a:t>
            </a:r>
          </a:p>
          <a:p>
            <a:r>
              <a:rPr lang="en-US" b="1" dirty="0">
                <a:solidFill>
                  <a:srgbClr val="CC99FF"/>
                </a:solidFill>
              </a:rPr>
              <a:t>Best for</a:t>
            </a:r>
            <a:r>
              <a:rPr lang="en-US" b="1" dirty="0">
                <a:solidFill>
                  <a:srgbClr val="00FF00"/>
                </a:solidFill>
              </a:rPr>
              <a:t>:</a:t>
            </a:r>
            <a:r>
              <a:rPr lang="en-US" b="1" dirty="0">
                <a:solidFill>
                  <a:srgbClr val="CC99FF"/>
                </a:solidFill>
              </a:rPr>
              <a:t> </a:t>
            </a:r>
            <a:r>
              <a:rPr lang="en-US" b="1" u="sng" dirty="0">
                <a:solidFill>
                  <a:srgbClr val="FF66CC"/>
                </a:solidFill>
              </a:rPr>
              <a:t>Learning</a:t>
            </a:r>
            <a:r>
              <a:rPr lang="en-US" dirty="0">
                <a:solidFill>
                  <a:schemeClr val="accent6"/>
                </a:solidFill>
              </a:rPr>
              <a:t>,</a:t>
            </a:r>
            <a:r>
              <a:rPr lang="en-US" dirty="0"/>
              <a:t> prototyping</a:t>
            </a:r>
            <a:r>
              <a:rPr lang="en-US" dirty="0">
                <a:solidFill>
                  <a:schemeClr val="accent6"/>
                </a:solidFill>
              </a:rPr>
              <a:t>,</a:t>
            </a:r>
            <a:r>
              <a:rPr lang="en-US" dirty="0"/>
              <a:t> data science</a:t>
            </a:r>
            <a:r>
              <a:rPr lang="en-US" dirty="0">
                <a:solidFill>
                  <a:schemeClr val="accent6"/>
                </a:solidFill>
              </a:rPr>
              <a:t>/</a:t>
            </a:r>
            <a:r>
              <a:rPr lang="en-US" dirty="0"/>
              <a:t>ML workflows</a:t>
            </a:r>
            <a:r>
              <a:rPr lang="en-US" dirty="0">
                <a:solidFill>
                  <a:schemeClr val="accent6"/>
                </a:solidFill>
              </a:rPr>
              <a:t>,</a:t>
            </a:r>
            <a:r>
              <a:rPr lang="en-US" dirty="0"/>
              <a:t> and reproducible </a:t>
            </a:r>
            <a:r>
              <a:rPr lang="en-US" dirty="0">
                <a:solidFill>
                  <a:srgbClr val="00FF00"/>
                </a:solidFill>
              </a:rPr>
              <a:t>“</a:t>
            </a:r>
            <a:r>
              <a:rPr lang="en-US" dirty="0"/>
              <a:t>computational narratives</a:t>
            </a:r>
            <a:r>
              <a:rPr lang="en-US" dirty="0">
                <a:solidFill>
                  <a:srgbClr val="00FF00"/>
                </a:solidFill>
              </a:rPr>
              <a:t>”</a:t>
            </a:r>
            <a:r>
              <a:rPr lang="en-US" dirty="0">
                <a:solidFill>
                  <a:schemeClr val="accent6"/>
                </a:solidFill>
              </a:rPr>
              <a:t>.</a:t>
            </a:r>
            <a:endParaRPr lang="en-US" dirty="0">
              <a:solidFill>
                <a:srgbClr val="00FF00"/>
              </a:solidFill>
            </a:endParaRPr>
          </a:p>
          <a:p>
            <a:r>
              <a:rPr lang="en-US" b="1" dirty="0">
                <a:solidFill>
                  <a:srgbClr val="CC99FF"/>
                </a:solidFill>
              </a:rPr>
              <a:t>Key caution</a:t>
            </a:r>
            <a:r>
              <a:rPr lang="en-US" b="1" dirty="0">
                <a:solidFill>
                  <a:srgbClr val="00FF00"/>
                </a:solidFill>
              </a:rPr>
              <a:t>:</a:t>
            </a:r>
            <a:r>
              <a:rPr lang="en-US" b="1" dirty="0">
                <a:solidFill>
                  <a:srgbClr val="CC99FF"/>
                </a:solidFill>
              </a:rPr>
              <a:t> </a:t>
            </a:r>
            <a:r>
              <a:rPr lang="en-US" dirty="0"/>
              <a:t>Execution order matters</a:t>
            </a:r>
            <a:r>
              <a:rPr lang="en-US" dirty="0">
                <a:solidFill>
                  <a:schemeClr val="accent6"/>
                </a:solidFill>
              </a:rPr>
              <a:t>,</a:t>
            </a:r>
            <a:r>
              <a:rPr lang="en-US" dirty="0"/>
              <a:t> running cells out of order can create confusing hidden state</a:t>
            </a:r>
            <a:r>
              <a:rPr lang="en-US" dirty="0">
                <a:solidFill>
                  <a:schemeClr val="accent6"/>
                </a:solidFill>
              </a:rPr>
              <a:t>;</a:t>
            </a:r>
            <a:r>
              <a:rPr lang="en-US" dirty="0"/>
              <a:t> </a:t>
            </a:r>
            <a:r>
              <a:rPr lang="en-US" dirty="0">
                <a:solidFill>
                  <a:srgbClr val="00FF00"/>
                </a:solidFill>
              </a:rPr>
              <a:t>“</a:t>
            </a:r>
            <a:r>
              <a:rPr lang="en-US" dirty="0"/>
              <a:t>Restart Kernel </a:t>
            </a:r>
            <a:r>
              <a:rPr lang="en-US" dirty="0">
                <a:solidFill>
                  <a:schemeClr val="accent6"/>
                </a:solidFill>
              </a:rPr>
              <a:t>+</a:t>
            </a:r>
            <a:r>
              <a:rPr lang="en-US" dirty="0"/>
              <a:t> Run All</a:t>
            </a:r>
            <a:r>
              <a:rPr lang="en-US" dirty="0">
                <a:solidFill>
                  <a:srgbClr val="00FF00"/>
                </a:solidFill>
              </a:rPr>
              <a:t>”</a:t>
            </a:r>
            <a:r>
              <a:rPr lang="en-US" dirty="0"/>
              <a:t> helps verify correctness</a:t>
            </a:r>
            <a:r>
              <a:rPr lang="en-US" dirty="0">
                <a:solidFill>
                  <a:schemeClr val="accent6"/>
                </a:solidFill>
              </a:rPr>
              <a:t>.</a:t>
            </a:r>
          </a:p>
        </p:txBody>
      </p:sp>
      <p:sp>
        <p:nvSpPr>
          <p:cNvPr id="7" name="TextBox 6">
            <a:extLst>
              <a:ext uri="{FF2B5EF4-FFF2-40B4-BE49-F238E27FC236}">
                <a16:creationId xmlns:a16="http://schemas.microsoft.com/office/drawing/2014/main" id="{CC8425E2-252B-FAD7-81DB-5DBD381B8CC0}"/>
              </a:ext>
            </a:extLst>
          </p:cNvPr>
          <p:cNvSpPr txBox="1"/>
          <p:nvPr/>
        </p:nvSpPr>
        <p:spPr>
          <a:xfrm>
            <a:off x="4217481" y="127349"/>
            <a:ext cx="1863459" cy="1200329"/>
          </a:xfrm>
          <a:prstGeom prst="rect">
            <a:avLst/>
          </a:prstGeom>
          <a:noFill/>
        </p:spPr>
        <p:txBody>
          <a:bodyPr wrap="none" rtlCol="0">
            <a:spAutoFit/>
          </a:bodyPr>
          <a:lstStyle/>
          <a:p>
            <a:r>
              <a:rPr lang="en-CA" b="1" dirty="0">
                <a:solidFill>
                  <a:schemeClr val="accent6"/>
                </a:solidFill>
              </a:rPr>
              <a:t>APS106</a:t>
            </a:r>
          </a:p>
          <a:p>
            <a:r>
              <a:rPr lang="en-CA" b="1" dirty="0">
                <a:solidFill>
                  <a:srgbClr val="FFFFFF"/>
                </a:solidFill>
              </a:rPr>
              <a:t>File Type </a:t>
            </a:r>
            <a:r>
              <a:rPr lang="en-CA" b="1" dirty="0">
                <a:solidFill>
                  <a:schemeClr val="accent6"/>
                </a:solidFill>
              </a:rPr>
              <a:t>#</a:t>
            </a:r>
            <a:r>
              <a:rPr lang="en-CA" b="1" dirty="0">
                <a:solidFill>
                  <a:srgbClr val="FFFFFF"/>
                </a:solidFill>
              </a:rPr>
              <a:t>2</a:t>
            </a:r>
            <a:r>
              <a:rPr lang="en-CA" b="1" dirty="0">
                <a:solidFill>
                  <a:schemeClr val="accent6"/>
                </a:solidFill>
              </a:rPr>
              <a:t>.</a:t>
            </a:r>
          </a:p>
          <a:p>
            <a:r>
              <a:rPr lang="en-CA" b="1" dirty="0">
                <a:solidFill>
                  <a:srgbClr val="FFFFFF"/>
                </a:solidFill>
              </a:rPr>
              <a:t>The Python File</a:t>
            </a:r>
          </a:p>
          <a:p>
            <a:r>
              <a:rPr lang="en-CA" b="1" dirty="0">
                <a:solidFill>
                  <a:srgbClr val="00FF00"/>
                </a:solidFill>
                <a:latin typeface="Consolas" panose="020B0609020204030204" pitchFamily="49" charset="0"/>
              </a:rPr>
              <a:t>.</a:t>
            </a:r>
            <a:r>
              <a:rPr lang="en-CA" b="1" dirty="0" err="1">
                <a:solidFill>
                  <a:srgbClr val="00FF00"/>
                </a:solidFill>
                <a:latin typeface="Consolas" panose="020B0609020204030204" pitchFamily="49" charset="0"/>
              </a:rPr>
              <a:t>ipynb</a:t>
            </a:r>
            <a:endParaRPr lang="en-CA" b="1" dirty="0">
              <a:solidFill>
                <a:srgbClr val="00FF00"/>
              </a:solidFill>
              <a:latin typeface="Consolas" panose="020B0609020204030204" pitchFamily="49" charset="0"/>
            </a:endParaRPr>
          </a:p>
        </p:txBody>
      </p:sp>
      <p:pic>
        <p:nvPicPr>
          <p:cNvPr id="9" name="Picture 8">
            <a:extLst>
              <a:ext uri="{FF2B5EF4-FFF2-40B4-BE49-F238E27FC236}">
                <a16:creationId xmlns:a16="http://schemas.microsoft.com/office/drawing/2014/main" id="{A5E1D434-EB6E-6838-D448-842EF4A87FDE}"/>
              </a:ext>
            </a:extLst>
          </p:cNvPr>
          <p:cNvPicPr>
            <a:picLocks noChangeAspect="1"/>
          </p:cNvPicPr>
          <p:nvPr/>
        </p:nvPicPr>
        <p:blipFill>
          <a:blip r:embed="rId2"/>
          <a:stretch>
            <a:fillRect/>
          </a:stretch>
        </p:blipFill>
        <p:spPr>
          <a:xfrm>
            <a:off x="7073043" y="501629"/>
            <a:ext cx="5118958" cy="6227093"/>
          </a:xfrm>
          <a:prstGeom prst="rect">
            <a:avLst/>
          </a:prstGeom>
        </p:spPr>
      </p:pic>
      <p:sp>
        <p:nvSpPr>
          <p:cNvPr id="19" name="Rectangle 18">
            <a:extLst>
              <a:ext uri="{FF2B5EF4-FFF2-40B4-BE49-F238E27FC236}">
                <a16:creationId xmlns:a16="http://schemas.microsoft.com/office/drawing/2014/main" id="{A496C4FA-EE58-574C-71BF-ED0FDA74CF08}"/>
              </a:ext>
            </a:extLst>
          </p:cNvPr>
          <p:cNvSpPr/>
          <p:nvPr/>
        </p:nvSpPr>
        <p:spPr>
          <a:xfrm>
            <a:off x="6938011" y="303085"/>
            <a:ext cx="136303" cy="6495190"/>
          </a:xfrm>
          <a:prstGeom prst="rect">
            <a:avLst/>
          </a:prstGeom>
          <a:solidFill>
            <a:srgbClr val="1717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C0F6C4BB-EDE0-4DB9-F6B2-06C96CFAC47D}"/>
              </a:ext>
            </a:extLst>
          </p:cNvPr>
          <p:cNvSpPr/>
          <p:nvPr/>
        </p:nvSpPr>
        <p:spPr>
          <a:xfrm>
            <a:off x="7185659" y="428670"/>
            <a:ext cx="848449" cy="321617"/>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Arrow: Right 5">
            <a:extLst>
              <a:ext uri="{FF2B5EF4-FFF2-40B4-BE49-F238E27FC236}">
                <a16:creationId xmlns:a16="http://schemas.microsoft.com/office/drawing/2014/main" id="{FA0F656C-D8DA-31ED-C714-3D0070DBA142}"/>
              </a:ext>
            </a:extLst>
          </p:cNvPr>
          <p:cNvSpPr/>
          <p:nvPr/>
        </p:nvSpPr>
        <p:spPr>
          <a:xfrm flipH="1">
            <a:off x="5816080" y="501629"/>
            <a:ext cx="1358675" cy="171666"/>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4557015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31C2D-286A-111A-D926-E37436757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83A537-C622-2580-FE80-AC4E8F52B2A7}"/>
              </a:ext>
            </a:extLst>
          </p:cNvPr>
          <p:cNvSpPr>
            <a:spLocks noGrp="1"/>
          </p:cNvSpPr>
          <p:nvPr>
            <p:ph type="title"/>
          </p:nvPr>
        </p:nvSpPr>
        <p:spPr>
          <a:xfrm>
            <a:off x="838200" y="815799"/>
            <a:ext cx="10515600" cy="656148"/>
          </a:xfrm>
        </p:spPr>
        <p:txBody>
          <a:bodyPr>
            <a:normAutofit fontScale="90000"/>
          </a:bodyPr>
          <a:lstStyle/>
          <a:p>
            <a:r>
              <a:rPr lang="en-CA" b="1" dirty="0"/>
              <a:t>Interactive Computing</a:t>
            </a:r>
            <a:br>
              <a:rPr lang="en-CA" b="1" dirty="0"/>
            </a:br>
            <a:r>
              <a:rPr lang="en-CA" b="1" dirty="0"/>
              <a:t>Environment</a:t>
            </a:r>
            <a:r>
              <a:rPr lang="en-CA" b="1" dirty="0">
                <a:solidFill>
                  <a:srgbClr val="00FF00"/>
                </a:solidFill>
              </a:rPr>
              <a:t>.</a:t>
            </a:r>
          </a:p>
        </p:txBody>
      </p:sp>
      <p:sp>
        <p:nvSpPr>
          <p:cNvPr id="3" name="Content Placeholder 2">
            <a:extLst>
              <a:ext uri="{FF2B5EF4-FFF2-40B4-BE49-F238E27FC236}">
                <a16:creationId xmlns:a16="http://schemas.microsoft.com/office/drawing/2014/main" id="{FB84B6C4-A369-1DE6-3D8C-677137020E2C}"/>
              </a:ext>
            </a:extLst>
          </p:cNvPr>
          <p:cNvSpPr>
            <a:spLocks noGrp="1"/>
          </p:cNvSpPr>
          <p:nvPr>
            <p:ph idx="1"/>
          </p:nvPr>
        </p:nvSpPr>
        <p:spPr>
          <a:xfrm>
            <a:off x="838200" y="1825624"/>
            <a:ext cx="5978810" cy="4835479"/>
          </a:xfrm>
        </p:spPr>
        <p:txBody>
          <a:bodyPr>
            <a:normAutofit fontScale="70000" lnSpcReduction="20000"/>
          </a:bodyPr>
          <a:lstStyle/>
          <a:p>
            <a:r>
              <a:rPr lang="en-US" b="1" dirty="0">
                <a:solidFill>
                  <a:srgbClr val="CC99FF"/>
                </a:solidFill>
              </a:rPr>
              <a:t>What it is</a:t>
            </a:r>
            <a:r>
              <a:rPr lang="en-US" b="1" dirty="0">
                <a:solidFill>
                  <a:srgbClr val="00FF00"/>
                </a:solidFill>
              </a:rPr>
              <a:t>:</a:t>
            </a:r>
            <a:r>
              <a:rPr lang="en-US" b="1" dirty="0">
                <a:solidFill>
                  <a:srgbClr val="CC99FF"/>
                </a:solidFill>
              </a:rPr>
              <a:t> </a:t>
            </a:r>
            <a:r>
              <a:rPr lang="en-US" dirty="0"/>
              <a:t>An environment for running code interactively in small chunks </a:t>
            </a:r>
            <a:r>
              <a:rPr lang="en-US" dirty="0">
                <a:solidFill>
                  <a:srgbClr val="00FF00"/>
                </a:solidFill>
              </a:rPr>
              <a:t>(</a:t>
            </a:r>
            <a:r>
              <a:rPr lang="en-US" dirty="0"/>
              <a:t>cells</a:t>
            </a:r>
            <a:r>
              <a:rPr lang="en-US" dirty="0">
                <a:solidFill>
                  <a:srgbClr val="00FF00"/>
                </a:solidFill>
              </a:rPr>
              <a:t>)</a:t>
            </a:r>
            <a:r>
              <a:rPr lang="en-US" dirty="0"/>
              <a:t> while keeping notes and results in the same document</a:t>
            </a:r>
            <a:r>
              <a:rPr lang="en-US" dirty="0">
                <a:solidFill>
                  <a:schemeClr val="accent6"/>
                </a:solidFill>
              </a:rPr>
              <a:t>.</a:t>
            </a:r>
          </a:p>
          <a:p>
            <a:r>
              <a:rPr lang="en-US" b="1" dirty="0">
                <a:solidFill>
                  <a:srgbClr val="CC99FF"/>
                </a:solidFill>
              </a:rPr>
              <a:t>How it works</a:t>
            </a:r>
            <a:r>
              <a:rPr lang="en-US" b="1" dirty="0">
                <a:solidFill>
                  <a:srgbClr val="00FF00"/>
                </a:solidFill>
              </a:rPr>
              <a:t>:</a:t>
            </a:r>
            <a:r>
              <a:rPr lang="en-US" b="1" dirty="0">
                <a:solidFill>
                  <a:srgbClr val="CC99FF"/>
                </a:solidFill>
              </a:rPr>
              <a:t> </a:t>
            </a:r>
            <a:r>
              <a:rPr lang="en-US" dirty="0"/>
              <a:t>A notebook </a:t>
            </a:r>
            <a:r>
              <a:rPr lang="en-US" dirty="0">
                <a:solidFill>
                  <a:srgbClr val="00FF00"/>
                </a:solidFill>
              </a:rPr>
              <a:t>(</a:t>
            </a:r>
            <a:r>
              <a:rPr lang="en-US" b="1" dirty="0">
                <a:solidFill>
                  <a:schemeClr val="accent6"/>
                </a:solidFill>
                <a:latin typeface="Consolas" panose="020B0609020204030204" pitchFamily="49" charset="0"/>
              </a:rPr>
              <a:t>.</a:t>
            </a:r>
            <a:r>
              <a:rPr lang="en-US" b="1" dirty="0" err="1">
                <a:latin typeface="Consolas" panose="020B0609020204030204" pitchFamily="49" charset="0"/>
              </a:rPr>
              <a:t>ipynb</a:t>
            </a:r>
            <a:r>
              <a:rPr lang="en-US" dirty="0">
                <a:solidFill>
                  <a:srgbClr val="00FF00"/>
                </a:solidFill>
              </a:rPr>
              <a:t>) </a:t>
            </a:r>
            <a:r>
              <a:rPr lang="en-US" dirty="0"/>
              <a:t>connects to a live kernel </a:t>
            </a:r>
            <a:r>
              <a:rPr lang="en-US" dirty="0">
                <a:solidFill>
                  <a:srgbClr val="00FF00"/>
                </a:solidFill>
              </a:rPr>
              <a:t>(</a:t>
            </a:r>
            <a:r>
              <a:rPr lang="en-US" dirty="0"/>
              <a:t>a running Python process</a:t>
            </a:r>
            <a:r>
              <a:rPr lang="en-US" dirty="0">
                <a:solidFill>
                  <a:srgbClr val="00FF00"/>
                </a:solidFill>
              </a:rPr>
              <a:t>)</a:t>
            </a:r>
            <a:r>
              <a:rPr lang="en-US" dirty="0"/>
              <a:t> that remembers variables between cells</a:t>
            </a:r>
            <a:r>
              <a:rPr lang="en-US" dirty="0">
                <a:solidFill>
                  <a:schemeClr val="accent6"/>
                </a:solidFill>
              </a:rPr>
              <a:t>.</a:t>
            </a:r>
          </a:p>
          <a:p>
            <a:r>
              <a:rPr lang="en-US" b="1" dirty="0">
                <a:solidFill>
                  <a:srgbClr val="CC99FF"/>
                </a:solidFill>
              </a:rPr>
              <a:t>What you get</a:t>
            </a:r>
            <a:r>
              <a:rPr lang="en-US" b="1" dirty="0">
                <a:solidFill>
                  <a:srgbClr val="00FF00"/>
                </a:solidFill>
              </a:rPr>
              <a:t>:</a:t>
            </a:r>
            <a:r>
              <a:rPr lang="en-US" b="1" dirty="0">
                <a:solidFill>
                  <a:srgbClr val="CC99FF"/>
                </a:solidFill>
              </a:rPr>
              <a:t> </a:t>
            </a:r>
            <a:r>
              <a:rPr lang="en-US" dirty="0"/>
              <a:t>Immediate output </a:t>
            </a:r>
            <a:r>
              <a:rPr lang="en-US" dirty="0">
                <a:solidFill>
                  <a:srgbClr val="00FF00"/>
                </a:solidFill>
              </a:rPr>
              <a:t>(</a:t>
            </a:r>
            <a:r>
              <a:rPr lang="en-US" dirty="0"/>
              <a:t>text</a:t>
            </a:r>
            <a:r>
              <a:rPr lang="en-US" dirty="0">
                <a:solidFill>
                  <a:schemeClr val="accent6"/>
                </a:solidFill>
              </a:rPr>
              <a:t>/</a:t>
            </a:r>
            <a:r>
              <a:rPr lang="en-US" dirty="0"/>
              <a:t>tables</a:t>
            </a:r>
            <a:r>
              <a:rPr lang="en-US" dirty="0">
                <a:solidFill>
                  <a:schemeClr val="accent6"/>
                </a:solidFill>
              </a:rPr>
              <a:t>/</a:t>
            </a:r>
            <a:r>
              <a:rPr lang="en-US" dirty="0"/>
              <a:t>plots</a:t>
            </a:r>
            <a:r>
              <a:rPr lang="en-US" dirty="0">
                <a:solidFill>
                  <a:srgbClr val="00FF00"/>
                </a:solidFill>
              </a:rPr>
              <a:t>)</a:t>
            </a:r>
            <a:r>
              <a:rPr lang="en-US" dirty="0">
                <a:solidFill>
                  <a:schemeClr val="accent6"/>
                </a:solidFill>
              </a:rPr>
              <a:t>,</a:t>
            </a:r>
            <a:r>
              <a:rPr lang="en-US" dirty="0"/>
              <a:t> easy experimentation</a:t>
            </a:r>
            <a:r>
              <a:rPr lang="en-US" dirty="0">
                <a:solidFill>
                  <a:schemeClr val="accent6"/>
                </a:solidFill>
              </a:rPr>
              <a:t>,</a:t>
            </a:r>
            <a:r>
              <a:rPr lang="en-US" dirty="0"/>
              <a:t> and a natural format for explanation </a:t>
            </a:r>
            <a:r>
              <a:rPr lang="en-US" dirty="0">
                <a:solidFill>
                  <a:schemeClr val="accent6"/>
                </a:solidFill>
              </a:rPr>
              <a:t>+</a:t>
            </a:r>
            <a:r>
              <a:rPr lang="en-US" dirty="0"/>
              <a:t> code </a:t>
            </a:r>
            <a:r>
              <a:rPr lang="en-US" dirty="0">
                <a:solidFill>
                  <a:schemeClr val="accent6"/>
                </a:solidFill>
              </a:rPr>
              <a:t>+</a:t>
            </a:r>
            <a:r>
              <a:rPr lang="en-US" dirty="0"/>
              <a:t> results</a:t>
            </a:r>
            <a:r>
              <a:rPr lang="en-US" dirty="0">
                <a:solidFill>
                  <a:schemeClr val="accent6"/>
                </a:solidFill>
              </a:rPr>
              <a:t>.</a:t>
            </a:r>
          </a:p>
          <a:p>
            <a:r>
              <a:rPr lang="en-US" b="1" dirty="0">
                <a:solidFill>
                  <a:srgbClr val="CC99FF"/>
                </a:solidFill>
              </a:rPr>
              <a:t>Typical workflow</a:t>
            </a:r>
            <a:r>
              <a:rPr lang="en-US" b="1" dirty="0">
                <a:solidFill>
                  <a:srgbClr val="00FF00"/>
                </a:solidFill>
              </a:rPr>
              <a:t>:</a:t>
            </a:r>
            <a:r>
              <a:rPr lang="en-US" b="1" dirty="0">
                <a:solidFill>
                  <a:srgbClr val="CC99FF"/>
                </a:solidFill>
              </a:rPr>
              <a:t> </a:t>
            </a:r>
            <a:r>
              <a:rPr lang="en-US" dirty="0"/>
              <a:t>Write a cell </a:t>
            </a:r>
            <a:r>
              <a:rPr lang="en-US" dirty="0">
                <a:solidFill>
                  <a:schemeClr val="accent6"/>
                </a:solidFill>
              </a:rPr>
              <a:t>→</a:t>
            </a:r>
            <a:r>
              <a:rPr lang="en-US" dirty="0"/>
              <a:t> run it </a:t>
            </a:r>
            <a:r>
              <a:rPr lang="en-US" dirty="0">
                <a:solidFill>
                  <a:schemeClr val="accent6"/>
                </a:solidFill>
              </a:rPr>
              <a:t>→</a:t>
            </a:r>
            <a:r>
              <a:rPr lang="en-US" dirty="0"/>
              <a:t> inspect output </a:t>
            </a:r>
            <a:r>
              <a:rPr lang="en-US" dirty="0">
                <a:solidFill>
                  <a:schemeClr val="accent6"/>
                </a:solidFill>
              </a:rPr>
              <a:t>→</a:t>
            </a:r>
            <a:r>
              <a:rPr lang="en-US" dirty="0"/>
              <a:t> iterate</a:t>
            </a:r>
            <a:r>
              <a:rPr lang="en-US" dirty="0">
                <a:solidFill>
                  <a:schemeClr val="accent6"/>
                </a:solidFill>
              </a:rPr>
              <a:t>;</a:t>
            </a:r>
            <a:r>
              <a:rPr lang="en-US" dirty="0"/>
              <a:t> often used for data analysis, visualization, and demos.</a:t>
            </a:r>
          </a:p>
          <a:p>
            <a:r>
              <a:rPr lang="en-US" b="1" dirty="0">
                <a:solidFill>
                  <a:srgbClr val="CC99FF"/>
                </a:solidFill>
              </a:rPr>
              <a:t>Best for</a:t>
            </a:r>
            <a:r>
              <a:rPr lang="en-US" b="1" dirty="0">
                <a:solidFill>
                  <a:srgbClr val="00FF00"/>
                </a:solidFill>
              </a:rPr>
              <a:t>:</a:t>
            </a:r>
            <a:r>
              <a:rPr lang="en-US" b="1" dirty="0">
                <a:solidFill>
                  <a:srgbClr val="CC99FF"/>
                </a:solidFill>
              </a:rPr>
              <a:t> </a:t>
            </a:r>
            <a:r>
              <a:rPr lang="en-US" b="1" u="sng" dirty="0">
                <a:solidFill>
                  <a:srgbClr val="FF66CC"/>
                </a:solidFill>
              </a:rPr>
              <a:t>Learning</a:t>
            </a:r>
            <a:r>
              <a:rPr lang="en-US" dirty="0">
                <a:solidFill>
                  <a:schemeClr val="accent6"/>
                </a:solidFill>
              </a:rPr>
              <a:t>,</a:t>
            </a:r>
            <a:r>
              <a:rPr lang="en-US" dirty="0"/>
              <a:t> prototyping</a:t>
            </a:r>
            <a:r>
              <a:rPr lang="en-US" dirty="0">
                <a:solidFill>
                  <a:schemeClr val="accent6"/>
                </a:solidFill>
              </a:rPr>
              <a:t>,</a:t>
            </a:r>
            <a:r>
              <a:rPr lang="en-US" dirty="0"/>
              <a:t> data science</a:t>
            </a:r>
            <a:r>
              <a:rPr lang="en-US" dirty="0">
                <a:solidFill>
                  <a:schemeClr val="accent6"/>
                </a:solidFill>
              </a:rPr>
              <a:t>/</a:t>
            </a:r>
            <a:r>
              <a:rPr lang="en-US" dirty="0"/>
              <a:t>ML workflows</a:t>
            </a:r>
            <a:r>
              <a:rPr lang="en-US" dirty="0">
                <a:solidFill>
                  <a:schemeClr val="accent6"/>
                </a:solidFill>
              </a:rPr>
              <a:t>,</a:t>
            </a:r>
            <a:r>
              <a:rPr lang="en-US" dirty="0"/>
              <a:t> and reproducible </a:t>
            </a:r>
            <a:r>
              <a:rPr lang="en-US" dirty="0">
                <a:solidFill>
                  <a:srgbClr val="00FF00"/>
                </a:solidFill>
              </a:rPr>
              <a:t>“</a:t>
            </a:r>
            <a:r>
              <a:rPr lang="en-US" dirty="0"/>
              <a:t>computational narratives</a:t>
            </a:r>
            <a:r>
              <a:rPr lang="en-US" dirty="0">
                <a:solidFill>
                  <a:srgbClr val="00FF00"/>
                </a:solidFill>
              </a:rPr>
              <a:t>”</a:t>
            </a:r>
            <a:r>
              <a:rPr lang="en-US" dirty="0">
                <a:solidFill>
                  <a:schemeClr val="accent6"/>
                </a:solidFill>
              </a:rPr>
              <a:t>.</a:t>
            </a:r>
            <a:endParaRPr lang="en-US" dirty="0">
              <a:solidFill>
                <a:srgbClr val="00FF00"/>
              </a:solidFill>
            </a:endParaRPr>
          </a:p>
          <a:p>
            <a:r>
              <a:rPr lang="en-US" b="1" dirty="0">
                <a:solidFill>
                  <a:srgbClr val="CC99FF"/>
                </a:solidFill>
              </a:rPr>
              <a:t>Key caution</a:t>
            </a:r>
            <a:r>
              <a:rPr lang="en-US" b="1" dirty="0">
                <a:solidFill>
                  <a:srgbClr val="00FF00"/>
                </a:solidFill>
              </a:rPr>
              <a:t>:</a:t>
            </a:r>
            <a:r>
              <a:rPr lang="en-US" b="1" dirty="0">
                <a:solidFill>
                  <a:srgbClr val="CC99FF"/>
                </a:solidFill>
              </a:rPr>
              <a:t> </a:t>
            </a:r>
            <a:r>
              <a:rPr lang="en-US" dirty="0"/>
              <a:t>Execution order matters</a:t>
            </a:r>
            <a:r>
              <a:rPr lang="en-US" dirty="0">
                <a:solidFill>
                  <a:schemeClr val="accent6"/>
                </a:solidFill>
              </a:rPr>
              <a:t>,</a:t>
            </a:r>
            <a:r>
              <a:rPr lang="en-US" dirty="0"/>
              <a:t> running cells out of order can create confusing hidden state</a:t>
            </a:r>
            <a:r>
              <a:rPr lang="en-US" dirty="0">
                <a:solidFill>
                  <a:schemeClr val="accent6"/>
                </a:solidFill>
              </a:rPr>
              <a:t>;</a:t>
            </a:r>
            <a:r>
              <a:rPr lang="en-US" dirty="0"/>
              <a:t> </a:t>
            </a:r>
            <a:r>
              <a:rPr lang="en-US" dirty="0">
                <a:solidFill>
                  <a:srgbClr val="00FF00"/>
                </a:solidFill>
              </a:rPr>
              <a:t>“</a:t>
            </a:r>
            <a:r>
              <a:rPr lang="en-US" dirty="0"/>
              <a:t>Restart Kernel </a:t>
            </a:r>
            <a:r>
              <a:rPr lang="en-US" dirty="0">
                <a:solidFill>
                  <a:schemeClr val="accent6"/>
                </a:solidFill>
              </a:rPr>
              <a:t>+</a:t>
            </a:r>
            <a:r>
              <a:rPr lang="en-US" dirty="0"/>
              <a:t> Run All</a:t>
            </a:r>
            <a:r>
              <a:rPr lang="en-US" dirty="0">
                <a:solidFill>
                  <a:srgbClr val="00FF00"/>
                </a:solidFill>
              </a:rPr>
              <a:t>”</a:t>
            </a:r>
            <a:r>
              <a:rPr lang="en-US" dirty="0"/>
              <a:t> helps verify correctness</a:t>
            </a:r>
            <a:r>
              <a:rPr lang="en-US" dirty="0">
                <a:solidFill>
                  <a:schemeClr val="accent6"/>
                </a:solidFill>
              </a:rPr>
              <a:t>.</a:t>
            </a:r>
          </a:p>
        </p:txBody>
      </p:sp>
      <p:pic>
        <p:nvPicPr>
          <p:cNvPr id="5" name="Picture 4">
            <a:extLst>
              <a:ext uri="{FF2B5EF4-FFF2-40B4-BE49-F238E27FC236}">
                <a16:creationId xmlns:a16="http://schemas.microsoft.com/office/drawing/2014/main" id="{1443BB1C-F888-2E6C-8312-59FF1FF149F3}"/>
              </a:ext>
            </a:extLst>
          </p:cNvPr>
          <p:cNvPicPr>
            <a:picLocks noChangeAspect="1"/>
          </p:cNvPicPr>
          <p:nvPr/>
        </p:nvPicPr>
        <p:blipFill>
          <a:blip r:embed="rId2"/>
          <a:stretch>
            <a:fillRect/>
          </a:stretch>
        </p:blipFill>
        <p:spPr>
          <a:xfrm>
            <a:off x="7018808" y="504497"/>
            <a:ext cx="5165902" cy="6228963"/>
          </a:xfrm>
          <a:prstGeom prst="rect">
            <a:avLst/>
          </a:prstGeom>
        </p:spPr>
      </p:pic>
      <p:sp>
        <p:nvSpPr>
          <p:cNvPr id="8" name="Rectangle 7">
            <a:extLst>
              <a:ext uri="{FF2B5EF4-FFF2-40B4-BE49-F238E27FC236}">
                <a16:creationId xmlns:a16="http://schemas.microsoft.com/office/drawing/2014/main" id="{DC794263-832A-7986-C95D-6F703BE36E0E}"/>
              </a:ext>
            </a:extLst>
          </p:cNvPr>
          <p:cNvSpPr/>
          <p:nvPr/>
        </p:nvSpPr>
        <p:spPr>
          <a:xfrm>
            <a:off x="6900175" y="303085"/>
            <a:ext cx="136303" cy="6495190"/>
          </a:xfrm>
          <a:prstGeom prst="rect">
            <a:avLst/>
          </a:prstGeom>
          <a:solidFill>
            <a:srgbClr val="1717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1BADBC8-DAE0-B981-ABCF-FAFDE7CF58E1}"/>
              </a:ext>
            </a:extLst>
          </p:cNvPr>
          <p:cNvSpPr txBox="1"/>
          <p:nvPr/>
        </p:nvSpPr>
        <p:spPr>
          <a:xfrm>
            <a:off x="10444152" y="3523591"/>
            <a:ext cx="1726827" cy="1477328"/>
          </a:xfrm>
          <a:prstGeom prst="rect">
            <a:avLst/>
          </a:prstGeom>
          <a:noFill/>
        </p:spPr>
        <p:txBody>
          <a:bodyPr wrap="square" rtlCol="0">
            <a:spAutoFit/>
          </a:bodyPr>
          <a:lstStyle/>
          <a:p>
            <a:r>
              <a:rPr lang="en-CA" b="1" dirty="0">
                <a:solidFill>
                  <a:schemeClr val="accent1"/>
                </a:solidFill>
              </a:rPr>
              <a:t>APS106</a:t>
            </a:r>
          </a:p>
          <a:p>
            <a:r>
              <a:rPr lang="en-CA" b="1" dirty="0"/>
              <a:t>File Type </a:t>
            </a:r>
            <a:r>
              <a:rPr lang="en-CA" b="1" dirty="0">
                <a:solidFill>
                  <a:schemeClr val="accent1"/>
                </a:solidFill>
              </a:rPr>
              <a:t>#</a:t>
            </a:r>
            <a:r>
              <a:rPr lang="en-CA" b="1" dirty="0"/>
              <a:t>2</a:t>
            </a:r>
            <a:r>
              <a:rPr lang="en-CA" b="1" dirty="0">
                <a:solidFill>
                  <a:schemeClr val="accent1"/>
                </a:solidFill>
              </a:rPr>
              <a:t>.</a:t>
            </a:r>
          </a:p>
          <a:p>
            <a:r>
              <a:rPr lang="en-CA" b="1" dirty="0"/>
              <a:t>The Python Notebook File</a:t>
            </a:r>
          </a:p>
          <a:p>
            <a:r>
              <a:rPr lang="en-CA" b="1" dirty="0">
                <a:solidFill>
                  <a:schemeClr val="accent1"/>
                </a:solidFill>
                <a:latin typeface="Consolas" panose="020B0609020204030204" pitchFamily="49" charset="0"/>
              </a:rPr>
              <a:t>.</a:t>
            </a:r>
            <a:r>
              <a:rPr lang="en-CA" b="1" dirty="0" err="1">
                <a:solidFill>
                  <a:schemeClr val="accent1"/>
                </a:solidFill>
                <a:latin typeface="Consolas" panose="020B0609020204030204" pitchFamily="49" charset="0"/>
              </a:rPr>
              <a:t>ipynb</a:t>
            </a:r>
            <a:endParaRPr lang="en-CA" b="1" dirty="0">
              <a:solidFill>
                <a:schemeClr val="accent1"/>
              </a:solidFill>
              <a:latin typeface="Consolas" panose="020B0609020204030204" pitchFamily="49" charset="0"/>
            </a:endParaRPr>
          </a:p>
        </p:txBody>
      </p:sp>
      <p:sp>
        <p:nvSpPr>
          <p:cNvPr id="11" name="Arrow: Right 10">
            <a:extLst>
              <a:ext uri="{FF2B5EF4-FFF2-40B4-BE49-F238E27FC236}">
                <a16:creationId xmlns:a16="http://schemas.microsoft.com/office/drawing/2014/main" id="{9DB228D4-1B7A-5958-6F8E-C0E11442E012}"/>
              </a:ext>
            </a:extLst>
          </p:cNvPr>
          <p:cNvSpPr/>
          <p:nvPr/>
        </p:nvSpPr>
        <p:spPr>
          <a:xfrm flipH="1">
            <a:off x="10224684" y="4214258"/>
            <a:ext cx="300375" cy="171666"/>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571798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675B3-B970-7527-A14D-8BAA42FFF24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8E01A5-CBF5-1464-CB32-6510E84C7FC6}"/>
              </a:ext>
            </a:extLst>
          </p:cNvPr>
          <p:cNvSpPr>
            <a:spLocks noGrp="1"/>
          </p:cNvSpPr>
          <p:nvPr>
            <p:ph idx="1"/>
          </p:nvPr>
        </p:nvSpPr>
        <p:spPr>
          <a:xfrm>
            <a:off x="838200" y="1825624"/>
            <a:ext cx="5764399" cy="4835479"/>
          </a:xfrm>
        </p:spPr>
        <p:txBody>
          <a:bodyPr>
            <a:normAutofit/>
          </a:bodyPr>
          <a:lstStyle/>
          <a:p>
            <a:r>
              <a:rPr lang="en-US" b="1" dirty="0"/>
              <a:t>Three Kinds Of Cells</a:t>
            </a:r>
            <a:r>
              <a:rPr lang="en-US" b="1" dirty="0">
                <a:solidFill>
                  <a:srgbClr val="CC99FF"/>
                </a:solidFill>
              </a:rPr>
              <a:t>.</a:t>
            </a:r>
          </a:p>
          <a:p>
            <a:pPr lvl="1"/>
            <a:r>
              <a:rPr lang="en-US" b="1" dirty="0">
                <a:solidFill>
                  <a:schemeClr val="accent3"/>
                </a:solidFill>
              </a:rPr>
              <a:t>Markdown</a:t>
            </a:r>
            <a:r>
              <a:rPr lang="en-US" b="1" dirty="0"/>
              <a:t>.</a:t>
            </a:r>
          </a:p>
          <a:p>
            <a:pPr lvl="2"/>
            <a:r>
              <a:rPr lang="en-US" dirty="0"/>
              <a:t>Write formatted notes</a:t>
            </a:r>
            <a:r>
              <a:rPr lang="en-US" dirty="0">
                <a:solidFill>
                  <a:srgbClr val="00FF00"/>
                </a:solidFill>
              </a:rPr>
              <a:t>:</a:t>
            </a:r>
            <a:r>
              <a:rPr lang="en-US" dirty="0"/>
              <a:t> headings</a:t>
            </a:r>
            <a:r>
              <a:rPr lang="en-US" dirty="0">
                <a:solidFill>
                  <a:schemeClr val="accent6"/>
                </a:solidFill>
              </a:rPr>
              <a:t>,</a:t>
            </a:r>
            <a:r>
              <a:rPr lang="en-US" dirty="0"/>
              <a:t> bullet lists</a:t>
            </a:r>
            <a:r>
              <a:rPr lang="en-US" dirty="0">
                <a:solidFill>
                  <a:schemeClr val="accent6"/>
                </a:solidFill>
              </a:rPr>
              <a:t>,</a:t>
            </a:r>
            <a:r>
              <a:rPr lang="en-US" dirty="0"/>
              <a:t> links</a:t>
            </a:r>
            <a:r>
              <a:rPr lang="en-US" dirty="0">
                <a:solidFill>
                  <a:schemeClr val="accent6"/>
                </a:solidFill>
              </a:rPr>
              <a:t>,</a:t>
            </a:r>
            <a:r>
              <a:rPr lang="en-US" dirty="0"/>
              <a:t> equations</a:t>
            </a:r>
            <a:r>
              <a:rPr lang="en-US" dirty="0">
                <a:solidFill>
                  <a:schemeClr val="accent6"/>
                </a:solidFill>
              </a:rPr>
              <a:t>,</a:t>
            </a:r>
            <a:r>
              <a:rPr lang="en-US" dirty="0"/>
              <a:t> and explanations </a:t>
            </a:r>
            <a:r>
              <a:rPr lang="en-US" dirty="0">
                <a:solidFill>
                  <a:srgbClr val="00FF00"/>
                </a:solidFill>
              </a:rPr>
              <a:t>(</a:t>
            </a:r>
            <a:r>
              <a:rPr lang="en-US" dirty="0"/>
              <a:t>no code execution</a:t>
            </a:r>
            <a:r>
              <a:rPr lang="en-US" dirty="0">
                <a:solidFill>
                  <a:srgbClr val="00FF00"/>
                </a:solidFill>
              </a:rPr>
              <a:t>)</a:t>
            </a:r>
            <a:r>
              <a:rPr lang="en-US" dirty="0">
                <a:solidFill>
                  <a:schemeClr val="accent6"/>
                </a:solidFill>
              </a:rPr>
              <a:t>.</a:t>
            </a:r>
          </a:p>
          <a:p>
            <a:pPr lvl="1"/>
            <a:r>
              <a:rPr lang="en-US" b="1" dirty="0">
                <a:solidFill>
                  <a:srgbClr val="00B050"/>
                </a:solidFill>
              </a:rPr>
              <a:t>Code</a:t>
            </a:r>
            <a:r>
              <a:rPr lang="en-US" b="1" dirty="0"/>
              <a:t>.</a:t>
            </a:r>
          </a:p>
          <a:p>
            <a:pPr lvl="2"/>
            <a:r>
              <a:rPr lang="en-US" dirty="0"/>
              <a:t>Write and run Python </a:t>
            </a:r>
            <a:r>
              <a:rPr lang="en-US" dirty="0">
                <a:solidFill>
                  <a:srgbClr val="00FF00"/>
                </a:solidFill>
              </a:rPr>
              <a:t>(</a:t>
            </a:r>
            <a:r>
              <a:rPr lang="en-US" dirty="0"/>
              <a:t>or other languages</a:t>
            </a:r>
            <a:r>
              <a:rPr lang="en-US" dirty="0">
                <a:solidFill>
                  <a:srgbClr val="00FF00"/>
                </a:solidFill>
              </a:rPr>
              <a:t>)</a:t>
            </a:r>
            <a:r>
              <a:rPr lang="en-US" dirty="0"/>
              <a:t> in a cell</a:t>
            </a:r>
            <a:r>
              <a:rPr lang="en-US" dirty="0">
                <a:solidFill>
                  <a:schemeClr val="accent6"/>
                </a:solidFill>
              </a:rPr>
              <a:t>;</a:t>
            </a:r>
            <a:r>
              <a:rPr lang="en-US" dirty="0"/>
              <a:t> the kernel executes it and keeps variables in memory</a:t>
            </a:r>
            <a:r>
              <a:rPr lang="en-US" dirty="0">
                <a:solidFill>
                  <a:schemeClr val="accent6"/>
                </a:solidFill>
              </a:rPr>
              <a:t>.</a:t>
            </a:r>
          </a:p>
          <a:p>
            <a:pPr lvl="1"/>
            <a:r>
              <a:rPr lang="en-US" b="1" dirty="0">
                <a:solidFill>
                  <a:srgbClr val="FF66CC"/>
                </a:solidFill>
              </a:rPr>
              <a:t>Output</a:t>
            </a:r>
            <a:r>
              <a:rPr lang="en-US" b="1" dirty="0"/>
              <a:t>.</a:t>
            </a:r>
          </a:p>
          <a:p>
            <a:pPr lvl="2"/>
            <a:r>
              <a:rPr lang="en-US" dirty="0"/>
              <a:t>The results produced by running a code cell</a:t>
            </a:r>
            <a:r>
              <a:rPr lang="en-US" dirty="0">
                <a:solidFill>
                  <a:schemeClr val="accent6"/>
                </a:solidFill>
              </a:rPr>
              <a:t>,</a:t>
            </a:r>
            <a:r>
              <a:rPr lang="en-US" dirty="0"/>
              <a:t> printed text</a:t>
            </a:r>
            <a:r>
              <a:rPr lang="en-US" dirty="0">
                <a:solidFill>
                  <a:schemeClr val="accent6"/>
                </a:solidFill>
              </a:rPr>
              <a:t>,</a:t>
            </a:r>
            <a:r>
              <a:rPr lang="en-US" dirty="0"/>
              <a:t> tables</a:t>
            </a:r>
            <a:r>
              <a:rPr lang="en-US" dirty="0">
                <a:solidFill>
                  <a:schemeClr val="accent6"/>
                </a:solidFill>
              </a:rPr>
              <a:t>,</a:t>
            </a:r>
            <a:r>
              <a:rPr lang="en-US" dirty="0"/>
              <a:t> plots</a:t>
            </a:r>
            <a:r>
              <a:rPr lang="en-US" dirty="0">
                <a:solidFill>
                  <a:schemeClr val="accent6"/>
                </a:solidFill>
              </a:rPr>
              <a:t>,</a:t>
            </a:r>
            <a:r>
              <a:rPr lang="en-US" dirty="0"/>
              <a:t> or error messages</a:t>
            </a:r>
            <a:r>
              <a:rPr lang="en-US" dirty="0">
                <a:solidFill>
                  <a:schemeClr val="accent6"/>
                </a:solidFill>
              </a:rPr>
              <a:t>,</a:t>
            </a:r>
            <a:r>
              <a:rPr lang="en-US" dirty="0"/>
              <a:t> are shown directly under the cell</a:t>
            </a:r>
            <a:r>
              <a:rPr lang="en-US" dirty="0">
                <a:solidFill>
                  <a:schemeClr val="accent6"/>
                </a:solidFill>
              </a:rPr>
              <a:t>.</a:t>
            </a:r>
          </a:p>
        </p:txBody>
      </p:sp>
      <p:pic>
        <p:nvPicPr>
          <p:cNvPr id="9" name="Picture 8">
            <a:extLst>
              <a:ext uri="{FF2B5EF4-FFF2-40B4-BE49-F238E27FC236}">
                <a16:creationId xmlns:a16="http://schemas.microsoft.com/office/drawing/2014/main" id="{F98BAB78-E41F-890C-AF31-7D7278E41AAB}"/>
              </a:ext>
            </a:extLst>
          </p:cNvPr>
          <p:cNvPicPr>
            <a:picLocks noChangeAspect="1"/>
          </p:cNvPicPr>
          <p:nvPr/>
        </p:nvPicPr>
        <p:blipFill>
          <a:blip r:embed="rId2"/>
          <a:stretch>
            <a:fillRect/>
          </a:stretch>
        </p:blipFill>
        <p:spPr>
          <a:xfrm>
            <a:off x="7073043" y="501629"/>
            <a:ext cx="5118958" cy="6227093"/>
          </a:xfrm>
          <a:prstGeom prst="rect">
            <a:avLst/>
          </a:prstGeom>
        </p:spPr>
      </p:pic>
      <p:sp>
        <p:nvSpPr>
          <p:cNvPr id="12" name="Rectangle: Rounded Corners 11">
            <a:extLst>
              <a:ext uri="{FF2B5EF4-FFF2-40B4-BE49-F238E27FC236}">
                <a16:creationId xmlns:a16="http://schemas.microsoft.com/office/drawing/2014/main" id="{8812705C-1BC3-36A7-81D4-F5D23E61871C}"/>
              </a:ext>
            </a:extLst>
          </p:cNvPr>
          <p:cNvSpPr/>
          <p:nvPr/>
        </p:nvSpPr>
        <p:spPr>
          <a:xfrm>
            <a:off x="7561140" y="1557634"/>
            <a:ext cx="4420651" cy="964850"/>
          </a:xfrm>
          <a:prstGeom prst="roundRect">
            <a:avLst>
              <a:gd name="adj" fmla="val 5838"/>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Rectangle: Rounded Corners 12">
            <a:extLst>
              <a:ext uri="{FF2B5EF4-FFF2-40B4-BE49-F238E27FC236}">
                <a16:creationId xmlns:a16="http://schemas.microsoft.com/office/drawing/2014/main" id="{C1D09AEF-BDF1-9B28-B388-69F5A5E3FEA4}"/>
              </a:ext>
            </a:extLst>
          </p:cNvPr>
          <p:cNvSpPr/>
          <p:nvPr/>
        </p:nvSpPr>
        <p:spPr>
          <a:xfrm>
            <a:off x="7561139" y="2560320"/>
            <a:ext cx="4420651" cy="245942"/>
          </a:xfrm>
          <a:prstGeom prst="roundRect">
            <a:avLst>
              <a:gd name="adj" fmla="val 5838"/>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Rectangle: Rounded Corners 13">
            <a:extLst>
              <a:ext uri="{FF2B5EF4-FFF2-40B4-BE49-F238E27FC236}">
                <a16:creationId xmlns:a16="http://schemas.microsoft.com/office/drawing/2014/main" id="{830EACDC-7987-C767-05F1-B0AA19936AAE}"/>
              </a:ext>
            </a:extLst>
          </p:cNvPr>
          <p:cNvSpPr/>
          <p:nvPr/>
        </p:nvSpPr>
        <p:spPr>
          <a:xfrm>
            <a:off x="7561138" y="2831486"/>
            <a:ext cx="4420651" cy="182881"/>
          </a:xfrm>
          <a:prstGeom prst="roundRect">
            <a:avLst>
              <a:gd name="adj" fmla="val 5838"/>
            </a:avLst>
          </a:prstGeom>
          <a:noFill/>
          <a:ln w="38100">
            <a:solidFill>
              <a:srgbClr val="FF66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itle 1">
            <a:extLst>
              <a:ext uri="{FF2B5EF4-FFF2-40B4-BE49-F238E27FC236}">
                <a16:creationId xmlns:a16="http://schemas.microsoft.com/office/drawing/2014/main" id="{4B967079-C84C-3F3D-E3D2-A325BBE326BA}"/>
              </a:ext>
            </a:extLst>
          </p:cNvPr>
          <p:cNvSpPr>
            <a:spLocks noGrp="1"/>
          </p:cNvSpPr>
          <p:nvPr>
            <p:ph type="title"/>
          </p:nvPr>
        </p:nvSpPr>
        <p:spPr>
          <a:xfrm>
            <a:off x="838200" y="815799"/>
            <a:ext cx="10515600" cy="656148"/>
          </a:xfrm>
        </p:spPr>
        <p:txBody>
          <a:bodyPr>
            <a:normAutofit fontScale="90000"/>
          </a:bodyPr>
          <a:lstStyle/>
          <a:p>
            <a:r>
              <a:rPr lang="en-CA" b="1" dirty="0"/>
              <a:t>Interactive Computing</a:t>
            </a:r>
            <a:br>
              <a:rPr lang="en-CA" b="1" dirty="0"/>
            </a:br>
            <a:r>
              <a:rPr lang="en-CA" b="1" dirty="0"/>
              <a:t>Environment</a:t>
            </a:r>
            <a:r>
              <a:rPr lang="en-CA" b="1" dirty="0">
                <a:solidFill>
                  <a:srgbClr val="00FF00"/>
                </a:solidFill>
              </a:rPr>
              <a:t>.</a:t>
            </a:r>
          </a:p>
        </p:txBody>
      </p:sp>
    </p:spTree>
    <p:extLst>
      <p:ext uri="{BB962C8B-B14F-4D97-AF65-F5344CB8AC3E}">
        <p14:creationId xmlns:p14="http://schemas.microsoft.com/office/powerpoint/2010/main" val="26991884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9E691-7737-B10C-2D0C-DFB9ECE1CA4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7F6D03-3F28-4C91-2E19-18BD61E78113}"/>
              </a:ext>
            </a:extLst>
          </p:cNvPr>
          <p:cNvSpPr>
            <a:spLocks noGrp="1"/>
          </p:cNvSpPr>
          <p:nvPr>
            <p:ph idx="1"/>
          </p:nvPr>
        </p:nvSpPr>
        <p:spPr>
          <a:xfrm>
            <a:off x="838200" y="1825624"/>
            <a:ext cx="5764399" cy="4835479"/>
          </a:xfrm>
        </p:spPr>
        <p:txBody>
          <a:bodyPr>
            <a:normAutofit/>
          </a:bodyPr>
          <a:lstStyle/>
          <a:p>
            <a:r>
              <a:rPr lang="en-US" b="1" dirty="0"/>
              <a:t>Three Kinds Of Cells</a:t>
            </a:r>
            <a:r>
              <a:rPr lang="en-US" b="1" dirty="0">
                <a:solidFill>
                  <a:srgbClr val="CC99FF"/>
                </a:solidFill>
              </a:rPr>
              <a:t>.</a:t>
            </a:r>
          </a:p>
          <a:p>
            <a:pPr lvl="1"/>
            <a:r>
              <a:rPr lang="en-US" b="1" dirty="0">
                <a:solidFill>
                  <a:schemeClr val="accent3"/>
                </a:solidFill>
              </a:rPr>
              <a:t>Markdown</a:t>
            </a:r>
            <a:r>
              <a:rPr lang="en-US" b="1" dirty="0"/>
              <a:t>.</a:t>
            </a:r>
          </a:p>
          <a:p>
            <a:pPr lvl="2"/>
            <a:r>
              <a:rPr lang="en-US" dirty="0"/>
              <a:t>Write formatted notes</a:t>
            </a:r>
            <a:r>
              <a:rPr lang="en-US" dirty="0">
                <a:solidFill>
                  <a:srgbClr val="00FF00"/>
                </a:solidFill>
              </a:rPr>
              <a:t>:</a:t>
            </a:r>
            <a:r>
              <a:rPr lang="en-US" dirty="0"/>
              <a:t> headings</a:t>
            </a:r>
            <a:r>
              <a:rPr lang="en-US" dirty="0">
                <a:solidFill>
                  <a:schemeClr val="accent6"/>
                </a:solidFill>
              </a:rPr>
              <a:t>,</a:t>
            </a:r>
            <a:r>
              <a:rPr lang="en-US" dirty="0"/>
              <a:t> bullet lists</a:t>
            </a:r>
            <a:r>
              <a:rPr lang="en-US" dirty="0">
                <a:solidFill>
                  <a:schemeClr val="accent6"/>
                </a:solidFill>
              </a:rPr>
              <a:t>,</a:t>
            </a:r>
            <a:r>
              <a:rPr lang="en-US" dirty="0"/>
              <a:t> links</a:t>
            </a:r>
            <a:r>
              <a:rPr lang="en-US" dirty="0">
                <a:solidFill>
                  <a:schemeClr val="accent6"/>
                </a:solidFill>
              </a:rPr>
              <a:t>,</a:t>
            </a:r>
            <a:r>
              <a:rPr lang="en-US" dirty="0"/>
              <a:t> equations</a:t>
            </a:r>
            <a:r>
              <a:rPr lang="en-US" dirty="0">
                <a:solidFill>
                  <a:schemeClr val="accent6"/>
                </a:solidFill>
              </a:rPr>
              <a:t>,</a:t>
            </a:r>
            <a:r>
              <a:rPr lang="en-US" dirty="0"/>
              <a:t> and explanations </a:t>
            </a:r>
            <a:r>
              <a:rPr lang="en-US" dirty="0">
                <a:solidFill>
                  <a:srgbClr val="00FF00"/>
                </a:solidFill>
              </a:rPr>
              <a:t>(</a:t>
            </a:r>
            <a:r>
              <a:rPr lang="en-US" dirty="0"/>
              <a:t>no code execution</a:t>
            </a:r>
            <a:r>
              <a:rPr lang="en-US" dirty="0">
                <a:solidFill>
                  <a:srgbClr val="00FF00"/>
                </a:solidFill>
              </a:rPr>
              <a:t>)</a:t>
            </a:r>
            <a:r>
              <a:rPr lang="en-US" dirty="0">
                <a:solidFill>
                  <a:schemeClr val="accent6"/>
                </a:solidFill>
              </a:rPr>
              <a:t>.</a:t>
            </a:r>
          </a:p>
          <a:p>
            <a:pPr lvl="1"/>
            <a:r>
              <a:rPr lang="en-US" b="1" dirty="0">
                <a:solidFill>
                  <a:srgbClr val="00B050"/>
                </a:solidFill>
              </a:rPr>
              <a:t>Code</a:t>
            </a:r>
            <a:r>
              <a:rPr lang="en-US" b="1" dirty="0"/>
              <a:t>.</a:t>
            </a:r>
          </a:p>
          <a:p>
            <a:pPr lvl="2"/>
            <a:r>
              <a:rPr lang="en-US" dirty="0"/>
              <a:t>Write and run Python </a:t>
            </a:r>
            <a:r>
              <a:rPr lang="en-US" dirty="0">
                <a:solidFill>
                  <a:srgbClr val="00FF00"/>
                </a:solidFill>
              </a:rPr>
              <a:t>(</a:t>
            </a:r>
            <a:r>
              <a:rPr lang="en-US" dirty="0"/>
              <a:t>or other languages</a:t>
            </a:r>
            <a:r>
              <a:rPr lang="en-US" dirty="0">
                <a:solidFill>
                  <a:srgbClr val="00FF00"/>
                </a:solidFill>
              </a:rPr>
              <a:t>)</a:t>
            </a:r>
            <a:r>
              <a:rPr lang="en-US" dirty="0"/>
              <a:t> in a cell</a:t>
            </a:r>
            <a:r>
              <a:rPr lang="en-US" dirty="0">
                <a:solidFill>
                  <a:schemeClr val="accent6"/>
                </a:solidFill>
              </a:rPr>
              <a:t>;</a:t>
            </a:r>
            <a:r>
              <a:rPr lang="en-US" dirty="0"/>
              <a:t> the kernel executes it and keeps variables in memory</a:t>
            </a:r>
            <a:r>
              <a:rPr lang="en-US" dirty="0">
                <a:solidFill>
                  <a:schemeClr val="accent6"/>
                </a:solidFill>
              </a:rPr>
              <a:t>.</a:t>
            </a:r>
          </a:p>
          <a:p>
            <a:pPr lvl="1"/>
            <a:r>
              <a:rPr lang="en-US" b="1" dirty="0">
                <a:solidFill>
                  <a:srgbClr val="FF66CC"/>
                </a:solidFill>
              </a:rPr>
              <a:t>Output</a:t>
            </a:r>
            <a:r>
              <a:rPr lang="en-US" b="1" dirty="0"/>
              <a:t>.</a:t>
            </a:r>
          </a:p>
          <a:p>
            <a:pPr lvl="2"/>
            <a:r>
              <a:rPr lang="en-US" dirty="0"/>
              <a:t>The results produced by running a code cell</a:t>
            </a:r>
            <a:r>
              <a:rPr lang="en-US" dirty="0">
                <a:solidFill>
                  <a:schemeClr val="accent6"/>
                </a:solidFill>
              </a:rPr>
              <a:t>,</a:t>
            </a:r>
            <a:r>
              <a:rPr lang="en-US" dirty="0"/>
              <a:t> printed text</a:t>
            </a:r>
            <a:r>
              <a:rPr lang="en-US" dirty="0">
                <a:solidFill>
                  <a:schemeClr val="accent6"/>
                </a:solidFill>
              </a:rPr>
              <a:t>,</a:t>
            </a:r>
            <a:r>
              <a:rPr lang="en-US" dirty="0"/>
              <a:t> tables</a:t>
            </a:r>
            <a:r>
              <a:rPr lang="en-US" dirty="0">
                <a:solidFill>
                  <a:schemeClr val="accent6"/>
                </a:solidFill>
              </a:rPr>
              <a:t>,</a:t>
            </a:r>
            <a:r>
              <a:rPr lang="en-US" dirty="0"/>
              <a:t> plots</a:t>
            </a:r>
            <a:r>
              <a:rPr lang="en-US" dirty="0">
                <a:solidFill>
                  <a:schemeClr val="accent6"/>
                </a:solidFill>
              </a:rPr>
              <a:t>,</a:t>
            </a:r>
            <a:r>
              <a:rPr lang="en-US" dirty="0"/>
              <a:t> or error messages</a:t>
            </a:r>
            <a:r>
              <a:rPr lang="en-US" dirty="0">
                <a:solidFill>
                  <a:schemeClr val="accent6"/>
                </a:solidFill>
              </a:rPr>
              <a:t>,</a:t>
            </a:r>
            <a:r>
              <a:rPr lang="en-US" dirty="0"/>
              <a:t> are shown directly under the cell</a:t>
            </a:r>
            <a:r>
              <a:rPr lang="en-US" dirty="0">
                <a:solidFill>
                  <a:schemeClr val="accent6"/>
                </a:solidFill>
              </a:rPr>
              <a:t>.</a:t>
            </a:r>
          </a:p>
        </p:txBody>
      </p:sp>
      <p:sp>
        <p:nvSpPr>
          <p:cNvPr id="10" name="Title 1">
            <a:extLst>
              <a:ext uri="{FF2B5EF4-FFF2-40B4-BE49-F238E27FC236}">
                <a16:creationId xmlns:a16="http://schemas.microsoft.com/office/drawing/2014/main" id="{3E541B75-5695-98A1-899C-7900EE41FC2B}"/>
              </a:ext>
            </a:extLst>
          </p:cNvPr>
          <p:cNvSpPr>
            <a:spLocks noGrp="1"/>
          </p:cNvSpPr>
          <p:nvPr>
            <p:ph type="title"/>
          </p:nvPr>
        </p:nvSpPr>
        <p:spPr>
          <a:xfrm>
            <a:off x="838200" y="815799"/>
            <a:ext cx="10515600" cy="656148"/>
          </a:xfrm>
        </p:spPr>
        <p:txBody>
          <a:bodyPr>
            <a:normAutofit fontScale="90000"/>
          </a:bodyPr>
          <a:lstStyle/>
          <a:p>
            <a:r>
              <a:rPr lang="en-CA" b="1" dirty="0"/>
              <a:t>Interactive Computing</a:t>
            </a:r>
            <a:br>
              <a:rPr lang="en-CA" b="1" dirty="0"/>
            </a:br>
            <a:r>
              <a:rPr lang="en-CA" b="1" dirty="0"/>
              <a:t>Environment</a:t>
            </a:r>
            <a:r>
              <a:rPr lang="en-CA" b="1" dirty="0">
                <a:solidFill>
                  <a:srgbClr val="00FF00"/>
                </a:solidFill>
              </a:rPr>
              <a:t>.</a:t>
            </a:r>
          </a:p>
        </p:txBody>
      </p:sp>
      <p:sp>
        <p:nvSpPr>
          <p:cNvPr id="2" name="Rectangle: Rounded Corners 1">
            <a:extLst>
              <a:ext uri="{FF2B5EF4-FFF2-40B4-BE49-F238E27FC236}">
                <a16:creationId xmlns:a16="http://schemas.microsoft.com/office/drawing/2014/main" id="{0DF46140-71A8-511E-7DD2-2FCBC18117A7}"/>
              </a:ext>
            </a:extLst>
          </p:cNvPr>
          <p:cNvSpPr/>
          <p:nvPr/>
        </p:nvSpPr>
        <p:spPr>
          <a:xfrm>
            <a:off x="7664115" y="1949006"/>
            <a:ext cx="3958389" cy="4418765"/>
          </a:xfrm>
          <a:prstGeom prst="roundRect">
            <a:avLst/>
          </a:prstGeom>
          <a:noFill/>
          <a:ln w="762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dirty="0">
                <a:solidFill>
                  <a:srgbClr val="FFFFFF"/>
                </a:solidFill>
              </a:rPr>
              <a:t>Let</a:t>
            </a:r>
            <a:r>
              <a:rPr lang="en-US" sz="4400" b="1" dirty="0">
                <a:solidFill>
                  <a:srgbClr val="00FF00"/>
                </a:solidFill>
              </a:rPr>
              <a:t>’</a:t>
            </a:r>
            <a:r>
              <a:rPr lang="en-US" sz="4400" b="1" dirty="0">
                <a:solidFill>
                  <a:srgbClr val="FFFFFF"/>
                </a:solidFill>
              </a:rPr>
              <a:t>s Code</a:t>
            </a:r>
            <a:r>
              <a:rPr lang="en-US" sz="4400" b="1" dirty="0">
                <a:solidFill>
                  <a:srgbClr val="00FF00"/>
                </a:solidFill>
              </a:rPr>
              <a:t>!</a:t>
            </a:r>
          </a:p>
          <a:p>
            <a:endParaRPr lang="en-US" sz="4400" b="1" dirty="0">
              <a:solidFill>
                <a:srgbClr val="FFFFFF"/>
              </a:solidFill>
            </a:endParaRPr>
          </a:p>
          <a:p>
            <a:r>
              <a:rPr lang="en-US" sz="2800" b="1" dirty="0">
                <a:solidFill>
                  <a:srgbClr val="FFFFFF"/>
                </a:solidFill>
              </a:rPr>
              <a:t>Download</a:t>
            </a:r>
            <a:r>
              <a:rPr lang="en-US" sz="2800" b="1" dirty="0">
                <a:solidFill>
                  <a:schemeClr val="accent6"/>
                </a:solidFill>
              </a:rPr>
              <a:t>:</a:t>
            </a:r>
          </a:p>
          <a:p>
            <a:pPr marL="514350" indent="-514350">
              <a:buAutoNum type="arabicPeriod"/>
            </a:pPr>
            <a:r>
              <a:rPr lang="en-US" sz="2000" b="1" dirty="0">
                <a:solidFill>
                  <a:schemeClr val="accent6"/>
                </a:solidFill>
              </a:rPr>
              <a:t>week1_lecture2.ipynb</a:t>
            </a:r>
            <a:endParaRPr lang="en-US" sz="2400" b="1" dirty="0">
              <a:solidFill>
                <a:srgbClr val="FFFFFF"/>
              </a:solidFill>
            </a:endParaRPr>
          </a:p>
          <a:p>
            <a:endParaRPr lang="en-US" sz="2800" b="1" dirty="0">
              <a:solidFill>
                <a:srgbClr val="FFFFFF"/>
              </a:solidFill>
            </a:endParaRPr>
          </a:p>
          <a:p>
            <a:r>
              <a:rPr lang="en-US" sz="2800" b="1" dirty="0">
                <a:solidFill>
                  <a:srgbClr val="FFFFFF"/>
                </a:solidFill>
              </a:rPr>
              <a:t>Open</a:t>
            </a:r>
            <a:r>
              <a:rPr lang="en-US" sz="2800" b="1" dirty="0">
                <a:solidFill>
                  <a:schemeClr val="accent6"/>
                </a:solidFill>
              </a:rPr>
              <a:t>:</a:t>
            </a:r>
          </a:p>
          <a:p>
            <a:pPr marL="514350" indent="-514350">
              <a:buAutoNum type="arabicPeriod"/>
            </a:pPr>
            <a:r>
              <a:rPr lang="en-US" sz="2400" b="1" dirty="0" err="1">
                <a:solidFill>
                  <a:schemeClr val="accent6"/>
                </a:solidFill>
              </a:rPr>
              <a:t>Jupyter</a:t>
            </a:r>
            <a:r>
              <a:rPr lang="en-US" sz="2400" b="1" dirty="0">
                <a:solidFill>
                  <a:schemeClr val="accent6"/>
                </a:solidFill>
              </a:rPr>
              <a:t> App</a:t>
            </a:r>
          </a:p>
          <a:p>
            <a:pPr marL="514350" indent="-514350">
              <a:buAutoNum type="arabicPeriod"/>
            </a:pPr>
            <a:endParaRPr lang="en-US" sz="2400" b="1" dirty="0">
              <a:solidFill>
                <a:schemeClr val="accent6"/>
              </a:solidFill>
            </a:endParaRPr>
          </a:p>
        </p:txBody>
      </p:sp>
    </p:spTree>
    <p:extLst>
      <p:ext uri="{BB962C8B-B14F-4D97-AF65-F5344CB8AC3E}">
        <p14:creationId xmlns:p14="http://schemas.microsoft.com/office/powerpoint/2010/main" val="39705532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B9B2D-E9B8-3145-8808-301E837C51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2FCFFF-7CB0-9A2C-5AF5-681E53C4D2B7}"/>
              </a:ext>
            </a:extLst>
          </p:cNvPr>
          <p:cNvSpPr>
            <a:spLocks noGrp="1"/>
          </p:cNvSpPr>
          <p:nvPr>
            <p:ph type="title"/>
          </p:nvPr>
        </p:nvSpPr>
        <p:spPr/>
        <p:txBody>
          <a:bodyPr>
            <a:normAutofit fontScale="90000"/>
          </a:bodyPr>
          <a:lstStyle/>
          <a:p>
            <a:r>
              <a:rPr lang="en-CA" b="1" dirty="0"/>
              <a:t>Editors </a:t>
            </a:r>
            <a:r>
              <a:rPr lang="en-CA" b="1" dirty="0">
                <a:solidFill>
                  <a:srgbClr val="00FF00"/>
                </a:solidFill>
              </a:rPr>
              <a:t>&amp;</a:t>
            </a:r>
            <a:r>
              <a:rPr lang="en-CA" b="1" dirty="0"/>
              <a:t> IDEs</a:t>
            </a:r>
            <a:r>
              <a:rPr lang="en-CA" b="1" dirty="0">
                <a:solidFill>
                  <a:srgbClr val="00FF00"/>
                </a:solidFill>
              </a:rPr>
              <a:t>.</a:t>
            </a:r>
            <a:endParaRPr lang="en-CA" dirty="0"/>
          </a:p>
        </p:txBody>
      </p:sp>
      <p:sp>
        <p:nvSpPr>
          <p:cNvPr id="19" name="Rectangle: Rounded Corners 18">
            <a:extLst>
              <a:ext uri="{FF2B5EF4-FFF2-40B4-BE49-F238E27FC236}">
                <a16:creationId xmlns:a16="http://schemas.microsoft.com/office/drawing/2014/main" id="{A7C2995D-72FF-F109-25C4-8263BE34FD72}"/>
              </a:ext>
            </a:extLst>
          </p:cNvPr>
          <p:cNvSpPr/>
          <p:nvPr/>
        </p:nvSpPr>
        <p:spPr>
          <a:xfrm>
            <a:off x="611177" y="2826154"/>
            <a:ext cx="2536095" cy="3569313"/>
          </a:xfrm>
          <a:prstGeom prst="round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Rounded Corners 3">
            <a:extLst>
              <a:ext uri="{FF2B5EF4-FFF2-40B4-BE49-F238E27FC236}">
                <a16:creationId xmlns:a16="http://schemas.microsoft.com/office/drawing/2014/main" id="{B913B6C8-9F71-CA9B-F9F9-3C987C1DFCDC}"/>
              </a:ext>
            </a:extLst>
          </p:cNvPr>
          <p:cNvSpPr/>
          <p:nvPr/>
        </p:nvSpPr>
        <p:spPr>
          <a:xfrm>
            <a:off x="3431102" y="2826153"/>
            <a:ext cx="2536095" cy="3569313"/>
          </a:xfrm>
          <a:prstGeom prst="round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Rounded Corners 4">
            <a:extLst>
              <a:ext uri="{FF2B5EF4-FFF2-40B4-BE49-F238E27FC236}">
                <a16:creationId xmlns:a16="http://schemas.microsoft.com/office/drawing/2014/main" id="{5961C3C5-4F77-9076-9BA7-6565633A0346}"/>
              </a:ext>
            </a:extLst>
          </p:cNvPr>
          <p:cNvSpPr/>
          <p:nvPr/>
        </p:nvSpPr>
        <p:spPr>
          <a:xfrm>
            <a:off x="6251027" y="2826152"/>
            <a:ext cx="2536095" cy="3569313"/>
          </a:xfrm>
          <a:prstGeom prst="round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Rectangle: Rounded Corners 5">
            <a:extLst>
              <a:ext uri="{FF2B5EF4-FFF2-40B4-BE49-F238E27FC236}">
                <a16:creationId xmlns:a16="http://schemas.microsoft.com/office/drawing/2014/main" id="{938E7C41-3731-118B-4120-551D82E252EC}"/>
              </a:ext>
            </a:extLst>
          </p:cNvPr>
          <p:cNvSpPr/>
          <p:nvPr/>
        </p:nvSpPr>
        <p:spPr>
          <a:xfrm>
            <a:off x="9070952" y="2826151"/>
            <a:ext cx="2536095" cy="3569313"/>
          </a:xfrm>
          <a:prstGeom prst="round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Arrow: Right 6">
            <a:extLst>
              <a:ext uri="{FF2B5EF4-FFF2-40B4-BE49-F238E27FC236}">
                <a16:creationId xmlns:a16="http://schemas.microsoft.com/office/drawing/2014/main" id="{521A96AA-A2A0-43E6-B3C8-D73A41EFB676}"/>
              </a:ext>
            </a:extLst>
          </p:cNvPr>
          <p:cNvSpPr/>
          <p:nvPr/>
        </p:nvSpPr>
        <p:spPr>
          <a:xfrm>
            <a:off x="3140967" y="4358558"/>
            <a:ext cx="283830" cy="504497"/>
          </a:xfrm>
          <a:prstGeom prst="rightArrow">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Arrow: Right 7">
            <a:extLst>
              <a:ext uri="{FF2B5EF4-FFF2-40B4-BE49-F238E27FC236}">
                <a16:creationId xmlns:a16="http://schemas.microsoft.com/office/drawing/2014/main" id="{02A4F942-6734-40EB-5CF9-C59DEB27F368}"/>
              </a:ext>
            </a:extLst>
          </p:cNvPr>
          <p:cNvSpPr/>
          <p:nvPr/>
        </p:nvSpPr>
        <p:spPr>
          <a:xfrm>
            <a:off x="5960391" y="4358558"/>
            <a:ext cx="283830" cy="504497"/>
          </a:xfrm>
          <a:prstGeom prst="rightArrow">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Arrow: Right 8">
            <a:extLst>
              <a:ext uri="{FF2B5EF4-FFF2-40B4-BE49-F238E27FC236}">
                <a16:creationId xmlns:a16="http://schemas.microsoft.com/office/drawing/2014/main" id="{7E023903-14DC-383F-00FD-A97DAB5A06FF}"/>
              </a:ext>
            </a:extLst>
          </p:cNvPr>
          <p:cNvSpPr/>
          <p:nvPr/>
        </p:nvSpPr>
        <p:spPr>
          <a:xfrm>
            <a:off x="8781316" y="4358558"/>
            <a:ext cx="283830" cy="504497"/>
          </a:xfrm>
          <a:prstGeom prst="rightArrow">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C0258F20-4358-CDAD-00A8-CFEA947E087B}"/>
              </a:ext>
            </a:extLst>
          </p:cNvPr>
          <p:cNvSpPr txBox="1"/>
          <p:nvPr/>
        </p:nvSpPr>
        <p:spPr>
          <a:xfrm>
            <a:off x="503573" y="2350193"/>
            <a:ext cx="1970604" cy="461665"/>
          </a:xfrm>
          <a:prstGeom prst="rect">
            <a:avLst/>
          </a:prstGeom>
          <a:noFill/>
        </p:spPr>
        <p:txBody>
          <a:bodyPr wrap="none" rtlCol="0">
            <a:spAutoFit/>
          </a:bodyPr>
          <a:lstStyle/>
          <a:p>
            <a:r>
              <a:rPr lang="en-CA" sz="2400" b="1" dirty="0">
                <a:solidFill>
                  <a:srgbClr val="FFFFFF"/>
                </a:solidFill>
              </a:rPr>
              <a:t>Text Editors</a:t>
            </a:r>
            <a:r>
              <a:rPr lang="en-CA" sz="2400" b="1" dirty="0">
                <a:solidFill>
                  <a:srgbClr val="00FF00"/>
                </a:solidFill>
              </a:rPr>
              <a:t>.</a:t>
            </a:r>
          </a:p>
        </p:txBody>
      </p:sp>
      <p:sp>
        <p:nvSpPr>
          <p:cNvPr id="11" name="TextBox 10">
            <a:extLst>
              <a:ext uri="{FF2B5EF4-FFF2-40B4-BE49-F238E27FC236}">
                <a16:creationId xmlns:a16="http://schemas.microsoft.com/office/drawing/2014/main" id="{0E7160BC-1CFB-C916-ED1D-AF39285CAB83}"/>
              </a:ext>
            </a:extLst>
          </p:cNvPr>
          <p:cNvSpPr txBox="1"/>
          <p:nvPr/>
        </p:nvSpPr>
        <p:spPr>
          <a:xfrm>
            <a:off x="3303370" y="1609608"/>
            <a:ext cx="3152582" cy="1200329"/>
          </a:xfrm>
          <a:prstGeom prst="rect">
            <a:avLst/>
          </a:prstGeom>
          <a:noFill/>
        </p:spPr>
        <p:txBody>
          <a:bodyPr wrap="square" rtlCol="0">
            <a:spAutoFit/>
          </a:bodyPr>
          <a:lstStyle/>
          <a:p>
            <a:r>
              <a:rPr lang="en-CA" sz="2400" b="1" dirty="0">
                <a:solidFill>
                  <a:srgbClr val="FFFFFF"/>
                </a:solidFill>
              </a:rPr>
              <a:t>Interactive Computing</a:t>
            </a:r>
          </a:p>
          <a:p>
            <a:r>
              <a:rPr lang="en-CA" sz="2400" b="1" dirty="0">
                <a:solidFill>
                  <a:srgbClr val="FFFFFF"/>
                </a:solidFill>
              </a:rPr>
              <a:t>Environment</a:t>
            </a:r>
            <a:r>
              <a:rPr lang="en-CA" sz="2400" b="1" dirty="0">
                <a:solidFill>
                  <a:srgbClr val="00FF00"/>
                </a:solidFill>
              </a:rPr>
              <a:t>.</a:t>
            </a:r>
          </a:p>
        </p:txBody>
      </p:sp>
      <p:sp>
        <p:nvSpPr>
          <p:cNvPr id="12" name="TextBox 11">
            <a:extLst>
              <a:ext uri="{FF2B5EF4-FFF2-40B4-BE49-F238E27FC236}">
                <a16:creationId xmlns:a16="http://schemas.microsoft.com/office/drawing/2014/main" id="{88947714-F748-0687-CD4D-8331CCE1147D}"/>
              </a:ext>
            </a:extLst>
          </p:cNvPr>
          <p:cNvSpPr txBox="1"/>
          <p:nvPr/>
        </p:nvSpPr>
        <p:spPr>
          <a:xfrm>
            <a:off x="6121750" y="1233994"/>
            <a:ext cx="2130904" cy="1569660"/>
          </a:xfrm>
          <a:prstGeom prst="rect">
            <a:avLst/>
          </a:prstGeom>
          <a:noFill/>
        </p:spPr>
        <p:txBody>
          <a:bodyPr wrap="none" rtlCol="0">
            <a:spAutoFit/>
          </a:bodyPr>
          <a:lstStyle/>
          <a:p>
            <a:r>
              <a:rPr lang="en-CA" sz="2400" b="1" dirty="0">
                <a:solidFill>
                  <a:srgbClr val="FFFFFF"/>
                </a:solidFill>
              </a:rPr>
              <a:t>Integrated</a:t>
            </a:r>
          </a:p>
          <a:p>
            <a:r>
              <a:rPr lang="en-CA" sz="2400" b="1" dirty="0">
                <a:solidFill>
                  <a:srgbClr val="FFFFFF"/>
                </a:solidFill>
              </a:rPr>
              <a:t>Development</a:t>
            </a:r>
          </a:p>
          <a:p>
            <a:r>
              <a:rPr lang="en-CA" sz="2400" b="1" dirty="0">
                <a:solidFill>
                  <a:srgbClr val="FFFFFF"/>
                </a:solidFill>
              </a:rPr>
              <a:t>Environment</a:t>
            </a:r>
          </a:p>
          <a:p>
            <a:r>
              <a:rPr lang="en-CA" sz="2400" b="1" dirty="0">
                <a:solidFill>
                  <a:srgbClr val="CC99FF"/>
                </a:solidFill>
              </a:rPr>
              <a:t>(</a:t>
            </a:r>
            <a:r>
              <a:rPr lang="en-CA" sz="2400" b="1" dirty="0">
                <a:solidFill>
                  <a:srgbClr val="FFFFFF"/>
                </a:solidFill>
              </a:rPr>
              <a:t>IDE</a:t>
            </a:r>
            <a:r>
              <a:rPr lang="en-CA" sz="2400" b="1" dirty="0">
                <a:solidFill>
                  <a:srgbClr val="CC99FF"/>
                </a:solidFill>
              </a:rPr>
              <a:t>)</a:t>
            </a:r>
            <a:r>
              <a:rPr lang="en-CA" sz="2400" b="1" dirty="0">
                <a:solidFill>
                  <a:srgbClr val="00FF00"/>
                </a:solidFill>
              </a:rPr>
              <a:t>.</a:t>
            </a:r>
          </a:p>
        </p:txBody>
      </p:sp>
      <p:sp>
        <p:nvSpPr>
          <p:cNvPr id="13" name="TextBox 12">
            <a:extLst>
              <a:ext uri="{FF2B5EF4-FFF2-40B4-BE49-F238E27FC236}">
                <a16:creationId xmlns:a16="http://schemas.microsoft.com/office/drawing/2014/main" id="{29F5BC1B-A18F-56E6-FE8D-82CC7A15CDC2}"/>
              </a:ext>
            </a:extLst>
          </p:cNvPr>
          <p:cNvSpPr txBox="1"/>
          <p:nvPr/>
        </p:nvSpPr>
        <p:spPr>
          <a:xfrm>
            <a:off x="8940585" y="1981938"/>
            <a:ext cx="1250855" cy="830997"/>
          </a:xfrm>
          <a:prstGeom prst="rect">
            <a:avLst/>
          </a:prstGeom>
          <a:noFill/>
        </p:spPr>
        <p:txBody>
          <a:bodyPr wrap="none" rtlCol="0">
            <a:spAutoFit/>
          </a:bodyPr>
          <a:lstStyle/>
          <a:p>
            <a:r>
              <a:rPr lang="en-CA" sz="2400" b="1" dirty="0">
                <a:solidFill>
                  <a:srgbClr val="FFFFFF"/>
                </a:solidFill>
              </a:rPr>
              <a:t>AI</a:t>
            </a:r>
            <a:r>
              <a:rPr lang="en-CA" sz="2400" b="1" dirty="0">
                <a:solidFill>
                  <a:srgbClr val="CC99FF"/>
                </a:solidFill>
              </a:rPr>
              <a:t>-</a:t>
            </a:r>
            <a:r>
              <a:rPr lang="en-CA" sz="2400" b="1" dirty="0">
                <a:solidFill>
                  <a:srgbClr val="FFFFFF"/>
                </a:solidFill>
              </a:rPr>
              <a:t>First</a:t>
            </a:r>
          </a:p>
          <a:p>
            <a:r>
              <a:rPr lang="en-CA" sz="2400" b="1" dirty="0">
                <a:solidFill>
                  <a:srgbClr val="FFFFFF"/>
                </a:solidFill>
              </a:rPr>
              <a:t>IDE</a:t>
            </a:r>
            <a:r>
              <a:rPr lang="en-CA" sz="2400" b="1" dirty="0">
                <a:solidFill>
                  <a:srgbClr val="00FF00"/>
                </a:solidFill>
              </a:rPr>
              <a:t>.</a:t>
            </a:r>
          </a:p>
        </p:txBody>
      </p:sp>
      <p:pic>
        <p:nvPicPr>
          <p:cNvPr id="7170" name="Picture 2">
            <a:extLst>
              <a:ext uri="{FF2B5EF4-FFF2-40B4-BE49-F238E27FC236}">
                <a16:creationId xmlns:a16="http://schemas.microsoft.com/office/drawing/2014/main" id="{0704D2CE-76ED-9776-6038-C5B281FB34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115" y="3094008"/>
            <a:ext cx="1160342" cy="116034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descr="Sublimetext Icon icon - Free Download PNG &amp; SVG | Streamline">
            <a:extLst>
              <a:ext uri="{FF2B5EF4-FFF2-40B4-BE49-F238E27FC236}">
                <a16:creationId xmlns:a16="http://schemas.microsoft.com/office/drawing/2014/main" id="{46AE25D2-A0CC-3495-9515-F0C646EBD8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8208" y="3942032"/>
            <a:ext cx="1160343" cy="1160343"/>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Emacs Logo Sticker Pack | FSF Shop">
            <a:extLst>
              <a:ext uri="{FF2B5EF4-FFF2-40B4-BE49-F238E27FC236}">
                <a16:creationId xmlns:a16="http://schemas.microsoft.com/office/drawing/2014/main" id="{1B4DF8E4-E77D-8793-CCAA-4669C831DC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3606" y="4988555"/>
            <a:ext cx="1368972" cy="136897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Jupyter Notebooks. Amazing Tools For Data Science">
            <a:extLst>
              <a:ext uri="{FF2B5EF4-FFF2-40B4-BE49-F238E27FC236}">
                <a16:creationId xmlns:a16="http://schemas.microsoft.com/office/drawing/2014/main" id="{DFEA766D-C880-2C25-321D-A7774621E3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60701" y="3020270"/>
            <a:ext cx="1162345" cy="134800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6" descr="macOS app icon doesn't follow human interface guidelines · Issue #613 ·  jupyterlab/jupyterlab-desktop">
            <a:extLst>
              <a:ext uri="{FF2B5EF4-FFF2-40B4-BE49-F238E27FC236}">
                <a16:creationId xmlns:a16="http://schemas.microsoft.com/office/drawing/2014/main" id="{E2FA929E-4616-8DF3-CCB4-A3E3C0CC91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82746" y="4061404"/>
            <a:ext cx="1368972" cy="136897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0">
            <a:extLst>
              <a:ext uri="{FF2B5EF4-FFF2-40B4-BE49-F238E27FC236}">
                <a16:creationId xmlns:a16="http://schemas.microsoft.com/office/drawing/2014/main" id="{E954EE6C-208B-7FAF-D9D1-075B0D52F9A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50982" y="5504002"/>
            <a:ext cx="1927638" cy="67693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6" descr="PyCharm Logo Update – IDEs Support (IntelliJ Platform) | JetBrains">
            <a:extLst>
              <a:ext uri="{FF2B5EF4-FFF2-40B4-BE49-F238E27FC236}">
                <a16:creationId xmlns:a16="http://schemas.microsoft.com/office/drawing/2014/main" id="{0E837F72-F217-B817-0653-7BC75C6AE11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49523" y="3020270"/>
            <a:ext cx="1404473" cy="140447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6">
            <a:extLst>
              <a:ext uri="{FF2B5EF4-FFF2-40B4-BE49-F238E27FC236}">
                <a16:creationId xmlns:a16="http://schemas.microsoft.com/office/drawing/2014/main" id="{BB0795CC-BD73-3ECE-2795-AA864EE5241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05806" y="4283214"/>
            <a:ext cx="1159681" cy="115968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8">
            <a:extLst>
              <a:ext uri="{FF2B5EF4-FFF2-40B4-BE49-F238E27FC236}">
                <a16:creationId xmlns:a16="http://schemas.microsoft.com/office/drawing/2014/main" id="{55B28974-F8B7-7BA6-CD5B-0DC6C3EBF3D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26656" y="5044165"/>
            <a:ext cx="1159681" cy="1159681"/>
          </a:xfrm>
          <a:prstGeom prst="rect">
            <a:avLst/>
          </a:prstGeom>
          <a:noFill/>
          <a:extLst>
            <a:ext uri="{909E8E84-426E-40DD-AFC4-6F175D3DCCD1}">
              <a14:hiddenFill xmlns:a14="http://schemas.microsoft.com/office/drawing/2010/main">
                <a:solidFill>
                  <a:srgbClr val="FFFFFF"/>
                </a:solidFill>
              </a14:hiddenFill>
            </a:ext>
          </a:extLst>
        </p:spPr>
      </p:pic>
      <p:pic>
        <p:nvPicPr>
          <p:cNvPr id="13314" name="Picture 2" descr="Cursor AI Logo Icon for Modern Designs">
            <a:extLst>
              <a:ext uri="{FF2B5EF4-FFF2-40B4-BE49-F238E27FC236}">
                <a16:creationId xmlns:a16="http://schemas.microsoft.com/office/drawing/2014/main" id="{51D89D56-AA2A-0402-FA9D-3838EF792E0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229558" y="3043560"/>
            <a:ext cx="1583261" cy="1583261"/>
          </a:xfrm>
          <a:prstGeom prst="rect">
            <a:avLst/>
          </a:prstGeom>
          <a:noFill/>
          <a:extLst>
            <a:ext uri="{909E8E84-426E-40DD-AFC4-6F175D3DCCD1}">
              <a14:hiddenFill xmlns:a14="http://schemas.microsoft.com/office/drawing/2010/main">
                <a:solidFill>
                  <a:srgbClr val="FFFFFF"/>
                </a:solidFill>
              </a14:hiddenFill>
            </a:ext>
          </a:extLst>
        </p:spPr>
      </p:pic>
      <p:pic>
        <p:nvPicPr>
          <p:cNvPr id="13324" name="Picture 12" descr="Windsurf Plugin (formerly Codeium): AI Coding Autocomplete and Chat for  Python, JavaScript, TypeScript, and more - Visual Studio Marketplace">
            <a:extLst>
              <a:ext uri="{FF2B5EF4-FFF2-40B4-BE49-F238E27FC236}">
                <a16:creationId xmlns:a16="http://schemas.microsoft.com/office/drawing/2014/main" id="{B7E7F222-424A-603E-1111-D3584E20BF3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148101" y="4888385"/>
            <a:ext cx="1083982" cy="108398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DC08CEB5-9FDB-94A6-6EA7-F5C5C3703A7A}"/>
              </a:ext>
            </a:extLst>
          </p:cNvPr>
          <p:cNvSpPr/>
          <p:nvPr/>
        </p:nvSpPr>
        <p:spPr>
          <a:xfrm>
            <a:off x="8806540" y="1286466"/>
            <a:ext cx="3080660" cy="5290908"/>
          </a:xfrm>
          <a:prstGeom prst="rect">
            <a:avLst/>
          </a:prstGeom>
          <a:solidFill>
            <a:srgbClr val="2D2D2D">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Rectangle 21">
            <a:extLst>
              <a:ext uri="{FF2B5EF4-FFF2-40B4-BE49-F238E27FC236}">
                <a16:creationId xmlns:a16="http://schemas.microsoft.com/office/drawing/2014/main" id="{F78BA772-EB4A-94F8-C1AE-E562885B98B4}"/>
              </a:ext>
            </a:extLst>
          </p:cNvPr>
          <p:cNvSpPr/>
          <p:nvPr/>
        </p:nvSpPr>
        <p:spPr>
          <a:xfrm>
            <a:off x="330024" y="2434196"/>
            <a:ext cx="5904170" cy="4143178"/>
          </a:xfrm>
          <a:prstGeom prst="rect">
            <a:avLst/>
          </a:prstGeom>
          <a:solidFill>
            <a:srgbClr val="2D2D2D">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0509637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E4BAA-91EE-9B26-0B48-0F4ECED42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587543-ADEE-AD66-4DA9-1A95A37FF75A}"/>
              </a:ext>
            </a:extLst>
          </p:cNvPr>
          <p:cNvSpPr>
            <a:spLocks noGrp="1"/>
          </p:cNvSpPr>
          <p:nvPr>
            <p:ph type="title"/>
          </p:nvPr>
        </p:nvSpPr>
        <p:spPr/>
        <p:txBody>
          <a:bodyPr>
            <a:normAutofit fontScale="90000"/>
          </a:bodyPr>
          <a:lstStyle/>
          <a:p>
            <a:r>
              <a:rPr lang="en-CA" b="1" dirty="0"/>
              <a:t>IDE</a:t>
            </a:r>
            <a:r>
              <a:rPr lang="en-CA" b="1" dirty="0">
                <a:solidFill>
                  <a:srgbClr val="00FF00"/>
                </a:solidFill>
              </a:rPr>
              <a:t>.</a:t>
            </a:r>
          </a:p>
        </p:txBody>
      </p:sp>
      <p:sp>
        <p:nvSpPr>
          <p:cNvPr id="3" name="Content Placeholder 2">
            <a:extLst>
              <a:ext uri="{FF2B5EF4-FFF2-40B4-BE49-F238E27FC236}">
                <a16:creationId xmlns:a16="http://schemas.microsoft.com/office/drawing/2014/main" id="{6ED7DC0F-D7FE-E684-7DD1-D56E17A00172}"/>
              </a:ext>
            </a:extLst>
          </p:cNvPr>
          <p:cNvSpPr>
            <a:spLocks noGrp="1"/>
          </p:cNvSpPr>
          <p:nvPr>
            <p:ph idx="1"/>
          </p:nvPr>
        </p:nvSpPr>
        <p:spPr>
          <a:xfrm>
            <a:off x="838200" y="1825624"/>
            <a:ext cx="5833767" cy="4835479"/>
          </a:xfrm>
        </p:spPr>
        <p:txBody>
          <a:bodyPr>
            <a:normAutofit fontScale="85000" lnSpcReduction="20000"/>
          </a:bodyPr>
          <a:lstStyle/>
          <a:p>
            <a:r>
              <a:rPr lang="en-US" b="1" dirty="0">
                <a:solidFill>
                  <a:srgbClr val="CC99FF"/>
                </a:solidFill>
              </a:rPr>
              <a:t>What it is</a:t>
            </a:r>
            <a:r>
              <a:rPr lang="en-US" b="1" dirty="0">
                <a:solidFill>
                  <a:srgbClr val="00FF00"/>
                </a:solidFill>
              </a:rPr>
              <a:t>:</a:t>
            </a:r>
            <a:r>
              <a:rPr lang="en-US" b="1" dirty="0">
                <a:solidFill>
                  <a:srgbClr val="CC99FF"/>
                </a:solidFill>
              </a:rPr>
              <a:t> </a:t>
            </a:r>
            <a:r>
              <a:rPr lang="en-US" dirty="0"/>
              <a:t>A lightweight app for writing and editing plain</a:t>
            </a:r>
            <a:r>
              <a:rPr lang="en-US" dirty="0">
                <a:solidFill>
                  <a:schemeClr val="accent6"/>
                </a:solidFill>
              </a:rPr>
              <a:t>-</a:t>
            </a:r>
            <a:r>
              <a:rPr lang="en-US" dirty="0"/>
              <a:t>text files </a:t>
            </a:r>
            <a:r>
              <a:rPr lang="en-US" dirty="0">
                <a:solidFill>
                  <a:srgbClr val="00FF00"/>
                </a:solidFill>
              </a:rPr>
              <a:t>(</a:t>
            </a:r>
            <a:r>
              <a:rPr lang="en-US" dirty="0"/>
              <a:t>including code</a:t>
            </a:r>
            <a:r>
              <a:rPr lang="en-US" dirty="0">
                <a:solidFill>
                  <a:srgbClr val="00FF00"/>
                </a:solidFill>
              </a:rPr>
              <a:t>)</a:t>
            </a:r>
            <a:r>
              <a:rPr lang="en-US" dirty="0">
                <a:solidFill>
                  <a:schemeClr val="accent6"/>
                </a:solidFill>
              </a:rPr>
              <a:t>,</a:t>
            </a:r>
            <a:r>
              <a:rPr lang="en-US" dirty="0"/>
              <a:t> with minimal setup</a:t>
            </a:r>
            <a:r>
              <a:rPr lang="en-US" dirty="0">
                <a:solidFill>
                  <a:schemeClr val="accent6"/>
                </a:solidFill>
              </a:rPr>
              <a:t>.</a:t>
            </a:r>
          </a:p>
          <a:p>
            <a:r>
              <a:rPr lang="en-US" b="1" dirty="0">
                <a:solidFill>
                  <a:srgbClr val="CC99FF"/>
                </a:solidFill>
              </a:rPr>
              <a:t>What you get</a:t>
            </a:r>
            <a:r>
              <a:rPr lang="en-US" b="1" dirty="0">
                <a:solidFill>
                  <a:srgbClr val="00FF00"/>
                </a:solidFill>
              </a:rPr>
              <a:t>:</a:t>
            </a:r>
            <a:r>
              <a:rPr lang="en-US" b="1" dirty="0">
                <a:solidFill>
                  <a:srgbClr val="CC99FF"/>
                </a:solidFill>
              </a:rPr>
              <a:t> </a:t>
            </a:r>
            <a:r>
              <a:rPr lang="en-US" dirty="0"/>
              <a:t>Fast startup</a:t>
            </a:r>
            <a:r>
              <a:rPr lang="en-US" dirty="0">
                <a:solidFill>
                  <a:schemeClr val="accent6"/>
                </a:solidFill>
              </a:rPr>
              <a:t>,</a:t>
            </a:r>
            <a:r>
              <a:rPr lang="en-US" dirty="0"/>
              <a:t> syntax highlighting</a:t>
            </a:r>
            <a:r>
              <a:rPr lang="en-US" dirty="0">
                <a:solidFill>
                  <a:schemeClr val="accent6"/>
                </a:solidFill>
              </a:rPr>
              <a:t>,</a:t>
            </a:r>
            <a:r>
              <a:rPr lang="en-US" dirty="0"/>
              <a:t> find</a:t>
            </a:r>
            <a:r>
              <a:rPr lang="en-US" dirty="0">
                <a:solidFill>
                  <a:schemeClr val="accent6"/>
                </a:solidFill>
              </a:rPr>
              <a:t>/</a:t>
            </a:r>
            <a:r>
              <a:rPr lang="en-US" dirty="0"/>
              <a:t>replace</a:t>
            </a:r>
            <a:r>
              <a:rPr lang="en-US" dirty="0">
                <a:solidFill>
                  <a:schemeClr val="accent6"/>
                </a:solidFill>
              </a:rPr>
              <a:t>,</a:t>
            </a:r>
            <a:r>
              <a:rPr lang="en-US" dirty="0"/>
              <a:t> multiple files</a:t>
            </a:r>
            <a:r>
              <a:rPr lang="en-US" dirty="0">
                <a:solidFill>
                  <a:schemeClr val="accent6"/>
                </a:solidFill>
              </a:rPr>
              <a:t>/</a:t>
            </a:r>
            <a:r>
              <a:rPr lang="en-US" dirty="0"/>
              <a:t>tabs</a:t>
            </a:r>
            <a:r>
              <a:rPr lang="en-US" dirty="0">
                <a:solidFill>
                  <a:schemeClr val="accent6"/>
                </a:solidFill>
              </a:rPr>
              <a:t>, </a:t>
            </a:r>
            <a:r>
              <a:rPr lang="en-US" dirty="0"/>
              <a:t>basic project folders</a:t>
            </a:r>
            <a:r>
              <a:rPr lang="en-US" dirty="0">
                <a:solidFill>
                  <a:schemeClr val="accent6"/>
                </a:solidFill>
              </a:rPr>
              <a:t>.</a:t>
            </a:r>
          </a:p>
          <a:p>
            <a:r>
              <a:rPr lang="en-US" b="1" dirty="0">
                <a:solidFill>
                  <a:srgbClr val="CC99FF"/>
                </a:solidFill>
              </a:rPr>
              <a:t>What you don</a:t>
            </a:r>
            <a:r>
              <a:rPr lang="en-US" b="1" dirty="0">
                <a:solidFill>
                  <a:srgbClr val="00FF00"/>
                </a:solidFill>
              </a:rPr>
              <a:t>’</a:t>
            </a:r>
            <a:r>
              <a:rPr lang="en-US" b="1" dirty="0">
                <a:solidFill>
                  <a:srgbClr val="CC99FF"/>
                </a:solidFill>
              </a:rPr>
              <a:t>t </a:t>
            </a:r>
            <a:r>
              <a:rPr lang="en-US" b="1" dirty="0">
                <a:solidFill>
                  <a:srgbClr val="00FF00"/>
                </a:solidFill>
              </a:rPr>
              <a:t>(</a:t>
            </a:r>
            <a:r>
              <a:rPr lang="en-US" b="1" dirty="0">
                <a:solidFill>
                  <a:srgbClr val="CC99FF"/>
                </a:solidFill>
              </a:rPr>
              <a:t>usually</a:t>
            </a:r>
            <a:r>
              <a:rPr lang="en-US" b="1" dirty="0">
                <a:solidFill>
                  <a:srgbClr val="00FF00"/>
                </a:solidFill>
              </a:rPr>
              <a:t>)</a:t>
            </a:r>
            <a:r>
              <a:rPr lang="en-US" b="1" dirty="0">
                <a:solidFill>
                  <a:srgbClr val="CC99FF"/>
                </a:solidFill>
              </a:rPr>
              <a:t> get</a:t>
            </a:r>
            <a:r>
              <a:rPr lang="en-US" b="1" dirty="0">
                <a:solidFill>
                  <a:srgbClr val="00FF00"/>
                </a:solidFill>
              </a:rPr>
              <a:t>:</a:t>
            </a:r>
            <a:r>
              <a:rPr lang="en-US" b="1" dirty="0">
                <a:solidFill>
                  <a:srgbClr val="CC99FF"/>
                </a:solidFill>
              </a:rPr>
              <a:t> </a:t>
            </a:r>
            <a:r>
              <a:rPr lang="en-US" dirty="0"/>
              <a:t>Integrated debugging</a:t>
            </a:r>
            <a:r>
              <a:rPr lang="en-US" dirty="0">
                <a:solidFill>
                  <a:schemeClr val="accent6"/>
                </a:solidFill>
              </a:rPr>
              <a:t>,</a:t>
            </a:r>
            <a:r>
              <a:rPr lang="en-US" dirty="0"/>
              <a:t> deep refactoring</a:t>
            </a:r>
            <a:r>
              <a:rPr lang="en-US" dirty="0">
                <a:solidFill>
                  <a:schemeClr val="accent6"/>
                </a:solidFill>
              </a:rPr>
              <a:t>,</a:t>
            </a:r>
            <a:r>
              <a:rPr lang="en-US" dirty="0"/>
              <a:t> environment management</a:t>
            </a:r>
            <a:r>
              <a:rPr lang="en-US" dirty="0">
                <a:solidFill>
                  <a:schemeClr val="accent6"/>
                </a:solidFill>
              </a:rPr>
              <a:t>, </a:t>
            </a:r>
            <a:r>
              <a:rPr lang="en-US" dirty="0"/>
              <a:t>and one</a:t>
            </a:r>
            <a:r>
              <a:rPr lang="en-US" dirty="0">
                <a:solidFill>
                  <a:schemeClr val="accent6"/>
                </a:solidFill>
              </a:rPr>
              <a:t>-</a:t>
            </a:r>
            <a:r>
              <a:rPr lang="en-US" dirty="0"/>
              <a:t>click test runners</a:t>
            </a:r>
            <a:r>
              <a:rPr lang="en-US" dirty="0">
                <a:solidFill>
                  <a:schemeClr val="accent6"/>
                </a:solidFill>
              </a:rPr>
              <a:t>.</a:t>
            </a:r>
          </a:p>
          <a:p>
            <a:r>
              <a:rPr lang="en-US" b="1" dirty="0">
                <a:solidFill>
                  <a:srgbClr val="CC99FF"/>
                </a:solidFill>
              </a:rPr>
              <a:t>Typical workflow</a:t>
            </a:r>
            <a:r>
              <a:rPr lang="en-US" b="1" dirty="0">
                <a:solidFill>
                  <a:srgbClr val="00FF00"/>
                </a:solidFill>
              </a:rPr>
              <a:t>:</a:t>
            </a:r>
            <a:r>
              <a:rPr lang="en-US" b="1" dirty="0">
                <a:solidFill>
                  <a:srgbClr val="CC99FF"/>
                </a:solidFill>
              </a:rPr>
              <a:t> </a:t>
            </a:r>
            <a:r>
              <a:rPr lang="en-US" dirty="0"/>
              <a:t>Edit code in the editor</a:t>
            </a:r>
            <a:r>
              <a:rPr lang="en-US" dirty="0">
                <a:solidFill>
                  <a:schemeClr val="accent6"/>
                </a:solidFill>
              </a:rPr>
              <a:t>,</a:t>
            </a:r>
            <a:r>
              <a:rPr lang="en-US" dirty="0"/>
              <a:t> then run it in a separate terminal </a:t>
            </a:r>
            <a:r>
              <a:rPr lang="en-US" dirty="0">
                <a:solidFill>
                  <a:srgbClr val="00FF00"/>
                </a:solidFill>
              </a:rPr>
              <a:t>(</a:t>
            </a:r>
            <a:r>
              <a:rPr lang="en-US" b="1" dirty="0">
                <a:latin typeface="Consolas" panose="020B0609020204030204" pitchFamily="49" charset="0"/>
              </a:rPr>
              <a:t>python myfile</a:t>
            </a:r>
            <a:r>
              <a:rPr lang="en-US" b="1" dirty="0">
                <a:solidFill>
                  <a:schemeClr val="accent6"/>
                </a:solidFill>
                <a:latin typeface="Consolas" panose="020B0609020204030204" pitchFamily="49" charset="0"/>
              </a:rPr>
              <a:t>.</a:t>
            </a:r>
            <a:r>
              <a:rPr lang="en-US" b="1" dirty="0">
                <a:latin typeface="Consolas" panose="020B0609020204030204" pitchFamily="49" charset="0"/>
              </a:rPr>
              <a:t>py</a:t>
            </a:r>
            <a:r>
              <a:rPr lang="en-US" dirty="0">
                <a:solidFill>
                  <a:srgbClr val="00FF00"/>
                </a:solidFill>
              </a:rPr>
              <a:t>)</a:t>
            </a:r>
            <a:r>
              <a:rPr lang="en-US" dirty="0">
                <a:solidFill>
                  <a:schemeClr val="accent6"/>
                </a:solidFill>
              </a:rPr>
              <a:t>.</a:t>
            </a:r>
          </a:p>
          <a:p>
            <a:r>
              <a:rPr lang="en-US" b="1" dirty="0">
                <a:solidFill>
                  <a:srgbClr val="CC99FF"/>
                </a:solidFill>
              </a:rPr>
              <a:t>Best for</a:t>
            </a:r>
            <a:r>
              <a:rPr lang="en-US" b="1" dirty="0">
                <a:solidFill>
                  <a:srgbClr val="00FF00"/>
                </a:solidFill>
              </a:rPr>
              <a:t>:</a:t>
            </a:r>
            <a:r>
              <a:rPr lang="en-US" b="1" dirty="0">
                <a:solidFill>
                  <a:srgbClr val="CC99FF"/>
                </a:solidFill>
              </a:rPr>
              <a:t> </a:t>
            </a:r>
            <a:r>
              <a:rPr lang="en-US" dirty="0"/>
              <a:t>Quick edits</a:t>
            </a:r>
            <a:r>
              <a:rPr lang="en-US" dirty="0">
                <a:solidFill>
                  <a:schemeClr val="accent6"/>
                </a:solidFill>
              </a:rPr>
              <a:t>,</a:t>
            </a:r>
            <a:r>
              <a:rPr lang="en-US" dirty="0"/>
              <a:t> small scripts</a:t>
            </a:r>
            <a:r>
              <a:rPr lang="en-US" dirty="0">
                <a:solidFill>
                  <a:schemeClr val="accent6"/>
                </a:solidFill>
              </a:rPr>
              <a:t>,</a:t>
            </a:r>
            <a:r>
              <a:rPr lang="en-US" dirty="0"/>
              <a:t> configuration files</a:t>
            </a:r>
            <a:r>
              <a:rPr lang="en-US" dirty="0">
                <a:solidFill>
                  <a:schemeClr val="accent6"/>
                </a:solidFill>
              </a:rPr>
              <a:t>,</a:t>
            </a:r>
            <a:r>
              <a:rPr lang="en-US" dirty="0"/>
              <a:t> and learning fundamentals without heavy tooling</a:t>
            </a:r>
            <a:r>
              <a:rPr lang="en-US" dirty="0">
                <a:solidFill>
                  <a:schemeClr val="accent6"/>
                </a:solidFill>
              </a:rPr>
              <a:t>.</a:t>
            </a:r>
          </a:p>
        </p:txBody>
      </p:sp>
      <p:pic>
        <p:nvPicPr>
          <p:cNvPr id="5" name="Picture 4">
            <a:extLst>
              <a:ext uri="{FF2B5EF4-FFF2-40B4-BE49-F238E27FC236}">
                <a16:creationId xmlns:a16="http://schemas.microsoft.com/office/drawing/2014/main" id="{1236A02D-11FA-D199-3470-A5372983BAA7}"/>
              </a:ext>
            </a:extLst>
          </p:cNvPr>
          <p:cNvPicPr>
            <a:picLocks noChangeAspect="1"/>
          </p:cNvPicPr>
          <p:nvPr/>
        </p:nvPicPr>
        <p:blipFill>
          <a:blip r:embed="rId2"/>
          <a:stretch>
            <a:fillRect/>
          </a:stretch>
        </p:blipFill>
        <p:spPr>
          <a:xfrm>
            <a:off x="6939668" y="572653"/>
            <a:ext cx="5161944" cy="6082144"/>
          </a:xfrm>
          <a:prstGeom prst="rect">
            <a:avLst/>
          </a:prstGeom>
        </p:spPr>
      </p:pic>
    </p:spTree>
    <p:extLst>
      <p:ext uri="{BB962C8B-B14F-4D97-AF65-F5344CB8AC3E}">
        <p14:creationId xmlns:p14="http://schemas.microsoft.com/office/powerpoint/2010/main" val="5026499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696E7-0B90-9FCD-6F59-3BF94AC703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FD8E2E-1736-2483-370D-132B057ED339}"/>
              </a:ext>
            </a:extLst>
          </p:cNvPr>
          <p:cNvSpPr>
            <a:spLocks noGrp="1"/>
          </p:cNvSpPr>
          <p:nvPr>
            <p:ph type="title"/>
          </p:nvPr>
        </p:nvSpPr>
        <p:spPr/>
        <p:txBody>
          <a:bodyPr>
            <a:normAutofit fontScale="90000"/>
          </a:bodyPr>
          <a:lstStyle/>
          <a:p>
            <a:r>
              <a:rPr lang="en-CA" b="1" dirty="0"/>
              <a:t>Editors </a:t>
            </a:r>
            <a:r>
              <a:rPr lang="en-CA" b="1" dirty="0">
                <a:solidFill>
                  <a:srgbClr val="00FF00"/>
                </a:solidFill>
              </a:rPr>
              <a:t>&amp;</a:t>
            </a:r>
            <a:r>
              <a:rPr lang="en-CA" b="1" dirty="0"/>
              <a:t> IDEs</a:t>
            </a:r>
            <a:r>
              <a:rPr lang="en-CA" b="1" dirty="0">
                <a:solidFill>
                  <a:srgbClr val="00FF00"/>
                </a:solidFill>
              </a:rPr>
              <a:t>.</a:t>
            </a:r>
            <a:endParaRPr lang="en-CA" dirty="0"/>
          </a:p>
        </p:txBody>
      </p:sp>
      <p:sp>
        <p:nvSpPr>
          <p:cNvPr id="19" name="Rectangle: Rounded Corners 18">
            <a:extLst>
              <a:ext uri="{FF2B5EF4-FFF2-40B4-BE49-F238E27FC236}">
                <a16:creationId xmlns:a16="http://schemas.microsoft.com/office/drawing/2014/main" id="{DEBF97F2-B1E4-6DC3-A8B3-0BCDBA449113}"/>
              </a:ext>
            </a:extLst>
          </p:cNvPr>
          <p:cNvSpPr/>
          <p:nvPr/>
        </p:nvSpPr>
        <p:spPr>
          <a:xfrm>
            <a:off x="611177" y="2826154"/>
            <a:ext cx="2536095" cy="3569313"/>
          </a:xfrm>
          <a:prstGeom prst="round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Rounded Corners 3">
            <a:extLst>
              <a:ext uri="{FF2B5EF4-FFF2-40B4-BE49-F238E27FC236}">
                <a16:creationId xmlns:a16="http://schemas.microsoft.com/office/drawing/2014/main" id="{25DCED78-7813-9F44-7A15-74BEA3BB6EA4}"/>
              </a:ext>
            </a:extLst>
          </p:cNvPr>
          <p:cNvSpPr/>
          <p:nvPr/>
        </p:nvSpPr>
        <p:spPr>
          <a:xfrm>
            <a:off x="3431102" y="2826153"/>
            <a:ext cx="2536095" cy="3569313"/>
          </a:xfrm>
          <a:prstGeom prst="round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Rounded Corners 4">
            <a:extLst>
              <a:ext uri="{FF2B5EF4-FFF2-40B4-BE49-F238E27FC236}">
                <a16:creationId xmlns:a16="http://schemas.microsoft.com/office/drawing/2014/main" id="{77958315-9781-6D09-D4C1-C89A76E4637F}"/>
              </a:ext>
            </a:extLst>
          </p:cNvPr>
          <p:cNvSpPr/>
          <p:nvPr/>
        </p:nvSpPr>
        <p:spPr>
          <a:xfrm>
            <a:off x="6251027" y="2826152"/>
            <a:ext cx="2536095" cy="3569313"/>
          </a:xfrm>
          <a:prstGeom prst="round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Rectangle: Rounded Corners 5">
            <a:extLst>
              <a:ext uri="{FF2B5EF4-FFF2-40B4-BE49-F238E27FC236}">
                <a16:creationId xmlns:a16="http://schemas.microsoft.com/office/drawing/2014/main" id="{5E85F8F4-9AFD-21D8-F580-1EFABC6B4F8C}"/>
              </a:ext>
            </a:extLst>
          </p:cNvPr>
          <p:cNvSpPr/>
          <p:nvPr/>
        </p:nvSpPr>
        <p:spPr>
          <a:xfrm>
            <a:off x="9070952" y="2826151"/>
            <a:ext cx="2536095" cy="3569313"/>
          </a:xfrm>
          <a:prstGeom prst="round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Arrow: Right 6">
            <a:extLst>
              <a:ext uri="{FF2B5EF4-FFF2-40B4-BE49-F238E27FC236}">
                <a16:creationId xmlns:a16="http://schemas.microsoft.com/office/drawing/2014/main" id="{CA09E4C9-8A56-FE71-8BE8-124A2A04D5F4}"/>
              </a:ext>
            </a:extLst>
          </p:cNvPr>
          <p:cNvSpPr/>
          <p:nvPr/>
        </p:nvSpPr>
        <p:spPr>
          <a:xfrm>
            <a:off x="3140967" y="4358558"/>
            <a:ext cx="283830" cy="504497"/>
          </a:xfrm>
          <a:prstGeom prst="rightArrow">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Arrow: Right 7">
            <a:extLst>
              <a:ext uri="{FF2B5EF4-FFF2-40B4-BE49-F238E27FC236}">
                <a16:creationId xmlns:a16="http://schemas.microsoft.com/office/drawing/2014/main" id="{214C6BD3-20EB-5E7B-31A6-897C2531D1D4}"/>
              </a:ext>
            </a:extLst>
          </p:cNvPr>
          <p:cNvSpPr/>
          <p:nvPr/>
        </p:nvSpPr>
        <p:spPr>
          <a:xfrm>
            <a:off x="5960391" y="4358558"/>
            <a:ext cx="283830" cy="504497"/>
          </a:xfrm>
          <a:prstGeom prst="rightArrow">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Arrow: Right 8">
            <a:extLst>
              <a:ext uri="{FF2B5EF4-FFF2-40B4-BE49-F238E27FC236}">
                <a16:creationId xmlns:a16="http://schemas.microsoft.com/office/drawing/2014/main" id="{E3CA1A11-FF77-6AF3-E41F-728149772C28}"/>
              </a:ext>
            </a:extLst>
          </p:cNvPr>
          <p:cNvSpPr/>
          <p:nvPr/>
        </p:nvSpPr>
        <p:spPr>
          <a:xfrm>
            <a:off x="8781316" y="4358558"/>
            <a:ext cx="283830" cy="504497"/>
          </a:xfrm>
          <a:prstGeom prst="rightArrow">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46695E95-4BEF-3C16-6A78-D986ED1E14A0}"/>
              </a:ext>
            </a:extLst>
          </p:cNvPr>
          <p:cNvSpPr txBox="1"/>
          <p:nvPr/>
        </p:nvSpPr>
        <p:spPr>
          <a:xfrm>
            <a:off x="503573" y="2350193"/>
            <a:ext cx="1970604" cy="461665"/>
          </a:xfrm>
          <a:prstGeom prst="rect">
            <a:avLst/>
          </a:prstGeom>
          <a:noFill/>
        </p:spPr>
        <p:txBody>
          <a:bodyPr wrap="none" rtlCol="0">
            <a:spAutoFit/>
          </a:bodyPr>
          <a:lstStyle/>
          <a:p>
            <a:r>
              <a:rPr lang="en-CA" sz="2400" b="1" dirty="0">
                <a:solidFill>
                  <a:srgbClr val="FFFFFF"/>
                </a:solidFill>
              </a:rPr>
              <a:t>Text Editors</a:t>
            </a:r>
            <a:r>
              <a:rPr lang="en-CA" sz="2400" b="1" dirty="0">
                <a:solidFill>
                  <a:srgbClr val="00FF00"/>
                </a:solidFill>
              </a:rPr>
              <a:t>.</a:t>
            </a:r>
          </a:p>
        </p:txBody>
      </p:sp>
      <p:sp>
        <p:nvSpPr>
          <p:cNvPr id="11" name="TextBox 10">
            <a:extLst>
              <a:ext uri="{FF2B5EF4-FFF2-40B4-BE49-F238E27FC236}">
                <a16:creationId xmlns:a16="http://schemas.microsoft.com/office/drawing/2014/main" id="{2E466173-BDDC-55B5-795F-747069AC1D81}"/>
              </a:ext>
            </a:extLst>
          </p:cNvPr>
          <p:cNvSpPr txBox="1"/>
          <p:nvPr/>
        </p:nvSpPr>
        <p:spPr>
          <a:xfrm>
            <a:off x="3303370" y="1609608"/>
            <a:ext cx="3152582" cy="1200329"/>
          </a:xfrm>
          <a:prstGeom prst="rect">
            <a:avLst/>
          </a:prstGeom>
          <a:noFill/>
        </p:spPr>
        <p:txBody>
          <a:bodyPr wrap="square" rtlCol="0">
            <a:spAutoFit/>
          </a:bodyPr>
          <a:lstStyle/>
          <a:p>
            <a:r>
              <a:rPr lang="en-CA" sz="2400" b="1" dirty="0">
                <a:solidFill>
                  <a:srgbClr val="FFFFFF"/>
                </a:solidFill>
              </a:rPr>
              <a:t>Interactive Computing</a:t>
            </a:r>
          </a:p>
          <a:p>
            <a:r>
              <a:rPr lang="en-CA" sz="2400" b="1" dirty="0">
                <a:solidFill>
                  <a:srgbClr val="FFFFFF"/>
                </a:solidFill>
              </a:rPr>
              <a:t>Environment</a:t>
            </a:r>
            <a:r>
              <a:rPr lang="en-CA" sz="2400" b="1" dirty="0">
                <a:solidFill>
                  <a:srgbClr val="00FF00"/>
                </a:solidFill>
              </a:rPr>
              <a:t>.</a:t>
            </a:r>
          </a:p>
        </p:txBody>
      </p:sp>
      <p:sp>
        <p:nvSpPr>
          <p:cNvPr id="12" name="TextBox 11">
            <a:extLst>
              <a:ext uri="{FF2B5EF4-FFF2-40B4-BE49-F238E27FC236}">
                <a16:creationId xmlns:a16="http://schemas.microsoft.com/office/drawing/2014/main" id="{5A2D1A3C-5C09-AD15-2A1A-53CDC192B7C7}"/>
              </a:ext>
            </a:extLst>
          </p:cNvPr>
          <p:cNvSpPr txBox="1"/>
          <p:nvPr/>
        </p:nvSpPr>
        <p:spPr>
          <a:xfrm>
            <a:off x="6121750" y="1233994"/>
            <a:ext cx="2130904" cy="1569660"/>
          </a:xfrm>
          <a:prstGeom prst="rect">
            <a:avLst/>
          </a:prstGeom>
          <a:noFill/>
        </p:spPr>
        <p:txBody>
          <a:bodyPr wrap="none" rtlCol="0">
            <a:spAutoFit/>
          </a:bodyPr>
          <a:lstStyle/>
          <a:p>
            <a:r>
              <a:rPr lang="en-CA" sz="2400" b="1" dirty="0">
                <a:solidFill>
                  <a:srgbClr val="FFFFFF"/>
                </a:solidFill>
              </a:rPr>
              <a:t>Integrated</a:t>
            </a:r>
          </a:p>
          <a:p>
            <a:r>
              <a:rPr lang="en-CA" sz="2400" b="1" dirty="0">
                <a:solidFill>
                  <a:srgbClr val="FFFFFF"/>
                </a:solidFill>
              </a:rPr>
              <a:t>Development</a:t>
            </a:r>
          </a:p>
          <a:p>
            <a:r>
              <a:rPr lang="en-CA" sz="2400" b="1" dirty="0">
                <a:solidFill>
                  <a:srgbClr val="FFFFFF"/>
                </a:solidFill>
              </a:rPr>
              <a:t>Environment</a:t>
            </a:r>
          </a:p>
          <a:p>
            <a:r>
              <a:rPr lang="en-CA" sz="2400" b="1" dirty="0">
                <a:solidFill>
                  <a:srgbClr val="CC99FF"/>
                </a:solidFill>
              </a:rPr>
              <a:t>(</a:t>
            </a:r>
            <a:r>
              <a:rPr lang="en-CA" sz="2400" b="1" dirty="0">
                <a:solidFill>
                  <a:srgbClr val="FFFFFF"/>
                </a:solidFill>
              </a:rPr>
              <a:t>IDE</a:t>
            </a:r>
            <a:r>
              <a:rPr lang="en-CA" sz="2400" b="1" dirty="0">
                <a:solidFill>
                  <a:srgbClr val="CC99FF"/>
                </a:solidFill>
              </a:rPr>
              <a:t>)</a:t>
            </a:r>
            <a:r>
              <a:rPr lang="en-CA" sz="2400" b="1" dirty="0">
                <a:solidFill>
                  <a:srgbClr val="00FF00"/>
                </a:solidFill>
              </a:rPr>
              <a:t>.</a:t>
            </a:r>
          </a:p>
        </p:txBody>
      </p:sp>
      <p:sp>
        <p:nvSpPr>
          <p:cNvPr id="13" name="TextBox 12">
            <a:extLst>
              <a:ext uri="{FF2B5EF4-FFF2-40B4-BE49-F238E27FC236}">
                <a16:creationId xmlns:a16="http://schemas.microsoft.com/office/drawing/2014/main" id="{52C59090-41A7-D4FF-7DEB-93620EEA31BE}"/>
              </a:ext>
            </a:extLst>
          </p:cNvPr>
          <p:cNvSpPr txBox="1"/>
          <p:nvPr/>
        </p:nvSpPr>
        <p:spPr>
          <a:xfrm>
            <a:off x="8940585" y="1981938"/>
            <a:ext cx="1250855" cy="830997"/>
          </a:xfrm>
          <a:prstGeom prst="rect">
            <a:avLst/>
          </a:prstGeom>
          <a:noFill/>
        </p:spPr>
        <p:txBody>
          <a:bodyPr wrap="none" rtlCol="0">
            <a:spAutoFit/>
          </a:bodyPr>
          <a:lstStyle/>
          <a:p>
            <a:r>
              <a:rPr lang="en-CA" sz="2400" b="1" dirty="0">
                <a:solidFill>
                  <a:srgbClr val="FFFFFF"/>
                </a:solidFill>
              </a:rPr>
              <a:t>AI</a:t>
            </a:r>
            <a:r>
              <a:rPr lang="en-CA" sz="2400" b="1" dirty="0">
                <a:solidFill>
                  <a:srgbClr val="CC99FF"/>
                </a:solidFill>
              </a:rPr>
              <a:t>-</a:t>
            </a:r>
            <a:r>
              <a:rPr lang="en-CA" sz="2400" b="1" dirty="0">
                <a:solidFill>
                  <a:srgbClr val="FFFFFF"/>
                </a:solidFill>
              </a:rPr>
              <a:t>First</a:t>
            </a:r>
          </a:p>
          <a:p>
            <a:r>
              <a:rPr lang="en-CA" sz="2400" b="1" dirty="0">
                <a:solidFill>
                  <a:srgbClr val="FFFFFF"/>
                </a:solidFill>
              </a:rPr>
              <a:t>IDE</a:t>
            </a:r>
            <a:r>
              <a:rPr lang="en-CA" sz="2400" b="1" dirty="0">
                <a:solidFill>
                  <a:srgbClr val="00FF00"/>
                </a:solidFill>
              </a:rPr>
              <a:t>.</a:t>
            </a:r>
          </a:p>
        </p:txBody>
      </p:sp>
      <p:pic>
        <p:nvPicPr>
          <p:cNvPr id="7170" name="Picture 2">
            <a:extLst>
              <a:ext uri="{FF2B5EF4-FFF2-40B4-BE49-F238E27FC236}">
                <a16:creationId xmlns:a16="http://schemas.microsoft.com/office/drawing/2014/main" id="{B57B3037-7CB0-F83E-202B-F26C377B16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115" y="3094008"/>
            <a:ext cx="1160342" cy="116034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descr="Sublimetext Icon icon - Free Download PNG &amp; SVG | Streamline">
            <a:extLst>
              <a:ext uri="{FF2B5EF4-FFF2-40B4-BE49-F238E27FC236}">
                <a16:creationId xmlns:a16="http://schemas.microsoft.com/office/drawing/2014/main" id="{832DA24A-5ED7-13EC-B7AC-64E372C41F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8208" y="3942032"/>
            <a:ext cx="1160343" cy="1160343"/>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Emacs Logo Sticker Pack | FSF Shop">
            <a:extLst>
              <a:ext uri="{FF2B5EF4-FFF2-40B4-BE49-F238E27FC236}">
                <a16:creationId xmlns:a16="http://schemas.microsoft.com/office/drawing/2014/main" id="{B0829339-5C1B-F0BF-86BC-FC03A41F2C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3606" y="4988555"/>
            <a:ext cx="1368972" cy="136897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Jupyter Notebooks. Amazing Tools For Data Science">
            <a:extLst>
              <a:ext uri="{FF2B5EF4-FFF2-40B4-BE49-F238E27FC236}">
                <a16:creationId xmlns:a16="http://schemas.microsoft.com/office/drawing/2014/main" id="{D6EBEBB5-EC20-11CB-CE1E-A34FCDC90B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60701" y="3020270"/>
            <a:ext cx="1162345" cy="134800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6" descr="macOS app icon doesn't follow human interface guidelines · Issue #613 ·  jupyterlab/jupyterlab-desktop">
            <a:extLst>
              <a:ext uri="{FF2B5EF4-FFF2-40B4-BE49-F238E27FC236}">
                <a16:creationId xmlns:a16="http://schemas.microsoft.com/office/drawing/2014/main" id="{6A6739DD-AAE8-9987-84ED-33C7EC2AE31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82746" y="4061404"/>
            <a:ext cx="1368972" cy="136897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0">
            <a:extLst>
              <a:ext uri="{FF2B5EF4-FFF2-40B4-BE49-F238E27FC236}">
                <a16:creationId xmlns:a16="http://schemas.microsoft.com/office/drawing/2014/main" id="{561DED13-63D2-18DA-CD45-3B6FB4573E1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50982" y="5504002"/>
            <a:ext cx="1927638" cy="67693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6" descr="PyCharm Logo Update – IDEs Support (IntelliJ Platform) | JetBrains">
            <a:extLst>
              <a:ext uri="{FF2B5EF4-FFF2-40B4-BE49-F238E27FC236}">
                <a16:creationId xmlns:a16="http://schemas.microsoft.com/office/drawing/2014/main" id="{76441114-7235-8366-19F0-C6FFF4138F8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49523" y="3020270"/>
            <a:ext cx="1404473" cy="140447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6">
            <a:extLst>
              <a:ext uri="{FF2B5EF4-FFF2-40B4-BE49-F238E27FC236}">
                <a16:creationId xmlns:a16="http://schemas.microsoft.com/office/drawing/2014/main" id="{E74FD13A-8D8D-0DFC-4627-96FB9BF4EF4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05806" y="4283214"/>
            <a:ext cx="1159681" cy="115968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8">
            <a:extLst>
              <a:ext uri="{FF2B5EF4-FFF2-40B4-BE49-F238E27FC236}">
                <a16:creationId xmlns:a16="http://schemas.microsoft.com/office/drawing/2014/main" id="{2DBB18B0-7482-DC98-1DD2-C8503291DCA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26656" y="5044165"/>
            <a:ext cx="1159681" cy="1159681"/>
          </a:xfrm>
          <a:prstGeom prst="rect">
            <a:avLst/>
          </a:prstGeom>
          <a:noFill/>
          <a:extLst>
            <a:ext uri="{909E8E84-426E-40DD-AFC4-6F175D3DCCD1}">
              <a14:hiddenFill xmlns:a14="http://schemas.microsoft.com/office/drawing/2010/main">
                <a:solidFill>
                  <a:srgbClr val="FFFFFF"/>
                </a:solidFill>
              </a14:hiddenFill>
            </a:ext>
          </a:extLst>
        </p:spPr>
      </p:pic>
      <p:pic>
        <p:nvPicPr>
          <p:cNvPr id="13314" name="Picture 2" descr="Cursor AI Logo Icon for Modern Designs">
            <a:extLst>
              <a:ext uri="{FF2B5EF4-FFF2-40B4-BE49-F238E27FC236}">
                <a16:creationId xmlns:a16="http://schemas.microsoft.com/office/drawing/2014/main" id="{59E5DED4-94BC-26B3-37B8-ABF9D365F0D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229558" y="3043560"/>
            <a:ext cx="1583261" cy="1583261"/>
          </a:xfrm>
          <a:prstGeom prst="rect">
            <a:avLst/>
          </a:prstGeom>
          <a:noFill/>
          <a:extLst>
            <a:ext uri="{909E8E84-426E-40DD-AFC4-6F175D3DCCD1}">
              <a14:hiddenFill xmlns:a14="http://schemas.microsoft.com/office/drawing/2010/main">
                <a:solidFill>
                  <a:srgbClr val="FFFFFF"/>
                </a:solidFill>
              </a14:hiddenFill>
            </a:ext>
          </a:extLst>
        </p:spPr>
      </p:pic>
      <p:pic>
        <p:nvPicPr>
          <p:cNvPr id="13324" name="Picture 12" descr="Windsurf Plugin (formerly Codeium): AI Coding Autocomplete and Chat for  Python, JavaScript, TypeScript, and more - Visual Studio Marketplace">
            <a:extLst>
              <a:ext uri="{FF2B5EF4-FFF2-40B4-BE49-F238E27FC236}">
                <a16:creationId xmlns:a16="http://schemas.microsoft.com/office/drawing/2014/main" id="{3EDE1D9F-FF9A-1056-AA6A-A77A969D67F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148101" y="4888385"/>
            <a:ext cx="1083982" cy="108398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22" name="Rectangle 21">
            <a:extLst>
              <a:ext uri="{FF2B5EF4-FFF2-40B4-BE49-F238E27FC236}">
                <a16:creationId xmlns:a16="http://schemas.microsoft.com/office/drawing/2014/main" id="{C12E5553-0955-9651-1537-78BE48D5F67A}"/>
              </a:ext>
            </a:extLst>
          </p:cNvPr>
          <p:cNvSpPr/>
          <p:nvPr/>
        </p:nvSpPr>
        <p:spPr>
          <a:xfrm>
            <a:off x="330024" y="1349528"/>
            <a:ext cx="8735122" cy="5246764"/>
          </a:xfrm>
          <a:prstGeom prst="rect">
            <a:avLst/>
          </a:prstGeom>
          <a:solidFill>
            <a:srgbClr val="2D2D2D">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8058498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92143-5BEE-E69B-A041-E24421BBD2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AE4ACC-56AA-C497-584F-2000D43DB536}"/>
              </a:ext>
            </a:extLst>
          </p:cNvPr>
          <p:cNvSpPr>
            <a:spLocks noGrp="1"/>
          </p:cNvSpPr>
          <p:nvPr>
            <p:ph type="title"/>
          </p:nvPr>
        </p:nvSpPr>
        <p:spPr/>
        <p:txBody>
          <a:bodyPr>
            <a:normAutofit fontScale="90000"/>
          </a:bodyPr>
          <a:lstStyle/>
          <a:p>
            <a:r>
              <a:rPr lang="en-CA" b="1" dirty="0"/>
              <a:t>Text Editor</a:t>
            </a:r>
            <a:r>
              <a:rPr lang="en-CA" b="1" dirty="0">
                <a:solidFill>
                  <a:srgbClr val="00FF00"/>
                </a:solidFill>
              </a:rPr>
              <a:t>.</a:t>
            </a:r>
          </a:p>
        </p:txBody>
      </p:sp>
      <p:sp>
        <p:nvSpPr>
          <p:cNvPr id="3" name="Content Placeholder 2">
            <a:extLst>
              <a:ext uri="{FF2B5EF4-FFF2-40B4-BE49-F238E27FC236}">
                <a16:creationId xmlns:a16="http://schemas.microsoft.com/office/drawing/2014/main" id="{A37EFD17-E7C1-9001-9031-F809E87EEB1F}"/>
              </a:ext>
            </a:extLst>
          </p:cNvPr>
          <p:cNvSpPr>
            <a:spLocks noGrp="1"/>
          </p:cNvSpPr>
          <p:nvPr>
            <p:ph idx="1"/>
          </p:nvPr>
        </p:nvSpPr>
        <p:spPr>
          <a:xfrm>
            <a:off x="838200" y="1825624"/>
            <a:ext cx="5833767" cy="4835479"/>
          </a:xfrm>
        </p:spPr>
        <p:txBody>
          <a:bodyPr>
            <a:normAutofit fontScale="85000" lnSpcReduction="20000"/>
          </a:bodyPr>
          <a:lstStyle/>
          <a:p>
            <a:r>
              <a:rPr lang="en-US" b="1" dirty="0">
                <a:solidFill>
                  <a:srgbClr val="CC99FF"/>
                </a:solidFill>
              </a:rPr>
              <a:t>What it is</a:t>
            </a:r>
            <a:r>
              <a:rPr lang="en-US" b="1" dirty="0">
                <a:solidFill>
                  <a:srgbClr val="00FF00"/>
                </a:solidFill>
              </a:rPr>
              <a:t>:</a:t>
            </a:r>
            <a:r>
              <a:rPr lang="en-US" b="1" dirty="0">
                <a:solidFill>
                  <a:srgbClr val="CC99FF"/>
                </a:solidFill>
              </a:rPr>
              <a:t> </a:t>
            </a:r>
            <a:r>
              <a:rPr lang="en-US" dirty="0"/>
              <a:t>A lightweight app for writing and editing plain</a:t>
            </a:r>
            <a:r>
              <a:rPr lang="en-US" dirty="0">
                <a:solidFill>
                  <a:schemeClr val="accent6"/>
                </a:solidFill>
              </a:rPr>
              <a:t>-</a:t>
            </a:r>
            <a:r>
              <a:rPr lang="en-US" dirty="0"/>
              <a:t>text files </a:t>
            </a:r>
            <a:r>
              <a:rPr lang="en-US" dirty="0">
                <a:solidFill>
                  <a:srgbClr val="00FF00"/>
                </a:solidFill>
              </a:rPr>
              <a:t>(</a:t>
            </a:r>
            <a:r>
              <a:rPr lang="en-US" dirty="0"/>
              <a:t>including code</a:t>
            </a:r>
            <a:r>
              <a:rPr lang="en-US" dirty="0">
                <a:solidFill>
                  <a:srgbClr val="00FF00"/>
                </a:solidFill>
              </a:rPr>
              <a:t>)</a:t>
            </a:r>
            <a:r>
              <a:rPr lang="en-US" dirty="0">
                <a:solidFill>
                  <a:schemeClr val="accent6"/>
                </a:solidFill>
              </a:rPr>
              <a:t>,</a:t>
            </a:r>
            <a:r>
              <a:rPr lang="en-US" dirty="0"/>
              <a:t> with minimal setup</a:t>
            </a:r>
            <a:r>
              <a:rPr lang="en-US" dirty="0">
                <a:solidFill>
                  <a:schemeClr val="accent6"/>
                </a:solidFill>
              </a:rPr>
              <a:t>.</a:t>
            </a:r>
          </a:p>
          <a:p>
            <a:r>
              <a:rPr lang="en-US" b="1" dirty="0">
                <a:solidFill>
                  <a:srgbClr val="CC99FF"/>
                </a:solidFill>
              </a:rPr>
              <a:t>What you get</a:t>
            </a:r>
            <a:r>
              <a:rPr lang="en-US" b="1" dirty="0">
                <a:solidFill>
                  <a:srgbClr val="00FF00"/>
                </a:solidFill>
              </a:rPr>
              <a:t>:</a:t>
            </a:r>
            <a:r>
              <a:rPr lang="en-US" b="1" dirty="0">
                <a:solidFill>
                  <a:srgbClr val="CC99FF"/>
                </a:solidFill>
              </a:rPr>
              <a:t> </a:t>
            </a:r>
            <a:r>
              <a:rPr lang="en-US" dirty="0"/>
              <a:t>Fast startup</a:t>
            </a:r>
            <a:r>
              <a:rPr lang="en-US" dirty="0">
                <a:solidFill>
                  <a:schemeClr val="accent6"/>
                </a:solidFill>
              </a:rPr>
              <a:t>,</a:t>
            </a:r>
            <a:r>
              <a:rPr lang="en-US" dirty="0"/>
              <a:t> syntax highlighting</a:t>
            </a:r>
            <a:r>
              <a:rPr lang="en-US" dirty="0">
                <a:solidFill>
                  <a:schemeClr val="accent6"/>
                </a:solidFill>
              </a:rPr>
              <a:t>,</a:t>
            </a:r>
            <a:r>
              <a:rPr lang="en-US" dirty="0"/>
              <a:t> find</a:t>
            </a:r>
            <a:r>
              <a:rPr lang="en-US" dirty="0">
                <a:solidFill>
                  <a:schemeClr val="accent6"/>
                </a:solidFill>
              </a:rPr>
              <a:t>/</a:t>
            </a:r>
            <a:r>
              <a:rPr lang="en-US" dirty="0"/>
              <a:t>replace</a:t>
            </a:r>
            <a:r>
              <a:rPr lang="en-US" dirty="0">
                <a:solidFill>
                  <a:schemeClr val="accent6"/>
                </a:solidFill>
              </a:rPr>
              <a:t>,</a:t>
            </a:r>
            <a:r>
              <a:rPr lang="en-US" dirty="0"/>
              <a:t> multiple files</a:t>
            </a:r>
            <a:r>
              <a:rPr lang="en-US" dirty="0">
                <a:solidFill>
                  <a:schemeClr val="accent6"/>
                </a:solidFill>
              </a:rPr>
              <a:t>/</a:t>
            </a:r>
            <a:r>
              <a:rPr lang="en-US" dirty="0"/>
              <a:t>tabs</a:t>
            </a:r>
            <a:r>
              <a:rPr lang="en-US" dirty="0">
                <a:solidFill>
                  <a:schemeClr val="accent6"/>
                </a:solidFill>
              </a:rPr>
              <a:t>, </a:t>
            </a:r>
            <a:r>
              <a:rPr lang="en-US" dirty="0"/>
              <a:t>basic project folders</a:t>
            </a:r>
            <a:r>
              <a:rPr lang="en-US" dirty="0">
                <a:solidFill>
                  <a:schemeClr val="accent6"/>
                </a:solidFill>
              </a:rPr>
              <a:t>.</a:t>
            </a:r>
          </a:p>
          <a:p>
            <a:r>
              <a:rPr lang="en-US" b="1" dirty="0">
                <a:solidFill>
                  <a:srgbClr val="CC99FF"/>
                </a:solidFill>
              </a:rPr>
              <a:t>What you don</a:t>
            </a:r>
            <a:r>
              <a:rPr lang="en-US" b="1" dirty="0">
                <a:solidFill>
                  <a:srgbClr val="00FF00"/>
                </a:solidFill>
              </a:rPr>
              <a:t>’</a:t>
            </a:r>
            <a:r>
              <a:rPr lang="en-US" b="1" dirty="0">
                <a:solidFill>
                  <a:srgbClr val="CC99FF"/>
                </a:solidFill>
              </a:rPr>
              <a:t>t </a:t>
            </a:r>
            <a:r>
              <a:rPr lang="en-US" b="1" dirty="0">
                <a:solidFill>
                  <a:srgbClr val="00FF00"/>
                </a:solidFill>
              </a:rPr>
              <a:t>(</a:t>
            </a:r>
            <a:r>
              <a:rPr lang="en-US" b="1" dirty="0">
                <a:solidFill>
                  <a:srgbClr val="CC99FF"/>
                </a:solidFill>
              </a:rPr>
              <a:t>usually</a:t>
            </a:r>
            <a:r>
              <a:rPr lang="en-US" b="1" dirty="0">
                <a:solidFill>
                  <a:srgbClr val="00FF00"/>
                </a:solidFill>
              </a:rPr>
              <a:t>)</a:t>
            </a:r>
            <a:r>
              <a:rPr lang="en-US" b="1" dirty="0">
                <a:solidFill>
                  <a:srgbClr val="CC99FF"/>
                </a:solidFill>
              </a:rPr>
              <a:t> get</a:t>
            </a:r>
            <a:r>
              <a:rPr lang="en-US" b="1" dirty="0">
                <a:solidFill>
                  <a:srgbClr val="00FF00"/>
                </a:solidFill>
              </a:rPr>
              <a:t>:</a:t>
            </a:r>
            <a:r>
              <a:rPr lang="en-US" b="1" dirty="0">
                <a:solidFill>
                  <a:srgbClr val="CC99FF"/>
                </a:solidFill>
              </a:rPr>
              <a:t> </a:t>
            </a:r>
            <a:r>
              <a:rPr lang="en-US" dirty="0"/>
              <a:t>Integrated debugging</a:t>
            </a:r>
            <a:r>
              <a:rPr lang="en-US" dirty="0">
                <a:solidFill>
                  <a:schemeClr val="accent6"/>
                </a:solidFill>
              </a:rPr>
              <a:t>,</a:t>
            </a:r>
            <a:r>
              <a:rPr lang="en-US" dirty="0"/>
              <a:t> deep refactoring</a:t>
            </a:r>
            <a:r>
              <a:rPr lang="en-US" dirty="0">
                <a:solidFill>
                  <a:schemeClr val="accent6"/>
                </a:solidFill>
              </a:rPr>
              <a:t>,</a:t>
            </a:r>
            <a:r>
              <a:rPr lang="en-US" dirty="0"/>
              <a:t> environment management</a:t>
            </a:r>
            <a:r>
              <a:rPr lang="en-US" dirty="0">
                <a:solidFill>
                  <a:schemeClr val="accent6"/>
                </a:solidFill>
              </a:rPr>
              <a:t>, </a:t>
            </a:r>
            <a:r>
              <a:rPr lang="en-US" dirty="0"/>
              <a:t>and one</a:t>
            </a:r>
            <a:r>
              <a:rPr lang="en-US" dirty="0">
                <a:solidFill>
                  <a:schemeClr val="accent6"/>
                </a:solidFill>
              </a:rPr>
              <a:t>-</a:t>
            </a:r>
            <a:r>
              <a:rPr lang="en-US" dirty="0"/>
              <a:t>click test runners</a:t>
            </a:r>
            <a:r>
              <a:rPr lang="en-US" dirty="0">
                <a:solidFill>
                  <a:schemeClr val="accent6"/>
                </a:solidFill>
              </a:rPr>
              <a:t>.</a:t>
            </a:r>
          </a:p>
          <a:p>
            <a:r>
              <a:rPr lang="en-US" b="1" dirty="0">
                <a:solidFill>
                  <a:srgbClr val="CC99FF"/>
                </a:solidFill>
              </a:rPr>
              <a:t>Typical workflow</a:t>
            </a:r>
            <a:r>
              <a:rPr lang="en-US" b="1" dirty="0">
                <a:solidFill>
                  <a:srgbClr val="00FF00"/>
                </a:solidFill>
              </a:rPr>
              <a:t>:</a:t>
            </a:r>
            <a:r>
              <a:rPr lang="en-US" b="1" dirty="0">
                <a:solidFill>
                  <a:srgbClr val="CC99FF"/>
                </a:solidFill>
              </a:rPr>
              <a:t> </a:t>
            </a:r>
            <a:r>
              <a:rPr lang="en-US" dirty="0"/>
              <a:t>Edit code in the editor</a:t>
            </a:r>
            <a:r>
              <a:rPr lang="en-US" dirty="0">
                <a:solidFill>
                  <a:schemeClr val="accent6"/>
                </a:solidFill>
              </a:rPr>
              <a:t>,</a:t>
            </a:r>
            <a:r>
              <a:rPr lang="en-US" dirty="0"/>
              <a:t> then run it in a separate terminal </a:t>
            </a:r>
            <a:r>
              <a:rPr lang="en-US" dirty="0">
                <a:solidFill>
                  <a:srgbClr val="00FF00"/>
                </a:solidFill>
              </a:rPr>
              <a:t>(</a:t>
            </a:r>
            <a:r>
              <a:rPr lang="en-US" b="1" dirty="0">
                <a:latin typeface="Consolas" panose="020B0609020204030204" pitchFamily="49" charset="0"/>
              </a:rPr>
              <a:t>python myfile</a:t>
            </a:r>
            <a:r>
              <a:rPr lang="en-US" b="1" dirty="0">
                <a:solidFill>
                  <a:schemeClr val="accent6"/>
                </a:solidFill>
                <a:latin typeface="Consolas" panose="020B0609020204030204" pitchFamily="49" charset="0"/>
              </a:rPr>
              <a:t>.</a:t>
            </a:r>
            <a:r>
              <a:rPr lang="en-US" b="1" dirty="0">
                <a:latin typeface="Consolas" panose="020B0609020204030204" pitchFamily="49" charset="0"/>
              </a:rPr>
              <a:t>py</a:t>
            </a:r>
            <a:r>
              <a:rPr lang="en-US" dirty="0">
                <a:solidFill>
                  <a:srgbClr val="00FF00"/>
                </a:solidFill>
              </a:rPr>
              <a:t>)</a:t>
            </a:r>
            <a:r>
              <a:rPr lang="en-US" dirty="0">
                <a:solidFill>
                  <a:schemeClr val="accent6"/>
                </a:solidFill>
              </a:rPr>
              <a:t>.</a:t>
            </a:r>
          </a:p>
          <a:p>
            <a:r>
              <a:rPr lang="en-US" b="1" dirty="0">
                <a:solidFill>
                  <a:srgbClr val="CC99FF"/>
                </a:solidFill>
              </a:rPr>
              <a:t>Best for</a:t>
            </a:r>
            <a:r>
              <a:rPr lang="en-US" b="1" dirty="0">
                <a:solidFill>
                  <a:srgbClr val="00FF00"/>
                </a:solidFill>
              </a:rPr>
              <a:t>:</a:t>
            </a:r>
            <a:r>
              <a:rPr lang="en-US" b="1" dirty="0">
                <a:solidFill>
                  <a:srgbClr val="CC99FF"/>
                </a:solidFill>
              </a:rPr>
              <a:t> </a:t>
            </a:r>
            <a:r>
              <a:rPr lang="en-US" dirty="0"/>
              <a:t>Quick edits</a:t>
            </a:r>
            <a:r>
              <a:rPr lang="en-US" dirty="0">
                <a:solidFill>
                  <a:schemeClr val="accent6"/>
                </a:solidFill>
              </a:rPr>
              <a:t>,</a:t>
            </a:r>
            <a:r>
              <a:rPr lang="en-US" dirty="0"/>
              <a:t> small scripts</a:t>
            </a:r>
            <a:r>
              <a:rPr lang="en-US" dirty="0">
                <a:solidFill>
                  <a:schemeClr val="accent6"/>
                </a:solidFill>
              </a:rPr>
              <a:t>,</a:t>
            </a:r>
            <a:r>
              <a:rPr lang="en-US" dirty="0"/>
              <a:t> configuration files</a:t>
            </a:r>
            <a:r>
              <a:rPr lang="en-US" dirty="0">
                <a:solidFill>
                  <a:schemeClr val="accent6"/>
                </a:solidFill>
              </a:rPr>
              <a:t>,</a:t>
            </a:r>
            <a:r>
              <a:rPr lang="en-US" dirty="0"/>
              <a:t> and learning fundamentals without heavy tooling</a:t>
            </a:r>
            <a:r>
              <a:rPr lang="en-US" dirty="0">
                <a:solidFill>
                  <a:schemeClr val="accent6"/>
                </a:solidFill>
              </a:rPr>
              <a:t>.</a:t>
            </a:r>
          </a:p>
        </p:txBody>
      </p:sp>
      <p:pic>
        <p:nvPicPr>
          <p:cNvPr id="5" name="Picture 4">
            <a:extLst>
              <a:ext uri="{FF2B5EF4-FFF2-40B4-BE49-F238E27FC236}">
                <a16:creationId xmlns:a16="http://schemas.microsoft.com/office/drawing/2014/main" id="{182A2E84-1912-B890-165A-2A3D69FA9F62}"/>
              </a:ext>
            </a:extLst>
          </p:cNvPr>
          <p:cNvPicPr>
            <a:picLocks noChangeAspect="1"/>
          </p:cNvPicPr>
          <p:nvPr/>
        </p:nvPicPr>
        <p:blipFill>
          <a:blip r:embed="rId2"/>
          <a:stretch>
            <a:fillRect/>
          </a:stretch>
        </p:blipFill>
        <p:spPr>
          <a:xfrm>
            <a:off x="6939668" y="572653"/>
            <a:ext cx="5161944" cy="6082144"/>
          </a:xfrm>
          <a:prstGeom prst="rect">
            <a:avLst/>
          </a:prstGeom>
        </p:spPr>
      </p:pic>
      <p:sp>
        <p:nvSpPr>
          <p:cNvPr id="4" name="Oval 3">
            <a:extLst>
              <a:ext uri="{FF2B5EF4-FFF2-40B4-BE49-F238E27FC236}">
                <a16:creationId xmlns:a16="http://schemas.microsoft.com/office/drawing/2014/main" id="{195098F5-8DEF-15F7-244B-8B6F81DA82DA}"/>
              </a:ext>
            </a:extLst>
          </p:cNvPr>
          <p:cNvSpPr/>
          <p:nvPr/>
        </p:nvSpPr>
        <p:spPr>
          <a:xfrm>
            <a:off x="7176463" y="630620"/>
            <a:ext cx="769358" cy="321617"/>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Arrow: Right 5">
            <a:extLst>
              <a:ext uri="{FF2B5EF4-FFF2-40B4-BE49-F238E27FC236}">
                <a16:creationId xmlns:a16="http://schemas.microsoft.com/office/drawing/2014/main" id="{30ABBB4C-5DD1-C4EC-03D4-248512B3448E}"/>
              </a:ext>
            </a:extLst>
          </p:cNvPr>
          <p:cNvSpPr/>
          <p:nvPr/>
        </p:nvSpPr>
        <p:spPr>
          <a:xfrm flipH="1">
            <a:off x="5817788" y="714902"/>
            <a:ext cx="1358675" cy="171666"/>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D608C90B-BDE4-C7CE-172C-8E5CC486BBD8}"/>
              </a:ext>
            </a:extLst>
          </p:cNvPr>
          <p:cNvSpPr txBox="1"/>
          <p:nvPr/>
        </p:nvSpPr>
        <p:spPr>
          <a:xfrm>
            <a:off x="3941717" y="210731"/>
            <a:ext cx="1863459" cy="1200329"/>
          </a:xfrm>
          <a:prstGeom prst="rect">
            <a:avLst/>
          </a:prstGeom>
          <a:noFill/>
        </p:spPr>
        <p:txBody>
          <a:bodyPr wrap="none" rtlCol="0">
            <a:spAutoFit/>
          </a:bodyPr>
          <a:lstStyle/>
          <a:p>
            <a:r>
              <a:rPr lang="en-CA" b="1" dirty="0">
                <a:solidFill>
                  <a:schemeClr val="accent6"/>
                </a:solidFill>
              </a:rPr>
              <a:t>APS106</a:t>
            </a:r>
          </a:p>
          <a:p>
            <a:r>
              <a:rPr lang="en-CA" b="1" dirty="0">
                <a:solidFill>
                  <a:srgbClr val="FFFFFF"/>
                </a:solidFill>
              </a:rPr>
              <a:t>File Type </a:t>
            </a:r>
            <a:r>
              <a:rPr lang="en-CA" b="1" dirty="0">
                <a:solidFill>
                  <a:schemeClr val="accent6"/>
                </a:solidFill>
              </a:rPr>
              <a:t>#</a:t>
            </a:r>
            <a:r>
              <a:rPr lang="en-CA" b="1" dirty="0">
                <a:solidFill>
                  <a:srgbClr val="FFFFFF"/>
                </a:solidFill>
              </a:rPr>
              <a:t>1</a:t>
            </a:r>
            <a:r>
              <a:rPr lang="en-CA" b="1" dirty="0">
                <a:solidFill>
                  <a:schemeClr val="accent6"/>
                </a:solidFill>
              </a:rPr>
              <a:t>.</a:t>
            </a:r>
          </a:p>
          <a:p>
            <a:r>
              <a:rPr lang="en-CA" b="1" dirty="0">
                <a:solidFill>
                  <a:srgbClr val="FFFFFF"/>
                </a:solidFill>
              </a:rPr>
              <a:t>The Python File</a:t>
            </a:r>
          </a:p>
          <a:p>
            <a:r>
              <a:rPr lang="en-CA" b="1" dirty="0">
                <a:solidFill>
                  <a:srgbClr val="00FF00"/>
                </a:solidFill>
                <a:latin typeface="Consolas" panose="020B0609020204030204" pitchFamily="49" charset="0"/>
              </a:rPr>
              <a:t>.</a:t>
            </a:r>
            <a:r>
              <a:rPr lang="en-CA" b="1" dirty="0" err="1">
                <a:solidFill>
                  <a:srgbClr val="00FF00"/>
                </a:solidFill>
                <a:latin typeface="Consolas" panose="020B0609020204030204" pitchFamily="49" charset="0"/>
              </a:rPr>
              <a:t>py</a:t>
            </a:r>
            <a:endParaRPr lang="en-CA" b="1" dirty="0">
              <a:solidFill>
                <a:srgbClr val="00FF00"/>
              </a:solidFill>
              <a:latin typeface="Consolas" panose="020B0609020204030204" pitchFamily="49" charset="0"/>
            </a:endParaRPr>
          </a:p>
        </p:txBody>
      </p:sp>
    </p:spTree>
    <p:extLst>
      <p:ext uri="{BB962C8B-B14F-4D97-AF65-F5344CB8AC3E}">
        <p14:creationId xmlns:p14="http://schemas.microsoft.com/office/powerpoint/2010/main" val="24681494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3D86B-DFBE-FDBF-393C-6A0EC3643A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0A9B8B-6617-45B6-8394-52FCA4B1FD0F}"/>
              </a:ext>
            </a:extLst>
          </p:cNvPr>
          <p:cNvSpPr>
            <a:spLocks noGrp="1"/>
          </p:cNvSpPr>
          <p:nvPr>
            <p:ph type="title"/>
          </p:nvPr>
        </p:nvSpPr>
        <p:spPr/>
        <p:txBody>
          <a:bodyPr>
            <a:normAutofit fontScale="90000"/>
          </a:bodyPr>
          <a:lstStyle/>
          <a:p>
            <a:r>
              <a:rPr lang="en-CA" b="1" dirty="0"/>
              <a:t>What We</a:t>
            </a:r>
            <a:r>
              <a:rPr lang="en-CA" b="1" dirty="0">
                <a:solidFill>
                  <a:srgbClr val="CC99FF"/>
                </a:solidFill>
              </a:rPr>
              <a:t>’</a:t>
            </a:r>
            <a:r>
              <a:rPr lang="en-CA" b="1" dirty="0"/>
              <a:t>ll Use</a:t>
            </a:r>
            <a:r>
              <a:rPr lang="en-CA" b="1" dirty="0">
                <a:solidFill>
                  <a:srgbClr val="00FF00"/>
                </a:solidFill>
              </a:rPr>
              <a:t>.</a:t>
            </a:r>
            <a:endParaRPr lang="en-CA" dirty="0"/>
          </a:p>
        </p:txBody>
      </p:sp>
      <p:sp>
        <p:nvSpPr>
          <p:cNvPr id="19" name="Rectangle: Rounded Corners 18">
            <a:extLst>
              <a:ext uri="{FF2B5EF4-FFF2-40B4-BE49-F238E27FC236}">
                <a16:creationId xmlns:a16="http://schemas.microsoft.com/office/drawing/2014/main" id="{ED700EA9-7B39-868D-F48A-50B60A8847A0}"/>
              </a:ext>
            </a:extLst>
          </p:cNvPr>
          <p:cNvSpPr/>
          <p:nvPr/>
        </p:nvSpPr>
        <p:spPr>
          <a:xfrm>
            <a:off x="611177" y="2826154"/>
            <a:ext cx="2536095" cy="3569313"/>
          </a:xfrm>
          <a:prstGeom prst="round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Rounded Corners 3">
            <a:extLst>
              <a:ext uri="{FF2B5EF4-FFF2-40B4-BE49-F238E27FC236}">
                <a16:creationId xmlns:a16="http://schemas.microsoft.com/office/drawing/2014/main" id="{48C5C7F4-2B6D-0E8C-7DD4-3E4195451FD4}"/>
              </a:ext>
            </a:extLst>
          </p:cNvPr>
          <p:cNvSpPr/>
          <p:nvPr/>
        </p:nvSpPr>
        <p:spPr>
          <a:xfrm>
            <a:off x="3431102" y="2826153"/>
            <a:ext cx="2536095" cy="3569313"/>
          </a:xfrm>
          <a:prstGeom prst="round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Rounded Corners 4">
            <a:extLst>
              <a:ext uri="{FF2B5EF4-FFF2-40B4-BE49-F238E27FC236}">
                <a16:creationId xmlns:a16="http://schemas.microsoft.com/office/drawing/2014/main" id="{9FF849B5-4E70-B6E5-FCB1-C12B71D0CCF6}"/>
              </a:ext>
            </a:extLst>
          </p:cNvPr>
          <p:cNvSpPr/>
          <p:nvPr/>
        </p:nvSpPr>
        <p:spPr>
          <a:xfrm>
            <a:off x="6251027" y="2826152"/>
            <a:ext cx="2536095" cy="3569313"/>
          </a:xfrm>
          <a:prstGeom prst="round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Rectangle: Rounded Corners 5">
            <a:extLst>
              <a:ext uri="{FF2B5EF4-FFF2-40B4-BE49-F238E27FC236}">
                <a16:creationId xmlns:a16="http://schemas.microsoft.com/office/drawing/2014/main" id="{48ED2DC6-7477-3B00-E258-D8DFBB11F5FF}"/>
              </a:ext>
            </a:extLst>
          </p:cNvPr>
          <p:cNvSpPr/>
          <p:nvPr/>
        </p:nvSpPr>
        <p:spPr>
          <a:xfrm>
            <a:off x="9070952" y="2826151"/>
            <a:ext cx="2536095" cy="3569313"/>
          </a:xfrm>
          <a:prstGeom prst="round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Arrow: Right 6">
            <a:extLst>
              <a:ext uri="{FF2B5EF4-FFF2-40B4-BE49-F238E27FC236}">
                <a16:creationId xmlns:a16="http://schemas.microsoft.com/office/drawing/2014/main" id="{A6DEDF74-1D4F-6E9F-5721-D53DC93E9DDD}"/>
              </a:ext>
            </a:extLst>
          </p:cNvPr>
          <p:cNvSpPr/>
          <p:nvPr/>
        </p:nvSpPr>
        <p:spPr>
          <a:xfrm>
            <a:off x="3140967" y="4358558"/>
            <a:ext cx="283830" cy="504497"/>
          </a:xfrm>
          <a:prstGeom prst="rightArrow">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Arrow: Right 7">
            <a:extLst>
              <a:ext uri="{FF2B5EF4-FFF2-40B4-BE49-F238E27FC236}">
                <a16:creationId xmlns:a16="http://schemas.microsoft.com/office/drawing/2014/main" id="{0494F881-8A58-75C7-CE1D-C8D505A0337E}"/>
              </a:ext>
            </a:extLst>
          </p:cNvPr>
          <p:cNvSpPr/>
          <p:nvPr/>
        </p:nvSpPr>
        <p:spPr>
          <a:xfrm>
            <a:off x="5960391" y="4358558"/>
            <a:ext cx="283830" cy="504497"/>
          </a:xfrm>
          <a:prstGeom prst="rightArrow">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Arrow: Right 8">
            <a:extLst>
              <a:ext uri="{FF2B5EF4-FFF2-40B4-BE49-F238E27FC236}">
                <a16:creationId xmlns:a16="http://schemas.microsoft.com/office/drawing/2014/main" id="{47CA053E-423C-247B-4D78-425D68916D58}"/>
              </a:ext>
            </a:extLst>
          </p:cNvPr>
          <p:cNvSpPr/>
          <p:nvPr/>
        </p:nvSpPr>
        <p:spPr>
          <a:xfrm>
            <a:off x="8781316" y="4358558"/>
            <a:ext cx="283830" cy="504497"/>
          </a:xfrm>
          <a:prstGeom prst="rightArrow">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546366C2-0D3A-40D8-D778-A203B8284BDB}"/>
              </a:ext>
            </a:extLst>
          </p:cNvPr>
          <p:cNvSpPr txBox="1"/>
          <p:nvPr/>
        </p:nvSpPr>
        <p:spPr>
          <a:xfrm>
            <a:off x="503573" y="2350193"/>
            <a:ext cx="1970604" cy="461665"/>
          </a:xfrm>
          <a:prstGeom prst="rect">
            <a:avLst/>
          </a:prstGeom>
          <a:noFill/>
        </p:spPr>
        <p:txBody>
          <a:bodyPr wrap="none" rtlCol="0">
            <a:spAutoFit/>
          </a:bodyPr>
          <a:lstStyle/>
          <a:p>
            <a:r>
              <a:rPr lang="en-CA" sz="2400" b="1" dirty="0">
                <a:solidFill>
                  <a:srgbClr val="FFFFFF"/>
                </a:solidFill>
              </a:rPr>
              <a:t>Text Editors</a:t>
            </a:r>
            <a:r>
              <a:rPr lang="en-CA" sz="2400" b="1" dirty="0">
                <a:solidFill>
                  <a:srgbClr val="00FF00"/>
                </a:solidFill>
              </a:rPr>
              <a:t>.</a:t>
            </a:r>
          </a:p>
        </p:txBody>
      </p:sp>
      <p:sp>
        <p:nvSpPr>
          <p:cNvPr id="11" name="TextBox 10">
            <a:extLst>
              <a:ext uri="{FF2B5EF4-FFF2-40B4-BE49-F238E27FC236}">
                <a16:creationId xmlns:a16="http://schemas.microsoft.com/office/drawing/2014/main" id="{C8E6DBEF-9BBA-C800-EF35-E48862F56B65}"/>
              </a:ext>
            </a:extLst>
          </p:cNvPr>
          <p:cNvSpPr txBox="1"/>
          <p:nvPr/>
        </p:nvSpPr>
        <p:spPr>
          <a:xfrm>
            <a:off x="3303370" y="1609608"/>
            <a:ext cx="3152582" cy="1200329"/>
          </a:xfrm>
          <a:prstGeom prst="rect">
            <a:avLst/>
          </a:prstGeom>
          <a:noFill/>
        </p:spPr>
        <p:txBody>
          <a:bodyPr wrap="square" rtlCol="0">
            <a:spAutoFit/>
          </a:bodyPr>
          <a:lstStyle/>
          <a:p>
            <a:r>
              <a:rPr lang="en-CA" sz="2400" b="1" dirty="0">
                <a:solidFill>
                  <a:srgbClr val="FFFFFF"/>
                </a:solidFill>
              </a:rPr>
              <a:t>Interactive Computing</a:t>
            </a:r>
          </a:p>
          <a:p>
            <a:r>
              <a:rPr lang="en-CA" sz="2400" b="1" dirty="0">
                <a:solidFill>
                  <a:srgbClr val="FFFFFF"/>
                </a:solidFill>
              </a:rPr>
              <a:t>Environment</a:t>
            </a:r>
            <a:r>
              <a:rPr lang="en-CA" sz="2400" b="1" dirty="0">
                <a:solidFill>
                  <a:srgbClr val="00FF00"/>
                </a:solidFill>
              </a:rPr>
              <a:t>.</a:t>
            </a:r>
          </a:p>
        </p:txBody>
      </p:sp>
      <p:sp>
        <p:nvSpPr>
          <p:cNvPr id="12" name="TextBox 11">
            <a:extLst>
              <a:ext uri="{FF2B5EF4-FFF2-40B4-BE49-F238E27FC236}">
                <a16:creationId xmlns:a16="http://schemas.microsoft.com/office/drawing/2014/main" id="{93CCBD88-6103-9275-E626-1A8AEBF280DF}"/>
              </a:ext>
            </a:extLst>
          </p:cNvPr>
          <p:cNvSpPr txBox="1"/>
          <p:nvPr/>
        </p:nvSpPr>
        <p:spPr>
          <a:xfrm>
            <a:off x="6121750" y="1233994"/>
            <a:ext cx="2130904" cy="1569660"/>
          </a:xfrm>
          <a:prstGeom prst="rect">
            <a:avLst/>
          </a:prstGeom>
          <a:noFill/>
        </p:spPr>
        <p:txBody>
          <a:bodyPr wrap="none" rtlCol="0">
            <a:spAutoFit/>
          </a:bodyPr>
          <a:lstStyle/>
          <a:p>
            <a:r>
              <a:rPr lang="en-CA" sz="2400" b="1" dirty="0">
                <a:solidFill>
                  <a:srgbClr val="FFFFFF"/>
                </a:solidFill>
              </a:rPr>
              <a:t>Integrated</a:t>
            </a:r>
          </a:p>
          <a:p>
            <a:r>
              <a:rPr lang="en-CA" sz="2400" b="1" dirty="0">
                <a:solidFill>
                  <a:srgbClr val="FFFFFF"/>
                </a:solidFill>
              </a:rPr>
              <a:t>Development</a:t>
            </a:r>
          </a:p>
          <a:p>
            <a:r>
              <a:rPr lang="en-CA" sz="2400" b="1" dirty="0">
                <a:solidFill>
                  <a:srgbClr val="FFFFFF"/>
                </a:solidFill>
              </a:rPr>
              <a:t>Environment</a:t>
            </a:r>
          </a:p>
          <a:p>
            <a:r>
              <a:rPr lang="en-CA" sz="2400" b="1" dirty="0">
                <a:solidFill>
                  <a:srgbClr val="CC99FF"/>
                </a:solidFill>
              </a:rPr>
              <a:t>(</a:t>
            </a:r>
            <a:r>
              <a:rPr lang="en-CA" sz="2400" b="1" dirty="0">
                <a:solidFill>
                  <a:srgbClr val="FFFFFF"/>
                </a:solidFill>
              </a:rPr>
              <a:t>IDE</a:t>
            </a:r>
            <a:r>
              <a:rPr lang="en-CA" sz="2400" b="1" dirty="0">
                <a:solidFill>
                  <a:srgbClr val="CC99FF"/>
                </a:solidFill>
              </a:rPr>
              <a:t>)</a:t>
            </a:r>
            <a:r>
              <a:rPr lang="en-CA" sz="2400" b="1" dirty="0">
                <a:solidFill>
                  <a:srgbClr val="00FF00"/>
                </a:solidFill>
              </a:rPr>
              <a:t>.</a:t>
            </a:r>
          </a:p>
        </p:txBody>
      </p:sp>
      <p:sp>
        <p:nvSpPr>
          <p:cNvPr id="13" name="TextBox 12">
            <a:extLst>
              <a:ext uri="{FF2B5EF4-FFF2-40B4-BE49-F238E27FC236}">
                <a16:creationId xmlns:a16="http://schemas.microsoft.com/office/drawing/2014/main" id="{D8CB42D6-1553-C7D7-01B6-68A81AFABF48}"/>
              </a:ext>
            </a:extLst>
          </p:cNvPr>
          <p:cNvSpPr txBox="1"/>
          <p:nvPr/>
        </p:nvSpPr>
        <p:spPr>
          <a:xfrm>
            <a:off x="8940585" y="1981938"/>
            <a:ext cx="1250855" cy="830997"/>
          </a:xfrm>
          <a:prstGeom prst="rect">
            <a:avLst/>
          </a:prstGeom>
          <a:noFill/>
        </p:spPr>
        <p:txBody>
          <a:bodyPr wrap="none" rtlCol="0">
            <a:spAutoFit/>
          </a:bodyPr>
          <a:lstStyle/>
          <a:p>
            <a:r>
              <a:rPr lang="en-CA" sz="2400" b="1" dirty="0">
                <a:solidFill>
                  <a:srgbClr val="FFFFFF"/>
                </a:solidFill>
              </a:rPr>
              <a:t>AI</a:t>
            </a:r>
            <a:r>
              <a:rPr lang="en-CA" sz="2400" b="1" dirty="0">
                <a:solidFill>
                  <a:srgbClr val="CC99FF"/>
                </a:solidFill>
              </a:rPr>
              <a:t>-</a:t>
            </a:r>
            <a:r>
              <a:rPr lang="en-CA" sz="2400" b="1" dirty="0">
                <a:solidFill>
                  <a:srgbClr val="FFFFFF"/>
                </a:solidFill>
              </a:rPr>
              <a:t>First</a:t>
            </a:r>
          </a:p>
          <a:p>
            <a:r>
              <a:rPr lang="en-CA" sz="2400" b="1" dirty="0">
                <a:solidFill>
                  <a:srgbClr val="FFFFFF"/>
                </a:solidFill>
              </a:rPr>
              <a:t>IDE</a:t>
            </a:r>
            <a:r>
              <a:rPr lang="en-CA" sz="2400" b="1" dirty="0">
                <a:solidFill>
                  <a:srgbClr val="00FF00"/>
                </a:solidFill>
              </a:rPr>
              <a:t>.</a:t>
            </a:r>
          </a:p>
        </p:txBody>
      </p:sp>
      <p:pic>
        <p:nvPicPr>
          <p:cNvPr id="14" name="Picture 10" descr="Jupyter Notebooks. Amazing Tools For Data Science">
            <a:extLst>
              <a:ext uri="{FF2B5EF4-FFF2-40B4-BE49-F238E27FC236}">
                <a16:creationId xmlns:a16="http://schemas.microsoft.com/office/drawing/2014/main" id="{436AB7DF-CC52-6CF0-8E98-5997204739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0701" y="3020270"/>
            <a:ext cx="1162345" cy="1348008"/>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6">
            <a:extLst>
              <a:ext uri="{FF2B5EF4-FFF2-40B4-BE49-F238E27FC236}">
                <a16:creationId xmlns:a16="http://schemas.microsoft.com/office/drawing/2014/main" id="{FB9B9669-1C2D-739D-67E8-B2DE157EC3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5806" y="4283214"/>
            <a:ext cx="1159681" cy="1159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51759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F9370-688D-1C69-8A09-DC89AB7D170F}"/>
              </a:ext>
            </a:extLst>
          </p:cNvPr>
          <p:cNvSpPr>
            <a:spLocks noGrp="1"/>
          </p:cNvSpPr>
          <p:nvPr>
            <p:ph type="title"/>
          </p:nvPr>
        </p:nvSpPr>
        <p:spPr/>
        <p:txBody>
          <a:bodyPr>
            <a:normAutofit fontScale="90000"/>
          </a:bodyPr>
          <a:lstStyle/>
          <a:p>
            <a:r>
              <a:rPr lang="en-CA" dirty="0"/>
              <a:t>Using an Integrated Development Environment (IDE)</a:t>
            </a:r>
          </a:p>
        </p:txBody>
      </p:sp>
      <p:sp>
        <p:nvSpPr>
          <p:cNvPr id="3" name="Content Placeholder 2">
            <a:extLst>
              <a:ext uri="{FF2B5EF4-FFF2-40B4-BE49-F238E27FC236}">
                <a16:creationId xmlns:a16="http://schemas.microsoft.com/office/drawing/2014/main" id="{43862CED-66D4-2419-C23C-F119328940F7}"/>
              </a:ext>
            </a:extLst>
          </p:cNvPr>
          <p:cNvSpPr>
            <a:spLocks noGrp="1"/>
          </p:cNvSpPr>
          <p:nvPr>
            <p:ph idx="1"/>
          </p:nvPr>
        </p:nvSpPr>
        <p:spPr/>
        <p:txBody>
          <a:bodyPr>
            <a:normAutofit fontScale="92500" lnSpcReduction="10000"/>
          </a:bodyPr>
          <a:lstStyle/>
          <a:p>
            <a:r>
              <a:rPr lang="en-CA" dirty="0"/>
              <a:t>IDEs are programs that provides tools and features to programmers in a unified environment</a:t>
            </a:r>
          </a:p>
          <a:p>
            <a:r>
              <a:rPr lang="en-CA" dirty="0"/>
              <a:t>IDEs often include:</a:t>
            </a:r>
          </a:p>
          <a:p>
            <a:pPr lvl="1"/>
            <a:r>
              <a:rPr lang="en-CA" dirty="0"/>
              <a:t>A code editor</a:t>
            </a:r>
          </a:p>
          <a:p>
            <a:pPr lvl="2"/>
            <a:r>
              <a:rPr lang="en-CA" dirty="0"/>
              <a:t>A place to type and edit code, usually with colour-coded syntax highlighting to improve readability</a:t>
            </a:r>
          </a:p>
          <a:p>
            <a:pPr lvl="1"/>
            <a:r>
              <a:rPr lang="en-CA" dirty="0"/>
              <a:t>Code compilers or interpreters</a:t>
            </a:r>
          </a:p>
          <a:p>
            <a:pPr lvl="2"/>
            <a:r>
              <a:rPr lang="en-CA" dirty="0"/>
              <a:t>Turns the readable Python code into something the machine can understand</a:t>
            </a:r>
          </a:p>
          <a:p>
            <a:pPr lvl="1"/>
            <a:r>
              <a:rPr lang="en-CA" dirty="0"/>
              <a:t>Debuggers</a:t>
            </a:r>
          </a:p>
          <a:p>
            <a:pPr lvl="2"/>
            <a:r>
              <a:rPr lang="en-CA" dirty="0"/>
              <a:t>Pause the code at pre-determined locations and go line-by-line through your code</a:t>
            </a:r>
          </a:p>
          <a:p>
            <a:pPr lvl="1"/>
            <a:r>
              <a:rPr lang="en-CA" dirty="0"/>
              <a:t>Version Control (i.e., git)</a:t>
            </a:r>
          </a:p>
          <a:p>
            <a:pPr lvl="1"/>
            <a:r>
              <a:rPr lang="en-CA" dirty="0"/>
              <a:t>Code navigation tools</a:t>
            </a:r>
          </a:p>
          <a:p>
            <a:pPr lvl="1"/>
            <a:r>
              <a:rPr lang="en-CA" dirty="0"/>
              <a:t>A Built-in terminal </a:t>
            </a:r>
          </a:p>
          <a:p>
            <a:pPr lvl="1"/>
            <a:r>
              <a:rPr lang="en-CA" dirty="0"/>
              <a:t>Integrated documentation (access to help resources from within the IDE)</a:t>
            </a:r>
          </a:p>
          <a:p>
            <a:endParaRPr lang="en-CA" dirty="0"/>
          </a:p>
        </p:txBody>
      </p:sp>
    </p:spTree>
    <p:extLst>
      <p:ext uri="{BB962C8B-B14F-4D97-AF65-F5344CB8AC3E}">
        <p14:creationId xmlns:p14="http://schemas.microsoft.com/office/powerpoint/2010/main" val="6035150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929F8-9DD9-577F-3FDF-7A105C6616DA}"/>
              </a:ext>
            </a:extLst>
          </p:cNvPr>
          <p:cNvSpPr>
            <a:spLocks noGrp="1"/>
          </p:cNvSpPr>
          <p:nvPr>
            <p:ph type="title"/>
          </p:nvPr>
        </p:nvSpPr>
        <p:spPr/>
        <p:txBody>
          <a:bodyPr>
            <a:normAutofit fontScale="90000"/>
          </a:bodyPr>
          <a:lstStyle/>
          <a:p>
            <a:r>
              <a:rPr lang="en-CA" dirty="0"/>
              <a:t>Which should IDE to use?</a:t>
            </a:r>
          </a:p>
        </p:txBody>
      </p:sp>
      <p:sp>
        <p:nvSpPr>
          <p:cNvPr id="3" name="Content Placeholder 2">
            <a:extLst>
              <a:ext uri="{FF2B5EF4-FFF2-40B4-BE49-F238E27FC236}">
                <a16:creationId xmlns:a16="http://schemas.microsoft.com/office/drawing/2014/main" id="{5B9B2EAD-51E2-FF85-F4A9-92438B5898CE}"/>
              </a:ext>
            </a:extLst>
          </p:cNvPr>
          <p:cNvSpPr>
            <a:spLocks noGrp="1"/>
          </p:cNvSpPr>
          <p:nvPr>
            <p:ph idx="1"/>
          </p:nvPr>
        </p:nvSpPr>
        <p:spPr/>
        <p:txBody>
          <a:bodyPr>
            <a:normAutofit fontScale="85000" lnSpcReduction="20000"/>
          </a:bodyPr>
          <a:lstStyle/>
          <a:p>
            <a:r>
              <a:rPr lang="en-CA" dirty="0"/>
              <a:t>IDLE is the official IDE included with Python that provides a basic environment for editing and running programs</a:t>
            </a:r>
          </a:p>
          <a:p>
            <a:r>
              <a:rPr lang="en-CA" dirty="0"/>
              <a:t>Other popular IDEs differ in features and supported programming languages</a:t>
            </a:r>
          </a:p>
          <a:p>
            <a:r>
              <a:rPr lang="en-CA" dirty="0"/>
              <a:t>Popular IDEs include:</a:t>
            </a:r>
          </a:p>
          <a:p>
            <a:pPr lvl="1"/>
            <a:r>
              <a:rPr lang="en-CA" dirty="0"/>
              <a:t>Visual Studio / VS Code (Microsoft)</a:t>
            </a:r>
          </a:p>
          <a:p>
            <a:pPr lvl="1"/>
            <a:r>
              <a:rPr lang="en-CA" dirty="0" err="1"/>
              <a:t>Xcode</a:t>
            </a:r>
            <a:r>
              <a:rPr lang="en-CA" dirty="0"/>
              <a:t> (Apple)</a:t>
            </a:r>
          </a:p>
          <a:p>
            <a:pPr lvl="1"/>
            <a:r>
              <a:rPr lang="en-CA" dirty="0"/>
              <a:t>Android Studio (Google)</a:t>
            </a:r>
          </a:p>
          <a:p>
            <a:pPr lvl="1"/>
            <a:r>
              <a:rPr lang="en-CA" dirty="0"/>
              <a:t>PyCharm</a:t>
            </a:r>
          </a:p>
          <a:p>
            <a:pPr lvl="1"/>
            <a:r>
              <a:rPr lang="en-CA" dirty="0" err="1"/>
              <a:t>Jupyter</a:t>
            </a:r>
            <a:r>
              <a:rPr lang="en-CA" dirty="0"/>
              <a:t> (web-based)</a:t>
            </a:r>
          </a:p>
          <a:p>
            <a:pPr lvl="1"/>
            <a:r>
              <a:rPr lang="en-CA" dirty="0"/>
              <a:t>NetBeans</a:t>
            </a:r>
          </a:p>
          <a:p>
            <a:pPr lvl="1"/>
            <a:r>
              <a:rPr lang="en-CA" dirty="0"/>
              <a:t>Eclipse</a:t>
            </a:r>
          </a:p>
          <a:p>
            <a:pPr marL="0" indent="0">
              <a:buNone/>
            </a:pPr>
            <a:endParaRPr lang="en-CA" dirty="0"/>
          </a:p>
          <a:p>
            <a:r>
              <a:rPr lang="en-CA" dirty="0"/>
              <a:t>This course will both </a:t>
            </a:r>
            <a:r>
              <a:rPr lang="en-CA" dirty="0" err="1"/>
              <a:t>VSCode</a:t>
            </a:r>
            <a:r>
              <a:rPr lang="en-CA" dirty="0"/>
              <a:t> and </a:t>
            </a:r>
            <a:r>
              <a:rPr lang="en-CA" dirty="0" err="1"/>
              <a:t>Jupyter</a:t>
            </a:r>
            <a:r>
              <a:rPr lang="en-CA" dirty="0"/>
              <a:t>.  </a:t>
            </a:r>
          </a:p>
          <a:p>
            <a:pPr lvl="1"/>
            <a:r>
              <a:rPr lang="en-CA" dirty="0" err="1"/>
              <a:t>Jupyter</a:t>
            </a:r>
            <a:r>
              <a:rPr lang="en-CA" dirty="0"/>
              <a:t> will be used in lectures, and </a:t>
            </a:r>
            <a:r>
              <a:rPr lang="en-CA" dirty="0" err="1"/>
              <a:t>VSCode</a:t>
            </a:r>
            <a:r>
              <a:rPr lang="en-CA" dirty="0"/>
              <a:t> is the supported IDE in later labs.</a:t>
            </a:r>
          </a:p>
          <a:p>
            <a:endParaRPr lang="en-CA" dirty="0"/>
          </a:p>
        </p:txBody>
      </p:sp>
      <p:sp>
        <p:nvSpPr>
          <p:cNvPr id="4" name="TextBox 3">
            <a:extLst>
              <a:ext uri="{FF2B5EF4-FFF2-40B4-BE49-F238E27FC236}">
                <a16:creationId xmlns:a16="http://schemas.microsoft.com/office/drawing/2014/main" id="{2E1B1DD1-E809-C3DD-DABF-BBDDD560B316}"/>
              </a:ext>
            </a:extLst>
          </p:cNvPr>
          <p:cNvSpPr txBox="1"/>
          <p:nvPr/>
        </p:nvSpPr>
        <p:spPr>
          <a:xfrm>
            <a:off x="6096000" y="3305464"/>
            <a:ext cx="5790731" cy="147732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CA" dirty="0"/>
              <a:t>To write a document, you use a “Word Processor” such as Microsoft Word, Google Docs, or Apple Pages </a:t>
            </a:r>
          </a:p>
          <a:p>
            <a:pPr algn="ctr"/>
            <a:endParaRPr lang="en-CA" dirty="0"/>
          </a:p>
          <a:p>
            <a:pPr algn="ctr"/>
            <a:r>
              <a:rPr lang="en-CA" dirty="0"/>
              <a:t>Similarly, to write a software program, you use an IDE such as IDLE, PyCharm, or </a:t>
            </a:r>
            <a:r>
              <a:rPr lang="en-CA" dirty="0" err="1"/>
              <a:t>Jupyter</a:t>
            </a:r>
            <a:endParaRPr lang="en-CA" dirty="0"/>
          </a:p>
        </p:txBody>
      </p:sp>
    </p:spTree>
    <p:extLst>
      <p:ext uri="{BB962C8B-B14F-4D97-AF65-F5344CB8AC3E}">
        <p14:creationId xmlns:p14="http://schemas.microsoft.com/office/powerpoint/2010/main" val="2886238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DB80-4E4C-98A4-4E6D-8F60533F2F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1AF97-CF9F-C9DA-F306-AC1197B81F0C}"/>
              </a:ext>
            </a:extLst>
          </p:cNvPr>
          <p:cNvSpPr>
            <a:spLocks noGrp="1"/>
          </p:cNvSpPr>
          <p:nvPr>
            <p:ph type="title"/>
          </p:nvPr>
        </p:nvSpPr>
        <p:spPr>
          <a:xfrm>
            <a:off x="429776" y="727514"/>
            <a:ext cx="11509810" cy="656148"/>
          </a:xfrm>
        </p:spPr>
        <p:txBody>
          <a:bodyPr>
            <a:noAutofit/>
          </a:bodyPr>
          <a:lstStyle/>
          <a:p>
            <a:r>
              <a:rPr lang="en-CA" sz="3200" dirty="0">
                <a:solidFill>
                  <a:schemeClr val="accent6"/>
                </a:solidFill>
              </a:rPr>
              <a:t>Friendly Warning:</a:t>
            </a:r>
            <a:r>
              <a:rPr lang="en-CA" sz="3200" dirty="0"/>
              <a:t> Visual Studio (VS) Code </a:t>
            </a:r>
            <a:r>
              <a:rPr lang="en-CA" sz="3200" dirty="0">
                <a:solidFill>
                  <a:schemeClr val="accent6"/>
                </a:solidFill>
              </a:rPr>
              <a:t>≠</a:t>
            </a:r>
            <a:r>
              <a:rPr lang="en-CA" sz="3200" dirty="0"/>
              <a:t> Visual Studio </a:t>
            </a:r>
          </a:p>
        </p:txBody>
      </p:sp>
      <p:sp>
        <p:nvSpPr>
          <p:cNvPr id="3" name="Content Placeholder 2">
            <a:extLst>
              <a:ext uri="{FF2B5EF4-FFF2-40B4-BE49-F238E27FC236}">
                <a16:creationId xmlns:a16="http://schemas.microsoft.com/office/drawing/2014/main" id="{4B35B98A-66F7-D314-2A2D-0F092EEAC764}"/>
              </a:ext>
            </a:extLst>
          </p:cNvPr>
          <p:cNvSpPr>
            <a:spLocks noGrp="1"/>
          </p:cNvSpPr>
          <p:nvPr>
            <p:ph idx="1"/>
          </p:nvPr>
        </p:nvSpPr>
        <p:spPr>
          <a:xfrm>
            <a:off x="288274" y="2923262"/>
            <a:ext cx="5524500" cy="1979237"/>
          </a:xfrm>
        </p:spPr>
        <p:style>
          <a:lnRef idx="3">
            <a:schemeClr val="lt1"/>
          </a:lnRef>
          <a:fillRef idx="1">
            <a:schemeClr val="accent6"/>
          </a:fillRef>
          <a:effectRef idx="1">
            <a:schemeClr val="accent6"/>
          </a:effectRef>
          <a:fontRef idx="minor">
            <a:schemeClr val="lt1"/>
          </a:fontRef>
        </p:style>
        <p:txBody>
          <a:bodyPr>
            <a:normAutofit/>
          </a:bodyPr>
          <a:lstStyle/>
          <a:p>
            <a:r>
              <a:rPr lang="en-CA" sz="2400" dirty="0"/>
              <a:t>Windows, Mac, Linux</a:t>
            </a:r>
          </a:p>
          <a:p>
            <a:r>
              <a:rPr lang="en-CA" sz="2400" dirty="0"/>
              <a:t>Faster for laptops &amp; older computers</a:t>
            </a:r>
          </a:p>
          <a:p>
            <a:r>
              <a:rPr lang="en-CA" sz="2400" dirty="0"/>
              <a:t>Simple interface, quick to set up</a:t>
            </a:r>
          </a:p>
          <a:p>
            <a:r>
              <a:rPr lang="en-CA" sz="2400" dirty="0"/>
              <a:t>Flexible extensions as required</a:t>
            </a:r>
          </a:p>
        </p:txBody>
      </p:sp>
      <p:sp>
        <p:nvSpPr>
          <p:cNvPr id="4" name="Content Placeholder 2">
            <a:extLst>
              <a:ext uri="{FF2B5EF4-FFF2-40B4-BE49-F238E27FC236}">
                <a16:creationId xmlns:a16="http://schemas.microsoft.com/office/drawing/2014/main" id="{0DC3B9EE-AC57-7B1E-765E-4A0A746465EC}"/>
              </a:ext>
            </a:extLst>
          </p:cNvPr>
          <p:cNvSpPr txBox="1">
            <a:spLocks/>
          </p:cNvSpPr>
          <p:nvPr/>
        </p:nvSpPr>
        <p:spPr>
          <a:xfrm>
            <a:off x="6415088" y="2923262"/>
            <a:ext cx="5524500" cy="1979237"/>
          </a:xfrm>
          <a:prstGeom prst="rect">
            <a:avLst/>
          </a:prstGeom>
        </p:spPr>
        <p:style>
          <a:lnRef idx="3">
            <a:schemeClr val="lt1"/>
          </a:lnRef>
          <a:fillRef idx="1">
            <a:schemeClr val="accent5"/>
          </a:fillRef>
          <a:effectRef idx="1">
            <a:schemeClr val="accent5"/>
          </a:effectRef>
          <a:fontRef idx="minor">
            <a:schemeClr val="lt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007EE5"/>
              </a:buClr>
              <a:buFont typeface="Wingdings" panose="05000000000000000000" pitchFamily="2" charset="2"/>
              <a:buChar char="§"/>
              <a:defRPr sz="2800" kern="1200">
                <a:solidFill>
                  <a:srgbClr val="FFFFFF"/>
                </a:solidFill>
                <a:latin typeface="+mn-lt"/>
                <a:ea typeface="+mn-ea"/>
                <a:cs typeface="+mn-cs"/>
              </a:defRPr>
            </a:lvl1pPr>
            <a:lvl2pPr marL="685800" indent="-228600" algn="l" defTabSz="914400" rtl="0" eaLnBrk="1" latinLnBrk="0" hangingPunct="1">
              <a:lnSpc>
                <a:spcPct val="90000"/>
              </a:lnSpc>
              <a:spcBef>
                <a:spcPts val="500"/>
              </a:spcBef>
              <a:buClr>
                <a:srgbClr val="007EE5"/>
              </a:buClr>
              <a:buFont typeface="Wingdings" panose="05000000000000000000" pitchFamily="2" charset="2"/>
              <a:buChar char="§"/>
              <a:defRPr sz="2400" kern="1200">
                <a:solidFill>
                  <a:srgbClr val="FFFFFF"/>
                </a:solidFill>
                <a:latin typeface="+mn-lt"/>
                <a:ea typeface="+mn-ea"/>
                <a:cs typeface="+mn-cs"/>
              </a:defRPr>
            </a:lvl2pPr>
            <a:lvl3pPr marL="1143000" indent="-228600" algn="l" defTabSz="914400" rtl="0" eaLnBrk="1" latinLnBrk="0" hangingPunct="1">
              <a:lnSpc>
                <a:spcPct val="90000"/>
              </a:lnSpc>
              <a:spcBef>
                <a:spcPts val="500"/>
              </a:spcBef>
              <a:buClr>
                <a:srgbClr val="007EE5"/>
              </a:buClr>
              <a:buFont typeface="Wingdings" panose="05000000000000000000" pitchFamily="2" charset="2"/>
              <a:buChar char="§"/>
              <a:defRPr sz="2000" kern="1200">
                <a:solidFill>
                  <a:srgbClr val="FFFFFF"/>
                </a:solidFill>
                <a:latin typeface="+mn-lt"/>
                <a:ea typeface="+mn-ea"/>
                <a:cs typeface="+mn-cs"/>
              </a:defRPr>
            </a:lvl3pPr>
            <a:lvl4pPr marL="1600200" indent="-228600" algn="l" defTabSz="914400" rtl="0" eaLnBrk="1" latinLnBrk="0" hangingPunct="1">
              <a:lnSpc>
                <a:spcPct val="90000"/>
              </a:lnSpc>
              <a:spcBef>
                <a:spcPts val="500"/>
              </a:spcBef>
              <a:buClr>
                <a:srgbClr val="007EE5"/>
              </a:buClr>
              <a:buFont typeface="Wingdings" panose="05000000000000000000" pitchFamily="2" charset="2"/>
              <a:buChar char="§"/>
              <a:defRPr sz="1800" kern="1200">
                <a:solidFill>
                  <a:srgbClr val="FFFFFF"/>
                </a:solidFill>
                <a:latin typeface="+mn-lt"/>
                <a:ea typeface="+mn-ea"/>
                <a:cs typeface="+mn-cs"/>
              </a:defRPr>
            </a:lvl4pPr>
            <a:lvl5pPr marL="2057400" indent="-228600" algn="l" defTabSz="914400" rtl="0" eaLnBrk="1" latinLnBrk="0" hangingPunct="1">
              <a:lnSpc>
                <a:spcPct val="90000"/>
              </a:lnSpc>
              <a:spcBef>
                <a:spcPts val="500"/>
              </a:spcBef>
              <a:buClr>
                <a:srgbClr val="007EE5"/>
              </a:buClr>
              <a:buFont typeface="Wingdings" panose="05000000000000000000" pitchFamily="2" charset="2"/>
              <a:buChar char="§"/>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sz="2400" dirty="0"/>
              <a:t>Primarily Windows</a:t>
            </a:r>
          </a:p>
          <a:p>
            <a:r>
              <a:rPr lang="en-CA" sz="2400" dirty="0"/>
              <a:t>For large enterprise projects</a:t>
            </a:r>
          </a:p>
          <a:p>
            <a:r>
              <a:rPr lang="en-CA" sz="2400" dirty="0"/>
              <a:t>Requires more system resources</a:t>
            </a:r>
          </a:p>
          <a:p>
            <a:r>
              <a:rPr lang="en-CA" sz="2400" dirty="0"/>
              <a:t>Complex interface for experts</a:t>
            </a:r>
          </a:p>
        </p:txBody>
      </p:sp>
      <p:sp>
        <p:nvSpPr>
          <p:cNvPr id="5" name="Content Placeholder 2">
            <a:extLst>
              <a:ext uri="{FF2B5EF4-FFF2-40B4-BE49-F238E27FC236}">
                <a16:creationId xmlns:a16="http://schemas.microsoft.com/office/drawing/2014/main" id="{C972CDBC-610C-55C6-8B3D-28ECCBCA439C}"/>
              </a:ext>
            </a:extLst>
          </p:cNvPr>
          <p:cNvSpPr txBox="1">
            <a:spLocks/>
          </p:cNvSpPr>
          <p:nvPr/>
        </p:nvSpPr>
        <p:spPr>
          <a:xfrm>
            <a:off x="288274" y="5075173"/>
            <a:ext cx="11651312" cy="1538983"/>
          </a:xfrm>
          <a:prstGeom prst="rect">
            <a:avLst/>
          </a:prstGeom>
        </p:spPr>
        <p:style>
          <a:lnRef idx="1">
            <a:schemeClr val="accent6"/>
          </a:lnRef>
          <a:fillRef idx="3">
            <a:schemeClr val="accent6"/>
          </a:fillRef>
          <a:effectRef idx="2">
            <a:schemeClr val="accent6"/>
          </a:effectRef>
          <a:fontRef idx="minor">
            <a:schemeClr val="lt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007EE5"/>
              </a:buClr>
              <a:buFont typeface="Wingdings" panose="05000000000000000000" pitchFamily="2" charset="2"/>
              <a:buChar char="§"/>
              <a:defRPr sz="2800" kern="1200">
                <a:solidFill>
                  <a:srgbClr val="FFFFFF"/>
                </a:solidFill>
                <a:latin typeface="+mn-lt"/>
                <a:ea typeface="+mn-ea"/>
                <a:cs typeface="+mn-cs"/>
              </a:defRPr>
            </a:lvl1pPr>
            <a:lvl2pPr marL="685800" indent="-228600" algn="l" defTabSz="914400" rtl="0" eaLnBrk="1" latinLnBrk="0" hangingPunct="1">
              <a:lnSpc>
                <a:spcPct val="90000"/>
              </a:lnSpc>
              <a:spcBef>
                <a:spcPts val="500"/>
              </a:spcBef>
              <a:buClr>
                <a:srgbClr val="007EE5"/>
              </a:buClr>
              <a:buFont typeface="Wingdings" panose="05000000000000000000" pitchFamily="2" charset="2"/>
              <a:buChar char="§"/>
              <a:defRPr sz="2400" kern="1200">
                <a:solidFill>
                  <a:srgbClr val="FFFFFF"/>
                </a:solidFill>
                <a:latin typeface="+mn-lt"/>
                <a:ea typeface="+mn-ea"/>
                <a:cs typeface="+mn-cs"/>
              </a:defRPr>
            </a:lvl2pPr>
            <a:lvl3pPr marL="1143000" indent="-228600" algn="l" defTabSz="914400" rtl="0" eaLnBrk="1" latinLnBrk="0" hangingPunct="1">
              <a:lnSpc>
                <a:spcPct val="90000"/>
              </a:lnSpc>
              <a:spcBef>
                <a:spcPts val="500"/>
              </a:spcBef>
              <a:buClr>
                <a:srgbClr val="007EE5"/>
              </a:buClr>
              <a:buFont typeface="Wingdings" panose="05000000000000000000" pitchFamily="2" charset="2"/>
              <a:buChar char="§"/>
              <a:defRPr sz="2000" kern="1200">
                <a:solidFill>
                  <a:srgbClr val="FFFFFF"/>
                </a:solidFill>
                <a:latin typeface="+mn-lt"/>
                <a:ea typeface="+mn-ea"/>
                <a:cs typeface="+mn-cs"/>
              </a:defRPr>
            </a:lvl3pPr>
            <a:lvl4pPr marL="1600200" indent="-228600" algn="l" defTabSz="914400" rtl="0" eaLnBrk="1" latinLnBrk="0" hangingPunct="1">
              <a:lnSpc>
                <a:spcPct val="90000"/>
              </a:lnSpc>
              <a:spcBef>
                <a:spcPts val="500"/>
              </a:spcBef>
              <a:buClr>
                <a:srgbClr val="007EE5"/>
              </a:buClr>
              <a:buFont typeface="Wingdings" panose="05000000000000000000" pitchFamily="2" charset="2"/>
              <a:buChar char="§"/>
              <a:defRPr sz="1800" kern="1200">
                <a:solidFill>
                  <a:srgbClr val="FFFFFF"/>
                </a:solidFill>
                <a:latin typeface="+mn-lt"/>
                <a:ea typeface="+mn-ea"/>
                <a:cs typeface="+mn-cs"/>
              </a:defRPr>
            </a:lvl4pPr>
            <a:lvl5pPr marL="2057400" indent="-228600" algn="l" defTabSz="914400" rtl="0" eaLnBrk="1" latinLnBrk="0" hangingPunct="1">
              <a:lnSpc>
                <a:spcPct val="90000"/>
              </a:lnSpc>
              <a:spcBef>
                <a:spcPts val="500"/>
              </a:spcBef>
              <a:buClr>
                <a:srgbClr val="007EE5"/>
              </a:buClr>
              <a:buFont typeface="Wingdings" panose="05000000000000000000" pitchFamily="2" charset="2"/>
              <a:buChar char="§"/>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CA" sz="2400" dirty="0" err="1"/>
              <a:t>VSCode</a:t>
            </a:r>
            <a:r>
              <a:rPr lang="en-CA" sz="2400" dirty="0"/>
              <a:t> is good enough (and recommended) for APS106!</a:t>
            </a:r>
          </a:p>
          <a:p>
            <a:r>
              <a:rPr lang="en-CA" sz="2400" dirty="0"/>
              <a:t>You may use other IDEs if you are comfortable</a:t>
            </a:r>
          </a:p>
          <a:p>
            <a:r>
              <a:rPr lang="en-CA" sz="2400" dirty="0" err="1"/>
              <a:t>VSCode</a:t>
            </a:r>
            <a:r>
              <a:rPr lang="en-CA" sz="2400" dirty="0"/>
              <a:t> is the supported IDE in labs</a:t>
            </a:r>
          </a:p>
        </p:txBody>
      </p:sp>
      <p:pic>
        <p:nvPicPr>
          <p:cNvPr id="8" name="Picture 7" descr="A close up of a logo&#10;&#10;Description automatically generated">
            <a:extLst>
              <a:ext uri="{FF2B5EF4-FFF2-40B4-BE49-F238E27FC236}">
                <a16:creationId xmlns:a16="http://schemas.microsoft.com/office/drawing/2014/main" id="{B326D392-30B4-0837-A3CF-972587BA93FD}"/>
              </a:ext>
            </a:extLst>
          </p:cNvPr>
          <p:cNvPicPr>
            <a:picLocks noChangeAspect="1"/>
          </p:cNvPicPr>
          <p:nvPr/>
        </p:nvPicPr>
        <p:blipFill>
          <a:blip r:embed="rId2">
            <a:extLst>
              <a:ext uri="{28A0092B-C50C-407E-A947-70E740481C1C}">
                <a14:useLocalDpi xmlns:a14="http://schemas.microsoft.com/office/drawing/2010/main" val="0"/>
              </a:ext>
            </a:extLst>
          </a:blip>
          <a:srcRect t="4960" r="52682" b="42361"/>
          <a:stretch/>
        </p:blipFill>
        <p:spPr>
          <a:xfrm>
            <a:off x="6415087" y="1443162"/>
            <a:ext cx="5524499" cy="1307426"/>
          </a:xfrm>
          <a:prstGeom prst="rect">
            <a:avLst/>
          </a:prstGeom>
        </p:spPr>
      </p:pic>
      <p:pic>
        <p:nvPicPr>
          <p:cNvPr id="9" name="Picture 8" descr="A close up of a logo&#10;&#10;Description automatically generated">
            <a:extLst>
              <a:ext uri="{FF2B5EF4-FFF2-40B4-BE49-F238E27FC236}">
                <a16:creationId xmlns:a16="http://schemas.microsoft.com/office/drawing/2014/main" id="{D8F63861-8B49-58BA-7583-C2C71BC544EB}"/>
              </a:ext>
            </a:extLst>
          </p:cNvPr>
          <p:cNvPicPr>
            <a:picLocks noChangeAspect="1"/>
          </p:cNvPicPr>
          <p:nvPr/>
        </p:nvPicPr>
        <p:blipFill>
          <a:blip r:embed="rId2">
            <a:extLst>
              <a:ext uri="{28A0092B-C50C-407E-A947-70E740481C1C}">
                <a14:useLocalDpi xmlns:a14="http://schemas.microsoft.com/office/drawing/2010/main" val="0"/>
              </a:ext>
            </a:extLst>
          </a:blip>
          <a:srcRect l="52989" t="4960" b="42361"/>
          <a:stretch/>
        </p:blipFill>
        <p:spPr>
          <a:xfrm>
            <a:off x="288274" y="1443162"/>
            <a:ext cx="5488639" cy="1307426"/>
          </a:xfrm>
          <a:prstGeom prst="rect">
            <a:avLst/>
          </a:prstGeom>
        </p:spPr>
      </p:pic>
    </p:spTree>
    <p:extLst>
      <p:ext uri="{BB962C8B-B14F-4D97-AF65-F5344CB8AC3E}">
        <p14:creationId xmlns:p14="http://schemas.microsoft.com/office/powerpoint/2010/main" val="3829345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779D6-273C-7A71-590B-6E2E20CAE527}"/>
              </a:ext>
            </a:extLst>
          </p:cNvPr>
          <p:cNvSpPr>
            <a:spLocks noGrp="1"/>
          </p:cNvSpPr>
          <p:nvPr>
            <p:ph type="title"/>
          </p:nvPr>
        </p:nvSpPr>
        <p:spPr>
          <a:xfrm>
            <a:off x="838200" y="558004"/>
            <a:ext cx="10515600" cy="656148"/>
          </a:xfrm>
        </p:spPr>
        <p:txBody>
          <a:bodyPr>
            <a:normAutofit fontScale="90000"/>
          </a:bodyPr>
          <a:lstStyle/>
          <a:p>
            <a:r>
              <a:rPr lang="en-CA" dirty="0"/>
              <a:t>A Quick Note on File Formats and Extensions</a:t>
            </a:r>
          </a:p>
        </p:txBody>
      </p:sp>
      <p:sp>
        <p:nvSpPr>
          <p:cNvPr id="3" name="Content Placeholder 2">
            <a:extLst>
              <a:ext uri="{FF2B5EF4-FFF2-40B4-BE49-F238E27FC236}">
                <a16:creationId xmlns:a16="http://schemas.microsoft.com/office/drawing/2014/main" id="{CC07D812-AA37-D8F8-0553-BA5B2ECB140B}"/>
              </a:ext>
            </a:extLst>
          </p:cNvPr>
          <p:cNvSpPr>
            <a:spLocks noGrp="1"/>
          </p:cNvSpPr>
          <p:nvPr>
            <p:ph idx="1"/>
          </p:nvPr>
        </p:nvSpPr>
        <p:spPr>
          <a:xfrm>
            <a:off x="565484" y="1344361"/>
            <a:ext cx="10788315" cy="4835479"/>
          </a:xfrm>
        </p:spPr>
        <p:txBody>
          <a:bodyPr>
            <a:normAutofit/>
          </a:bodyPr>
          <a:lstStyle/>
          <a:p>
            <a:r>
              <a:rPr lang="en-CA" sz="2200" dirty="0"/>
              <a:t>Files store data in different formats based on specific definitions</a:t>
            </a:r>
          </a:p>
          <a:p>
            <a:r>
              <a:rPr lang="en-CA" sz="2200" dirty="0"/>
              <a:t>An “extension” is the file name’s suffix, or the set of characters (usually 2-4) at the end of a file name, separated by a period (</a:t>
            </a:r>
            <a:r>
              <a:rPr lang="en-CA" sz="2200" dirty="0">
                <a:solidFill>
                  <a:schemeClr val="accent6"/>
                </a:solidFill>
              </a:rPr>
              <a:t>.</a:t>
            </a:r>
            <a:r>
              <a:rPr lang="en-CA" sz="2200" dirty="0"/>
              <a:t>)</a:t>
            </a:r>
          </a:p>
          <a:p>
            <a:pPr lvl="1"/>
            <a:endParaRPr lang="en-CA" sz="2200" dirty="0"/>
          </a:p>
        </p:txBody>
      </p:sp>
      <p:graphicFrame>
        <p:nvGraphicFramePr>
          <p:cNvPr id="4" name="Table 3">
            <a:extLst>
              <a:ext uri="{FF2B5EF4-FFF2-40B4-BE49-F238E27FC236}">
                <a16:creationId xmlns:a16="http://schemas.microsoft.com/office/drawing/2014/main" id="{E0D33F74-8DF2-7E5B-7780-24D4351B0BF5}"/>
              </a:ext>
            </a:extLst>
          </p:cNvPr>
          <p:cNvGraphicFramePr>
            <a:graphicFrameLocks noGrp="1"/>
          </p:cNvGraphicFramePr>
          <p:nvPr>
            <p:extLst>
              <p:ext uri="{D42A27DB-BD31-4B8C-83A1-F6EECF244321}">
                <p14:modId xmlns:p14="http://schemas.microsoft.com/office/powerpoint/2010/main" val="3015523907"/>
              </p:ext>
            </p:extLst>
          </p:nvPr>
        </p:nvGraphicFramePr>
        <p:xfrm>
          <a:off x="838200" y="2794955"/>
          <a:ext cx="6999704" cy="3657600"/>
        </p:xfrm>
        <a:graphic>
          <a:graphicData uri="http://schemas.openxmlformats.org/drawingml/2006/table">
            <a:tbl>
              <a:tblPr firstRow="1" bandRow="1">
                <a:tableStyleId>{5C22544A-7EE6-4342-B048-85BDC9FD1C3A}</a:tableStyleId>
              </a:tblPr>
              <a:tblGrid>
                <a:gridCol w="3499852">
                  <a:extLst>
                    <a:ext uri="{9D8B030D-6E8A-4147-A177-3AD203B41FA5}">
                      <a16:colId xmlns:a16="http://schemas.microsoft.com/office/drawing/2014/main" val="3306604620"/>
                    </a:ext>
                  </a:extLst>
                </a:gridCol>
                <a:gridCol w="3499852">
                  <a:extLst>
                    <a:ext uri="{9D8B030D-6E8A-4147-A177-3AD203B41FA5}">
                      <a16:colId xmlns:a16="http://schemas.microsoft.com/office/drawing/2014/main" val="2726236578"/>
                    </a:ext>
                  </a:extLst>
                </a:gridCol>
              </a:tblGrid>
              <a:tr h="286871">
                <a:tc>
                  <a:txBody>
                    <a:bodyPr/>
                    <a:lstStyle/>
                    <a:p>
                      <a:r>
                        <a:rPr lang="en-CA" sz="1800" dirty="0"/>
                        <a:t>File Types</a:t>
                      </a:r>
                    </a:p>
                  </a:txBody>
                  <a:tcPr/>
                </a:tc>
                <a:tc>
                  <a:txBody>
                    <a:bodyPr/>
                    <a:lstStyle/>
                    <a:p>
                      <a:r>
                        <a:rPr lang="en-CA" sz="1800" dirty="0"/>
                        <a:t>Common Extension Examples</a:t>
                      </a:r>
                    </a:p>
                  </a:txBody>
                  <a:tcPr/>
                </a:tc>
                <a:extLst>
                  <a:ext uri="{0D108BD9-81ED-4DB2-BD59-A6C34878D82A}">
                    <a16:rowId xmlns:a16="http://schemas.microsoft.com/office/drawing/2014/main" val="3646181090"/>
                  </a:ext>
                </a:extLst>
              </a:tr>
              <a:tr h="286871">
                <a:tc>
                  <a:txBody>
                    <a:bodyPr/>
                    <a:lstStyle/>
                    <a:p>
                      <a:r>
                        <a:rPr lang="en-CA" sz="1800" dirty="0"/>
                        <a:t>Plain text file</a:t>
                      </a:r>
                    </a:p>
                  </a:txBody>
                  <a:tcPr/>
                </a:tc>
                <a:tc>
                  <a:txBody>
                    <a:bodyPr/>
                    <a:lstStyle/>
                    <a:p>
                      <a:r>
                        <a:rPr lang="en-CA" sz="1800" dirty="0"/>
                        <a:t>.txt</a:t>
                      </a:r>
                    </a:p>
                  </a:txBody>
                  <a:tcPr/>
                </a:tc>
                <a:extLst>
                  <a:ext uri="{0D108BD9-81ED-4DB2-BD59-A6C34878D82A}">
                    <a16:rowId xmlns:a16="http://schemas.microsoft.com/office/drawing/2014/main" val="1134475943"/>
                  </a:ext>
                </a:extLst>
              </a:tr>
              <a:tr h="286871">
                <a:tc>
                  <a:txBody>
                    <a:bodyPr/>
                    <a:lstStyle/>
                    <a:p>
                      <a:r>
                        <a:rPr lang="en-CA" sz="1800" dirty="0"/>
                        <a:t>Word processor files</a:t>
                      </a:r>
                    </a:p>
                  </a:txBody>
                  <a:tcPr/>
                </a:tc>
                <a:tc>
                  <a:txBody>
                    <a:bodyPr/>
                    <a:lstStyle/>
                    <a:p>
                      <a:r>
                        <a:rPr lang="en-CA" sz="1800" dirty="0"/>
                        <a:t>.doc, .docx, .pdf</a:t>
                      </a:r>
                    </a:p>
                  </a:txBody>
                  <a:tcPr/>
                </a:tc>
                <a:extLst>
                  <a:ext uri="{0D108BD9-81ED-4DB2-BD59-A6C34878D82A}">
                    <a16:rowId xmlns:a16="http://schemas.microsoft.com/office/drawing/2014/main" val="2198717322"/>
                  </a:ext>
                </a:extLst>
              </a:tr>
              <a:tr h="286871">
                <a:tc>
                  <a:txBody>
                    <a:bodyPr/>
                    <a:lstStyle/>
                    <a:p>
                      <a:r>
                        <a:rPr lang="en-CA" sz="1800" dirty="0"/>
                        <a:t>Image files</a:t>
                      </a:r>
                    </a:p>
                  </a:txBody>
                  <a:tcPr/>
                </a:tc>
                <a:tc>
                  <a:txBody>
                    <a:bodyPr/>
                    <a:lstStyle/>
                    <a:p>
                      <a:r>
                        <a:rPr lang="en-CA" sz="1800" dirty="0"/>
                        <a:t>.jpg, .gif, .</a:t>
                      </a:r>
                      <a:r>
                        <a:rPr lang="en-CA" sz="1800" dirty="0" err="1"/>
                        <a:t>png</a:t>
                      </a:r>
                      <a:endParaRPr lang="en-CA" sz="1800" dirty="0"/>
                    </a:p>
                  </a:txBody>
                  <a:tcPr/>
                </a:tc>
                <a:extLst>
                  <a:ext uri="{0D108BD9-81ED-4DB2-BD59-A6C34878D82A}">
                    <a16:rowId xmlns:a16="http://schemas.microsoft.com/office/drawing/2014/main" val="4012340209"/>
                  </a:ext>
                </a:extLst>
              </a:tr>
              <a:tr h="286871">
                <a:tc>
                  <a:txBody>
                    <a:bodyPr/>
                    <a:lstStyle/>
                    <a:p>
                      <a:r>
                        <a:rPr lang="en-CA" sz="1800" dirty="0"/>
                        <a:t>Compressed/Archive files</a:t>
                      </a:r>
                    </a:p>
                  </a:txBody>
                  <a:tcPr/>
                </a:tc>
                <a:tc>
                  <a:txBody>
                    <a:bodyPr/>
                    <a:lstStyle/>
                    <a:p>
                      <a:r>
                        <a:rPr lang="en-CA" sz="1800" dirty="0"/>
                        <a:t>.zip, .</a:t>
                      </a:r>
                      <a:r>
                        <a:rPr lang="en-CA" sz="1800" dirty="0" err="1"/>
                        <a:t>rar</a:t>
                      </a:r>
                      <a:r>
                        <a:rPr lang="en-CA" sz="1800" dirty="0"/>
                        <a:t>, .7z</a:t>
                      </a:r>
                    </a:p>
                  </a:txBody>
                  <a:tcPr/>
                </a:tc>
                <a:extLst>
                  <a:ext uri="{0D108BD9-81ED-4DB2-BD59-A6C34878D82A}">
                    <a16:rowId xmlns:a16="http://schemas.microsoft.com/office/drawing/2014/main" val="1404256541"/>
                  </a:ext>
                </a:extLst>
              </a:tr>
              <a:tr h="286871">
                <a:tc>
                  <a:txBody>
                    <a:bodyPr/>
                    <a:lstStyle/>
                    <a:p>
                      <a:r>
                        <a:rPr lang="en-CA" sz="1800" dirty="0"/>
                        <a:t>Video files</a:t>
                      </a:r>
                    </a:p>
                  </a:txBody>
                  <a:tcPr/>
                </a:tc>
                <a:tc>
                  <a:txBody>
                    <a:bodyPr/>
                    <a:lstStyle/>
                    <a:p>
                      <a:r>
                        <a:rPr lang="en-CA" sz="1800" dirty="0"/>
                        <a:t>.mpg, .mp4, .</a:t>
                      </a:r>
                      <a:r>
                        <a:rPr lang="en-CA" sz="1800" dirty="0" err="1"/>
                        <a:t>avi</a:t>
                      </a:r>
                      <a:endParaRPr lang="en-CA" sz="1800" dirty="0"/>
                    </a:p>
                  </a:txBody>
                  <a:tcPr/>
                </a:tc>
                <a:extLst>
                  <a:ext uri="{0D108BD9-81ED-4DB2-BD59-A6C34878D82A}">
                    <a16:rowId xmlns:a16="http://schemas.microsoft.com/office/drawing/2014/main" val="433820206"/>
                  </a:ext>
                </a:extLst>
              </a:tr>
              <a:tr h="286871">
                <a:tc>
                  <a:txBody>
                    <a:bodyPr/>
                    <a:lstStyle/>
                    <a:p>
                      <a:r>
                        <a:rPr lang="en-CA" sz="1800" dirty="0"/>
                        <a:t>Executable files</a:t>
                      </a:r>
                    </a:p>
                  </a:txBody>
                  <a:tcPr/>
                </a:tc>
                <a:tc>
                  <a:txBody>
                    <a:bodyPr/>
                    <a:lstStyle/>
                    <a:p>
                      <a:r>
                        <a:rPr lang="en-CA" sz="1800" dirty="0"/>
                        <a:t>.exe, .bat, .bin</a:t>
                      </a:r>
                    </a:p>
                  </a:txBody>
                  <a:tcPr/>
                </a:tc>
                <a:extLst>
                  <a:ext uri="{0D108BD9-81ED-4DB2-BD59-A6C34878D82A}">
                    <a16:rowId xmlns:a16="http://schemas.microsoft.com/office/drawing/2014/main" val="2703570213"/>
                  </a:ext>
                </a:extLst>
              </a:tr>
              <a:tr h="286871">
                <a:tc>
                  <a:txBody>
                    <a:bodyPr/>
                    <a:lstStyle/>
                    <a:p>
                      <a:r>
                        <a:rPr lang="en-CA" sz="1800" dirty="0"/>
                        <a:t>Python file</a:t>
                      </a:r>
                    </a:p>
                  </a:txBody>
                  <a:tcPr/>
                </a:tc>
                <a:tc>
                  <a:txBody>
                    <a:bodyPr/>
                    <a:lstStyle/>
                    <a:p>
                      <a:r>
                        <a:rPr lang="en-CA" sz="1800" dirty="0"/>
                        <a:t>.</a:t>
                      </a:r>
                      <a:r>
                        <a:rPr lang="en-CA" sz="1800" dirty="0" err="1"/>
                        <a:t>py</a:t>
                      </a:r>
                      <a:endParaRPr lang="en-CA" sz="1800" dirty="0"/>
                    </a:p>
                  </a:txBody>
                  <a:tcPr/>
                </a:tc>
                <a:extLst>
                  <a:ext uri="{0D108BD9-81ED-4DB2-BD59-A6C34878D82A}">
                    <a16:rowId xmlns:a16="http://schemas.microsoft.com/office/drawing/2014/main" val="1437966126"/>
                  </a:ext>
                </a:extLst>
              </a:tr>
              <a:tr h="286871">
                <a:tc>
                  <a:txBody>
                    <a:bodyPr/>
                    <a:lstStyle/>
                    <a:p>
                      <a:r>
                        <a:rPr lang="en-CA" sz="1800" dirty="0" err="1"/>
                        <a:t>Jupyter</a:t>
                      </a:r>
                      <a:r>
                        <a:rPr lang="en-CA" sz="1800" dirty="0"/>
                        <a:t> Notebook file</a:t>
                      </a:r>
                    </a:p>
                  </a:txBody>
                  <a:tcPr/>
                </a:tc>
                <a:tc>
                  <a:txBody>
                    <a:bodyPr/>
                    <a:lstStyle/>
                    <a:p>
                      <a:r>
                        <a:rPr lang="en-CA" sz="1800" dirty="0"/>
                        <a:t>.</a:t>
                      </a:r>
                      <a:r>
                        <a:rPr lang="en-CA" sz="1800" dirty="0" err="1"/>
                        <a:t>ipynb</a:t>
                      </a:r>
                      <a:endParaRPr lang="en-CA" sz="1800" dirty="0"/>
                    </a:p>
                  </a:txBody>
                  <a:tcPr/>
                </a:tc>
                <a:extLst>
                  <a:ext uri="{0D108BD9-81ED-4DB2-BD59-A6C34878D82A}">
                    <a16:rowId xmlns:a16="http://schemas.microsoft.com/office/drawing/2014/main" val="1074306700"/>
                  </a:ext>
                </a:extLst>
              </a:tr>
              <a:tr h="286871">
                <a:tc>
                  <a:txBody>
                    <a:bodyPr/>
                    <a:lstStyle/>
                    <a:p>
                      <a:r>
                        <a:rPr lang="en-CA" sz="1800" dirty="0"/>
                        <a:t>Comma Separated Value file</a:t>
                      </a:r>
                    </a:p>
                  </a:txBody>
                  <a:tcPr/>
                </a:tc>
                <a:tc>
                  <a:txBody>
                    <a:bodyPr/>
                    <a:lstStyle/>
                    <a:p>
                      <a:r>
                        <a:rPr lang="en-CA" sz="1800" dirty="0"/>
                        <a:t>.csv</a:t>
                      </a:r>
                    </a:p>
                  </a:txBody>
                  <a:tcPr/>
                </a:tc>
                <a:extLst>
                  <a:ext uri="{0D108BD9-81ED-4DB2-BD59-A6C34878D82A}">
                    <a16:rowId xmlns:a16="http://schemas.microsoft.com/office/drawing/2014/main" val="582774429"/>
                  </a:ext>
                </a:extLst>
              </a:tr>
            </a:tbl>
          </a:graphicData>
        </a:graphic>
      </p:graphicFrame>
      <p:sp>
        <p:nvSpPr>
          <p:cNvPr id="5" name="TextBox 4">
            <a:extLst>
              <a:ext uri="{FF2B5EF4-FFF2-40B4-BE49-F238E27FC236}">
                <a16:creationId xmlns:a16="http://schemas.microsoft.com/office/drawing/2014/main" id="{754701FF-48C6-C204-8087-E5A777F42521}"/>
              </a:ext>
            </a:extLst>
          </p:cNvPr>
          <p:cNvSpPr txBox="1"/>
          <p:nvPr/>
        </p:nvSpPr>
        <p:spPr>
          <a:xfrm>
            <a:off x="7988968" y="3621505"/>
            <a:ext cx="3962400" cy="144655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CA" sz="2200" b="1" dirty="0"/>
              <a:t>File extensions help indicate:</a:t>
            </a:r>
            <a:r>
              <a:rPr lang="en-CA" sz="2200" dirty="0"/>
              <a:t> </a:t>
            </a:r>
          </a:p>
          <a:p>
            <a:pPr marL="269875" indent="-269875">
              <a:buFont typeface="Arial" panose="020B0604020202020204" pitchFamily="34" charset="0"/>
              <a:buChar char="•"/>
              <a:tabLst>
                <a:tab pos="79375" algn="l"/>
              </a:tabLst>
            </a:pPr>
            <a:r>
              <a:rPr lang="en-CA" sz="2200" dirty="0"/>
              <a:t>The file format</a:t>
            </a:r>
          </a:p>
          <a:p>
            <a:pPr marL="269875" indent="-269875">
              <a:buFont typeface="Arial" panose="020B0604020202020204" pitchFamily="34" charset="0"/>
              <a:buChar char="•"/>
              <a:tabLst>
                <a:tab pos="79375" algn="l"/>
              </a:tabLst>
            </a:pPr>
            <a:r>
              <a:rPr lang="en-CA" sz="2200" dirty="0"/>
              <a:t>How the data is structured</a:t>
            </a:r>
          </a:p>
          <a:p>
            <a:pPr marL="269875" indent="-269875">
              <a:buFont typeface="Arial" panose="020B0604020202020204" pitchFamily="34" charset="0"/>
              <a:buChar char="•"/>
              <a:tabLst>
                <a:tab pos="79375" algn="l"/>
              </a:tabLst>
            </a:pPr>
            <a:r>
              <a:rPr lang="en-CA" sz="2200" dirty="0"/>
              <a:t>Which programs can open it</a:t>
            </a:r>
          </a:p>
        </p:txBody>
      </p:sp>
    </p:spTree>
    <p:extLst>
      <p:ext uri="{BB962C8B-B14F-4D97-AF65-F5344CB8AC3E}">
        <p14:creationId xmlns:p14="http://schemas.microsoft.com/office/powerpoint/2010/main" val="2592141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1DE2D-0653-0C3E-D774-C97A1A1BE734}"/>
              </a:ext>
            </a:extLst>
          </p:cNvPr>
          <p:cNvSpPr>
            <a:spLocks noGrp="1"/>
          </p:cNvSpPr>
          <p:nvPr>
            <p:ph type="title"/>
          </p:nvPr>
        </p:nvSpPr>
        <p:spPr/>
        <p:txBody>
          <a:bodyPr>
            <a:normAutofit fontScale="90000"/>
          </a:bodyPr>
          <a:lstStyle/>
          <a:p>
            <a:r>
              <a:rPr lang="en-CA" dirty="0"/>
              <a:t>Anaconda Navigator</a:t>
            </a:r>
          </a:p>
        </p:txBody>
      </p:sp>
      <p:sp>
        <p:nvSpPr>
          <p:cNvPr id="3" name="Content Placeholder 2">
            <a:extLst>
              <a:ext uri="{FF2B5EF4-FFF2-40B4-BE49-F238E27FC236}">
                <a16:creationId xmlns:a16="http://schemas.microsoft.com/office/drawing/2014/main" id="{FC9637D4-27A7-321A-A191-83B86D5C479D}"/>
              </a:ext>
            </a:extLst>
          </p:cNvPr>
          <p:cNvSpPr>
            <a:spLocks noGrp="1"/>
          </p:cNvSpPr>
          <p:nvPr>
            <p:ph idx="1"/>
          </p:nvPr>
        </p:nvSpPr>
        <p:spPr/>
        <p:txBody>
          <a:bodyPr/>
          <a:lstStyle/>
          <a:p>
            <a:r>
              <a:rPr lang="en-CA" dirty="0"/>
              <a:t>Anaconda is a distribution of Python that includes tools and packages geared towards scientific computing (such as data science and machine learning)</a:t>
            </a:r>
          </a:p>
          <a:p>
            <a:r>
              <a:rPr lang="en-CA" dirty="0"/>
              <a:t>Anaconda Navigator is the graphical user interface (GUI) allowing users to install and manage their programming environment </a:t>
            </a:r>
            <a:r>
              <a:rPr lang="en-CA" b="1" dirty="0"/>
              <a:t>without command line (terminal) prompts</a:t>
            </a:r>
          </a:p>
          <a:p>
            <a:endParaRPr lang="en-CA" dirty="0"/>
          </a:p>
        </p:txBody>
      </p:sp>
      <p:pic>
        <p:nvPicPr>
          <p:cNvPr id="4098" name="Picture 2" descr="Anaconda (Python distribution) - Wikipedia">
            <a:extLst>
              <a:ext uri="{FF2B5EF4-FFF2-40B4-BE49-F238E27FC236}">
                <a16:creationId xmlns:a16="http://schemas.microsoft.com/office/drawing/2014/main" id="{B0D06173-6948-41AE-DD21-9AA8F44E49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3612" y="4516196"/>
            <a:ext cx="3784935" cy="18882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73545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1DE2D-0653-0C3E-D774-C97A1A1BE734}"/>
              </a:ext>
            </a:extLst>
          </p:cNvPr>
          <p:cNvSpPr>
            <a:spLocks noGrp="1"/>
          </p:cNvSpPr>
          <p:nvPr>
            <p:ph type="title"/>
          </p:nvPr>
        </p:nvSpPr>
        <p:spPr/>
        <p:txBody>
          <a:bodyPr>
            <a:normAutofit fontScale="90000"/>
          </a:bodyPr>
          <a:lstStyle/>
          <a:p>
            <a:r>
              <a:rPr lang="en-CA" dirty="0"/>
              <a:t>Anaconda Navigator</a:t>
            </a:r>
          </a:p>
        </p:txBody>
      </p:sp>
      <p:sp>
        <p:nvSpPr>
          <p:cNvPr id="6" name="Content Placeholder 5">
            <a:extLst>
              <a:ext uri="{FF2B5EF4-FFF2-40B4-BE49-F238E27FC236}">
                <a16:creationId xmlns:a16="http://schemas.microsoft.com/office/drawing/2014/main" id="{3F0DB540-07C3-7179-2F81-8EBAE77550AA}"/>
              </a:ext>
            </a:extLst>
          </p:cNvPr>
          <p:cNvSpPr>
            <a:spLocks noGrp="1"/>
          </p:cNvSpPr>
          <p:nvPr>
            <p:ph idx="1"/>
          </p:nvPr>
        </p:nvSpPr>
        <p:spPr>
          <a:xfrm>
            <a:off x="537355" y="1652183"/>
            <a:ext cx="4808621" cy="4835479"/>
          </a:xfrm>
        </p:spPr>
        <p:txBody>
          <a:bodyPr>
            <a:normAutofit fontScale="77500" lnSpcReduction="20000"/>
          </a:bodyPr>
          <a:lstStyle/>
          <a:p>
            <a:r>
              <a:rPr lang="en-CA" dirty="0"/>
              <a:t>Your first core use of Navigator is to open </a:t>
            </a:r>
            <a:r>
              <a:rPr lang="en-CA" dirty="0" err="1"/>
              <a:t>Jupyter</a:t>
            </a:r>
            <a:r>
              <a:rPr lang="en-CA" dirty="0"/>
              <a:t> Notebook (not </a:t>
            </a:r>
            <a:r>
              <a:rPr lang="en-CA" dirty="0" err="1"/>
              <a:t>JupyterLab</a:t>
            </a:r>
            <a:r>
              <a:rPr lang="en-CA" dirty="0"/>
              <a:t>)</a:t>
            </a:r>
          </a:p>
          <a:p>
            <a:endParaRPr lang="en-CA" dirty="0"/>
          </a:p>
          <a:p>
            <a:pPr marL="0" indent="0">
              <a:buNone/>
            </a:pPr>
            <a:r>
              <a:rPr lang="en-CA" dirty="0"/>
              <a:t>More advanced (optional):</a:t>
            </a:r>
          </a:p>
          <a:p>
            <a:r>
              <a:rPr lang="en-CA" dirty="0"/>
              <a:t>In the Environments tab on the left you can manage the packages installed for different “environments” </a:t>
            </a:r>
          </a:p>
          <a:p>
            <a:r>
              <a:rPr lang="en-CA" dirty="0"/>
              <a:t>Installing a specific version or package for one project shouldn’t necessarily affect all projects</a:t>
            </a:r>
          </a:p>
          <a:p>
            <a:r>
              <a:rPr lang="en-CA" dirty="0"/>
              <a:t>”Environments” allow developers to isolate project workspaces (with specific Python versions and installed packages</a:t>
            </a:r>
          </a:p>
          <a:p>
            <a:endParaRPr lang="en-CA" dirty="0"/>
          </a:p>
          <a:p>
            <a:endParaRPr lang="en-CA" dirty="0"/>
          </a:p>
          <a:p>
            <a:endParaRPr lang="en-CA" dirty="0"/>
          </a:p>
        </p:txBody>
      </p:sp>
      <p:pic>
        <p:nvPicPr>
          <p:cNvPr id="5" name="Picture 4" descr="A screenshot of a computer&#10;&#10;Description automatically generated">
            <a:extLst>
              <a:ext uri="{FF2B5EF4-FFF2-40B4-BE49-F238E27FC236}">
                <a16:creationId xmlns:a16="http://schemas.microsoft.com/office/drawing/2014/main" id="{99197403-FE25-4558-E256-F1256281C9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5976" y="1874951"/>
            <a:ext cx="6280540" cy="4045012"/>
          </a:xfrm>
          <a:prstGeom prst="rect">
            <a:avLst/>
          </a:prstGeom>
        </p:spPr>
      </p:pic>
      <p:sp>
        <p:nvSpPr>
          <p:cNvPr id="7" name="Oval 6">
            <a:extLst>
              <a:ext uri="{FF2B5EF4-FFF2-40B4-BE49-F238E27FC236}">
                <a16:creationId xmlns:a16="http://schemas.microsoft.com/office/drawing/2014/main" id="{50C79CA1-00B0-7239-B5C9-8B7E75BBC827}"/>
              </a:ext>
            </a:extLst>
          </p:cNvPr>
          <p:cNvSpPr/>
          <p:nvPr/>
        </p:nvSpPr>
        <p:spPr>
          <a:xfrm>
            <a:off x="7796464" y="3279091"/>
            <a:ext cx="1540042" cy="1581665"/>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9330551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B8460-B4FB-43A7-5637-80373D463237}"/>
              </a:ext>
            </a:extLst>
          </p:cNvPr>
          <p:cNvSpPr>
            <a:spLocks noGrp="1"/>
          </p:cNvSpPr>
          <p:nvPr>
            <p:ph type="title"/>
          </p:nvPr>
        </p:nvSpPr>
        <p:spPr/>
        <p:txBody>
          <a:bodyPr>
            <a:normAutofit fontScale="90000"/>
          </a:bodyPr>
          <a:lstStyle/>
          <a:p>
            <a:r>
              <a:rPr lang="en-CA" dirty="0"/>
              <a:t>What is </a:t>
            </a:r>
            <a:r>
              <a:rPr lang="en-CA" dirty="0" err="1"/>
              <a:t>Jupyter</a:t>
            </a:r>
            <a:r>
              <a:rPr lang="en-CA" dirty="0"/>
              <a:t>?</a:t>
            </a:r>
          </a:p>
        </p:txBody>
      </p:sp>
      <p:sp>
        <p:nvSpPr>
          <p:cNvPr id="3" name="Content Placeholder 2">
            <a:extLst>
              <a:ext uri="{FF2B5EF4-FFF2-40B4-BE49-F238E27FC236}">
                <a16:creationId xmlns:a16="http://schemas.microsoft.com/office/drawing/2014/main" id="{DC252BAF-B150-8F66-D376-1A423F5F4652}"/>
              </a:ext>
            </a:extLst>
          </p:cNvPr>
          <p:cNvSpPr>
            <a:spLocks noGrp="1"/>
          </p:cNvSpPr>
          <p:nvPr>
            <p:ph idx="1"/>
          </p:nvPr>
        </p:nvSpPr>
        <p:spPr>
          <a:xfrm>
            <a:off x="517358" y="1649161"/>
            <a:ext cx="10515600" cy="4835479"/>
          </a:xfrm>
        </p:spPr>
        <p:txBody>
          <a:bodyPr>
            <a:normAutofit/>
          </a:bodyPr>
          <a:lstStyle/>
          <a:p>
            <a:r>
              <a:rPr lang="en-CA" sz="2400" dirty="0" err="1"/>
              <a:t>Jupyter</a:t>
            </a:r>
            <a:r>
              <a:rPr lang="en-CA" sz="2400" dirty="0"/>
              <a:t> Notebook</a:t>
            </a:r>
          </a:p>
          <a:p>
            <a:pPr lvl="1"/>
            <a:r>
              <a:rPr lang="en-CA" sz="2000" dirty="0"/>
              <a:t>Interactive and web-based environment </a:t>
            </a:r>
          </a:p>
          <a:p>
            <a:pPr lvl="1"/>
            <a:r>
              <a:rPr lang="en-CA" sz="2000" dirty="0"/>
              <a:t>Creates ”notebooks” (.</a:t>
            </a:r>
            <a:r>
              <a:rPr lang="en-CA" sz="2000" dirty="0" err="1"/>
              <a:t>ipynb</a:t>
            </a:r>
            <a:r>
              <a:rPr lang="en-CA" sz="2000" dirty="0"/>
              <a:t> files) that can combine live code, visualisations, and narrative text</a:t>
            </a:r>
          </a:p>
          <a:p>
            <a:pPr lvl="1"/>
            <a:r>
              <a:rPr lang="en-CA" sz="2000" dirty="0"/>
              <a:t>Code can be divided into individually-executable “cells”</a:t>
            </a:r>
          </a:p>
          <a:p>
            <a:pPr lvl="1"/>
            <a:r>
              <a:rPr lang="en-CA" sz="2000" dirty="0"/>
              <a:t>Cells can include either executable code, or formatted text and images</a:t>
            </a:r>
          </a:p>
          <a:p>
            <a:pPr lvl="1"/>
            <a:r>
              <a:rPr lang="en-CA" sz="2000" dirty="0"/>
              <a:t>Can export notebooks to HTML or PDF</a:t>
            </a:r>
          </a:p>
          <a:p>
            <a:pPr lvl="1"/>
            <a:endParaRPr lang="en-CA" sz="2000" dirty="0"/>
          </a:p>
          <a:p>
            <a:r>
              <a:rPr lang="en-CA" sz="2400" dirty="0" err="1"/>
              <a:t>JupyterHub</a:t>
            </a:r>
            <a:endParaRPr lang="en-CA" sz="2400" dirty="0"/>
          </a:p>
          <a:p>
            <a:pPr lvl="1"/>
            <a:r>
              <a:rPr lang="en-CA" sz="2000" dirty="0"/>
              <a:t>A cloud-based server for running </a:t>
            </a:r>
            <a:r>
              <a:rPr lang="en-CA" sz="2000" dirty="0" err="1"/>
              <a:t>Jupyter</a:t>
            </a:r>
            <a:r>
              <a:rPr lang="en-CA" sz="2000" dirty="0"/>
              <a:t> notebooks</a:t>
            </a:r>
          </a:p>
          <a:p>
            <a:pPr lvl="1"/>
            <a:r>
              <a:rPr lang="en-CA" sz="2000" dirty="0"/>
              <a:t>Does NOT run locally on your computer (think: Microsoft Word vs the cloud-based Google Docs)</a:t>
            </a:r>
          </a:p>
          <a:p>
            <a:pPr lvl="1"/>
            <a:r>
              <a:rPr lang="en-CA" sz="2000" dirty="0"/>
              <a:t>Allows you to ”clone” lecture notebooks and work on notebooks in the cloud</a:t>
            </a:r>
          </a:p>
          <a:p>
            <a:pPr lvl="1"/>
            <a:r>
              <a:rPr lang="en-CA" sz="2000" dirty="0"/>
              <a:t>A good solution if your local </a:t>
            </a:r>
            <a:r>
              <a:rPr lang="en-CA" sz="2000" dirty="0" err="1"/>
              <a:t>Jupyter</a:t>
            </a:r>
            <a:r>
              <a:rPr lang="en-CA" sz="2000" dirty="0"/>
              <a:t> environment suddenly stops working in lecture</a:t>
            </a:r>
          </a:p>
          <a:p>
            <a:endParaRPr lang="en-CA" sz="2400" dirty="0"/>
          </a:p>
        </p:txBody>
      </p:sp>
      <p:pic>
        <p:nvPicPr>
          <p:cNvPr id="5122" name="Picture 2" descr="Project Jupyter | JupyterHub">
            <a:extLst>
              <a:ext uri="{FF2B5EF4-FFF2-40B4-BE49-F238E27FC236}">
                <a16:creationId xmlns:a16="http://schemas.microsoft.com/office/drawing/2014/main" id="{0B8E81D1-282E-091C-9F19-26AF64B35B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3437" y="4156335"/>
            <a:ext cx="1417720" cy="613516"/>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Project Jupyter - Wikipedia">
            <a:extLst>
              <a:ext uri="{FF2B5EF4-FFF2-40B4-BE49-F238E27FC236}">
                <a16:creationId xmlns:a16="http://schemas.microsoft.com/office/drawing/2014/main" id="{C7926E25-9644-5CE9-0819-2FD782B8B5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42297" y="1383662"/>
            <a:ext cx="568662" cy="6561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88353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36962-17C6-B4B2-B9FC-3132ACC35F05}"/>
              </a:ext>
            </a:extLst>
          </p:cNvPr>
          <p:cNvSpPr>
            <a:spLocks noGrp="1"/>
          </p:cNvSpPr>
          <p:nvPr>
            <p:ph type="title"/>
          </p:nvPr>
        </p:nvSpPr>
        <p:spPr/>
        <p:txBody>
          <a:bodyPr>
            <a:normAutofit fontScale="90000"/>
          </a:bodyPr>
          <a:lstStyle/>
          <a:p>
            <a:r>
              <a:rPr lang="en-CA" dirty="0"/>
              <a:t>Opening Your First Notebook (.</a:t>
            </a:r>
            <a:r>
              <a:rPr lang="en-CA" dirty="0" err="1"/>
              <a:t>ipynb</a:t>
            </a:r>
            <a:r>
              <a:rPr lang="en-CA" dirty="0"/>
              <a:t>) File</a:t>
            </a:r>
          </a:p>
        </p:txBody>
      </p:sp>
      <p:sp>
        <p:nvSpPr>
          <p:cNvPr id="3" name="Content Placeholder 2">
            <a:extLst>
              <a:ext uri="{FF2B5EF4-FFF2-40B4-BE49-F238E27FC236}">
                <a16:creationId xmlns:a16="http://schemas.microsoft.com/office/drawing/2014/main" id="{7FC30ACA-1C70-E041-E011-5FBCDE3AB48C}"/>
              </a:ext>
            </a:extLst>
          </p:cNvPr>
          <p:cNvSpPr>
            <a:spLocks noGrp="1"/>
          </p:cNvSpPr>
          <p:nvPr>
            <p:ph idx="1"/>
          </p:nvPr>
        </p:nvSpPr>
        <p:spPr>
          <a:xfrm>
            <a:off x="389021" y="1563094"/>
            <a:ext cx="11097126" cy="4835479"/>
          </a:xfrm>
        </p:spPr>
        <p:txBody>
          <a:bodyPr>
            <a:normAutofit/>
          </a:bodyPr>
          <a:lstStyle/>
          <a:p>
            <a:r>
              <a:rPr lang="en-CA" sz="2000" dirty="0">
                <a:solidFill>
                  <a:schemeClr val="accent6"/>
                </a:solidFill>
              </a:rPr>
              <a:t>Download the Notebook (.</a:t>
            </a:r>
            <a:r>
              <a:rPr lang="en-CA" sz="2000" dirty="0" err="1">
                <a:solidFill>
                  <a:schemeClr val="accent6"/>
                </a:solidFill>
              </a:rPr>
              <a:t>ipynb</a:t>
            </a:r>
            <a:r>
              <a:rPr lang="en-CA" sz="2000" dirty="0">
                <a:solidFill>
                  <a:schemeClr val="accent6"/>
                </a:solidFill>
              </a:rPr>
              <a:t>) file from Quercus</a:t>
            </a:r>
          </a:p>
          <a:p>
            <a:r>
              <a:rPr lang="en-CA" sz="2000" dirty="0"/>
              <a:t>Open </a:t>
            </a:r>
            <a:r>
              <a:rPr lang="en-CA" sz="2000" dirty="0" err="1"/>
              <a:t>Jupyter</a:t>
            </a:r>
            <a:r>
              <a:rPr lang="en-CA" sz="2000" dirty="0"/>
              <a:t> Notebook through Anaconda Navigator</a:t>
            </a:r>
          </a:p>
          <a:p>
            <a:r>
              <a:rPr lang="en-CA" sz="2000" dirty="0" err="1"/>
              <a:t>Jupyter</a:t>
            </a:r>
            <a:r>
              <a:rPr lang="en-CA" sz="2000" dirty="0"/>
              <a:t> Notebook will open in your web browser, and you will see the directory (folder) system for your computer</a:t>
            </a:r>
          </a:p>
          <a:p>
            <a:r>
              <a:rPr lang="en-CA" sz="2000" dirty="0">
                <a:solidFill>
                  <a:srgbClr val="00B0F0"/>
                </a:solidFill>
              </a:rPr>
              <a:t>Navigate to the folder where you downloaded the Notebook file (such as “Downloads” or your APS106 folder) and open the .</a:t>
            </a:r>
            <a:r>
              <a:rPr lang="en-CA" sz="2000" dirty="0" err="1">
                <a:solidFill>
                  <a:srgbClr val="00B0F0"/>
                </a:solidFill>
              </a:rPr>
              <a:t>ipynb</a:t>
            </a:r>
            <a:r>
              <a:rPr lang="en-CA" sz="2000" dirty="0">
                <a:solidFill>
                  <a:srgbClr val="00B0F0"/>
                </a:solidFill>
              </a:rPr>
              <a:t> file</a:t>
            </a:r>
          </a:p>
        </p:txBody>
      </p:sp>
      <p:pic>
        <p:nvPicPr>
          <p:cNvPr id="4" name="Content Placeholder 4" descr="A screenshot of a computer&#10;&#10;Description automatically generated">
            <a:extLst>
              <a:ext uri="{FF2B5EF4-FFF2-40B4-BE49-F238E27FC236}">
                <a16:creationId xmlns:a16="http://schemas.microsoft.com/office/drawing/2014/main" id="{4BE1D252-7C42-513B-9F8A-4D9C126E744F}"/>
              </a:ext>
            </a:extLst>
          </p:cNvPr>
          <p:cNvPicPr>
            <a:picLocks noChangeAspect="1"/>
          </p:cNvPicPr>
          <p:nvPr/>
        </p:nvPicPr>
        <p:blipFill rotWithShape="1">
          <a:blip r:embed="rId3">
            <a:extLst>
              <a:ext uri="{28A0092B-C50C-407E-A947-70E740481C1C}">
                <a14:useLocalDpi xmlns:a14="http://schemas.microsoft.com/office/drawing/2010/main" val="0"/>
              </a:ext>
            </a:extLst>
          </a:blip>
          <a:srcRect t="7807"/>
          <a:stretch/>
        </p:blipFill>
        <p:spPr>
          <a:xfrm>
            <a:off x="4896853" y="3815101"/>
            <a:ext cx="6621906" cy="2773768"/>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484C0F0D-673B-D234-CDEA-FE7EA38CD0ED}"/>
              </a:ext>
            </a:extLst>
          </p:cNvPr>
          <p:cNvPicPr>
            <a:picLocks noChangeAspect="1"/>
          </p:cNvPicPr>
          <p:nvPr/>
        </p:nvPicPr>
        <p:blipFill rotWithShape="1">
          <a:blip r:embed="rId4">
            <a:extLst>
              <a:ext uri="{28A0092B-C50C-407E-A947-70E740481C1C}">
                <a14:useLocalDpi xmlns:a14="http://schemas.microsoft.com/office/drawing/2010/main" val="0"/>
              </a:ext>
            </a:extLst>
          </a:blip>
          <a:srcRect t="12606"/>
          <a:stretch/>
        </p:blipFill>
        <p:spPr>
          <a:xfrm>
            <a:off x="389021" y="3732826"/>
            <a:ext cx="4475220" cy="2968519"/>
          </a:xfrm>
          <a:prstGeom prst="rect">
            <a:avLst/>
          </a:prstGeom>
        </p:spPr>
      </p:pic>
      <p:sp>
        <p:nvSpPr>
          <p:cNvPr id="6" name="Down Arrow 5">
            <a:extLst>
              <a:ext uri="{FF2B5EF4-FFF2-40B4-BE49-F238E27FC236}">
                <a16:creationId xmlns:a16="http://schemas.microsoft.com/office/drawing/2014/main" id="{D57E96A9-B826-7E19-9AA8-5E6750101F65}"/>
              </a:ext>
            </a:extLst>
          </p:cNvPr>
          <p:cNvSpPr/>
          <p:nvPr/>
        </p:nvSpPr>
        <p:spPr>
          <a:xfrm rot="5400000">
            <a:off x="2223681" y="4986777"/>
            <a:ext cx="309420" cy="770036"/>
          </a:xfrm>
          <a:prstGeom prst="down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Down Arrow 6">
            <a:extLst>
              <a:ext uri="{FF2B5EF4-FFF2-40B4-BE49-F238E27FC236}">
                <a16:creationId xmlns:a16="http://schemas.microsoft.com/office/drawing/2014/main" id="{7A23A55A-9C0A-1D4E-4060-88D3E5496433}"/>
              </a:ext>
            </a:extLst>
          </p:cNvPr>
          <p:cNvSpPr/>
          <p:nvPr/>
        </p:nvSpPr>
        <p:spPr>
          <a:xfrm rot="5400000">
            <a:off x="6723491" y="5745468"/>
            <a:ext cx="309420" cy="770036"/>
          </a:xfrm>
          <a:prstGeom prst="down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1533197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89035-E1F4-3508-FF8E-013E6EEFE8C6}"/>
              </a:ext>
            </a:extLst>
          </p:cNvPr>
          <p:cNvSpPr>
            <a:spLocks noGrp="1"/>
          </p:cNvSpPr>
          <p:nvPr>
            <p:ph type="title"/>
          </p:nvPr>
        </p:nvSpPr>
        <p:spPr/>
        <p:txBody>
          <a:bodyPr>
            <a:normAutofit fontScale="90000"/>
          </a:bodyPr>
          <a:lstStyle/>
          <a:p>
            <a:r>
              <a:rPr lang="en-CA" dirty="0"/>
              <a:t>Opening From </a:t>
            </a:r>
            <a:r>
              <a:rPr lang="en-CA" dirty="0" err="1"/>
              <a:t>JupyterHub</a:t>
            </a:r>
            <a:endParaRPr lang="en-CA" dirty="0"/>
          </a:p>
        </p:txBody>
      </p:sp>
      <p:pic>
        <p:nvPicPr>
          <p:cNvPr id="7" name="Picture 6" descr="A screenshot of a computer&#10;&#10;Description automatically generated">
            <a:extLst>
              <a:ext uri="{FF2B5EF4-FFF2-40B4-BE49-F238E27FC236}">
                <a16:creationId xmlns:a16="http://schemas.microsoft.com/office/drawing/2014/main" id="{51BCEB3F-47D9-589E-E82D-5A385447EBE6}"/>
              </a:ext>
            </a:extLst>
          </p:cNvPr>
          <p:cNvPicPr>
            <a:picLocks noChangeAspect="1"/>
          </p:cNvPicPr>
          <p:nvPr/>
        </p:nvPicPr>
        <p:blipFill rotWithShape="1">
          <a:blip r:embed="rId3">
            <a:extLst>
              <a:ext uri="{28A0092B-C50C-407E-A947-70E740481C1C}">
                <a14:useLocalDpi xmlns:a14="http://schemas.microsoft.com/office/drawing/2010/main" val="0"/>
              </a:ext>
            </a:extLst>
          </a:blip>
          <a:srcRect t="12606"/>
          <a:stretch/>
        </p:blipFill>
        <p:spPr>
          <a:xfrm>
            <a:off x="212557" y="3429000"/>
            <a:ext cx="4475220" cy="2968519"/>
          </a:xfrm>
          <a:prstGeom prst="rect">
            <a:avLst/>
          </a:prstGeom>
        </p:spPr>
      </p:pic>
      <p:sp>
        <p:nvSpPr>
          <p:cNvPr id="8" name="Down Arrow 7">
            <a:extLst>
              <a:ext uri="{FF2B5EF4-FFF2-40B4-BE49-F238E27FC236}">
                <a16:creationId xmlns:a16="http://schemas.microsoft.com/office/drawing/2014/main" id="{2262A272-DDEA-C8CF-2F03-B6AF7EE51900}"/>
              </a:ext>
            </a:extLst>
          </p:cNvPr>
          <p:cNvSpPr/>
          <p:nvPr/>
        </p:nvSpPr>
        <p:spPr>
          <a:xfrm rot="5400000">
            <a:off x="1337214" y="4464073"/>
            <a:ext cx="309420" cy="770036"/>
          </a:xfrm>
          <a:prstGeom prst="down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Content Placeholder 2">
            <a:extLst>
              <a:ext uri="{FF2B5EF4-FFF2-40B4-BE49-F238E27FC236}">
                <a16:creationId xmlns:a16="http://schemas.microsoft.com/office/drawing/2014/main" id="{2E0F47FC-8A15-44FF-B248-ECFCC74B4FA6}"/>
              </a:ext>
            </a:extLst>
          </p:cNvPr>
          <p:cNvSpPr txBox="1">
            <a:spLocks/>
          </p:cNvSpPr>
          <p:nvPr/>
        </p:nvSpPr>
        <p:spPr>
          <a:xfrm>
            <a:off x="725905" y="1434209"/>
            <a:ext cx="10936706" cy="483547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007EE5"/>
              </a:buClr>
              <a:buFont typeface="Wingdings" panose="05000000000000000000" pitchFamily="2" charset="2"/>
              <a:buChar char="§"/>
              <a:defRPr sz="2800" kern="1200">
                <a:solidFill>
                  <a:srgbClr val="FFFFFF"/>
                </a:solidFill>
                <a:latin typeface="+mn-lt"/>
                <a:ea typeface="+mn-ea"/>
                <a:cs typeface="+mn-cs"/>
              </a:defRPr>
            </a:lvl1pPr>
            <a:lvl2pPr marL="685800" indent="-228600" algn="l" defTabSz="914400" rtl="0" eaLnBrk="1" latinLnBrk="0" hangingPunct="1">
              <a:lnSpc>
                <a:spcPct val="90000"/>
              </a:lnSpc>
              <a:spcBef>
                <a:spcPts val="500"/>
              </a:spcBef>
              <a:buClr>
                <a:srgbClr val="007EE5"/>
              </a:buClr>
              <a:buFont typeface="Wingdings" panose="05000000000000000000" pitchFamily="2" charset="2"/>
              <a:buChar char="§"/>
              <a:defRPr sz="2400" kern="1200">
                <a:solidFill>
                  <a:srgbClr val="FFFFFF"/>
                </a:solidFill>
                <a:latin typeface="+mn-lt"/>
                <a:ea typeface="+mn-ea"/>
                <a:cs typeface="+mn-cs"/>
              </a:defRPr>
            </a:lvl2pPr>
            <a:lvl3pPr marL="1143000" indent="-228600" algn="l" defTabSz="914400" rtl="0" eaLnBrk="1" latinLnBrk="0" hangingPunct="1">
              <a:lnSpc>
                <a:spcPct val="90000"/>
              </a:lnSpc>
              <a:spcBef>
                <a:spcPts val="500"/>
              </a:spcBef>
              <a:buClr>
                <a:srgbClr val="007EE5"/>
              </a:buClr>
              <a:buFont typeface="Wingdings" panose="05000000000000000000" pitchFamily="2" charset="2"/>
              <a:buChar char="§"/>
              <a:defRPr sz="2000" kern="1200">
                <a:solidFill>
                  <a:srgbClr val="FFFFFF"/>
                </a:solidFill>
                <a:latin typeface="+mn-lt"/>
                <a:ea typeface="+mn-ea"/>
                <a:cs typeface="+mn-cs"/>
              </a:defRPr>
            </a:lvl3pPr>
            <a:lvl4pPr marL="1600200" indent="-228600" algn="l" defTabSz="914400" rtl="0" eaLnBrk="1" latinLnBrk="0" hangingPunct="1">
              <a:lnSpc>
                <a:spcPct val="90000"/>
              </a:lnSpc>
              <a:spcBef>
                <a:spcPts val="500"/>
              </a:spcBef>
              <a:buClr>
                <a:srgbClr val="007EE5"/>
              </a:buClr>
              <a:buFont typeface="Wingdings" panose="05000000000000000000" pitchFamily="2" charset="2"/>
              <a:buChar char="§"/>
              <a:defRPr sz="1800" kern="1200">
                <a:solidFill>
                  <a:srgbClr val="FFFFFF"/>
                </a:solidFill>
                <a:latin typeface="+mn-lt"/>
                <a:ea typeface="+mn-ea"/>
                <a:cs typeface="+mn-cs"/>
              </a:defRPr>
            </a:lvl4pPr>
            <a:lvl5pPr marL="2057400" indent="-228600" algn="l" defTabSz="914400" rtl="0" eaLnBrk="1" latinLnBrk="0" hangingPunct="1">
              <a:lnSpc>
                <a:spcPct val="90000"/>
              </a:lnSpc>
              <a:spcBef>
                <a:spcPts val="500"/>
              </a:spcBef>
              <a:buClr>
                <a:srgbClr val="007EE5"/>
              </a:buClr>
              <a:buFont typeface="Wingdings" panose="05000000000000000000" pitchFamily="2" charset="2"/>
              <a:buChar char="§"/>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dirty="0"/>
              <a:t>Follow Quercus to this lecture’s </a:t>
            </a:r>
            <a:r>
              <a:rPr lang="en-CA" dirty="0" err="1"/>
              <a:t>JupyterHub</a:t>
            </a:r>
            <a:r>
              <a:rPr lang="en-CA" dirty="0"/>
              <a:t> link (Week 1, Lecture 2)</a:t>
            </a:r>
          </a:p>
          <a:p>
            <a:r>
              <a:rPr lang="en-CA" dirty="0"/>
              <a:t>The first time using </a:t>
            </a:r>
            <a:r>
              <a:rPr lang="en-CA" dirty="0" err="1"/>
              <a:t>JupyterHub</a:t>
            </a:r>
            <a:r>
              <a:rPr lang="en-CA" dirty="0"/>
              <a:t>, you may see a “</a:t>
            </a:r>
            <a:r>
              <a:rPr lang="en-CA" dirty="0" err="1"/>
              <a:t>CILogon</a:t>
            </a:r>
            <a:r>
              <a:rPr lang="en-CA" dirty="0"/>
              <a:t>” screen</a:t>
            </a:r>
          </a:p>
          <a:p>
            <a:r>
              <a:rPr lang="en-CA" dirty="0"/>
              <a:t>This is normal, continue logging in with your U of T account</a:t>
            </a:r>
          </a:p>
          <a:p>
            <a:r>
              <a:rPr lang="en-CA" dirty="0"/>
              <a:t>Today’s lecture Notebook should open</a:t>
            </a:r>
          </a:p>
          <a:p>
            <a:endParaRPr lang="en-CA" dirty="0"/>
          </a:p>
          <a:p>
            <a:endParaRPr lang="en-CA" dirty="0"/>
          </a:p>
        </p:txBody>
      </p:sp>
      <p:pic>
        <p:nvPicPr>
          <p:cNvPr id="6" name="Picture 5" descr="A screenshot of a computer&#10;&#10;Description automatically generated">
            <a:extLst>
              <a:ext uri="{FF2B5EF4-FFF2-40B4-BE49-F238E27FC236}">
                <a16:creationId xmlns:a16="http://schemas.microsoft.com/office/drawing/2014/main" id="{3EDEAE16-8819-40B7-9996-DC3F329B1E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9005" y="3258129"/>
            <a:ext cx="4475220" cy="3599871"/>
          </a:xfrm>
          <a:prstGeom prst="rect">
            <a:avLst/>
          </a:prstGeom>
        </p:spPr>
      </p:pic>
      <p:pic>
        <p:nvPicPr>
          <p:cNvPr id="13" name="Picture 12" descr="A screenshot of a computer&#10;&#10;Description automatically generated">
            <a:extLst>
              <a:ext uri="{FF2B5EF4-FFF2-40B4-BE49-F238E27FC236}">
                <a16:creationId xmlns:a16="http://schemas.microsoft.com/office/drawing/2014/main" id="{DD970E10-6FB4-A3C3-01E6-52DBE9D23401}"/>
              </a:ext>
            </a:extLst>
          </p:cNvPr>
          <p:cNvPicPr>
            <a:picLocks noChangeAspect="1"/>
          </p:cNvPicPr>
          <p:nvPr/>
        </p:nvPicPr>
        <p:blipFill rotWithShape="1">
          <a:blip r:embed="rId5">
            <a:extLst>
              <a:ext uri="{28A0092B-C50C-407E-A947-70E740481C1C}">
                <a14:useLocalDpi xmlns:a14="http://schemas.microsoft.com/office/drawing/2010/main" val="0"/>
              </a:ext>
            </a:extLst>
          </a:blip>
          <a:srcRect t="3185" b="25895"/>
          <a:stretch/>
        </p:blipFill>
        <p:spPr>
          <a:xfrm>
            <a:off x="6990877" y="3404559"/>
            <a:ext cx="5321825" cy="3035978"/>
          </a:xfrm>
          <a:prstGeom prst="rect">
            <a:avLst/>
          </a:prstGeom>
        </p:spPr>
      </p:pic>
    </p:spTree>
    <p:extLst>
      <p:ext uri="{BB962C8B-B14F-4D97-AF65-F5344CB8AC3E}">
        <p14:creationId xmlns:p14="http://schemas.microsoft.com/office/powerpoint/2010/main" val="37266744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12768-BD7C-258E-3B9B-D3734E84E6A3}"/>
              </a:ext>
            </a:extLst>
          </p:cNvPr>
          <p:cNvSpPr>
            <a:spLocks noGrp="1"/>
          </p:cNvSpPr>
          <p:nvPr>
            <p:ph type="title"/>
          </p:nvPr>
        </p:nvSpPr>
        <p:spPr/>
        <p:txBody>
          <a:bodyPr>
            <a:normAutofit fontScale="90000"/>
          </a:bodyPr>
          <a:lstStyle/>
          <a:p>
            <a:r>
              <a:rPr lang="en-CA" dirty="0"/>
              <a:t>Navigating to your </a:t>
            </a:r>
            <a:r>
              <a:rPr lang="en-CA" dirty="0" err="1"/>
              <a:t>JupyterHub</a:t>
            </a:r>
            <a:r>
              <a:rPr lang="en-CA" dirty="0"/>
              <a:t> files</a:t>
            </a:r>
          </a:p>
        </p:txBody>
      </p:sp>
      <p:sp>
        <p:nvSpPr>
          <p:cNvPr id="3" name="Content Placeholder 2">
            <a:extLst>
              <a:ext uri="{FF2B5EF4-FFF2-40B4-BE49-F238E27FC236}">
                <a16:creationId xmlns:a16="http://schemas.microsoft.com/office/drawing/2014/main" id="{620062CA-B3B5-F9D6-EF85-7A87574A9047}"/>
              </a:ext>
            </a:extLst>
          </p:cNvPr>
          <p:cNvSpPr>
            <a:spLocks noGrp="1"/>
          </p:cNvSpPr>
          <p:nvPr>
            <p:ph idx="1"/>
          </p:nvPr>
        </p:nvSpPr>
        <p:spPr>
          <a:xfrm>
            <a:off x="443091" y="1595406"/>
            <a:ext cx="11305817" cy="4835479"/>
          </a:xfrm>
        </p:spPr>
        <p:txBody>
          <a:bodyPr>
            <a:normAutofit/>
          </a:bodyPr>
          <a:lstStyle/>
          <a:p>
            <a:r>
              <a:rPr lang="en-CA" sz="2200" dirty="0"/>
              <a:t>By clicking the link on Quercus, you have “cloned” (or copied) the lecture slides into your </a:t>
            </a:r>
            <a:r>
              <a:rPr lang="en-CA" sz="2200" dirty="0" err="1"/>
              <a:t>JupyterHub</a:t>
            </a:r>
            <a:r>
              <a:rPr lang="en-CA" sz="2200" dirty="0"/>
              <a:t> account</a:t>
            </a:r>
          </a:p>
          <a:p>
            <a:r>
              <a:rPr lang="en-CA" sz="2200" dirty="0"/>
              <a:t>You can click the </a:t>
            </a:r>
            <a:r>
              <a:rPr lang="en-CA" sz="2200" dirty="0" err="1"/>
              <a:t>JupyterHub</a:t>
            </a:r>
            <a:r>
              <a:rPr lang="en-CA" sz="2200" dirty="0"/>
              <a:t> logo on the top left to open the directory to your </a:t>
            </a:r>
            <a:r>
              <a:rPr lang="en-CA" sz="2200" dirty="0" err="1"/>
              <a:t>JupyterHub</a:t>
            </a:r>
            <a:r>
              <a:rPr lang="en-CA" sz="2200" dirty="0"/>
              <a:t> account and access any other lectures you have previously cloned</a:t>
            </a:r>
          </a:p>
          <a:p>
            <a:r>
              <a:rPr lang="en-CA" sz="2200" dirty="0"/>
              <a:t>It is always safer to store files on your computer’s local storage (i.e., not on </a:t>
            </a:r>
            <a:r>
              <a:rPr lang="en-CA" sz="2200" dirty="0" err="1"/>
              <a:t>JupyterHub</a:t>
            </a:r>
            <a:r>
              <a:rPr lang="en-CA" sz="2200" dirty="0"/>
              <a:t>)!</a:t>
            </a:r>
          </a:p>
        </p:txBody>
      </p:sp>
      <p:pic>
        <p:nvPicPr>
          <p:cNvPr id="4" name="Picture 3" descr="A screenshot of a computer&#10;&#10;Description automatically generated">
            <a:extLst>
              <a:ext uri="{FF2B5EF4-FFF2-40B4-BE49-F238E27FC236}">
                <a16:creationId xmlns:a16="http://schemas.microsoft.com/office/drawing/2014/main" id="{90102E13-B901-815C-B622-73F3A32C42EC}"/>
              </a:ext>
            </a:extLst>
          </p:cNvPr>
          <p:cNvPicPr>
            <a:picLocks noChangeAspect="1"/>
          </p:cNvPicPr>
          <p:nvPr/>
        </p:nvPicPr>
        <p:blipFill rotWithShape="1">
          <a:blip r:embed="rId2">
            <a:extLst>
              <a:ext uri="{28A0092B-C50C-407E-A947-70E740481C1C}">
                <a14:useLocalDpi xmlns:a14="http://schemas.microsoft.com/office/drawing/2010/main" val="0"/>
              </a:ext>
            </a:extLst>
          </a:blip>
          <a:srcRect t="3185" b="25895"/>
          <a:stretch/>
        </p:blipFill>
        <p:spPr>
          <a:xfrm>
            <a:off x="613611" y="3625125"/>
            <a:ext cx="5321825" cy="3035978"/>
          </a:xfrm>
          <a:prstGeom prst="rect">
            <a:avLst/>
          </a:prstGeom>
        </p:spPr>
      </p:pic>
      <p:sp>
        <p:nvSpPr>
          <p:cNvPr id="6" name="Oval 5">
            <a:extLst>
              <a:ext uri="{FF2B5EF4-FFF2-40B4-BE49-F238E27FC236}">
                <a16:creationId xmlns:a16="http://schemas.microsoft.com/office/drawing/2014/main" id="{769274AA-9F60-028C-9EBF-BDF11A20C758}"/>
              </a:ext>
            </a:extLst>
          </p:cNvPr>
          <p:cNvSpPr/>
          <p:nvPr/>
        </p:nvSpPr>
        <p:spPr>
          <a:xfrm>
            <a:off x="965491" y="3625125"/>
            <a:ext cx="1171336" cy="776042"/>
          </a:xfrm>
          <a:prstGeom prst="ellipse">
            <a:avLst/>
          </a:prstGeom>
          <a:noFill/>
          <a:ln w="762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solidFill>
                <a:schemeClr val="accent1"/>
              </a:solidFill>
            </a:endParaRPr>
          </a:p>
        </p:txBody>
      </p:sp>
      <p:pic>
        <p:nvPicPr>
          <p:cNvPr id="8" name="Picture 7" descr="A screenshot of a computer&#10;&#10;Description automatically generated">
            <a:extLst>
              <a:ext uri="{FF2B5EF4-FFF2-40B4-BE49-F238E27FC236}">
                <a16:creationId xmlns:a16="http://schemas.microsoft.com/office/drawing/2014/main" id="{91889C45-1C24-BD41-DCA5-5A23F0EEC5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7706" y="3625125"/>
            <a:ext cx="4086337" cy="3287054"/>
          </a:xfrm>
          <a:prstGeom prst="rect">
            <a:avLst/>
          </a:prstGeom>
        </p:spPr>
      </p:pic>
    </p:spTree>
    <p:extLst>
      <p:ext uri="{BB962C8B-B14F-4D97-AF65-F5344CB8AC3E}">
        <p14:creationId xmlns:p14="http://schemas.microsoft.com/office/powerpoint/2010/main" val="32533471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4B688-F09A-1AB0-5B2C-CB871FE8C092}"/>
              </a:ext>
            </a:extLst>
          </p:cNvPr>
          <p:cNvSpPr>
            <a:spLocks noGrp="1"/>
          </p:cNvSpPr>
          <p:nvPr>
            <p:ph type="title"/>
          </p:nvPr>
        </p:nvSpPr>
        <p:spPr/>
        <p:txBody>
          <a:bodyPr>
            <a:normAutofit fontScale="90000"/>
          </a:bodyPr>
          <a:lstStyle/>
          <a:p>
            <a:r>
              <a:rPr lang="en-CA" dirty="0" err="1"/>
              <a:t>Jupyter</a:t>
            </a:r>
            <a:r>
              <a:rPr lang="en-CA" dirty="0"/>
              <a:t>                        vs.               </a:t>
            </a:r>
            <a:r>
              <a:rPr lang="en-CA" dirty="0" err="1"/>
              <a:t>JupyterHub</a:t>
            </a:r>
            <a:endParaRPr lang="en-CA" dirty="0"/>
          </a:p>
        </p:txBody>
      </p:sp>
      <p:pic>
        <p:nvPicPr>
          <p:cNvPr id="6" name="Content Placeholder 5" descr="A screenshot of a computer&#10;&#10;Description automatically generated">
            <a:extLst>
              <a:ext uri="{FF2B5EF4-FFF2-40B4-BE49-F238E27FC236}">
                <a16:creationId xmlns:a16="http://schemas.microsoft.com/office/drawing/2014/main" id="{09DD67AB-010F-35D2-EB90-E2D3EA9B9280}"/>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3348" b="11505"/>
          <a:stretch/>
        </p:blipFill>
        <p:spPr>
          <a:xfrm>
            <a:off x="-39733" y="2825953"/>
            <a:ext cx="6355026" cy="3574847"/>
          </a:xfrm>
        </p:spPr>
      </p:pic>
      <p:pic>
        <p:nvPicPr>
          <p:cNvPr id="12" name="Picture 11" descr="A screenshot of a computer&#10;&#10;Description automatically generated">
            <a:extLst>
              <a:ext uri="{FF2B5EF4-FFF2-40B4-BE49-F238E27FC236}">
                <a16:creationId xmlns:a16="http://schemas.microsoft.com/office/drawing/2014/main" id="{0B8CBD0B-E73B-048B-10B0-AE69FF8EE230}"/>
              </a:ext>
            </a:extLst>
          </p:cNvPr>
          <p:cNvPicPr>
            <a:picLocks noChangeAspect="1"/>
          </p:cNvPicPr>
          <p:nvPr/>
        </p:nvPicPr>
        <p:blipFill rotWithShape="1">
          <a:blip r:embed="rId3">
            <a:extLst>
              <a:ext uri="{28A0092B-C50C-407E-A947-70E740481C1C}">
                <a14:useLocalDpi xmlns:a14="http://schemas.microsoft.com/office/drawing/2010/main" val="0"/>
              </a:ext>
            </a:extLst>
          </a:blip>
          <a:srcRect t="3185" b="25895"/>
          <a:stretch/>
        </p:blipFill>
        <p:spPr>
          <a:xfrm>
            <a:off x="5843726" y="2775406"/>
            <a:ext cx="6355025" cy="3625394"/>
          </a:xfrm>
          <a:prstGeom prst="rect">
            <a:avLst/>
          </a:prstGeom>
        </p:spPr>
      </p:pic>
      <p:sp>
        <p:nvSpPr>
          <p:cNvPr id="13" name="Content Placeholder 2">
            <a:extLst>
              <a:ext uri="{FF2B5EF4-FFF2-40B4-BE49-F238E27FC236}">
                <a16:creationId xmlns:a16="http://schemas.microsoft.com/office/drawing/2014/main" id="{4907F152-431C-9195-B704-1422590E9FC0}"/>
              </a:ext>
            </a:extLst>
          </p:cNvPr>
          <p:cNvSpPr txBox="1">
            <a:spLocks/>
          </p:cNvSpPr>
          <p:nvPr/>
        </p:nvSpPr>
        <p:spPr>
          <a:xfrm>
            <a:off x="725905" y="1434209"/>
            <a:ext cx="10515600" cy="483547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007EE5"/>
              </a:buClr>
              <a:buFont typeface="Wingdings" panose="05000000000000000000" pitchFamily="2" charset="2"/>
              <a:buChar char="§"/>
              <a:defRPr sz="2800" kern="1200">
                <a:solidFill>
                  <a:srgbClr val="FFFFFF"/>
                </a:solidFill>
                <a:latin typeface="+mn-lt"/>
                <a:ea typeface="+mn-ea"/>
                <a:cs typeface="+mn-cs"/>
              </a:defRPr>
            </a:lvl1pPr>
            <a:lvl2pPr marL="685800" indent="-228600" algn="l" defTabSz="914400" rtl="0" eaLnBrk="1" latinLnBrk="0" hangingPunct="1">
              <a:lnSpc>
                <a:spcPct val="90000"/>
              </a:lnSpc>
              <a:spcBef>
                <a:spcPts val="500"/>
              </a:spcBef>
              <a:buClr>
                <a:srgbClr val="007EE5"/>
              </a:buClr>
              <a:buFont typeface="Wingdings" panose="05000000000000000000" pitchFamily="2" charset="2"/>
              <a:buChar char="§"/>
              <a:defRPr sz="2400" kern="1200">
                <a:solidFill>
                  <a:srgbClr val="FFFFFF"/>
                </a:solidFill>
                <a:latin typeface="+mn-lt"/>
                <a:ea typeface="+mn-ea"/>
                <a:cs typeface="+mn-cs"/>
              </a:defRPr>
            </a:lvl2pPr>
            <a:lvl3pPr marL="1143000" indent="-228600" algn="l" defTabSz="914400" rtl="0" eaLnBrk="1" latinLnBrk="0" hangingPunct="1">
              <a:lnSpc>
                <a:spcPct val="90000"/>
              </a:lnSpc>
              <a:spcBef>
                <a:spcPts val="500"/>
              </a:spcBef>
              <a:buClr>
                <a:srgbClr val="007EE5"/>
              </a:buClr>
              <a:buFont typeface="Wingdings" panose="05000000000000000000" pitchFamily="2" charset="2"/>
              <a:buChar char="§"/>
              <a:defRPr sz="2000" kern="1200">
                <a:solidFill>
                  <a:srgbClr val="FFFFFF"/>
                </a:solidFill>
                <a:latin typeface="+mn-lt"/>
                <a:ea typeface="+mn-ea"/>
                <a:cs typeface="+mn-cs"/>
              </a:defRPr>
            </a:lvl3pPr>
            <a:lvl4pPr marL="1600200" indent="-228600" algn="l" defTabSz="914400" rtl="0" eaLnBrk="1" latinLnBrk="0" hangingPunct="1">
              <a:lnSpc>
                <a:spcPct val="90000"/>
              </a:lnSpc>
              <a:spcBef>
                <a:spcPts val="500"/>
              </a:spcBef>
              <a:buClr>
                <a:srgbClr val="007EE5"/>
              </a:buClr>
              <a:buFont typeface="Wingdings" panose="05000000000000000000" pitchFamily="2" charset="2"/>
              <a:buChar char="§"/>
              <a:defRPr sz="1800" kern="1200">
                <a:solidFill>
                  <a:srgbClr val="FFFFFF"/>
                </a:solidFill>
                <a:latin typeface="+mn-lt"/>
                <a:ea typeface="+mn-ea"/>
                <a:cs typeface="+mn-cs"/>
              </a:defRPr>
            </a:lvl4pPr>
            <a:lvl5pPr marL="2057400" indent="-228600" algn="l" defTabSz="914400" rtl="0" eaLnBrk="1" latinLnBrk="0" hangingPunct="1">
              <a:lnSpc>
                <a:spcPct val="90000"/>
              </a:lnSpc>
              <a:spcBef>
                <a:spcPts val="500"/>
              </a:spcBef>
              <a:buClr>
                <a:srgbClr val="007EE5"/>
              </a:buClr>
              <a:buFont typeface="Wingdings" panose="05000000000000000000" pitchFamily="2" charset="2"/>
              <a:buChar char="§"/>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dirty="0"/>
              <a:t>Compare the difference in “</a:t>
            </a:r>
            <a:r>
              <a:rPr lang="en-CA" dirty="0">
                <a:solidFill>
                  <a:schemeClr val="accent6"/>
                </a:solidFill>
              </a:rPr>
              <a:t>URLs</a:t>
            </a:r>
            <a:r>
              <a:rPr lang="en-CA" dirty="0"/>
              <a:t>” on your computer</a:t>
            </a:r>
          </a:p>
          <a:p>
            <a:r>
              <a:rPr lang="en-CA" dirty="0"/>
              <a:t>You’ll see </a:t>
            </a:r>
            <a:r>
              <a:rPr lang="en-CA" dirty="0" err="1"/>
              <a:t>Jupyter</a:t>
            </a:r>
            <a:r>
              <a:rPr lang="en-CA" dirty="0"/>
              <a:t> points to a local file on your computer, whereas </a:t>
            </a:r>
            <a:r>
              <a:rPr lang="en-CA" dirty="0" err="1"/>
              <a:t>JupyterHub</a:t>
            </a:r>
            <a:r>
              <a:rPr lang="en-CA" dirty="0"/>
              <a:t> is on an external website</a:t>
            </a:r>
          </a:p>
          <a:p>
            <a:endParaRPr lang="en-CA" dirty="0"/>
          </a:p>
        </p:txBody>
      </p:sp>
      <p:sp>
        <p:nvSpPr>
          <p:cNvPr id="14" name="Oval 13">
            <a:extLst>
              <a:ext uri="{FF2B5EF4-FFF2-40B4-BE49-F238E27FC236}">
                <a16:creationId xmlns:a16="http://schemas.microsoft.com/office/drawing/2014/main" id="{D296148D-E29A-B044-DF3C-A93D264420E1}"/>
              </a:ext>
            </a:extLst>
          </p:cNvPr>
          <p:cNvSpPr/>
          <p:nvPr/>
        </p:nvSpPr>
        <p:spPr>
          <a:xfrm>
            <a:off x="7857144" y="2724859"/>
            <a:ext cx="2328188" cy="402617"/>
          </a:xfrm>
          <a:prstGeom prst="ellipse">
            <a:avLst/>
          </a:prstGeom>
          <a:noFill/>
          <a:ln w="762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Oval 14">
            <a:extLst>
              <a:ext uri="{FF2B5EF4-FFF2-40B4-BE49-F238E27FC236}">
                <a16:creationId xmlns:a16="http://schemas.microsoft.com/office/drawing/2014/main" id="{A851A410-1EF0-1143-6A9B-4BF5C130B917}"/>
              </a:ext>
            </a:extLst>
          </p:cNvPr>
          <p:cNvSpPr/>
          <p:nvPr/>
        </p:nvSpPr>
        <p:spPr>
          <a:xfrm>
            <a:off x="1963337" y="2763471"/>
            <a:ext cx="2328188" cy="402617"/>
          </a:xfrm>
          <a:prstGeom prst="ellipse">
            <a:avLst/>
          </a:prstGeom>
          <a:noFill/>
          <a:ln w="762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Oval 15">
            <a:extLst>
              <a:ext uri="{FF2B5EF4-FFF2-40B4-BE49-F238E27FC236}">
                <a16:creationId xmlns:a16="http://schemas.microsoft.com/office/drawing/2014/main" id="{0FADD979-67D1-B95C-9997-B9B68520E609}"/>
              </a:ext>
            </a:extLst>
          </p:cNvPr>
          <p:cNvSpPr/>
          <p:nvPr/>
        </p:nvSpPr>
        <p:spPr>
          <a:xfrm>
            <a:off x="6471575" y="2825953"/>
            <a:ext cx="1171336" cy="776042"/>
          </a:xfrm>
          <a:prstGeom prst="ellipse">
            <a:avLst/>
          </a:prstGeom>
          <a:noFill/>
          <a:ln w="762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solidFill>
                <a:schemeClr val="accent1"/>
              </a:solidFill>
            </a:endParaRPr>
          </a:p>
        </p:txBody>
      </p:sp>
      <p:sp>
        <p:nvSpPr>
          <p:cNvPr id="17" name="Oval 16">
            <a:extLst>
              <a:ext uri="{FF2B5EF4-FFF2-40B4-BE49-F238E27FC236}">
                <a16:creationId xmlns:a16="http://schemas.microsoft.com/office/drawing/2014/main" id="{0DCBAAA1-7D93-4004-9D46-BC2664378B62}"/>
              </a:ext>
            </a:extLst>
          </p:cNvPr>
          <p:cNvSpPr/>
          <p:nvPr/>
        </p:nvSpPr>
        <p:spPr>
          <a:xfrm>
            <a:off x="99217" y="2905067"/>
            <a:ext cx="1171336" cy="776042"/>
          </a:xfrm>
          <a:prstGeom prst="ellipse">
            <a:avLst/>
          </a:prstGeom>
          <a:noFill/>
          <a:ln w="762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solidFill>
                <a:schemeClr val="accent1"/>
              </a:solidFill>
            </a:endParaRPr>
          </a:p>
        </p:txBody>
      </p:sp>
    </p:spTree>
    <p:extLst>
      <p:ext uri="{BB962C8B-B14F-4D97-AF65-F5344CB8AC3E}">
        <p14:creationId xmlns:p14="http://schemas.microsoft.com/office/powerpoint/2010/main" val="3408984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3E942-D48A-CF4F-BAD4-22FE8605A580}"/>
              </a:ext>
            </a:extLst>
          </p:cNvPr>
          <p:cNvSpPr>
            <a:spLocks noGrp="1"/>
          </p:cNvSpPr>
          <p:nvPr>
            <p:ph type="title"/>
          </p:nvPr>
        </p:nvSpPr>
        <p:spPr/>
        <p:txBody>
          <a:bodyPr>
            <a:normAutofit fontScale="90000"/>
          </a:bodyPr>
          <a:lstStyle/>
          <a:p>
            <a:r>
              <a:rPr lang="en-US" dirty="0"/>
              <a:t>Let’s Quickly Explore </a:t>
            </a:r>
            <a:r>
              <a:rPr lang="en-US" dirty="0" err="1"/>
              <a:t>Jupyter</a:t>
            </a:r>
            <a:endParaRPr lang="en-US" dirty="0"/>
          </a:p>
        </p:txBody>
      </p:sp>
      <p:sp>
        <p:nvSpPr>
          <p:cNvPr id="3" name="Content Placeholder 2">
            <a:extLst>
              <a:ext uri="{FF2B5EF4-FFF2-40B4-BE49-F238E27FC236}">
                <a16:creationId xmlns:a16="http://schemas.microsoft.com/office/drawing/2014/main" id="{66A3DF1E-F240-BC41-B313-3625DDE1D979}"/>
              </a:ext>
            </a:extLst>
          </p:cNvPr>
          <p:cNvSpPr>
            <a:spLocks noGrp="1"/>
          </p:cNvSpPr>
          <p:nvPr>
            <p:ph idx="1"/>
          </p:nvPr>
        </p:nvSpPr>
        <p:spPr>
          <a:xfrm>
            <a:off x="838200" y="1825624"/>
            <a:ext cx="6664036" cy="4835479"/>
          </a:xfrm>
        </p:spPr>
        <p:txBody>
          <a:bodyPr>
            <a:normAutofit/>
          </a:bodyPr>
          <a:lstStyle/>
          <a:p>
            <a:r>
              <a:rPr lang="en-US" dirty="0"/>
              <a:t>Explore different cell types</a:t>
            </a:r>
          </a:p>
          <a:p>
            <a:r>
              <a:rPr lang="en-US" dirty="0"/>
              <a:t>Execute Python code in </a:t>
            </a:r>
            <a:r>
              <a:rPr lang="en-US" dirty="0" err="1"/>
              <a:t>Jupyter</a:t>
            </a:r>
            <a:endParaRPr lang="en-US" dirty="0"/>
          </a:p>
          <a:p>
            <a:r>
              <a:rPr lang="en-US" dirty="0"/>
              <a:t>Other helpful </a:t>
            </a:r>
            <a:r>
              <a:rPr lang="en-US" dirty="0" err="1"/>
              <a:t>Jupyter</a:t>
            </a:r>
            <a:r>
              <a:rPr lang="en-US" dirty="0"/>
              <a:t> tips</a:t>
            </a:r>
          </a:p>
          <a:p>
            <a:r>
              <a:rPr lang="en-US" dirty="0"/>
              <a:t>You can use the downloaded .</a:t>
            </a:r>
            <a:r>
              <a:rPr lang="en-US" dirty="0" err="1"/>
              <a:t>ipynb</a:t>
            </a:r>
            <a:r>
              <a:rPr lang="en-US" dirty="0"/>
              <a:t> file or </a:t>
            </a:r>
            <a:r>
              <a:rPr lang="en-US" dirty="0" err="1"/>
              <a:t>JupyterHub</a:t>
            </a:r>
            <a:r>
              <a:rPr lang="en-US" dirty="0"/>
              <a:t> links to follow along</a:t>
            </a:r>
          </a:p>
        </p:txBody>
      </p:sp>
      <p:sp>
        <p:nvSpPr>
          <p:cNvPr id="4" name="Rectangle: Rounded Corners 5">
            <a:extLst>
              <a:ext uri="{FF2B5EF4-FFF2-40B4-BE49-F238E27FC236}">
                <a16:creationId xmlns:a16="http://schemas.microsoft.com/office/drawing/2014/main" id="{9BD5FBCF-8C94-E44C-BBC9-C128207E6FA0}"/>
              </a:ext>
            </a:extLst>
          </p:cNvPr>
          <p:cNvSpPr/>
          <p:nvPr/>
        </p:nvSpPr>
        <p:spPr>
          <a:xfrm>
            <a:off x="7664115" y="1949006"/>
            <a:ext cx="3958389" cy="4418765"/>
          </a:xfrm>
          <a:prstGeom prst="roundRect">
            <a:avLst/>
          </a:prstGeom>
          <a:noFill/>
          <a:ln w="762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dirty="0">
                <a:solidFill>
                  <a:srgbClr val="FFFFFF"/>
                </a:solidFill>
              </a:rPr>
              <a:t>Open your notebook</a:t>
            </a:r>
          </a:p>
          <a:p>
            <a:endParaRPr lang="en-US" sz="4400" b="1" dirty="0">
              <a:solidFill>
                <a:srgbClr val="FFFFFF"/>
              </a:solidFill>
            </a:endParaRPr>
          </a:p>
          <a:p>
            <a:r>
              <a:rPr lang="en-US" sz="2800" b="1" dirty="0">
                <a:solidFill>
                  <a:srgbClr val="FFFFFF"/>
                </a:solidFill>
              </a:rPr>
              <a:t>Click Link</a:t>
            </a:r>
            <a:r>
              <a:rPr lang="en-US" sz="2800" b="1" dirty="0">
                <a:solidFill>
                  <a:schemeClr val="accent6"/>
                </a:solidFill>
              </a:rPr>
              <a:t>:</a:t>
            </a:r>
          </a:p>
          <a:p>
            <a:r>
              <a:rPr lang="en-US" sz="2800" b="1" dirty="0">
                <a:solidFill>
                  <a:schemeClr val="accent6"/>
                </a:solidFill>
              </a:rPr>
              <a:t>1. Exploring Cell Types in </a:t>
            </a:r>
            <a:r>
              <a:rPr lang="en-US" sz="2800" b="1" dirty="0" err="1">
                <a:solidFill>
                  <a:schemeClr val="accent6"/>
                </a:solidFill>
              </a:rPr>
              <a:t>Jupyter</a:t>
            </a:r>
            <a:endParaRPr lang="en-US" sz="2800" b="1" dirty="0">
              <a:solidFill>
                <a:schemeClr val="accent6"/>
              </a:solidFill>
            </a:endParaRPr>
          </a:p>
        </p:txBody>
      </p:sp>
    </p:spTree>
    <p:extLst>
      <p:ext uri="{BB962C8B-B14F-4D97-AF65-F5344CB8AC3E}">
        <p14:creationId xmlns:p14="http://schemas.microsoft.com/office/powerpoint/2010/main" val="18127938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Description automatically generated">
            <a:extLst>
              <a:ext uri="{FF2B5EF4-FFF2-40B4-BE49-F238E27FC236}">
                <a16:creationId xmlns:a16="http://schemas.microsoft.com/office/drawing/2014/main" id="{ADD7D338-1702-98D2-8D72-090D151DF7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2161" y="3429000"/>
            <a:ext cx="3740150" cy="3035300"/>
          </a:xfrm>
          <a:prstGeom prst="rect">
            <a:avLst/>
          </a:prstGeom>
        </p:spPr>
      </p:pic>
      <p:sp>
        <p:nvSpPr>
          <p:cNvPr id="2" name="Title 1">
            <a:extLst>
              <a:ext uri="{FF2B5EF4-FFF2-40B4-BE49-F238E27FC236}">
                <a16:creationId xmlns:a16="http://schemas.microsoft.com/office/drawing/2014/main" id="{EBEB308A-B536-04E2-A616-942C4209FE2D}"/>
              </a:ext>
            </a:extLst>
          </p:cNvPr>
          <p:cNvSpPr>
            <a:spLocks noGrp="1"/>
          </p:cNvSpPr>
          <p:nvPr>
            <p:ph type="title"/>
          </p:nvPr>
        </p:nvSpPr>
        <p:spPr/>
        <p:txBody>
          <a:bodyPr>
            <a:normAutofit fontScale="90000"/>
          </a:bodyPr>
          <a:lstStyle/>
          <a:p>
            <a:r>
              <a:rPr lang="en-CA" dirty="0"/>
              <a:t>Running Your First Python (.</a:t>
            </a:r>
            <a:r>
              <a:rPr lang="en-CA" dirty="0" err="1"/>
              <a:t>py</a:t>
            </a:r>
            <a:r>
              <a:rPr lang="en-CA" dirty="0"/>
              <a:t>) File</a:t>
            </a:r>
          </a:p>
        </p:txBody>
      </p:sp>
      <p:sp>
        <p:nvSpPr>
          <p:cNvPr id="7" name="Content Placeholder 6">
            <a:extLst>
              <a:ext uri="{FF2B5EF4-FFF2-40B4-BE49-F238E27FC236}">
                <a16:creationId xmlns:a16="http://schemas.microsoft.com/office/drawing/2014/main" id="{29A7C73C-4035-3022-5805-8FCC21FDCE5C}"/>
              </a:ext>
            </a:extLst>
          </p:cNvPr>
          <p:cNvSpPr>
            <a:spLocks noGrp="1"/>
          </p:cNvSpPr>
          <p:nvPr>
            <p:ph idx="1"/>
          </p:nvPr>
        </p:nvSpPr>
        <p:spPr>
          <a:xfrm>
            <a:off x="599098" y="1584992"/>
            <a:ext cx="11288102" cy="4835479"/>
          </a:xfrm>
        </p:spPr>
        <p:txBody>
          <a:bodyPr>
            <a:normAutofit/>
          </a:bodyPr>
          <a:lstStyle/>
          <a:p>
            <a:r>
              <a:rPr lang="en-CA" sz="2400" dirty="0"/>
              <a:t>Download this .</a:t>
            </a:r>
            <a:r>
              <a:rPr lang="en-CA" sz="2400" dirty="0" err="1"/>
              <a:t>py</a:t>
            </a:r>
            <a:r>
              <a:rPr lang="en-CA" sz="2400" dirty="0"/>
              <a:t> file from Quercus</a:t>
            </a:r>
          </a:p>
          <a:p>
            <a:r>
              <a:rPr lang="en-CA" sz="2400" dirty="0"/>
              <a:t>Open </a:t>
            </a:r>
            <a:r>
              <a:rPr lang="en-CA" sz="2400" dirty="0" err="1"/>
              <a:t>VSCode</a:t>
            </a:r>
            <a:r>
              <a:rPr lang="en-CA" sz="2400" dirty="0"/>
              <a:t> on your Computer</a:t>
            </a:r>
          </a:p>
          <a:p>
            <a:r>
              <a:rPr lang="en-CA" sz="2400" dirty="0"/>
              <a:t>In </a:t>
            </a:r>
            <a:r>
              <a:rPr lang="en-CA" sz="2400" dirty="0" err="1"/>
              <a:t>VSCode</a:t>
            </a:r>
            <a:r>
              <a:rPr lang="en-CA" sz="2400" dirty="0"/>
              <a:t> go to File -&gt; Open -&gt; find and open the .</a:t>
            </a:r>
            <a:r>
              <a:rPr lang="en-CA" sz="2400" dirty="0" err="1"/>
              <a:t>py</a:t>
            </a:r>
            <a:r>
              <a:rPr lang="en-CA" sz="2400" dirty="0"/>
              <a:t> file where you downloaded it</a:t>
            </a:r>
          </a:p>
        </p:txBody>
      </p:sp>
      <p:sp>
        <p:nvSpPr>
          <p:cNvPr id="10" name="Down Arrow 9">
            <a:extLst>
              <a:ext uri="{FF2B5EF4-FFF2-40B4-BE49-F238E27FC236}">
                <a16:creationId xmlns:a16="http://schemas.microsoft.com/office/drawing/2014/main" id="{4F8A1960-6856-72EB-2582-1D31313C37D2}"/>
              </a:ext>
            </a:extLst>
          </p:cNvPr>
          <p:cNvSpPr/>
          <p:nvPr/>
        </p:nvSpPr>
        <p:spPr>
          <a:xfrm rot="3997194">
            <a:off x="1945953" y="4151817"/>
            <a:ext cx="304800" cy="770036"/>
          </a:xfrm>
          <a:prstGeom prst="down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6" name="Picture 5" descr="A screenshot of a computer&#10;&#10;Description automatically generated">
            <a:extLst>
              <a:ext uri="{FF2B5EF4-FFF2-40B4-BE49-F238E27FC236}">
                <a16:creationId xmlns:a16="http://schemas.microsoft.com/office/drawing/2014/main" id="{B738C703-A788-1228-CC31-FCE4DC765D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1932" y="2960035"/>
            <a:ext cx="6357907" cy="3897965"/>
          </a:xfrm>
          <a:prstGeom prst="rect">
            <a:avLst/>
          </a:prstGeom>
        </p:spPr>
      </p:pic>
    </p:spTree>
    <p:extLst>
      <p:ext uri="{BB962C8B-B14F-4D97-AF65-F5344CB8AC3E}">
        <p14:creationId xmlns:p14="http://schemas.microsoft.com/office/powerpoint/2010/main" val="14167580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3A672649-8683-E9DE-E3BA-F11F29D97D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01521"/>
            <a:ext cx="8240494" cy="5052159"/>
          </a:xfrm>
          <a:prstGeom prst="rect">
            <a:avLst/>
          </a:prstGeom>
        </p:spPr>
      </p:pic>
      <p:sp>
        <p:nvSpPr>
          <p:cNvPr id="3" name="Content Placeholder 2">
            <a:extLst>
              <a:ext uri="{FF2B5EF4-FFF2-40B4-BE49-F238E27FC236}">
                <a16:creationId xmlns:a16="http://schemas.microsoft.com/office/drawing/2014/main" id="{AEE3E9E7-0514-96CA-CAE8-1304C3E3EF3D}"/>
              </a:ext>
            </a:extLst>
          </p:cNvPr>
          <p:cNvSpPr txBox="1">
            <a:spLocks/>
          </p:cNvSpPr>
          <p:nvPr/>
        </p:nvSpPr>
        <p:spPr>
          <a:xfrm>
            <a:off x="7936666" y="3641132"/>
            <a:ext cx="3671565" cy="10881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007EE5"/>
              </a:buClr>
              <a:buFont typeface="Wingdings" panose="05000000000000000000" pitchFamily="2" charset="2"/>
              <a:buChar char="§"/>
              <a:defRPr sz="2800" kern="1200">
                <a:solidFill>
                  <a:srgbClr val="FFFFFF"/>
                </a:solidFill>
                <a:latin typeface="+mn-lt"/>
                <a:ea typeface="+mn-ea"/>
                <a:cs typeface="+mn-cs"/>
              </a:defRPr>
            </a:lvl1pPr>
            <a:lvl2pPr marL="685800" indent="-228600" algn="l" defTabSz="914400" rtl="0" eaLnBrk="1" latinLnBrk="0" hangingPunct="1">
              <a:lnSpc>
                <a:spcPct val="90000"/>
              </a:lnSpc>
              <a:spcBef>
                <a:spcPts val="500"/>
              </a:spcBef>
              <a:buClr>
                <a:srgbClr val="007EE5"/>
              </a:buClr>
              <a:buFont typeface="Wingdings" panose="05000000000000000000" pitchFamily="2" charset="2"/>
              <a:buChar char="§"/>
              <a:defRPr sz="2400" kern="1200">
                <a:solidFill>
                  <a:srgbClr val="FFFFFF"/>
                </a:solidFill>
                <a:latin typeface="+mn-lt"/>
                <a:ea typeface="+mn-ea"/>
                <a:cs typeface="+mn-cs"/>
              </a:defRPr>
            </a:lvl2pPr>
            <a:lvl3pPr marL="1143000" indent="-228600" algn="l" defTabSz="914400" rtl="0" eaLnBrk="1" latinLnBrk="0" hangingPunct="1">
              <a:lnSpc>
                <a:spcPct val="90000"/>
              </a:lnSpc>
              <a:spcBef>
                <a:spcPts val="500"/>
              </a:spcBef>
              <a:buClr>
                <a:srgbClr val="007EE5"/>
              </a:buClr>
              <a:buFont typeface="Wingdings" panose="05000000000000000000" pitchFamily="2" charset="2"/>
              <a:buChar char="§"/>
              <a:defRPr sz="2000" kern="1200">
                <a:solidFill>
                  <a:srgbClr val="FFFFFF"/>
                </a:solidFill>
                <a:latin typeface="+mn-lt"/>
                <a:ea typeface="+mn-ea"/>
                <a:cs typeface="+mn-cs"/>
              </a:defRPr>
            </a:lvl3pPr>
            <a:lvl4pPr marL="1600200" indent="-228600" algn="l" defTabSz="914400" rtl="0" eaLnBrk="1" latinLnBrk="0" hangingPunct="1">
              <a:lnSpc>
                <a:spcPct val="90000"/>
              </a:lnSpc>
              <a:spcBef>
                <a:spcPts val="500"/>
              </a:spcBef>
              <a:buClr>
                <a:srgbClr val="007EE5"/>
              </a:buClr>
              <a:buFont typeface="Wingdings" panose="05000000000000000000" pitchFamily="2" charset="2"/>
              <a:buChar char="§"/>
              <a:defRPr sz="1800" kern="1200">
                <a:solidFill>
                  <a:srgbClr val="FFFFFF"/>
                </a:solidFill>
                <a:latin typeface="+mn-lt"/>
                <a:ea typeface="+mn-ea"/>
                <a:cs typeface="+mn-cs"/>
              </a:defRPr>
            </a:lvl4pPr>
            <a:lvl5pPr marL="2057400" indent="-228600" algn="l" defTabSz="914400" rtl="0" eaLnBrk="1" latinLnBrk="0" hangingPunct="1">
              <a:lnSpc>
                <a:spcPct val="90000"/>
              </a:lnSpc>
              <a:spcBef>
                <a:spcPts val="500"/>
              </a:spcBef>
              <a:buClr>
                <a:srgbClr val="007EE5"/>
              </a:buClr>
              <a:buFont typeface="Wingdings" panose="05000000000000000000" pitchFamily="2" charset="2"/>
              <a:buChar char="§"/>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2400" dirty="0"/>
              <a:t>Click here to change the Python version and interpreter being used.</a:t>
            </a:r>
          </a:p>
        </p:txBody>
      </p:sp>
      <p:sp>
        <p:nvSpPr>
          <p:cNvPr id="6" name="Down Arrow 5">
            <a:extLst>
              <a:ext uri="{FF2B5EF4-FFF2-40B4-BE49-F238E27FC236}">
                <a16:creationId xmlns:a16="http://schemas.microsoft.com/office/drawing/2014/main" id="{694E9D3E-F942-1CD0-F92E-5CB660439107}"/>
              </a:ext>
            </a:extLst>
          </p:cNvPr>
          <p:cNvSpPr/>
          <p:nvPr/>
        </p:nvSpPr>
        <p:spPr>
          <a:xfrm rot="10800000">
            <a:off x="6400800" y="5076704"/>
            <a:ext cx="312822" cy="444879"/>
          </a:xfrm>
          <a:prstGeom prst="down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0" name="Down Arrow 9">
            <a:extLst>
              <a:ext uri="{FF2B5EF4-FFF2-40B4-BE49-F238E27FC236}">
                <a16:creationId xmlns:a16="http://schemas.microsoft.com/office/drawing/2014/main" id="{720793FF-985D-4EB1-4434-73EE7F027AFE}"/>
              </a:ext>
            </a:extLst>
          </p:cNvPr>
          <p:cNvSpPr/>
          <p:nvPr/>
        </p:nvSpPr>
        <p:spPr>
          <a:xfrm rot="2692473">
            <a:off x="7172744" y="4180545"/>
            <a:ext cx="304800" cy="770036"/>
          </a:xfrm>
          <a:prstGeom prst="down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Content Placeholder 2">
            <a:extLst>
              <a:ext uri="{FF2B5EF4-FFF2-40B4-BE49-F238E27FC236}">
                <a16:creationId xmlns:a16="http://schemas.microsoft.com/office/drawing/2014/main" id="{389E77CE-5427-3E54-0F58-118C6A781947}"/>
              </a:ext>
            </a:extLst>
          </p:cNvPr>
          <p:cNvSpPr txBox="1">
            <a:spLocks/>
          </p:cNvSpPr>
          <p:nvPr/>
        </p:nvSpPr>
        <p:spPr>
          <a:xfrm>
            <a:off x="3784111" y="5521583"/>
            <a:ext cx="4623777" cy="10881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007EE5"/>
              </a:buClr>
              <a:buFont typeface="Wingdings" panose="05000000000000000000" pitchFamily="2" charset="2"/>
              <a:buChar char="§"/>
              <a:defRPr sz="2800" kern="1200">
                <a:solidFill>
                  <a:srgbClr val="FFFFFF"/>
                </a:solidFill>
                <a:latin typeface="+mn-lt"/>
                <a:ea typeface="+mn-ea"/>
                <a:cs typeface="+mn-cs"/>
              </a:defRPr>
            </a:lvl1pPr>
            <a:lvl2pPr marL="685800" indent="-228600" algn="l" defTabSz="914400" rtl="0" eaLnBrk="1" latinLnBrk="0" hangingPunct="1">
              <a:lnSpc>
                <a:spcPct val="90000"/>
              </a:lnSpc>
              <a:spcBef>
                <a:spcPts val="500"/>
              </a:spcBef>
              <a:buClr>
                <a:srgbClr val="007EE5"/>
              </a:buClr>
              <a:buFont typeface="Wingdings" panose="05000000000000000000" pitchFamily="2" charset="2"/>
              <a:buChar char="§"/>
              <a:defRPr sz="2400" kern="1200">
                <a:solidFill>
                  <a:srgbClr val="FFFFFF"/>
                </a:solidFill>
                <a:latin typeface="+mn-lt"/>
                <a:ea typeface="+mn-ea"/>
                <a:cs typeface="+mn-cs"/>
              </a:defRPr>
            </a:lvl2pPr>
            <a:lvl3pPr marL="1143000" indent="-228600" algn="l" defTabSz="914400" rtl="0" eaLnBrk="1" latinLnBrk="0" hangingPunct="1">
              <a:lnSpc>
                <a:spcPct val="90000"/>
              </a:lnSpc>
              <a:spcBef>
                <a:spcPts val="500"/>
              </a:spcBef>
              <a:buClr>
                <a:srgbClr val="007EE5"/>
              </a:buClr>
              <a:buFont typeface="Wingdings" panose="05000000000000000000" pitchFamily="2" charset="2"/>
              <a:buChar char="§"/>
              <a:defRPr sz="2000" kern="1200">
                <a:solidFill>
                  <a:srgbClr val="FFFFFF"/>
                </a:solidFill>
                <a:latin typeface="+mn-lt"/>
                <a:ea typeface="+mn-ea"/>
                <a:cs typeface="+mn-cs"/>
              </a:defRPr>
            </a:lvl3pPr>
            <a:lvl4pPr marL="1600200" indent="-228600" algn="l" defTabSz="914400" rtl="0" eaLnBrk="1" latinLnBrk="0" hangingPunct="1">
              <a:lnSpc>
                <a:spcPct val="90000"/>
              </a:lnSpc>
              <a:spcBef>
                <a:spcPts val="500"/>
              </a:spcBef>
              <a:buClr>
                <a:srgbClr val="007EE5"/>
              </a:buClr>
              <a:buFont typeface="Wingdings" panose="05000000000000000000" pitchFamily="2" charset="2"/>
              <a:buChar char="§"/>
              <a:defRPr sz="1800" kern="1200">
                <a:solidFill>
                  <a:srgbClr val="FFFFFF"/>
                </a:solidFill>
                <a:latin typeface="+mn-lt"/>
                <a:ea typeface="+mn-ea"/>
                <a:cs typeface="+mn-cs"/>
              </a:defRPr>
            </a:lvl4pPr>
            <a:lvl5pPr marL="2057400" indent="-228600" algn="l" defTabSz="914400" rtl="0" eaLnBrk="1" latinLnBrk="0" hangingPunct="1">
              <a:lnSpc>
                <a:spcPct val="90000"/>
              </a:lnSpc>
              <a:spcBef>
                <a:spcPts val="500"/>
              </a:spcBef>
              <a:buClr>
                <a:srgbClr val="007EE5"/>
              </a:buClr>
              <a:buFont typeface="Wingdings" panose="05000000000000000000" pitchFamily="2" charset="2"/>
              <a:buChar char="§"/>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2400" dirty="0"/>
              <a:t>Click here to change the programming language.  It should say Python for APS106.</a:t>
            </a:r>
          </a:p>
        </p:txBody>
      </p:sp>
    </p:spTree>
    <p:extLst>
      <p:ext uri="{BB962C8B-B14F-4D97-AF65-F5344CB8AC3E}">
        <p14:creationId xmlns:p14="http://schemas.microsoft.com/office/powerpoint/2010/main" val="1698344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Description automatically generated">
            <a:extLst>
              <a:ext uri="{FF2B5EF4-FFF2-40B4-BE49-F238E27FC236}">
                <a16:creationId xmlns:a16="http://schemas.microsoft.com/office/drawing/2014/main" id="{ABC2AB8E-A7FB-3D23-E937-C7D6B0721B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5494" y="1936883"/>
            <a:ext cx="8295141" cy="5085663"/>
          </a:xfrm>
          <a:prstGeom prst="rect">
            <a:avLst/>
          </a:prstGeom>
        </p:spPr>
      </p:pic>
      <p:sp>
        <p:nvSpPr>
          <p:cNvPr id="13" name="Down Arrow 12">
            <a:extLst>
              <a:ext uri="{FF2B5EF4-FFF2-40B4-BE49-F238E27FC236}">
                <a16:creationId xmlns:a16="http://schemas.microsoft.com/office/drawing/2014/main" id="{200C9E85-96C9-AA09-133F-5163F981A6FB}"/>
              </a:ext>
            </a:extLst>
          </p:cNvPr>
          <p:cNvSpPr/>
          <p:nvPr/>
        </p:nvSpPr>
        <p:spPr>
          <a:xfrm>
            <a:off x="9298930" y="1763234"/>
            <a:ext cx="304800" cy="770036"/>
          </a:xfrm>
          <a:prstGeom prst="down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Content Placeholder 2">
            <a:extLst>
              <a:ext uri="{FF2B5EF4-FFF2-40B4-BE49-F238E27FC236}">
                <a16:creationId xmlns:a16="http://schemas.microsoft.com/office/drawing/2014/main" id="{3BB78646-9C9E-692C-9C3D-68138164B912}"/>
              </a:ext>
            </a:extLst>
          </p:cNvPr>
          <p:cNvSpPr txBox="1">
            <a:spLocks/>
          </p:cNvSpPr>
          <p:nvPr/>
        </p:nvSpPr>
        <p:spPr>
          <a:xfrm>
            <a:off x="534766" y="624857"/>
            <a:ext cx="10515600" cy="483547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007EE5"/>
              </a:buClr>
              <a:buFont typeface="Wingdings" panose="05000000000000000000" pitchFamily="2" charset="2"/>
              <a:buChar char="§"/>
              <a:defRPr sz="2800" kern="1200">
                <a:solidFill>
                  <a:srgbClr val="FFFFFF"/>
                </a:solidFill>
                <a:latin typeface="+mn-lt"/>
                <a:ea typeface="+mn-ea"/>
                <a:cs typeface="+mn-cs"/>
              </a:defRPr>
            </a:lvl1pPr>
            <a:lvl2pPr marL="685800" indent="-228600" algn="l" defTabSz="914400" rtl="0" eaLnBrk="1" latinLnBrk="0" hangingPunct="1">
              <a:lnSpc>
                <a:spcPct val="90000"/>
              </a:lnSpc>
              <a:spcBef>
                <a:spcPts val="500"/>
              </a:spcBef>
              <a:buClr>
                <a:srgbClr val="007EE5"/>
              </a:buClr>
              <a:buFont typeface="Wingdings" panose="05000000000000000000" pitchFamily="2" charset="2"/>
              <a:buChar char="§"/>
              <a:defRPr sz="2400" kern="1200">
                <a:solidFill>
                  <a:srgbClr val="FFFFFF"/>
                </a:solidFill>
                <a:latin typeface="+mn-lt"/>
                <a:ea typeface="+mn-ea"/>
                <a:cs typeface="+mn-cs"/>
              </a:defRPr>
            </a:lvl2pPr>
            <a:lvl3pPr marL="1143000" indent="-228600" algn="l" defTabSz="914400" rtl="0" eaLnBrk="1" latinLnBrk="0" hangingPunct="1">
              <a:lnSpc>
                <a:spcPct val="90000"/>
              </a:lnSpc>
              <a:spcBef>
                <a:spcPts val="500"/>
              </a:spcBef>
              <a:buClr>
                <a:srgbClr val="007EE5"/>
              </a:buClr>
              <a:buFont typeface="Wingdings" panose="05000000000000000000" pitchFamily="2" charset="2"/>
              <a:buChar char="§"/>
              <a:defRPr sz="2000" kern="1200">
                <a:solidFill>
                  <a:srgbClr val="FFFFFF"/>
                </a:solidFill>
                <a:latin typeface="+mn-lt"/>
                <a:ea typeface="+mn-ea"/>
                <a:cs typeface="+mn-cs"/>
              </a:defRPr>
            </a:lvl3pPr>
            <a:lvl4pPr marL="1600200" indent="-228600" algn="l" defTabSz="914400" rtl="0" eaLnBrk="1" latinLnBrk="0" hangingPunct="1">
              <a:lnSpc>
                <a:spcPct val="90000"/>
              </a:lnSpc>
              <a:spcBef>
                <a:spcPts val="500"/>
              </a:spcBef>
              <a:buClr>
                <a:srgbClr val="007EE5"/>
              </a:buClr>
              <a:buFont typeface="Wingdings" panose="05000000000000000000" pitchFamily="2" charset="2"/>
              <a:buChar char="§"/>
              <a:defRPr sz="1800" kern="1200">
                <a:solidFill>
                  <a:srgbClr val="FFFFFF"/>
                </a:solidFill>
                <a:latin typeface="+mn-lt"/>
                <a:ea typeface="+mn-ea"/>
                <a:cs typeface="+mn-cs"/>
              </a:defRPr>
            </a:lvl4pPr>
            <a:lvl5pPr marL="2057400" indent="-228600" algn="l" defTabSz="914400" rtl="0" eaLnBrk="1" latinLnBrk="0" hangingPunct="1">
              <a:lnSpc>
                <a:spcPct val="90000"/>
              </a:lnSpc>
              <a:spcBef>
                <a:spcPts val="500"/>
              </a:spcBef>
              <a:buClr>
                <a:srgbClr val="007EE5"/>
              </a:buClr>
              <a:buFont typeface="Wingdings" panose="05000000000000000000" pitchFamily="2" charset="2"/>
              <a:buChar char="§"/>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dirty="0"/>
              <a:t>Take some time opening this on your personal computer</a:t>
            </a:r>
          </a:p>
          <a:p>
            <a:r>
              <a:rPr lang="en-CA" dirty="0">
                <a:solidFill>
                  <a:schemeClr val="accent6"/>
                </a:solidFill>
              </a:rPr>
              <a:t>On Line 3, replace Art Vandelay with your name</a:t>
            </a:r>
          </a:p>
          <a:p>
            <a:r>
              <a:rPr lang="en-CA" dirty="0">
                <a:solidFill>
                  <a:srgbClr val="00B050"/>
                </a:solidFill>
              </a:rPr>
              <a:t>Hit the triangle arrow to RUN or EXECUTE code</a:t>
            </a:r>
          </a:p>
        </p:txBody>
      </p:sp>
      <p:sp>
        <p:nvSpPr>
          <p:cNvPr id="17" name="Down Arrow 16">
            <a:extLst>
              <a:ext uri="{FF2B5EF4-FFF2-40B4-BE49-F238E27FC236}">
                <a16:creationId xmlns:a16="http://schemas.microsoft.com/office/drawing/2014/main" id="{4E69206B-7AB2-FCD3-6624-25DFE13911CB}"/>
              </a:ext>
            </a:extLst>
          </p:cNvPr>
          <p:cNvSpPr/>
          <p:nvPr/>
        </p:nvSpPr>
        <p:spPr>
          <a:xfrm rot="16200000">
            <a:off x="2811244" y="2945080"/>
            <a:ext cx="304800" cy="770036"/>
          </a:xfrm>
          <a:prstGeom prst="down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3814613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B0F18-C8F5-4E76-9F68-50E71A14EB7A}"/>
              </a:ext>
            </a:extLst>
          </p:cNvPr>
          <p:cNvSpPr>
            <a:spLocks noGrp="1"/>
          </p:cNvSpPr>
          <p:nvPr>
            <p:ph type="title"/>
          </p:nvPr>
        </p:nvSpPr>
        <p:spPr/>
        <p:txBody>
          <a:bodyPr>
            <a:normAutofit fontScale="90000"/>
          </a:bodyPr>
          <a:lstStyle/>
          <a:p>
            <a:r>
              <a:rPr lang="en-US" b="1" dirty="0"/>
              <a:t>What is Programming</a:t>
            </a:r>
            <a:r>
              <a:rPr lang="en-US" b="1" dirty="0">
                <a:solidFill>
                  <a:schemeClr val="accent2"/>
                </a:solidFill>
              </a:rPr>
              <a:t>?</a:t>
            </a:r>
          </a:p>
        </p:txBody>
      </p:sp>
      <p:sp>
        <p:nvSpPr>
          <p:cNvPr id="3" name="Content Placeholder 2">
            <a:extLst>
              <a:ext uri="{FF2B5EF4-FFF2-40B4-BE49-F238E27FC236}">
                <a16:creationId xmlns:a16="http://schemas.microsoft.com/office/drawing/2014/main" id="{734EFC58-F4AF-4D45-A52D-6B691F13F9C9}"/>
              </a:ext>
            </a:extLst>
          </p:cNvPr>
          <p:cNvSpPr>
            <a:spLocks noGrp="1"/>
          </p:cNvSpPr>
          <p:nvPr>
            <p:ph idx="1"/>
          </p:nvPr>
        </p:nvSpPr>
        <p:spPr>
          <a:xfrm>
            <a:off x="838200" y="1825625"/>
            <a:ext cx="10515600" cy="2488468"/>
          </a:xfrm>
        </p:spPr>
        <p:txBody>
          <a:bodyPr/>
          <a:lstStyle/>
          <a:p>
            <a:r>
              <a:rPr lang="en-US" dirty="0"/>
              <a:t>A way of telling a computer what to do</a:t>
            </a:r>
            <a:r>
              <a:rPr lang="en-US" dirty="0">
                <a:solidFill>
                  <a:schemeClr val="accent3"/>
                </a:solidFill>
              </a:rPr>
              <a:t>.</a:t>
            </a:r>
          </a:p>
          <a:p>
            <a:r>
              <a:rPr lang="en-US" dirty="0"/>
              <a:t>A computer can’t infer </a:t>
            </a:r>
            <a:r>
              <a:rPr lang="en-US" dirty="0">
                <a:solidFill>
                  <a:schemeClr val="accent6"/>
                </a:solidFill>
              </a:rPr>
              <a:t>(</a:t>
            </a:r>
            <a:r>
              <a:rPr lang="en-US" dirty="0">
                <a:solidFill>
                  <a:schemeClr val="accent3"/>
                </a:solidFill>
              </a:rPr>
              <a:t>…</a:t>
            </a:r>
            <a:r>
              <a:rPr lang="en-US" dirty="0"/>
              <a:t>yet</a:t>
            </a:r>
            <a:r>
              <a:rPr lang="en-US" dirty="0">
                <a:solidFill>
                  <a:schemeClr val="accent6"/>
                </a:solidFill>
              </a:rPr>
              <a:t>)</a:t>
            </a:r>
            <a:r>
              <a:rPr lang="en-US" dirty="0">
                <a:solidFill>
                  <a:schemeClr val="accent3"/>
                </a:solidFill>
              </a:rPr>
              <a:t>.</a:t>
            </a:r>
          </a:p>
          <a:p>
            <a:pPr lvl="1"/>
            <a:r>
              <a:rPr lang="en-US" dirty="0"/>
              <a:t>Need to tell a computer every single step </a:t>
            </a:r>
            <a:r>
              <a:rPr lang="en-US" dirty="0">
                <a:solidFill>
                  <a:schemeClr val="accent6"/>
                </a:solidFill>
              </a:rPr>
              <a:t>(</a:t>
            </a:r>
            <a:r>
              <a:rPr lang="en-US" dirty="0"/>
              <a:t>or “instruction”</a:t>
            </a:r>
            <a:r>
              <a:rPr lang="en-US" dirty="0">
                <a:solidFill>
                  <a:schemeClr val="accent6"/>
                </a:solidFill>
              </a:rPr>
              <a:t>)</a:t>
            </a:r>
            <a:r>
              <a:rPr lang="en-US" dirty="0"/>
              <a:t> it needs to do in a language it can understand</a:t>
            </a:r>
            <a:r>
              <a:rPr lang="en-US" dirty="0">
                <a:solidFill>
                  <a:schemeClr val="accent3"/>
                </a:solidFill>
              </a:rPr>
              <a:t>.</a:t>
            </a:r>
          </a:p>
          <a:p>
            <a:pPr lvl="1"/>
            <a:r>
              <a:rPr lang="en-US" dirty="0"/>
              <a:t>How would you request an egg for breakfast to a chef and to a computer</a:t>
            </a:r>
            <a:r>
              <a:rPr lang="en-US" dirty="0">
                <a:solidFill>
                  <a:schemeClr val="accent3"/>
                </a:solidFill>
              </a:rPr>
              <a:t>/</a:t>
            </a:r>
            <a:r>
              <a:rPr lang="en-US" dirty="0"/>
              <a:t>robot</a:t>
            </a:r>
            <a:r>
              <a:rPr lang="en-US" dirty="0">
                <a:solidFill>
                  <a:schemeClr val="accent3"/>
                </a:solidFill>
              </a:rPr>
              <a:t>?</a:t>
            </a:r>
          </a:p>
          <a:p>
            <a:endParaRPr lang="en-US" dirty="0"/>
          </a:p>
          <a:p>
            <a:endParaRPr lang="en-US" dirty="0"/>
          </a:p>
          <a:p>
            <a:endParaRPr lang="en-US" dirty="0"/>
          </a:p>
        </p:txBody>
      </p:sp>
      <p:sp>
        <p:nvSpPr>
          <p:cNvPr id="4" name="Content Placeholder 2">
            <a:extLst>
              <a:ext uri="{FF2B5EF4-FFF2-40B4-BE49-F238E27FC236}">
                <a16:creationId xmlns:a16="http://schemas.microsoft.com/office/drawing/2014/main" id="{3BC1D87F-57FC-4A8D-9E30-1DB8A39BA033}"/>
              </a:ext>
            </a:extLst>
          </p:cNvPr>
          <p:cNvSpPr txBox="1">
            <a:spLocks/>
          </p:cNvSpPr>
          <p:nvPr/>
        </p:nvSpPr>
        <p:spPr>
          <a:xfrm>
            <a:off x="838200" y="4557102"/>
            <a:ext cx="5085862" cy="17108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007EE5"/>
              </a:buClr>
              <a:buFont typeface="Wingdings" panose="05000000000000000000" pitchFamily="2" charset="2"/>
              <a:buChar char="§"/>
              <a:defRPr sz="2800" kern="1200">
                <a:solidFill>
                  <a:srgbClr val="FFFFFF"/>
                </a:solidFill>
                <a:latin typeface="+mn-lt"/>
                <a:ea typeface="+mn-ea"/>
                <a:cs typeface="+mn-cs"/>
              </a:defRPr>
            </a:lvl1pPr>
            <a:lvl2pPr marL="685800" indent="-228600" algn="l" defTabSz="914400" rtl="0" eaLnBrk="1" latinLnBrk="0" hangingPunct="1">
              <a:lnSpc>
                <a:spcPct val="90000"/>
              </a:lnSpc>
              <a:spcBef>
                <a:spcPts val="500"/>
              </a:spcBef>
              <a:buClr>
                <a:srgbClr val="007EE5"/>
              </a:buClr>
              <a:buFont typeface="Wingdings" panose="05000000000000000000" pitchFamily="2" charset="2"/>
              <a:buChar char="§"/>
              <a:defRPr sz="2400" kern="1200">
                <a:solidFill>
                  <a:srgbClr val="FFFFFF"/>
                </a:solidFill>
                <a:latin typeface="+mn-lt"/>
                <a:ea typeface="+mn-ea"/>
                <a:cs typeface="+mn-cs"/>
              </a:defRPr>
            </a:lvl2pPr>
            <a:lvl3pPr marL="1143000" indent="-228600" algn="l" defTabSz="914400" rtl="0" eaLnBrk="1" latinLnBrk="0" hangingPunct="1">
              <a:lnSpc>
                <a:spcPct val="90000"/>
              </a:lnSpc>
              <a:spcBef>
                <a:spcPts val="500"/>
              </a:spcBef>
              <a:buClr>
                <a:srgbClr val="007EE5"/>
              </a:buClr>
              <a:buFont typeface="Wingdings" panose="05000000000000000000" pitchFamily="2" charset="2"/>
              <a:buChar char="§"/>
              <a:defRPr sz="2000" kern="1200">
                <a:solidFill>
                  <a:srgbClr val="FFFFFF"/>
                </a:solidFill>
                <a:latin typeface="+mn-lt"/>
                <a:ea typeface="+mn-ea"/>
                <a:cs typeface="+mn-cs"/>
              </a:defRPr>
            </a:lvl3pPr>
            <a:lvl4pPr marL="1600200" indent="-228600" algn="l" defTabSz="914400" rtl="0" eaLnBrk="1" latinLnBrk="0" hangingPunct="1">
              <a:lnSpc>
                <a:spcPct val="90000"/>
              </a:lnSpc>
              <a:spcBef>
                <a:spcPts val="500"/>
              </a:spcBef>
              <a:buClr>
                <a:srgbClr val="007EE5"/>
              </a:buClr>
              <a:buFont typeface="Wingdings" panose="05000000000000000000" pitchFamily="2" charset="2"/>
              <a:buChar char="§"/>
              <a:defRPr sz="1800" kern="1200">
                <a:solidFill>
                  <a:srgbClr val="FFFFFF"/>
                </a:solidFill>
                <a:latin typeface="+mn-lt"/>
                <a:ea typeface="+mn-ea"/>
                <a:cs typeface="+mn-cs"/>
              </a:defRPr>
            </a:lvl4pPr>
            <a:lvl5pPr marL="2057400" indent="-228600" algn="l" defTabSz="914400" rtl="0" eaLnBrk="1" latinLnBrk="0" hangingPunct="1">
              <a:lnSpc>
                <a:spcPct val="90000"/>
              </a:lnSpc>
              <a:spcBef>
                <a:spcPts val="500"/>
              </a:spcBef>
              <a:buClr>
                <a:srgbClr val="007EE5"/>
              </a:buClr>
              <a:buFont typeface="Wingdings" panose="05000000000000000000" pitchFamily="2" charset="2"/>
              <a:buChar char="§"/>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t>To a Chef</a:t>
            </a:r>
          </a:p>
          <a:p>
            <a:pPr marL="914400" lvl="1" indent="-457200">
              <a:buFont typeface="+mj-lt"/>
              <a:buAutoNum type="arabicPeriod"/>
            </a:pPr>
            <a:r>
              <a:rPr lang="en-US" sz="2000" dirty="0"/>
              <a:t>Sunny</a:t>
            </a:r>
            <a:r>
              <a:rPr lang="en-US" sz="2000" dirty="0">
                <a:solidFill>
                  <a:schemeClr val="accent6"/>
                </a:solidFill>
              </a:rPr>
              <a:t>-</a:t>
            </a:r>
            <a:r>
              <a:rPr lang="en-US" sz="2000" dirty="0"/>
              <a:t>side up</a:t>
            </a:r>
            <a:r>
              <a:rPr lang="en-US" sz="2000" dirty="0">
                <a:solidFill>
                  <a:schemeClr val="accent6"/>
                </a:solidFill>
              </a:rPr>
              <a:t>,</a:t>
            </a:r>
            <a:r>
              <a:rPr lang="en-US" sz="2000" dirty="0"/>
              <a:t> please</a:t>
            </a:r>
            <a:r>
              <a:rPr lang="en-US" sz="2000" dirty="0">
                <a:solidFill>
                  <a:schemeClr val="accent6"/>
                </a:solidFill>
              </a:rPr>
              <a:t>!</a:t>
            </a:r>
          </a:p>
          <a:p>
            <a:endParaRPr lang="en-US" sz="2400" dirty="0"/>
          </a:p>
          <a:p>
            <a:endParaRPr lang="en-US" sz="2400" dirty="0"/>
          </a:p>
          <a:p>
            <a:endParaRPr lang="en-US" sz="2400" dirty="0"/>
          </a:p>
        </p:txBody>
      </p:sp>
      <p:sp>
        <p:nvSpPr>
          <p:cNvPr id="5" name="Content Placeholder 2">
            <a:extLst>
              <a:ext uri="{FF2B5EF4-FFF2-40B4-BE49-F238E27FC236}">
                <a16:creationId xmlns:a16="http://schemas.microsoft.com/office/drawing/2014/main" id="{82C4FAA2-BD76-4214-9699-BE755A4886AF}"/>
              </a:ext>
            </a:extLst>
          </p:cNvPr>
          <p:cNvSpPr txBox="1">
            <a:spLocks/>
          </p:cNvSpPr>
          <p:nvPr/>
        </p:nvSpPr>
        <p:spPr>
          <a:xfrm>
            <a:off x="6267938" y="4557102"/>
            <a:ext cx="5085862" cy="2125052"/>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Clr>
                <a:srgbClr val="007EE5"/>
              </a:buClr>
              <a:buFont typeface="Wingdings" panose="05000000000000000000" pitchFamily="2" charset="2"/>
              <a:buChar char="§"/>
              <a:defRPr sz="2800" kern="1200">
                <a:solidFill>
                  <a:srgbClr val="FFFFFF"/>
                </a:solidFill>
                <a:latin typeface="+mn-lt"/>
                <a:ea typeface="+mn-ea"/>
                <a:cs typeface="+mn-cs"/>
              </a:defRPr>
            </a:lvl1pPr>
            <a:lvl2pPr marL="685800" indent="-228600" algn="l" defTabSz="914400" rtl="0" eaLnBrk="1" latinLnBrk="0" hangingPunct="1">
              <a:lnSpc>
                <a:spcPct val="90000"/>
              </a:lnSpc>
              <a:spcBef>
                <a:spcPts val="500"/>
              </a:spcBef>
              <a:buClr>
                <a:srgbClr val="007EE5"/>
              </a:buClr>
              <a:buFont typeface="Wingdings" panose="05000000000000000000" pitchFamily="2" charset="2"/>
              <a:buChar char="§"/>
              <a:defRPr sz="2400" kern="1200">
                <a:solidFill>
                  <a:srgbClr val="FFFFFF"/>
                </a:solidFill>
                <a:latin typeface="+mn-lt"/>
                <a:ea typeface="+mn-ea"/>
                <a:cs typeface="+mn-cs"/>
              </a:defRPr>
            </a:lvl2pPr>
            <a:lvl3pPr marL="1143000" indent="-228600" algn="l" defTabSz="914400" rtl="0" eaLnBrk="1" latinLnBrk="0" hangingPunct="1">
              <a:lnSpc>
                <a:spcPct val="90000"/>
              </a:lnSpc>
              <a:spcBef>
                <a:spcPts val="500"/>
              </a:spcBef>
              <a:buClr>
                <a:srgbClr val="007EE5"/>
              </a:buClr>
              <a:buFont typeface="Wingdings" panose="05000000000000000000" pitchFamily="2" charset="2"/>
              <a:buChar char="§"/>
              <a:defRPr sz="2000" kern="1200">
                <a:solidFill>
                  <a:srgbClr val="FFFFFF"/>
                </a:solidFill>
                <a:latin typeface="+mn-lt"/>
                <a:ea typeface="+mn-ea"/>
                <a:cs typeface="+mn-cs"/>
              </a:defRPr>
            </a:lvl3pPr>
            <a:lvl4pPr marL="1600200" indent="-228600" algn="l" defTabSz="914400" rtl="0" eaLnBrk="1" latinLnBrk="0" hangingPunct="1">
              <a:lnSpc>
                <a:spcPct val="90000"/>
              </a:lnSpc>
              <a:spcBef>
                <a:spcPts val="500"/>
              </a:spcBef>
              <a:buClr>
                <a:srgbClr val="007EE5"/>
              </a:buClr>
              <a:buFont typeface="Wingdings" panose="05000000000000000000" pitchFamily="2" charset="2"/>
              <a:buChar char="§"/>
              <a:defRPr sz="1800" kern="1200">
                <a:solidFill>
                  <a:srgbClr val="FFFFFF"/>
                </a:solidFill>
                <a:latin typeface="+mn-lt"/>
                <a:ea typeface="+mn-ea"/>
                <a:cs typeface="+mn-cs"/>
              </a:defRPr>
            </a:lvl4pPr>
            <a:lvl5pPr marL="2057400" indent="-228600" algn="l" defTabSz="914400" rtl="0" eaLnBrk="1" latinLnBrk="0" hangingPunct="1">
              <a:lnSpc>
                <a:spcPct val="90000"/>
              </a:lnSpc>
              <a:spcBef>
                <a:spcPts val="500"/>
              </a:spcBef>
              <a:buClr>
                <a:srgbClr val="007EE5"/>
              </a:buClr>
              <a:buFont typeface="Wingdings" panose="05000000000000000000" pitchFamily="2" charset="2"/>
              <a:buChar char="§"/>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To a Computer</a:t>
            </a:r>
          </a:p>
          <a:p>
            <a:pPr marL="914400" lvl="1" indent="-457200">
              <a:buFont typeface="+mj-lt"/>
              <a:buAutoNum type="arabicPeriod"/>
            </a:pPr>
            <a:r>
              <a:rPr lang="en-US" dirty="0">
                <a:solidFill>
                  <a:schemeClr val="accent6"/>
                </a:solidFill>
              </a:rPr>
              <a:t>“</a:t>
            </a:r>
            <a:r>
              <a:rPr lang="en-US" dirty="0"/>
              <a:t>Turn on stove</a:t>
            </a:r>
            <a:r>
              <a:rPr lang="en-US" dirty="0">
                <a:solidFill>
                  <a:schemeClr val="accent6"/>
                </a:solidFill>
              </a:rPr>
              <a:t>”</a:t>
            </a:r>
          </a:p>
          <a:p>
            <a:pPr marL="914400" lvl="1" indent="-457200">
              <a:buFont typeface="+mj-lt"/>
              <a:buAutoNum type="arabicPeriod"/>
            </a:pPr>
            <a:r>
              <a:rPr lang="en-US" dirty="0">
                <a:solidFill>
                  <a:schemeClr val="accent6"/>
                </a:solidFill>
              </a:rPr>
              <a:t>“</a:t>
            </a:r>
            <a:r>
              <a:rPr lang="en-US" dirty="0"/>
              <a:t>Take out pan</a:t>
            </a:r>
            <a:r>
              <a:rPr lang="en-US" dirty="0">
                <a:solidFill>
                  <a:schemeClr val="accent6"/>
                </a:solidFill>
              </a:rPr>
              <a:t>”</a:t>
            </a:r>
          </a:p>
          <a:p>
            <a:pPr marL="914400" lvl="1" indent="-457200">
              <a:buFont typeface="+mj-lt"/>
              <a:buAutoNum type="arabicPeriod"/>
            </a:pPr>
            <a:r>
              <a:rPr lang="en-US" dirty="0">
                <a:solidFill>
                  <a:schemeClr val="accent6"/>
                </a:solidFill>
              </a:rPr>
              <a:t>“</a:t>
            </a:r>
            <a:r>
              <a:rPr lang="en-US" dirty="0"/>
              <a:t>Take one egg out of fridge</a:t>
            </a:r>
            <a:r>
              <a:rPr lang="en-US" dirty="0">
                <a:solidFill>
                  <a:schemeClr val="accent6"/>
                </a:solidFill>
              </a:rPr>
              <a:t>”</a:t>
            </a:r>
          </a:p>
          <a:p>
            <a:pPr marL="914400" lvl="1" indent="-457200">
              <a:buFont typeface="+mj-lt"/>
              <a:buAutoNum type="arabicPeriod"/>
            </a:pPr>
            <a:r>
              <a:rPr lang="en-US" dirty="0">
                <a:solidFill>
                  <a:schemeClr val="accent6"/>
                </a:solidFill>
              </a:rPr>
              <a:t>“</a:t>
            </a:r>
            <a:r>
              <a:rPr lang="en-US" dirty="0"/>
              <a:t>Crack egg</a:t>
            </a:r>
            <a:r>
              <a:rPr lang="en-US" dirty="0">
                <a:solidFill>
                  <a:schemeClr val="accent6"/>
                </a:solidFill>
              </a:rPr>
              <a:t>”</a:t>
            </a:r>
          </a:p>
          <a:p>
            <a:pPr marL="914400" lvl="1" indent="-457200">
              <a:buFont typeface="+mj-lt"/>
              <a:buAutoNum type="arabicPeriod"/>
            </a:pPr>
            <a:r>
              <a:rPr lang="en-US" dirty="0">
                <a:solidFill>
                  <a:schemeClr val="accent6"/>
                </a:solidFill>
              </a:rPr>
              <a:t>“</a:t>
            </a:r>
            <a:r>
              <a:rPr lang="en-US" dirty="0"/>
              <a:t>Pour egg into pan</a:t>
            </a:r>
            <a:r>
              <a:rPr lang="en-US" dirty="0">
                <a:solidFill>
                  <a:schemeClr val="accent6"/>
                </a:solidFill>
              </a:rPr>
              <a:t>”</a:t>
            </a:r>
          </a:p>
          <a:p>
            <a:pPr marL="914400" lvl="1" indent="-457200">
              <a:buFont typeface="+mj-lt"/>
              <a:buAutoNum type="arabicPeriod"/>
            </a:pPr>
            <a:r>
              <a:rPr lang="en-US" dirty="0">
                <a:solidFill>
                  <a:schemeClr val="accent6"/>
                </a:solidFill>
              </a:rPr>
              <a:t>“</a:t>
            </a:r>
            <a:r>
              <a:rPr lang="en-US" dirty="0"/>
              <a:t>Wait 5 minutes</a:t>
            </a:r>
            <a:r>
              <a:rPr lang="en-US" dirty="0">
                <a:solidFill>
                  <a:schemeClr val="accent6"/>
                </a:solidFill>
              </a:rPr>
              <a:t>”</a:t>
            </a:r>
          </a:p>
          <a:p>
            <a:pPr lvl="1"/>
            <a:endParaRPr lang="en-US" dirty="0"/>
          </a:p>
          <a:p>
            <a:endParaRPr lang="en-US" dirty="0"/>
          </a:p>
          <a:p>
            <a:endParaRPr lang="en-US" dirty="0"/>
          </a:p>
          <a:p>
            <a:endParaRPr lang="en-US" dirty="0"/>
          </a:p>
        </p:txBody>
      </p:sp>
    </p:spTree>
    <p:extLst>
      <p:ext uri="{BB962C8B-B14F-4D97-AF65-F5344CB8AC3E}">
        <p14:creationId xmlns:p14="http://schemas.microsoft.com/office/powerpoint/2010/main" val="16397407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4" descr="Raspberry Pi 3 Model B — JustBoom">
            <a:extLst>
              <a:ext uri="{FF2B5EF4-FFF2-40B4-BE49-F238E27FC236}">
                <a16:creationId xmlns:a16="http://schemas.microsoft.com/office/drawing/2014/main" id="{2CFC5474-9925-4830-A51B-C2C92E2B48F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47" t="11942" r="2909" b="11511"/>
          <a:stretch/>
        </p:blipFill>
        <p:spPr bwMode="auto">
          <a:xfrm>
            <a:off x="7569657" y="4465852"/>
            <a:ext cx="2702799" cy="2195251"/>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Rounded Corners 8">
            <a:extLst>
              <a:ext uri="{FF2B5EF4-FFF2-40B4-BE49-F238E27FC236}">
                <a16:creationId xmlns:a16="http://schemas.microsoft.com/office/drawing/2014/main" id="{FCB46677-D0B0-4A4E-BBF9-710FF1988B12}"/>
              </a:ext>
            </a:extLst>
          </p:cNvPr>
          <p:cNvSpPr/>
          <p:nvPr/>
        </p:nvSpPr>
        <p:spPr>
          <a:xfrm>
            <a:off x="7579331" y="761021"/>
            <a:ext cx="2702798" cy="569062"/>
          </a:xfrm>
          <a:prstGeom prst="round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rPr>
              <a:t>English</a:t>
            </a:r>
          </a:p>
        </p:txBody>
      </p:sp>
      <p:sp>
        <p:nvSpPr>
          <p:cNvPr id="10" name="Rectangle: Rounded Corners 9">
            <a:extLst>
              <a:ext uri="{FF2B5EF4-FFF2-40B4-BE49-F238E27FC236}">
                <a16:creationId xmlns:a16="http://schemas.microsoft.com/office/drawing/2014/main" id="{A4310B51-1B54-40BC-8FDB-C9237EEF731C}"/>
              </a:ext>
            </a:extLst>
          </p:cNvPr>
          <p:cNvSpPr/>
          <p:nvPr/>
        </p:nvSpPr>
        <p:spPr>
          <a:xfrm>
            <a:off x="7579331" y="1513839"/>
            <a:ext cx="2702798" cy="569062"/>
          </a:xfrm>
          <a:prstGeom prst="round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rPr>
              <a:t>Pseudocode</a:t>
            </a:r>
          </a:p>
        </p:txBody>
      </p:sp>
      <p:sp>
        <p:nvSpPr>
          <p:cNvPr id="11" name="Rectangle: Rounded Corners 10">
            <a:extLst>
              <a:ext uri="{FF2B5EF4-FFF2-40B4-BE49-F238E27FC236}">
                <a16:creationId xmlns:a16="http://schemas.microsoft.com/office/drawing/2014/main" id="{79DEFE0E-E360-4F2E-99EE-B6D42E59E5BB}"/>
              </a:ext>
            </a:extLst>
          </p:cNvPr>
          <p:cNvSpPr/>
          <p:nvPr/>
        </p:nvSpPr>
        <p:spPr>
          <a:xfrm>
            <a:off x="7551705" y="2268665"/>
            <a:ext cx="2702798" cy="569062"/>
          </a:xfrm>
          <a:prstGeom prst="round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rPr>
              <a:t>Programing Language</a:t>
            </a:r>
          </a:p>
        </p:txBody>
      </p:sp>
      <p:sp>
        <p:nvSpPr>
          <p:cNvPr id="12" name="Rectangle: Rounded Corners 11">
            <a:extLst>
              <a:ext uri="{FF2B5EF4-FFF2-40B4-BE49-F238E27FC236}">
                <a16:creationId xmlns:a16="http://schemas.microsoft.com/office/drawing/2014/main" id="{C572CB00-2672-4D2F-974B-9AAD28769963}"/>
              </a:ext>
            </a:extLst>
          </p:cNvPr>
          <p:cNvSpPr/>
          <p:nvPr/>
        </p:nvSpPr>
        <p:spPr>
          <a:xfrm>
            <a:off x="7569658" y="3021483"/>
            <a:ext cx="2702798" cy="569062"/>
          </a:xfrm>
          <a:prstGeom prst="round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rPr>
              <a:t>Assembly Code</a:t>
            </a:r>
          </a:p>
        </p:txBody>
      </p:sp>
      <p:sp>
        <p:nvSpPr>
          <p:cNvPr id="13" name="TextBox 12">
            <a:extLst>
              <a:ext uri="{FF2B5EF4-FFF2-40B4-BE49-F238E27FC236}">
                <a16:creationId xmlns:a16="http://schemas.microsoft.com/office/drawing/2014/main" id="{5EB30CD6-8018-4592-8719-7DB6F18D78C0}"/>
              </a:ext>
            </a:extLst>
          </p:cNvPr>
          <p:cNvSpPr txBox="1"/>
          <p:nvPr/>
        </p:nvSpPr>
        <p:spPr>
          <a:xfrm rot="20108603">
            <a:off x="7472813" y="4812815"/>
            <a:ext cx="1384530" cy="400110"/>
          </a:xfrm>
          <a:prstGeom prst="rect">
            <a:avLst/>
          </a:prstGeom>
          <a:noFill/>
        </p:spPr>
        <p:txBody>
          <a:bodyPr wrap="square" rtlCol="0">
            <a:spAutoFit/>
          </a:bodyPr>
          <a:lstStyle/>
          <a:p>
            <a:r>
              <a:rPr lang="en-US" sz="2000" b="1" dirty="0">
                <a:solidFill>
                  <a:srgbClr val="FFFFFF"/>
                </a:solidFill>
              </a:rPr>
              <a:t>Hardware</a:t>
            </a:r>
          </a:p>
        </p:txBody>
      </p:sp>
      <p:sp>
        <p:nvSpPr>
          <p:cNvPr id="14" name="Rectangle: Rounded Corners 13">
            <a:extLst>
              <a:ext uri="{FF2B5EF4-FFF2-40B4-BE49-F238E27FC236}">
                <a16:creationId xmlns:a16="http://schemas.microsoft.com/office/drawing/2014/main" id="{77E794EA-DAFC-432A-AAF0-B12B61CEC329}"/>
              </a:ext>
            </a:extLst>
          </p:cNvPr>
          <p:cNvSpPr/>
          <p:nvPr/>
        </p:nvSpPr>
        <p:spPr>
          <a:xfrm>
            <a:off x="7578413" y="3770129"/>
            <a:ext cx="2702798" cy="569062"/>
          </a:xfrm>
          <a:prstGeom prst="round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rPr>
              <a:t>Machine Code</a:t>
            </a:r>
          </a:p>
        </p:txBody>
      </p:sp>
      <p:sp>
        <p:nvSpPr>
          <p:cNvPr id="17" name="Title 1">
            <a:extLst>
              <a:ext uri="{FF2B5EF4-FFF2-40B4-BE49-F238E27FC236}">
                <a16:creationId xmlns:a16="http://schemas.microsoft.com/office/drawing/2014/main" id="{5B133E97-E0F4-420C-8182-CC9CBA9738CD}"/>
              </a:ext>
            </a:extLst>
          </p:cNvPr>
          <p:cNvSpPr txBox="1">
            <a:spLocks/>
          </p:cNvSpPr>
          <p:nvPr/>
        </p:nvSpPr>
        <p:spPr>
          <a:xfrm>
            <a:off x="838200" y="829113"/>
            <a:ext cx="4366846" cy="1749963"/>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rgbClr val="FFFFFF"/>
                </a:solidFill>
                <a:latin typeface="+mj-lt"/>
                <a:ea typeface="+mj-ea"/>
                <a:cs typeface="+mj-cs"/>
              </a:defRPr>
            </a:lvl1pPr>
          </a:lstStyle>
          <a:p>
            <a:r>
              <a:rPr lang="en-US" b="1"/>
              <a:t>How to Program a Computer</a:t>
            </a:r>
            <a:r>
              <a:rPr lang="en-US" b="1">
                <a:solidFill>
                  <a:schemeClr val="accent2"/>
                </a:solidFill>
              </a:rPr>
              <a:t>.</a:t>
            </a:r>
            <a:endParaRPr lang="en-US" b="1" dirty="0">
              <a:solidFill>
                <a:schemeClr val="accent2"/>
              </a:solidFill>
            </a:endParaRPr>
          </a:p>
        </p:txBody>
      </p:sp>
      <p:pic>
        <p:nvPicPr>
          <p:cNvPr id="18" name="Picture 2" descr="Python (programming language) - Wikipedia">
            <a:extLst>
              <a:ext uri="{FF2B5EF4-FFF2-40B4-BE49-F238E27FC236}">
                <a16:creationId xmlns:a16="http://schemas.microsoft.com/office/drawing/2014/main" id="{7D3D93C3-85FA-4787-8054-179010FF3A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59323" y="2282840"/>
            <a:ext cx="592471" cy="592471"/>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Straight Arrow Connector 21">
            <a:extLst>
              <a:ext uri="{FF2B5EF4-FFF2-40B4-BE49-F238E27FC236}">
                <a16:creationId xmlns:a16="http://schemas.microsoft.com/office/drawing/2014/main" id="{99E7FAD7-3E50-4E16-BD62-6C55C547F215}"/>
              </a:ext>
            </a:extLst>
          </p:cNvPr>
          <p:cNvCxnSpPr>
            <a:stCxn id="9" idx="1"/>
          </p:cNvCxnSpPr>
          <p:nvPr/>
        </p:nvCxnSpPr>
        <p:spPr>
          <a:xfrm flipH="1">
            <a:off x="6070043" y="1045552"/>
            <a:ext cx="1509288" cy="365071"/>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C9B0E4EB-888B-4B38-8D5F-2A59F5D3D32B}"/>
              </a:ext>
            </a:extLst>
          </p:cNvPr>
          <p:cNvCxnSpPr>
            <a:cxnSpLocks/>
            <a:endCxn id="10" idx="1"/>
          </p:cNvCxnSpPr>
          <p:nvPr/>
        </p:nvCxnSpPr>
        <p:spPr>
          <a:xfrm>
            <a:off x="6070043" y="1410623"/>
            <a:ext cx="1509288" cy="387747"/>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9848CB1-E760-4633-A753-71C591E756CE}"/>
              </a:ext>
            </a:extLst>
          </p:cNvPr>
          <p:cNvCxnSpPr>
            <a:cxnSpLocks/>
            <a:stCxn id="10" idx="1"/>
          </p:cNvCxnSpPr>
          <p:nvPr/>
        </p:nvCxnSpPr>
        <p:spPr>
          <a:xfrm flipH="1">
            <a:off x="6070043" y="1798370"/>
            <a:ext cx="1509288" cy="375816"/>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A228452-8117-44DB-820C-F8A3A36D1A44}"/>
              </a:ext>
            </a:extLst>
          </p:cNvPr>
          <p:cNvCxnSpPr>
            <a:cxnSpLocks/>
            <a:endCxn id="11" idx="1"/>
          </p:cNvCxnSpPr>
          <p:nvPr/>
        </p:nvCxnSpPr>
        <p:spPr>
          <a:xfrm>
            <a:off x="6070043" y="2174186"/>
            <a:ext cx="1481662" cy="37901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F90F03D0-0447-42A4-ADE4-9F5101B98AF9}"/>
              </a:ext>
            </a:extLst>
          </p:cNvPr>
          <p:cNvSpPr/>
          <p:nvPr/>
        </p:nvSpPr>
        <p:spPr>
          <a:xfrm>
            <a:off x="4960258" y="2654107"/>
            <a:ext cx="1420085" cy="569062"/>
          </a:xfrm>
          <a:prstGeom prst="round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rPr>
              <a:t>Compiler</a:t>
            </a:r>
          </a:p>
        </p:txBody>
      </p:sp>
      <p:sp>
        <p:nvSpPr>
          <p:cNvPr id="34" name="Rectangle: Rounded Corners 33">
            <a:extLst>
              <a:ext uri="{FF2B5EF4-FFF2-40B4-BE49-F238E27FC236}">
                <a16:creationId xmlns:a16="http://schemas.microsoft.com/office/drawing/2014/main" id="{93D9F79E-7183-4A22-8506-E0DF2C4BFAF3}"/>
              </a:ext>
            </a:extLst>
          </p:cNvPr>
          <p:cNvSpPr/>
          <p:nvPr/>
        </p:nvSpPr>
        <p:spPr>
          <a:xfrm>
            <a:off x="4960258" y="3391791"/>
            <a:ext cx="1420085" cy="569062"/>
          </a:xfrm>
          <a:prstGeom prst="round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rPr>
              <a:t>Assembler</a:t>
            </a:r>
          </a:p>
        </p:txBody>
      </p:sp>
      <p:cxnSp>
        <p:nvCxnSpPr>
          <p:cNvPr id="35" name="Straight Arrow Connector 34">
            <a:extLst>
              <a:ext uri="{FF2B5EF4-FFF2-40B4-BE49-F238E27FC236}">
                <a16:creationId xmlns:a16="http://schemas.microsoft.com/office/drawing/2014/main" id="{75EB388A-3A6F-4124-9F8B-B2F2F7988E41}"/>
              </a:ext>
            </a:extLst>
          </p:cNvPr>
          <p:cNvCxnSpPr>
            <a:cxnSpLocks/>
            <a:stCxn id="11" idx="1"/>
            <a:endCxn id="33" idx="3"/>
          </p:cNvCxnSpPr>
          <p:nvPr/>
        </p:nvCxnSpPr>
        <p:spPr>
          <a:xfrm flipH="1">
            <a:off x="6380343" y="2553196"/>
            <a:ext cx="1171362" cy="385442"/>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7FA348E1-9A75-496B-AF98-9622E1DF10B7}"/>
              </a:ext>
            </a:extLst>
          </p:cNvPr>
          <p:cNvCxnSpPr>
            <a:cxnSpLocks/>
            <a:stCxn id="33" idx="3"/>
            <a:endCxn id="12" idx="1"/>
          </p:cNvCxnSpPr>
          <p:nvPr/>
        </p:nvCxnSpPr>
        <p:spPr>
          <a:xfrm>
            <a:off x="6380343" y="2938638"/>
            <a:ext cx="1189315" cy="367376"/>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18374EC0-59C4-424C-96F3-B0529FECA41B}"/>
              </a:ext>
            </a:extLst>
          </p:cNvPr>
          <p:cNvCxnSpPr>
            <a:cxnSpLocks/>
            <a:stCxn id="12" idx="1"/>
            <a:endCxn id="34" idx="3"/>
          </p:cNvCxnSpPr>
          <p:nvPr/>
        </p:nvCxnSpPr>
        <p:spPr>
          <a:xfrm flipH="1">
            <a:off x="6380343" y="3306014"/>
            <a:ext cx="1189315" cy="370308"/>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D6D6956E-F2AA-491D-9281-D36EE39FBBEF}"/>
              </a:ext>
            </a:extLst>
          </p:cNvPr>
          <p:cNvCxnSpPr>
            <a:cxnSpLocks/>
            <a:stCxn id="34" idx="3"/>
            <a:endCxn id="14" idx="1"/>
          </p:cNvCxnSpPr>
          <p:nvPr/>
        </p:nvCxnSpPr>
        <p:spPr>
          <a:xfrm>
            <a:off x="6380343" y="3676322"/>
            <a:ext cx="1198070" cy="378338"/>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321AD3BF-2438-49B2-8A5D-E89771D8718D}"/>
              </a:ext>
            </a:extLst>
          </p:cNvPr>
          <p:cNvSpPr txBox="1"/>
          <p:nvPr/>
        </p:nvSpPr>
        <p:spPr>
          <a:xfrm>
            <a:off x="3891037" y="727260"/>
            <a:ext cx="1554336" cy="369332"/>
          </a:xfrm>
          <a:prstGeom prst="rect">
            <a:avLst/>
          </a:prstGeom>
          <a:noFill/>
        </p:spPr>
        <p:txBody>
          <a:bodyPr wrap="none" rtlCol="0">
            <a:spAutoFit/>
          </a:bodyPr>
          <a:lstStyle/>
          <a:p>
            <a:r>
              <a:rPr lang="en-US" b="1" dirty="0">
                <a:solidFill>
                  <a:srgbClr val="F7F7F7"/>
                </a:solidFill>
              </a:rPr>
              <a:t>Programmer</a:t>
            </a:r>
          </a:p>
        </p:txBody>
      </p:sp>
      <p:sp>
        <p:nvSpPr>
          <p:cNvPr id="48" name="Arrow: Down 47">
            <a:extLst>
              <a:ext uri="{FF2B5EF4-FFF2-40B4-BE49-F238E27FC236}">
                <a16:creationId xmlns:a16="http://schemas.microsoft.com/office/drawing/2014/main" id="{3E9D8A3C-E58E-45E0-935E-5885336C9204}"/>
              </a:ext>
            </a:extLst>
          </p:cNvPr>
          <p:cNvSpPr/>
          <p:nvPr/>
        </p:nvSpPr>
        <p:spPr>
          <a:xfrm>
            <a:off x="11283891" y="727259"/>
            <a:ext cx="795131" cy="5509417"/>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Katia Ossetchkina – Grasselli&amp;#39;s Geomechanics Group">
            <a:extLst>
              <a:ext uri="{FF2B5EF4-FFF2-40B4-BE49-F238E27FC236}">
                <a16:creationId xmlns:a16="http://schemas.microsoft.com/office/drawing/2014/main" id="{5C8871F2-A65C-F195-470A-F5E26FF3035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26675"/>
          <a:stretch/>
        </p:blipFill>
        <p:spPr bwMode="auto">
          <a:xfrm>
            <a:off x="5269378" y="1005733"/>
            <a:ext cx="800665" cy="809779"/>
          </a:xfrm>
          <a:prstGeom prst="ellipse">
            <a:avLst/>
          </a:prstGeom>
          <a:ln w="19050" cap="rnd">
            <a:solidFill>
              <a:schemeClr val="accent2"/>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6" name="Picture 2" descr="Katia Ossetchkina – Grasselli&amp;#39;s Geomechanics Group">
            <a:extLst>
              <a:ext uri="{FF2B5EF4-FFF2-40B4-BE49-F238E27FC236}">
                <a16:creationId xmlns:a16="http://schemas.microsoft.com/office/drawing/2014/main" id="{03601139-768D-3330-3B95-491B0C8A58B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26675"/>
          <a:stretch/>
        </p:blipFill>
        <p:spPr bwMode="auto">
          <a:xfrm>
            <a:off x="5269378" y="1769296"/>
            <a:ext cx="800665" cy="809779"/>
          </a:xfrm>
          <a:prstGeom prst="ellipse">
            <a:avLst/>
          </a:prstGeom>
          <a:ln w="19050" cap="rnd">
            <a:solidFill>
              <a:schemeClr val="accent2"/>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70958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593DE26-216D-BA4C-BA17-73E65B027BCD}"/>
              </a:ext>
            </a:extLst>
          </p:cNvPr>
          <p:cNvSpPr>
            <a:spLocks noGrp="1"/>
          </p:cNvSpPr>
          <p:nvPr>
            <p:ph type="title"/>
          </p:nvPr>
        </p:nvSpPr>
        <p:spPr/>
        <p:txBody>
          <a:bodyPr>
            <a:normAutofit fontScale="90000"/>
          </a:bodyPr>
          <a:lstStyle/>
          <a:p>
            <a:r>
              <a:rPr lang="en-US" b="1" dirty="0"/>
              <a:t>The power of programming languages</a:t>
            </a:r>
          </a:p>
        </p:txBody>
      </p:sp>
      <p:sp>
        <p:nvSpPr>
          <p:cNvPr id="3" name="Content Placeholder 2">
            <a:extLst>
              <a:ext uri="{FF2B5EF4-FFF2-40B4-BE49-F238E27FC236}">
                <a16:creationId xmlns:a16="http://schemas.microsoft.com/office/drawing/2014/main" id="{B05EC9D0-AB23-0142-A47C-6F4D3EBD82CB}"/>
              </a:ext>
            </a:extLst>
          </p:cNvPr>
          <p:cNvSpPr>
            <a:spLocks noGrp="1"/>
          </p:cNvSpPr>
          <p:nvPr>
            <p:ph idx="1"/>
          </p:nvPr>
        </p:nvSpPr>
        <p:spPr>
          <a:xfrm>
            <a:off x="2219661" y="1383662"/>
            <a:ext cx="8007927" cy="1386306"/>
          </a:xfrm>
        </p:spPr>
        <p:txBody>
          <a:bodyPr/>
          <a:lstStyle/>
          <a:p>
            <a:r>
              <a:rPr lang="en-US" b="1" dirty="0">
                <a:solidFill>
                  <a:srgbClr val="00FF00"/>
                </a:solidFill>
                <a:latin typeface="Courier New" panose="02070309020205020404" pitchFamily="49" charset="0"/>
                <a:cs typeface="Courier New" panose="02070309020205020404" pitchFamily="49" charset="0"/>
              </a:rPr>
              <a:t>if x &gt; 10:</a:t>
            </a:r>
          </a:p>
          <a:p>
            <a:pPr marL="0" indent="0">
              <a:buNone/>
            </a:pPr>
            <a:r>
              <a:rPr lang="en-US" b="1" dirty="0">
                <a:solidFill>
                  <a:srgbClr val="00FF00"/>
                </a:solidFill>
                <a:latin typeface="Courier New" panose="02070309020205020404" pitchFamily="49" charset="0"/>
                <a:cs typeface="Courier New" panose="02070309020205020404" pitchFamily="49" charset="0"/>
              </a:rPr>
              <a:t>    print(”x is greater than 10”)</a:t>
            </a:r>
          </a:p>
        </p:txBody>
      </p:sp>
      <p:pic>
        <p:nvPicPr>
          <p:cNvPr id="2052" name="Picture 4" descr="What does a machine language code look like? - Quora">
            <a:extLst>
              <a:ext uri="{FF2B5EF4-FFF2-40B4-BE49-F238E27FC236}">
                <a16:creationId xmlns:a16="http://schemas.microsoft.com/office/drawing/2014/main" id="{9D09E438-679F-8746-B55D-149EF751BB1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1151"/>
          <a:stretch/>
        </p:blipFill>
        <p:spPr bwMode="auto">
          <a:xfrm>
            <a:off x="6948211" y="2998416"/>
            <a:ext cx="4631603" cy="313206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atrix Code GIFs | Tenor">
            <a:extLst>
              <a:ext uri="{FF2B5EF4-FFF2-40B4-BE49-F238E27FC236}">
                <a16:creationId xmlns:a16="http://schemas.microsoft.com/office/drawing/2014/main" id="{2CFA8D14-5329-4042-9E7E-5CA3AB9A4E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06865" y="2618252"/>
            <a:ext cx="6324600" cy="3784600"/>
          </a:xfrm>
          <a:prstGeom prst="rect">
            <a:avLst/>
          </a:prstGeom>
          <a:noFill/>
          <a:extLst>
            <a:ext uri="{909E8E84-426E-40DD-AFC4-6F175D3DCCD1}">
              <a14:hiddenFill xmlns:a14="http://schemas.microsoft.com/office/drawing/2010/main">
                <a:solidFill>
                  <a:srgbClr val="FFFFFF"/>
                </a:solidFill>
              </a14:hiddenFill>
            </a:ext>
          </a:extLst>
        </p:spPr>
      </p:pic>
      <p:sp>
        <p:nvSpPr>
          <p:cNvPr id="11" name="Arrow: Down 47">
            <a:extLst>
              <a:ext uri="{FF2B5EF4-FFF2-40B4-BE49-F238E27FC236}">
                <a16:creationId xmlns:a16="http://schemas.microsoft.com/office/drawing/2014/main" id="{9FEB138B-B921-EC44-A1AA-D1D102E26B41}"/>
              </a:ext>
            </a:extLst>
          </p:cNvPr>
          <p:cNvSpPr/>
          <p:nvPr/>
        </p:nvSpPr>
        <p:spPr>
          <a:xfrm rot="16200000">
            <a:off x="4388203" y="3797019"/>
            <a:ext cx="903559" cy="1607821"/>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 code&#10;&#10;Description automatically generated">
            <a:extLst>
              <a:ext uri="{FF2B5EF4-FFF2-40B4-BE49-F238E27FC236}">
                <a16:creationId xmlns:a16="http://schemas.microsoft.com/office/drawing/2014/main" id="{F422589D-2615-0D22-74A6-CE0CDFC5C8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2186" y="2466536"/>
            <a:ext cx="3306879" cy="4088032"/>
          </a:xfrm>
          <a:prstGeom prst="rect">
            <a:avLst/>
          </a:prstGeom>
        </p:spPr>
      </p:pic>
    </p:spTree>
    <p:extLst>
      <p:ext uri="{BB962C8B-B14F-4D97-AF65-F5344CB8AC3E}">
        <p14:creationId xmlns:p14="http://schemas.microsoft.com/office/powerpoint/2010/main" val="4141871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E155D-5DEC-3EB9-3CB9-D30309851313}"/>
              </a:ext>
            </a:extLst>
          </p:cNvPr>
          <p:cNvSpPr>
            <a:spLocks noGrp="1"/>
          </p:cNvSpPr>
          <p:nvPr>
            <p:ph type="title"/>
          </p:nvPr>
        </p:nvSpPr>
        <p:spPr>
          <a:xfrm>
            <a:off x="838200" y="579883"/>
            <a:ext cx="10515600" cy="656148"/>
          </a:xfrm>
        </p:spPr>
        <p:txBody>
          <a:bodyPr>
            <a:normAutofit fontScale="90000"/>
          </a:bodyPr>
          <a:lstStyle/>
          <a:p>
            <a:r>
              <a:rPr lang="en-CA" dirty="0"/>
              <a:t>Packaging instructions for our computer</a:t>
            </a:r>
          </a:p>
        </p:txBody>
      </p:sp>
      <p:sp>
        <p:nvSpPr>
          <p:cNvPr id="3" name="Content Placeholder 2">
            <a:extLst>
              <a:ext uri="{FF2B5EF4-FFF2-40B4-BE49-F238E27FC236}">
                <a16:creationId xmlns:a16="http://schemas.microsoft.com/office/drawing/2014/main" id="{21CE64A8-FDA2-0F66-E22A-3D880923347A}"/>
              </a:ext>
            </a:extLst>
          </p:cNvPr>
          <p:cNvSpPr>
            <a:spLocks noGrp="1"/>
          </p:cNvSpPr>
          <p:nvPr>
            <p:ph idx="1"/>
          </p:nvPr>
        </p:nvSpPr>
        <p:spPr>
          <a:xfrm>
            <a:off x="838200" y="5282244"/>
            <a:ext cx="10515600" cy="1575756"/>
          </a:xfrm>
        </p:spPr>
        <p:txBody>
          <a:bodyPr>
            <a:normAutofit/>
          </a:bodyPr>
          <a:lstStyle/>
          <a:p>
            <a:endParaRPr lang="en-CA" dirty="0"/>
          </a:p>
          <a:p>
            <a:r>
              <a:rPr lang="en-CA" dirty="0"/>
              <a:t>Next class we will learn how to assign variables to memory and begin using programming as a tool to solve problems!</a:t>
            </a:r>
          </a:p>
          <a:p>
            <a:pPr marL="0" indent="0">
              <a:buNone/>
            </a:pPr>
            <a:endParaRPr lang="en-CA" dirty="0"/>
          </a:p>
        </p:txBody>
      </p:sp>
      <p:graphicFrame>
        <p:nvGraphicFramePr>
          <p:cNvPr id="4" name="Diagram 3">
            <a:extLst>
              <a:ext uri="{FF2B5EF4-FFF2-40B4-BE49-F238E27FC236}">
                <a16:creationId xmlns:a16="http://schemas.microsoft.com/office/drawing/2014/main" id="{117A1862-E3AD-D9EE-2FC7-0F2ADDD9B180}"/>
              </a:ext>
            </a:extLst>
          </p:cNvPr>
          <p:cNvGraphicFramePr/>
          <p:nvPr>
            <p:extLst>
              <p:ext uri="{D42A27DB-BD31-4B8C-83A1-F6EECF244321}">
                <p14:modId xmlns:p14="http://schemas.microsoft.com/office/powerpoint/2010/main" val="1156522842"/>
              </p:ext>
            </p:extLst>
          </p:nvPr>
        </p:nvGraphicFramePr>
        <p:xfrm>
          <a:off x="60156" y="1236031"/>
          <a:ext cx="11293644" cy="45984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BA626631-6F1C-37F6-1147-49971086A58B}"/>
              </a:ext>
            </a:extLst>
          </p:cNvPr>
          <p:cNvSpPr txBox="1"/>
          <p:nvPr/>
        </p:nvSpPr>
        <p:spPr>
          <a:xfrm>
            <a:off x="7283115" y="1236031"/>
            <a:ext cx="4848729" cy="147732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CA" dirty="0"/>
              <a:t>Most of this is outside the scope of APS106.</a:t>
            </a:r>
          </a:p>
          <a:p>
            <a:pPr algn="ctr"/>
            <a:br>
              <a:rPr lang="en-CA" dirty="0"/>
            </a:br>
            <a:r>
              <a:rPr lang="en-CA" dirty="0"/>
              <a:t>If we can provide the correct Python instructions in </a:t>
            </a:r>
            <a:r>
              <a:rPr lang="en-CA" b="1" dirty="0"/>
              <a:t>Step (1)</a:t>
            </a:r>
            <a:r>
              <a:rPr lang="en-CA" dirty="0"/>
              <a:t>, the computer will do what we tell it to!</a:t>
            </a:r>
          </a:p>
        </p:txBody>
      </p:sp>
    </p:spTree>
    <p:extLst>
      <p:ext uri="{BB962C8B-B14F-4D97-AF65-F5344CB8AC3E}">
        <p14:creationId xmlns:p14="http://schemas.microsoft.com/office/powerpoint/2010/main" val="27826356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4173D-84BE-94E1-1699-AB6FFD13F54D}"/>
              </a:ext>
            </a:extLst>
          </p:cNvPr>
          <p:cNvSpPr>
            <a:spLocks noGrp="1"/>
          </p:cNvSpPr>
          <p:nvPr>
            <p:ph type="title"/>
          </p:nvPr>
        </p:nvSpPr>
        <p:spPr/>
        <p:txBody>
          <a:bodyPr>
            <a:normAutofit fontScale="90000"/>
          </a:bodyPr>
          <a:lstStyle/>
          <a:p>
            <a:endParaRPr lang="en-CA"/>
          </a:p>
        </p:txBody>
      </p:sp>
      <p:sp>
        <p:nvSpPr>
          <p:cNvPr id="3" name="Content Placeholder 2">
            <a:extLst>
              <a:ext uri="{FF2B5EF4-FFF2-40B4-BE49-F238E27FC236}">
                <a16:creationId xmlns:a16="http://schemas.microsoft.com/office/drawing/2014/main" id="{FB5E4050-F9E3-8E65-D0AD-A8A512504F80}"/>
              </a:ext>
            </a:extLst>
          </p:cNvPr>
          <p:cNvSpPr>
            <a:spLocks noGrp="1"/>
          </p:cNvSpPr>
          <p:nvPr>
            <p:ph idx="1"/>
          </p:nvPr>
        </p:nvSpPr>
        <p:spPr/>
        <p:txBody>
          <a:bodyPr/>
          <a:lstStyle/>
          <a:p>
            <a:r>
              <a:rPr lang="en-CA" dirty="0"/>
              <a:t>Downloading</a:t>
            </a:r>
          </a:p>
          <a:p>
            <a:r>
              <a:rPr lang="en-CA" dirty="0"/>
              <a:t>Course file structure</a:t>
            </a:r>
          </a:p>
          <a:p>
            <a:endParaRPr lang="en-CA" dirty="0"/>
          </a:p>
        </p:txBody>
      </p:sp>
    </p:spTree>
    <p:extLst>
      <p:ext uri="{BB962C8B-B14F-4D97-AF65-F5344CB8AC3E}">
        <p14:creationId xmlns:p14="http://schemas.microsoft.com/office/powerpoint/2010/main" val="7195786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B8CBB-37CC-B2AC-999A-5605B97E1D35}"/>
              </a:ext>
            </a:extLst>
          </p:cNvPr>
          <p:cNvSpPr>
            <a:spLocks noGrp="1"/>
          </p:cNvSpPr>
          <p:nvPr>
            <p:ph type="title"/>
          </p:nvPr>
        </p:nvSpPr>
        <p:spPr/>
        <p:txBody>
          <a:bodyPr>
            <a:normAutofit fontScale="90000"/>
          </a:bodyPr>
          <a:lstStyle/>
          <a:p>
            <a:r>
              <a:rPr lang="en-CA" b="1" dirty="0"/>
              <a:t>Before Next Class</a:t>
            </a:r>
            <a:r>
              <a:rPr lang="en-CA" b="1" dirty="0">
                <a:solidFill>
                  <a:schemeClr val="accent6"/>
                </a:solidFill>
              </a:rPr>
              <a:t>.</a:t>
            </a:r>
          </a:p>
        </p:txBody>
      </p:sp>
      <p:sp>
        <p:nvSpPr>
          <p:cNvPr id="3" name="Content Placeholder 2">
            <a:extLst>
              <a:ext uri="{FF2B5EF4-FFF2-40B4-BE49-F238E27FC236}">
                <a16:creationId xmlns:a16="http://schemas.microsoft.com/office/drawing/2014/main" id="{25501A2F-AD64-726E-8820-6314344054BB}"/>
              </a:ext>
            </a:extLst>
          </p:cNvPr>
          <p:cNvSpPr>
            <a:spLocks noGrp="1"/>
          </p:cNvSpPr>
          <p:nvPr>
            <p:ph idx="1"/>
          </p:nvPr>
        </p:nvSpPr>
        <p:spPr>
          <a:xfrm>
            <a:off x="838200" y="1825624"/>
            <a:ext cx="10985938" cy="4835479"/>
          </a:xfrm>
        </p:spPr>
        <p:txBody>
          <a:bodyPr>
            <a:normAutofit fontScale="92500" lnSpcReduction="10000"/>
          </a:bodyPr>
          <a:lstStyle/>
          <a:p>
            <a:r>
              <a:rPr lang="en-CA" dirty="0"/>
              <a:t>How Does That Work</a:t>
            </a:r>
            <a:r>
              <a:rPr lang="en-CA" dirty="0">
                <a:solidFill>
                  <a:schemeClr val="accent6"/>
                </a:solidFill>
              </a:rPr>
              <a:t>?</a:t>
            </a:r>
          </a:p>
          <a:p>
            <a:pPr lvl="1"/>
            <a:r>
              <a:rPr lang="en-CA" dirty="0"/>
              <a:t>Modules </a:t>
            </a:r>
            <a:r>
              <a:rPr lang="en-CA" dirty="0">
                <a:solidFill>
                  <a:schemeClr val="accent6"/>
                </a:solidFill>
              </a:rPr>
              <a:t>-&gt;</a:t>
            </a:r>
            <a:r>
              <a:rPr lang="en-CA" dirty="0"/>
              <a:t> Course Resources </a:t>
            </a:r>
            <a:r>
              <a:rPr lang="en-CA" dirty="0">
                <a:solidFill>
                  <a:schemeClr val="accent6"/>
                </a:solidFill>
              </a:rPr>
              <a:t>-&gt;</a:t>
            </a:r>
            <a:r>
              <a:rPr lang="en-CA" dirty="0"/>
              <a:t> How Does That Work</a:t>
            </a:r>
            <a:r>
              <a:rPr lang="en-CA" dirty="0">
                <a:solidFill>
                  <a:schemeClr val="accent6"/>
                </a:solidFill>
              </a:rPr>
              <a:t>?</a:t>
            </a:r>
            <a:r>
              <a:rPr lang="en-CA" dirty="0"/>
              <a:t> </a:t>
            </a:r>
            <a:r>
              <a:rPr lang="en-CA" dirty="0">
                <a:solidFill>
                  <a:srgbClr val="66FF99"/>
                </a:solidFill>
              </a:rPr>
              <a:t>(</a:t>
            </a:r>
            <a:r>
              <a:rPr lang="en-CA" dirty="0"/>
              <a:t>HDTW</a:t>
            </a:r>
            <a:r>
              <a:rPr lang="en-CA" dirty="0">
                <a:solidFill>
                  <a:srgbClr val="66FF99"/>
                </a:solidFill>
              </a:rPr>
              <a:t>)</a:t>
            </a:r>
            <a:r>
              <a:rPr lang="en-CA" dirty="0">
                <a:solidFill>
                  <a:schemeClr val="accent6"/>
                </a:solidFill>
              </a:rPr>
              <a:t>.</a:t>
            </a:r>
          </a:p>
          <a:p>
            <a:pPr lvl="1"/>
            <a:endParaRPr lang="en-CA" dirty="0"/>
          </a:p>
          <a:p>
            <a:pPr lvl="1"/>
            <a:endParaRPr lang="en-CA" dirty="0"/>
          </a:p>
          <a:p>
            <a:pPr lvl="1"/>
            <a:endParaRPr lang="en-CA" dirty="0"/>
          </a:p>
          <a:p>
            <a:pPr lvl="1"/>
            <a:endParaRPr lang="en-CA" dirty="0"/>
          </a:p>
          <a:p>
            <a:pPr lvl="1"/>
            <a:endParaRPr lang="en-CA" dirty="0"/>
          </a:p>
          <a:p>
            <a:pPr lvl="1"/>
            <a:endParaRPr lang="en-CA" dirty="0"/>
          </a:p>
          <a:p>
            <a:pPr lvl="1"/>
            <a:endParaRPr lang="en-CA" dirty="0"/>
          </a:p>
          <a:p>
            <a:pPr lvl="1"/>
            <a:endParaRPr lang="en-CA" dirty="0"/>
          </a:p>
          <a:p>
            <a:pPr lvl="1"/>
            <a:endParaRPr lang="en-CA" dirty="0"/>
          </a:p>
          <a:p>
            <a:endParaRPr lang="en-CA" dirty="0"/>
          </a:p>
          <a:p>
            <a:r>
              <a:rPr lang="en-CA" dirty="0"/>
              <a:t>In </a:t>
            </a:r>
            <a:r>
              <a:rPr lang="en-CA" b="1" u="sng" dirty="0">
                <a:solidFill>
                  <a:schemeClr val="accent6"/>
                </a:solidFill>
              </a:rPr>
              <a:t>Tutorial 0</a:t>
            </a:r>
            <a:r>
              <a:rPr lang="en-CA" dirty="0"/>
              <a:t> this week </a:t>
            </a:r>
            <a:r>
              <a:rPr lang="en-CA" dirty="0">
                <a:solidFill>
                  <a:schemeClr val="accent6"/>
                </a:solidFill>
              </a:rPr>
              <a:t>-&gt;</a:t>
            </a:r>
            <a:r>
              <a:rPr lang="en-CA" dirty="0"/>
              <a:t> Set up your development environment</a:t>
            </a:r>
            <a:r>
              <a:rPr lang="en-CA" dirty="0">
                <a:solidFill>
                  <a:schemeClr val="accent6"/>
                </a:solidFill>
              </a:rPr>
              <a:t>.</a:t>
            </a:r>
          </a:p>
          <a:p>
            <a:endParaRPr lang="en-CA" dirty="0"/>
          </a:p>
        </p:txBody>
      </p:sp>
      <p:pic>
        <p:nvPicPr>
          <p:cNvPr id="5" name="Picture 4">
            <a:extLst>
              <a:ext uri="{FF2B5EF4-FFF2-40B4-BE49-F238E27FC236}">
                <a16:creationId xmlns:a16="http://schemas.microsoft.com/office/drawing/2014/main" id="{111D1FC8-E922-E22B-2840-F7C8180B4844}"/>
              </a:ext>
            </a:extLst>
          </p:cNvPr>
          <p:cNvPicPr>
            <a:picLocks noChangeAspect="1"/>
          </p:cNvPicPr>
          <p:nvPr/>
        </p:nvPicPr>
        <p:blipFill>
          <a:blip r:embed="rId2"/>
          <a:stretch>
            <a:fillRect/>
          </a:stretch>
        </p:blipFill>
        <p:spPr>
          <a:xfrm>
            <a:off x="1431680" y="2658770"/>
            <a:ext cx="6973446" cy="3081290"/>
          </a:xfrm>
          <a:prstGeom prst="rect">
            <a:avLst/>
          </a:prstGeom>
          <a:ln w="19050">
            <a:solidFill>
              <a:schemeClr val="accent6"/>
            </a:solidFill>
          </a:ln>
        </p:spPr>
      </p:pic>
    </p:spTree>
    <p:extLst>
      <p:ext uri="{BB962C8B-B14F-4D97-AF65-F5344CB8AC3E}">
        <p14:creationId xmlns:p14="http://schemas.microsoft.com/office/powerpoint/2010/main" val="26847186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F06F2-AC3E-484E-9926-59D4F59092CE}"/>
              </a:ext>
            </a:extLst>
          </p:cNvPr>
          <p:cNvSpPr>
            <a:spLocks noGrp="1"/>
          </p:cNvSpPr>
          <p:nvPr>
            <p:ph type="ctrTitle"/>
          </p:nvPr>
        </p:nvSpPr>
        <p:spPr/>
        <p:txBody>
          <a:bodyPr>
            <a:normAutofit/>
          </a:bodyPr>
          <a:lstStyle/>
          <a:p>
            <a:r>
              <a:rPr lang="en-US" dirty="0"/>
              <a:t>The Coding Toolbox</a:t>
            </a:r>
            <a:r>
              <a:rPr lang="en-US" dirty="0">
                <a:solidFill>
                  <a:schemeClr val="accent1"/>
                </a:solidFill>
              </a:rPr>
              <a:t>.</a:t>
            </a:r>
          </a:p>
        </p:txBody>
      </p:sp>
      <p:sp>
        <p:nvSpPr>
          <p:cNvPr id="3" name="Subtitle 2">
            <a:extLst>
              <a:ext uri="{FF2B5EF4-FFF2-40B4-BE49-F238E27FC236}">
                <a16:creationId xmlns:a16="http://schemas.microsoft.com/office/drawing/2014/main" id="{99B07687-F068-40FC-84A1-E7860490CACD}"/>
              </a:ext>
            </a:extLst>
          </p:cNvPr>
          <p:cNvSpPr>
            <a:spLocks noGrp="1"/>
          </p:cNvSpPr>
          <p:nvPr>
            <p:ph type="subTitle" idx="1"/>
          </p:nvPr>
        </p:nvSpPr>
        <p:spPr/>
        <p:txBody>
          <a:bodyPr/>
          <a:lstStyle/>
          <a:p>
            <a:r>
              <a:rPr lang="en-US" b="1" dirty="0"/>
              <a:t>Week </a:t>
            </a:r>
            <a:r>
              <a:rPr lang="en-US" b="1" dirty="0">
                <a:solidFill>
                  <a:schemeClr val="accent6"/>
                </a:solidFill>
              </a:rPr>
              <a:t>1</a:t>
            </a:r>
            <a:r>
              <a:rPr lang="en-US" b="1" dirty="0"/>
              <a:t> </a:t>
            </a:r>
            <a:r>
              <a:rPr lang="en-US" dirty="0">
                <a:solidFill>
                  <a:schemeClr val="accent2"/>
                </a:solidFill>
              </a:rPr>
              <a:t>|</a:t>
            </a:r>
            <a:r>
              <a:rPr lang="en-US" dirty="0"/>
              <a:t> Lecture </a:t>
            </a:r>
            <a:r>
              <a:rPr lang="en-US" dirty="0">
                <a:solidFill>
                  <a:schemeClr val="accent6"/>
                </a:solidFill>
              </a:rPr>
              <a:t>2 </a:t>
            </a:r>
            <a:r>
              <a:rPr lang="en-US" dirty="0">
                <a:solidFill>
                  <a:schemeClr val="accent1"/>
                </a:solidFill>
              </a:rPr>
              <a:t>(</a:t>
            </a:r>
            <a:r>
              <a:rPr lang="en-US" dirty="0">
                <a:solidFill>
                  <a:schemeClr val="accent6"/>
                </a:solidFill>
              </a:rPr>
              <a:t>1</a:t>
            </a:r>
            <a:r>
              <a:rPr lang="en-US" dirty="0"/>
              <a:t>.</a:t>
            </a:r>
            <a:r>
              <a:rPr lang="en-US" dirty="0">
                <a:solidFill>
                  <a:schemeClr val="accent6"/>
                </a:solidFill>
              </a:rPr>
              <a:t>2</a:t>
            </a:r>
            <a:r>
              <a:rPr lang="en-US" dirty="0">
                <a:solidFill>
                  <a:schemeClr val="accent1"/>
                </a:solidFill>
              </a:rPr>
              <a:t>)</a:t>
            </a:r>
          </a:p>
        </p:txBody>
      </p:sp>
      <p:sp>
        <p:nvSpPr>
          <p:cNvPr id="5" name="TextBox 4">
            <a:extLst>
              <a:ext uri="{FF2B5EF4-FFF2-40B4-BE49-F238E27FC236}">
                <a16:creationId xmlns:a16="http://schemas.microsoft.com/office/drawing/2014/main" id="{20ABF4D4-FFF3-BD0B-BE6C-F270BE2C4360}"/>
              </a:ext>
            </a:extLst>
          </p:cNvPr>
          <p:cNvSpPr txBox="1"/>
          <p:nvPr/>
        </p:nvSpPr>
        <p:spPr>
          <a:xfrm>
            <a:off x="335947" y="4741015"/>
            <a:ext cx="5164560" cy="175432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CA" b="1" dirty="0"/>
              <a:t>Upcoming:</a:t>
            </a:r>
          </a:p>
          <a:p>
            <a:pPr algn="ctr"/>
            <a:endParaRPr lang="en-CA" dirty="0"/>
          </a:p>
          <a:p>
            <a:pPr marL="285750" indent="-285750">
              <a:buFont typeface="Arial" panose="020B0604020202020204" pitchFamily="34" charset="0"/>
              <a:buChar char="•"/>
            </a:pPr>
            <a:r>
              <a:rPr lang="en-CA" dirty="0"/>
              <a:t>Lab 0 released Thursday at 6 PM</a:t>
            </a:r>
          </a:p>
          <a:p>
            <a:pPr marL="285750" indent="-285750">
              <a:buFont typeface="Arial" panose="020B0604020202020204" pitchFamily="34" charset="0"/>
              <a:buChar char="•"/>
            </a:pPr>
            <a:r>
              <a:rPr lang="en-CA" dirty="0"/>
              <a:t>Reflection 1 released Friday at 6 PM</a:t>
            </a:r>
          </a:p>
          <a:p>
            <a:pPr marL="285750" indent="-285750">
              <a:buFont typeface="Arial" panose="020B0604020202020204" pitchFamily="34" charset="0"/>
              <a:buChar char="•"/>
            </a:pPr>
            <a:endParaRPr lang="en-CA" dirty="0"/>
          </a:p>
          <a:p>
            <a:pPr marL="285750" indent="-285750">
              <a:buFont typeface="Arial" panose="020B0604020202020204" pitchFamily="34" charset="0"/>
              <a:buChar char="•"/>
            </a:pPr>
            <a:r>
              <a:rPr lang="en-CA" dirty="0"/>
              <a:t>First PRA section – Friday 3-5 PM</a:t>
            </a:r>
          </a:p>
        </p:txBody>
      </p:sp>
    </p:spTree>
    <p:extLst>
      <p:ext uri="{BB962C8B-B14F-4D97-AF65-F5344CB8AC3E}">
        <p14:creationId xmlns:p14="http://schemas.microsoft.com/office/powerpoint/2010/main" val="3753895330"/>
      </p:ext>
    </p:extLst>
  </p:cSld>
  <p:clrMapOvr>
    <a:masterClrMapping/>
  </p:clrMapOvr>
</p:sld>
</file>

<file path=ppt/theme/theme1.xml><?xml version="1.0" encoding="utf-8"?>
<a:theme xmlns:a="http://schemas.openxmlformats.org/drawingml/2006/main" name="APS106_Theme">
  <a:themeElements>
    <a:clrScheme name="Custom 2">
      <a:dk1>
        <a:srgbClr val="444445"/>
      </a:dk1>
      <a:lt1>
        <a:srgbClr val="000000"/>
      </a:lt1>
      <a:dk2>
        <a:srgbClr val="7B8994"/>
      </a:dk2>
      <a:lt2>
        <a:srgbClr val="3D464D"/>
      </a:lt2>
      <a:accent1>
        <a:srgbClr val="0061FF"/>
      </a:accent1>
      <a:accent2>
        <a:srgbClr val="0061FF"/>
      </a:accent2>
      <a:accent3>
        <a:srgbClr val="0061FF"/>
      </a:accent3>
      <a:accent4>
        <a:srgbClr val="7B8994"/>
      </a:accent4>
      <a:accent5>
        <a:srgbClr val="7B8994"/>
      </a:accent5>
      <a:accent6>
        <a:srgbClr val="F7B41A"/>
      </a:accent6>
      <a:hlink>
        <a:srgbClr val="3D464D"/>
      </a:hlink>
      <a:folHlink>
        <a:srgbClr val="3D464D"/>
      </a:folHlink>
    </a:clrScheme>
    <a:fontScheme name="Custom 1">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PS106_Theme" id="{3BEEB87C-8A6C-443F-995D-4A4893CCEBD8}" vid="{9B7A7CDB-8752-4A8C-8C1A-92E8A921146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APS106_Theme</Template>
  <TotalTime>27553</TotalTime>
  <Words>4356</Words>
  <Application>Microsoft Office PowerPoint</Application>
  <PresentationFormat>Widescreen</PresentationFormat>
  <Paragraphs>603</Paragraphs>
  <Slides>52</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52</vt:i4>
      </vt:variant>
    </vt:vector>
  </HeadingPairs>
  <TitlesOfParts>
    <vt:vector size="60" baseType="lpstr">
      <vt:lpstr>Arial</vt:lpstr>
      <vt:lpstr>Calibri</vt:lpstr>
      <vt:lpstr>Consolas</vt:lpstr>
      <vt:lpstr>Courier New</vt:lpstr>
      <vt:lpstr>Helvetica Neue</vt:lpstr>
      <vt:lpstr>Segoe UI</vt:lpstr>
      <vt:lpstr>Wingdings</vt:lpstr>
      <vt:lpstr>APS106_Theme</vt:lpstr>
      <vt:lpstr>The Coding Toolbox.</vt:lpstr>
      <vt:lpstr>This Week’s Content</vt:lpstr>
      <vt:lpstr>What you will get out of today’s lecture.</vt:lpstr>
      <vt:lpstr>APS106 Folder Structure.</vt:lpstr>
      <vt:lpstr>APS106 Folder Structure.</vt:lpstr>
      <vt:lpstr>Developer Toolkit.</vt:lpstr>
      <vt:lpstr>Developer Toolkit.</vt:lpstr>
      <vt:lpstr>Inside your computer?</vt:lpstr>
      <vt:lpstr>Inside your computer?</vt:lpstr>
      <vt:lpstr>Inside your computer?</vt:lpstr>
      <vt:lpstr>Outside your computer?</vt:lpstr>
      <vt:lpstr>File Formats and Extensions.</vt:lpstr>
      <vt:lpstr>Developer Toolkit.</vt:lpstr>
      <vt:lpstr>Python Interpreter.</vt:lpstr>
      <vt:lpstr>Python Interpreter.</vt:lpstr>
      <vt:lpstr>Developer Toolkit.</vt:lpstr>
      <vt:lpstr>Editors &amp; IDEs.</vt:lpstr>
      <vt:lpstr>Editors &amp; IDEs.</vt:lpstr>
      <vt:lpstr>Text Editor.</vt:lpstr>
      <vt:lpstr>Text Editor.</vt:lpstr>
      <vt:lpstr>Editors &amp; IDEs.</vt:lpstr>
      <vt:lpstr>Interactive Computing Environment.</vt:lpstr>
      <vt:lpstr>Interactive Computing Environment.</vt:lpstr>
      <vt:lpstr>Interactive Computing Environment.</vt:lpstr>
      <vt:lpstr>Interactive Computing Environment.</vt:lpstr>
      <vt:lpstr>Editors &amp; IDEs.</vt:lpstr>
      <vt:lpstr>IDE.</vt:lpstr>
      <vt:lpstr>Editors &amp; IDEs.</vt:lpstr>
      <vt:lpstr>Text Editor.</vt:lpstr>
      <vt:lpstr>What We’ll Use.</vt:lpstr>
      <vt:lpstr>Using an Integrated Development Environment (IDE)</vt:lpstr>
      <vt:lpstr>Which should IDE to use?</vt:lpstr>
      <vt:lpstr>Friendly Warning: Visual Studio (VS) Code ≠ Visual Studio </vt:lpstr>
      <vt:lpstr>A Quick Note on File Formats and Extensions</vt:lpstr>
      <vt:lpstr>Anaconda Navigator</vt:lpstr>
      <vt:lpstr>Anaconda Navigator</vt:lpstr>
      <vt:lpstr>What is Jupyter?</vt:lpstr>
      <vt:lpstr>Opening Your First Notebook (.ipynb) File</vt:lpstr>
      <vt:lpstr>Opening From JupyterHub</vt:lpstr>
      <vt:lpstr>Navigating to your JupyterHub files</vt:lpstr>
      <vt:lpstr>Jupyter                        vs.               JupyterHub</vt:lpstr>
      <vt:lpstr>Let’s Quickly Explore Jupyter</vt:lpstr>
      <vt:lpstr>Running Your First Python (.py) File</vt:lpstr>
      <vt:lpstr>PowerPoint Presentation</vt:lpstr>
      <vt:lpstr>PowerPoint Presentation</vt:lpstr>
      <vt:lpstr>What is Programming?</vt:lpstr>
      <vt:lpstr>PowerPoint Presentation</vt:lpstr>
      <vt:lpstr>The power of programming languages</vt:lpstr>
      <vt:lpstr>Packaging instructions for our computer</vt:lpstr>
      <vt:lpstr>PowerPoint Presentation</vt:lpstr>
      <vt:lpstr>Before Next Class.</vt:lpstr>
      <vt:lpstr>The Coding Toolbox.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Sebastian Goodfellow</dc:creator>
  <cp:lastModifiedBy>Sebastian Goodfellow</cp:lastModifiedBy>
  <cp:revision>261</cp:revision>
  <dcterms:created xsi:type="dcterms:W3CDTF">2021-11-03T00:49:37Z</dcterms:created>
  <dcterms:modified xsi:type="dcterms:W3CDTF">2026-01-05T02:10:39Z</dcterms:modified>
</cp:coreProperties>
</file>