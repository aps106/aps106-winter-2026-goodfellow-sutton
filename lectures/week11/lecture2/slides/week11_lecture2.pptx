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9"/>
  </p:notesMasterIdLst>
  <p:sldIdLst>
    <p:sldId id="256" r:id="rId2"/>
    <p:sldId id="706" r:id="rId3"/>
    <p:sldId id="701" r:id="rId4"/>
    <p:sldId id="567" r:id="rId5"/>
    <p:sldId id="547" r:id="rId6"/>
    <p:sldId id="548" r:id="rId7"/>
    <p:sldId id="571" r:id="rId8"/>
    <p:sldId id="562" r:id="rId9"/>
    <p:sldId id="550" r:id="rId10"/>
    <p:sldId id="569" r:id="rId11"/>
    <p:sldId id="551" r:id="rId12"/>
    <p:sldId id="552" r:id="rId13"/>
    <p:sldId id="553" r:id="rId14"/>
    <p:sldId id="554" r:id="rId15"/>
    <p:sldId id="556" r:id="rId16"/>
    <p:sldId id="557" r:id="rId17"/>
    <p:sldId id="558" r:id="rId18"/>
    <p:sldId id="559" r:id="rId19"/>
    <p:sldId id="401" r:id="rId20"/>
    <p:sldId id="560" r:id="rId21"/>
    <p:sldId id="561" r:id="rId22"/>
    <p:sldId id="703" r:id="rId23"/>
    <p:sldId id="704" r:id="rId24"/>
    <p:sldId id="707" r:id="rId25"/>
    <p:sldId id="702" r:id="rId26"/>
    <p:sldId id="708" r:id="rId27"/>
    <p:sldId id="70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D2AA"/>
    <a:srgbClr val="00FF00"/>
    <a:srgbClr val="FFFFFF"/>
    <a:srgbClr val="CC99FF"/>
    <a:srgbClr val="FF0000"/>
    <a:srgbClr val="00FCFF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5" autoAdjust="0"/>
    <p:restoredTop sz="96197"/>
  </p:normalViewPr>
  <p:slideViewPr>
    <p:cSldViewPr snapToGrid="0">
      <p:cViewPr varScale="1">
        <p:scale>
          <a:sx n="121" d="100"/>
          <a:sy n="121" d="100"/>
        </p:scale>
        <p:origin x="114" y="228"/>
      </p:cViewPr>
      <p:guideLst/>
    </p:cSldViewPr>
  </p:slideViewPr>
  <p:outlineViewPr>
    <p:cViewPr>
      <p:scale>
        <a:sx n="33" d="100"/>
        <a:sy n="33" d="100"/>
      </p:scale>
      <p:origin x="0" y="-2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64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7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03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5788-DAC8-78A2-BFFB-4CE02624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86F2E-4CF5-0C0E-1E7F-838A613FE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127FB-CBCB-5625-A8F1-DC0546DD6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6F35-92E2-EA9C-69F4-912CE956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0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0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756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79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457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453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158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406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48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B30ACD-54DA-4E77-38EA-A6B2E6B2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512" y="2955476"/>
            <a:ext cx="2499247" cy="250594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8DD6599-1078-21FF-53D5-EC286F98D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Pandas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B83CCEC-A352-4B88-CC38-5766D0F6D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5D3A53-C141-ACFD-5C8E-67E69B865858}"/>
              </a:ext>
            </a:extLst>
          </p:cNvPr>
          <p:cNvSpPr txBox="1"/>
          <p:nvPr/>
        </p:nvSpPr>
        <p:spPr>
          <a:xfrm>
            <a:off x="8883867" y="2067831"/>
            <a:ext cx="299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solidFill>
                  <a:srgbClr val="FFFFFF"/>
                </a:solidFill>
              </a:rPr>
              <a:t>Course Evaluations</a:t>
            </a:r>
            <a:r>
              <a:rPr lang="en-CA" sz="2400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8A44E-B98C-5F7B-47EC-CEF38AD1B82C}"/>
              </a:ext>
            </a:extLst>
          </p:cNvPr>
          <p:cNvSpPr txBox="1"/>
          <p:nvPr/>
        </p:nvSpPr>
        <p:spPr>
          <a:xfrm>
            <a:off x="8883867" y="2482584"/>
            <a:ext cx="2965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FF00"/>
                </a:solidFill>
              </a:rPr>
              <a:t>Help us debug this course</a:t>
            </a:r>
            <a:r>
              <a:rPr lang="en-US" i="1" dirty="0">
                <a:solidFill>
                  <a:srgbClr val="FFFFFF"/>
                </a:solidFill>
              </a:rPr>
              <a:t>.</a:t>
            </a:r>
            <a:endParaRPr lang="en-CA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11.1</a:t>
            </a:r>
          </a:p>
          <a:p>
            <a:pPr lvl="1"/>
            <a:r>
              <a:rPr lang="en-US" dirty="0"/>
              <a:t>More OOP! Encapsulation and Examples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11.2</a:t>
            </a:r>
          </a:p>
          <a:p>
            <a:pPr lvl="1"/>
            <a:r>
              <a:rPr lang="en-US" b="1" dirty="0"/>
              <a:t>Files, CSVs, and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11.3 </a:t>
            </a:r>
          </a:p>
          <a:p>
            <a:pPr lvl="1"/>
            <a:r>
              <a:rPr lang="en-US" dirty="0"/>
              <a:t>Design Problem: Dungeon Escape</a:t>
            </a:r>
          </a:p>
        </p:txBody>
      </p:sp>
      <p:pic>
        <p:nvPicPr>
          <p:cNvPr id="6" name="Picture 5" descr="A cat holding a steering wheel&#10;&#10;AI-generated content may be incorrect.">
            <a:extLst>
              <a:ext uri="{FF2B5EF4-FFF2-40B4-BE49-F238E27FC236}">
                <a16:creationId xmlns:a16="http://schemas.microsoft.com/office/drawing/2014/main" id="{C3BF9335-E5CE-1B36-4EC6-9D53ABEB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936" y="2011478"/>
            <a:ext cx="4165877" cy="2726756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82728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”</a:t>
            </a:r>
            <a:r>
              <a:rPr lang="en-US" b="1" dirty="0">
                <a:solidFill>
                  <a:srgbClr val="CC99FF"/>
                </a:solidFill>
              </a:rPr>
              <a:t>Writing to Files</a:t>
            </a:r>
            <a:r>
              <a:rPr lang="en-US" b="1" dirty="0">
                <a:solidFill>
                  <a:schemeClr val="accent6"/>
                </a:solidFill>
              </a:rPr>
              <a:t>”</a:t>
            </a:r>
            <a:r>
              <a:rPr lang="en-US" b="1" dirty="0"/>
              <a:t> Recipe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FF35E-4A45-2149-8375-84C4CBF5E77F}"/>
              </a:ext>
            </a:extLst>
          </p:cNvPr>
          <p:cNvSpPr/>
          <p:nvPr/>
        </p:nvSpPr>
        <p:spPr>
          <a:xfrm>
            <a:off x="1535713" y="2255209"/>
            <a:ext cx="64111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open/create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"w")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write to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myfile.write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(’string’)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close the file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CFEB30-4335-124F-A699-57617E2D9586}"/>
              </a:ext>
            </a:extLst>
          </p:cNvPr>
          <p:cNvCxnSpPr>
            <a:cxnSpLocks/>
          </p:cNvCxnSpPr>
          <p:nvPr/>
        </p:nvCxnSpPr>
        <p:spPr bwMode="auto">
          <a:xfrm>
            <a:off x="857250" y="2520874"/>
            <a:ext cx="0" cy="288045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170" name="Picture 2" descr="Final Paper due in 11 Hours | Writing humor, A writer's life, Ron burgundy  quotes">
            <a:extLst>
              <a:ext uri="{FF2B5EF4-FFF2-40B4-BE49-F238E27FC236}">
                <a16:creationId xmlns:a16="http://schemas.microsoft.com/office/drawing/2014/main" id="{F7B22A22-64A8-B242-AD87-ABC307CD5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4"/>
          <a:stretch/>
        </p:blipFill>
        <p:spPr bwMode="auto">
          <a:xfrm>
            <a:off x="7868637" y="2255209"/>
            <a:ext cx="3889323" cy="2014436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5C314C-86AA-1761-7004-55D8EA1619F4}"/>
              </a:ext>
            </a:extLst>
          </p:cNvPr>
          <p:cNvCxnSpPr/>
          <p:nvPr/>
        </p:nvCxnSpPr>
        <p:spPr>
          <a:xfrm>
            <a:off x="851234" y="2520874"/>
            <a:ext cx="56849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A91A-36F4-5B06-743B-126EC42F62B6}"/>
              </a:ext>
            </a:extLst>
          </p:cNvPr>
          <p:cNvCxnSpPr/>
          <p:nvPr/>
        </p:nvCxnSpPr>
        <p:spPr>
          <a:xfrm>
            <a:off x="851234" y="5384395"/>
            <a:ext cx="56849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2A26984-C1E5-C167-75B7-997CDA9F8235}"/>
              </a:ext>
            </a:extLst>
          </p:cNvPr>
          <p:cNvSpPr txBox="1"/>
          <p:nvPr/>
        </p:nvSpPr>
        <p:spPr>
          <a:xfrm rot="16200000">
            <a:off x="-489975" y="3776432"/>
            <a:ext cx="2209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FFFF"/>
                </a:solidFill>
              </a:rPr>
              <a:t>These go together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38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chemeClr val="accent6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chemeClr val="accent6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try writing a dictionary to a file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Writing a dictionary to file</a:t>
            </a:r>
          </a:p>
        </p:txBody>
      </p:sp>
    </p:spTree>
    <p:extLst>
      <p:ext uri="{BB962C8B-B14F-4D97-AF65-F5344CB8AC3E}">
        <p14:creationId xmlns:p14="http://schemas.microsoft.com/office/powerpoint/2010/main" val="271037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Ways of Reading a File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Reading a file is similar to writing a file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First we need to open a file for reading (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“r”</a:t>
            </a:r>
            <a:r>
              <a:rPr lang="en-US" dirty="0"/>
              <a:t>):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If file doesn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t exist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/>
              <a:t> </a:t>
            </a:r>
            <a:r>
              <a:rPr lang="en-US" b="1" u="sng" dirty="0">
                <a:solidFill>
                  <a:srgbClr val="FF0000"/>
                </a:solidFill>
              </a:rPr>
              <a:t>ERROR!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Then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to read a file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we apply one of the following approaches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which take advantage of various read methods</a:t>
            </a:r>
            <a:r>
              <a:rPr lang="en-US" dirty="0">
                <a:solidFill>
                  <a:schemeClr val="accent6"/>
                </a:solidFill>
              </a:rPr>
              <a:t>: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line in file </a:t>
            </a:r>
            <a:r>
              <a:rPr lang="en-US" dirty="0"/>
              <a:t>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dirty="0"/>
              <a:t> approach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2D1E3B6-E39E-D841-A944-7DF0BD96DED0}"/>
              </a:ext>
            </a:extLst>
          </p:cNvPr>
          <p:cNvSpPr txBox="1"/>
          <p:nvPr/>
        </p:nvSpPr>
        <p:spPr>
          <a:xfrm>
            <a:off x="1182951" y="2718322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36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’, </a:t>
            </a:r>
            <a:r>
              <a:rPr lang="en-US" sz="3600" b="1" spc="-5" dirty="0">
                <a:solidFill>
                  <a:schemeClr val="accent6"/>
                </a:solidFill>
                <a:latin typeface="Courier New"/>
                <a:cs typeface="Courier New"/>
              </a:rPr>
              <a:t>‘r’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  <a:endParaRPr sz="3600" b="1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96DF-A5C0-3A4D-8DAC-5BC81AB0CA43}"/>
              </a:ext>
            </a:extLst>
          </p:cNvPr>
          <p:cNvSpPr txBox="1"/>
          <p:nvPr/>
        </p:nvSpPr>
        <p:spPr>
          <a:xfrm>
            <a:off x="7074569" y="4824625"/>
            <a:ext cx="3916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No correct approach!</a:t>
            </a:r>
          </a:p>
          <a:p>
            <a:r>
              <a:rPr lang="en-US" sz="2400" b="1" dirty="0">
                <a:solidFill>
                  <a:srgbClr val="FFFF00"/>
                </a:solidFill>
              </a:rPr>
              <a:t>Multiple methods to help with contexts and purposes.</a:t>
            </a:r>
          </a:p>
        </p:txBody>
      </p:sp>
    </p:spTree>
    <p:extLst>
      <p:ext uri="{BB962C8B-B14F-4D97-AF65-F5344CB8AC3E}">
        <p14:creationId xmlns:p14="http://schemas.microsoft.com/office/powerpoint/2010/main" val="2221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ways of Reading a File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58FBE8-A4CC-D040-B901-16DD3E094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84982"/>
              </p:ext>
            </p:extLst>
          </p:nvPr>
        </p:nvGraphicFramePr>
        <p:xfrm>
          <a:off x="248505" y="1728437"/>
          <a:ext cx="10241280" cy="4592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5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Code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When to use it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read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contents = </a:t>
                      </a: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myfile.read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myfile.close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read the whole file at once and use it as a single string.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</a:t>
                      </a: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readline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contents = ''</a:t>
                      </a:r>
                      <a:b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 = </a:t>
                      </a: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myfile.readline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line != '':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contents += line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line = </a:t>
                      </a: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myfile.readline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myfile.close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only part of a file. Each time through the loop line contains one line of the file.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for line in file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contents = ''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line in myfile:</a:t>
                      </a:r>
                      <a:b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contents += line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myfile.close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every line in the file one at a time.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</a:t>
                      </a: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readlines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 = open(filename, 'r')</a:t>
                      </a:r>
                      <a:b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lines = </a:t>
                      </a: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myfile.readlines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myfile.close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examine each line of a file by index.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D5B38CC2-7422-3308-8D1D-A14310F8C6EB}"/>
              </a:ext>
            </a:extLst>
          </p:cNvPr>
          <p:cNvSpPr/>
          <p:nvPr/>
        </p:nvSpPr>
        <p:spPr>
          <a:xfrm>
            <a:off x="10613746" y="4457703"/>
            <a:ext cx="609600" cy="1816768"/>
          </a:xfrm>
          <a:prstGeom prst="rightBrace">
            <a:avLst>
              <a:gd name="adj1" fmla="val 73997"/>
              <a:gd name="adj2" fmla="val 50000"/>
            </a:avLst>
          </a:prstGeom>
          <a:ln w="571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F834529-3EC7-6B01-EB6C-B87FA29C4E50}"/>
              </a:ext>
            </a:extLst>
          </p:cNvPr>
          <p:cNvSpPr/>
          <p:nvPr/>
        </p:nvSpPr>
        <p:spPr>
          <a:xfrm>
            <a:off x="10610590" y="2135606"/>
            <a:ext cx="609600" cy="2243891"/>
          </a:xfrm>
          <a:prstGeom prst="rightBrace">
            <a:avLst>
              <a:gd name="adj1" fmla="val 103865"/>
              <a:gd name="adj2" fmla="val 50000"/>
            </a:avLst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39245-FC95-FB47-5A5F-4EE33C86EAA3}"/>
              </a:ext>
            </a:extLst>
          </p:cNvPr>
          <p:cNvSpPr txBox="1"/>
          <p:nvPr/>
        </p:nvSpPr>
        <p:spPr>
          <a:xfrm rot="5400000">
            <a:off x="10978938" y="5107480"/>
            <a:ext cx="1357166" cy="52322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0EDD4-C7B1-960F-39C6-CE11A8B3D3E0}"/>
              </a:ext>
            </a:extLst>
          </p:cNvPr>
          <p:cNvSpPr txBox="1"/>
          <p:nvPr/>
        </p:nvSpPr>
        <p:spPr>
          <a:xfrm rot="5400000">
            <a:off x="10898909" y="2989078"/>
            <a:ext cx="1465466" cy="52322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FFFFFF"/>
                </a:solidFill>
              </a:rPr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64806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Let’s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Different read approaches</a:t>
            </a:r>
            <a:r>
              <a:rPr lang="en-CA" dirty="0">
                <a:solidFill>
                  <a:schemeClr val="accent6"/>
                </a:solidFill>
              </a:rPr>
              <a:t>:</a:t>
            </a:r>
          </a:p>
          <a:p>
            <a:pPr lvl="2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</a:p>
          <a:p>
            <a:pPr lvl="2"/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line in file</a:t>
            </a:r>
          </a:p>
          <a:p>
            <a:pPr lvl="2"/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More file reading methods</a:t>
            </a:r>
          </a:p>
        </p:txBody>
      </p:sp>
    </p:spTree>
    <p:extLst>
      <p:ext uri="{BB962C8B-B14F-4D97-AF65-F5344CB8AC3E}">
        <p14:creationId xmlns:p14="http://schemas.microsoft.com/office/powerpoint/2010/main" val="15177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with</a:t>
            </a:r>
            <a:r>
              <a:rPr lang="en-US" dirty="0"/>
              <a:t> Statement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Every call on function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/>
              <a:t> should have an accompanying call on the method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Python provides a statement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which automatically closes the file when the end of with block is reached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general form of a with statement is as follows</a:t>
            </a:r>
            <a:r>
              <a:rPr lang="en-US" dirty="0">
                <a:solidFill>
                  <a:schemeClr val="accent6"/>
                </a:solidFill>
              </a:rPr>
              <a:t>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 marL="0" indent="0">
              <a:spcBef>
                <a:spcPct val="0"/>
              </a:spcBef>
              <a:spcAft>
                <a:spcPts val="1800"/>
              </a:spcAft>
              <a:buNone/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8B45E-FE26-6041-8680-398C82E8D702}"/>
              </a:ext>
            </a:extLst>
          </p:cNvPr>
          <p:cNvSpPr/>
          <p:nvPr/>
        </p:nvSpPr>
        <p:spPr>
          <a:xfrm>
            <a:off x="1138588" y="4744052"/>
            <a:ext cx="102914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open(filename, mode) as variable: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	body</a:t>
            </a:r>
          </a:p>
        </p:txBody>
      </p:sp>
    </p:spTree>
    <p:extLst>
      <p:ext uri="{BB962C8B-B14F-4D97-AF65-F5344CB8AC3E}">
        <p14:creationId xmlns:p14="http://schemas.microsoft.com/office/powerpoint/2010/main" val="1754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3978"/>
            <a:ext cx="10784305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Modifying the previous example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of reading a file into a dictionary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to use 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48A82-49E5-B246-8EEB-FCD379FE55E9}"/>
              </a:ext>
            </a:extLst>
          </p:cNvPr>
          <p:cNvSpPr/>
          <p:nvPr/>
        </p:nvSpPr>
        <p:spPr>
          <a:xfrm>
            <a:off x="6380729" y="3030690"/>
            <a:ext cx="55217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students = {}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b="1" strike="sngStrike" dirty="0" err="1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strike="sngStrike" dirty="0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"r")</a:t>
            </a:r>
          </a:p>
          <a:p>
            <a:endParaRPr lang="en-US" b="1" strike="sngStrike" dirty="0">
              <a:solidFill>
                <a:srgbClr val="FF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open("grades.txt", "r") as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line in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parts =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line.strip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().split(',')         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name = parts[0]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grade = parts[1]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students[name] = grade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strike="sngStrike" dirty="0" err="1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b="1" strike="sngStrike" dirty="0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b="1" strike="sngStrike" dirty="0">
              <a:solidFill>
                <a:srgbClr val="CC99FF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74C67-BD38-087E-2A89-619D02325C0B}"/>
              </a:ext>
            </a:extLst>
          </p:cNvPr>
          <p:cNvSpPr/>
          <p:nvPr/>
        </p:nvSpPr>
        <p:spPr>
          <a:xfrm>
            <a:off x="272537" y="3030690"/>
            <a:ext cx="55369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students = {}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"r")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for line in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parts =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line.strip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().split(',')         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name = parts[0]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grade = parts[1]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students[name] = grade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062F2-C2CF-D747-5A64-BD128EA013CA}"/>
              </a:ext>
            </a:extLst>
          </p:cNvPr>
          <p:cNvSpPr txBox="1"/>
          <p:nvPr/>
        </p:nvSpPr>
        <p:spPr>
          <a:xfrm>
            <a:off x="6380729" y="256790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6"/>
                </a:solidFill>
              </a:rPr>
              <a:t>Using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CE379-A8E3-57C6-3A83-ED81D3C77124}"/>
              </a:ext>
            </a:extLst>
          </p:cNvPr>
          <p:cNvSpPr txBox="1"/>
          <p:nvPr/>
        </p:nvSpPr>
        <p:spPr>
          <a:xfrm>
            <a:off x="272537" y="2567900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6"/>
                </a:solidFill>
              </a:rPr>
              <a:t>Without using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8552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Opening and closing files with the with statement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 err="1">
                <a:solidFill>
                  <a:srgbClr val="FFFFFF"/>
                </a:solidFill>
              </a:rPr>
              <a:t>Beakout</a:t>
            </a:r>
            <a:r>
              <a:rPr lang="en-US" sz="4400" b="1" dirty="0">
                <a:solidFill>
                  <a:srgbClr val="FFFFFF"/>
                </a:solidFill>
              </a:rPr>
              <a:t> Session!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The with statement</a:t>
            </a:r>
          </a:p>
        </p:txBody>
      </p:sp>
    </p:spTree>
    <p:extLst>
      <p:ext uri="{BB962C8B-B14F-4D97-AF65-F5344CB8AC3E}">
        <p14:creationId xmlns:p14="http://schemas.microsoft.com/office/powerpoint/2010/main" val="385355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C</a:t>
            </a:r>
            <a:r>
              <a:rPr lang="en-US" b="1" dirty="0"/>
              <a:t>omma </a:t>
            </a:r>
            <a:r>
              <a:rPr lang="en-US" b="1" u="sng" dirty="0">
                <a:solidFill>
                  <a:srgbClr val="00FF00"/>
                </a:solidFill>
              </a:rPr>
              <a:t>S</a:t>
            </a:r>
            <a:r>
              <a:rPr lang="en-US" b="1" dirty="0"/>
              <a:t>eparated </a:t>
            </a:r>
            <a:r>
              <a:rPr lang="en-US" b="1" u="sng" dirty="0">
                <a:solidFill>
                  <a:srgbClr val="00FF00"/>
                </a:solidFill>
              </a:rPr>
              <a:t>V</a:t>
            </a:r>
            <a:r>
              <a:rPr lang="en-US" b="1" dirty="0"/>
              <a:t>alues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3978"/>
            <a:ext cx="11034713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We use them often in Excel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and other spreadsheet software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Remember our old friend MS Excel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/>
              <a:t>  They work with Python too</a:t>
            </a:r>
            <a:r>
              <a:rPr lang="en-US" dirty="0">
                <a:solidFill>
                  <a:schemeClr val="accent6"/>
                </a:solidFill>
              </a:rPr>
              <a:t>…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pic>
        <p:nvPicPr>
          <p:cNvPr id="9218" name="Picture 2" descr="Understanding CSV Files in Excel | Spreadsheets Made Easy">
            <a:extLst>
              <a:ext uri="{FF2B5EF4-FFF2-40B4-BE49-F238E27FC236}">
                <a16:creationId xmlns:a16="http://schemas.microsoft.com/office/drawing/2014/main" id="{298FB030-1E93-8049-9826-0A962D42F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447" y="3307690"/>
            <a:ext cx="3728998" cy="2796748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 your business stuck in the Excel hell? Stop it now!">
            <a:extLst>
              <a:ext uri="{FF2B5EF4-FFF2-40B4-BE49-F238E27FC236}">
                <a16:creationId xmlns:a16="http://schemas.microsoft.com/office/drawing/2014/main" id="{274D0EB2-4E87-B1A2-0263-07956899F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1" y="3307797"/>
            <a:ext cx="5048250" cy="2796641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93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CSV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Text data is commonly organized in a spreadsheet format using columns and rows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A common way to do this is to use a comma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separated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value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CSV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file format that uses commas to separate data items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called fields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76ACDBF-CC1E-1F4F-A058-E6CEA2250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01" y="4091717"/>
            <a:ext cx="4890016" cy="241774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2B87D60E-EABF-D64D-B71C-5FA0CBE8F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2" t="11550" r="10835" b="11961"/>
          <a:stretch>
            <a:fillRect/>
          </a:stretch>
        </p:blipFill>
        <p:spPr>
          <a:xfrm>
            <a:off x="6575264" y="4024565"/>
            <a:ext cx="3735806" cy="30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87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Opening a CSV File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B240B-9BFE-ED44-89AD-71EB850FDB24}"/>
              </a:ext>
            </a:extLst>
          </p:cNvPr>
          <p:cNvSpPr/>
          <p:nvPr/>
        </p:nvSpPr>
        <p:spPr>
          <a:xfrm>
            <a:off x="208118" y="3501190"/>
            <a:ext cx="117757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open('grades.csv', 'r') as file: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contents =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file.read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contents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'Name,Test1,Test2,Final\nKendrick,100,50,29\nDre,76,32,33\nSnoop,25,75,95\n'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4EECA-E7C3-8F27-78BA-744D2FB5E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>
                <a:ea typeface="Times New Roman" panose="02020603050405020304" pitchFamily="18" charset="0"/>
              </a:rPr>
              <a:t>Let</a:t>
            </a:r>
            <a:r>
              <a:rPr lang="en-US" dirty="0">
                <a:solidFill>
                  <a:schemeClr val="accent6"/>
                </a:solidFill>
                <a:ea typeface="Times New Roman" panose="02020603050405020304" pitchFamily="18" charset="0"/>
              </a:rPr>
              <a:t>’</a:t>
            </a:r>
            <a:r>
              <a:rPr lang="en-US" dirty="0">
                <a:ea typeface="Times New Roman" panose="02020603050405020304" pitchFamily="18" charset="0"/>
              </a:rPr>
              <a:t>s see what happens when we try to read the CSV file</a:t>
            </a:r>
            <a:r>
              <a:rPr lang="en-US" dirty="0">
                <a:solidFill>
                  <a:schemeClr val="accent6"/>
                </a:solidFill>
                <a:ea typeface="Times New Roman" panose="02020603050405020304" pitchFamily="18" charset="0"/>
              </a:rPr>
              <a:t>,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'grades.csv’</a:t>
            </a:r>
            <a:r>
              <a:rPr lang="en-US" dirty="0">
                <a:solidFill>
                  <a:schemeClr val="accent6"/>
                </a:solidFill>
                <a:ea typeface="Times New Roman" panose="02020603050405020304" pitchFamily="18" charset="0"/>
              </a:rPr>
              <a:t>,</a:t>
            </a:r>
            <a:r>
              <a:rPr lang="en-US" dirty="0">
                <a:ea typeface="Times New Roman" panose="02020603050405020304" pitchFamily="18" charset="0"/>
              </a:rPr>
              <a:t> using the file reading techniques discussed earlier</a:t>
            </a:r>
            <a:r>
              <a:rPr lang="en-US" dirty="0">
                <a:solidFill>
                  <a:schemeClr val="accent6"/>
                </a:solidFill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How can we use this to obtain column and row information</a:t>
            </a:r>
            <a:r>
              <a:rPr lang="en-US" dirty="0">
                <a:solidFill>
                  <a:schemeClr val="accent6"/>
                </a:solidFill>
              </a:rPr>
              <a:t>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2205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Reading CSV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pic>
        <p:nvPicPr>
          <p:cNvPr id="8194" name="Picture 2" descr="csv reader - Imgflip">
            <a:extLst>
              <a:ext uri="{FF2B5EF4-FFF2-40B4-BE49-F238E27FC236}">
                <a16:creationId xmlns:a16="http://schemas.microsoft.com/office/drawing/2014/main" id="{CA7C869A-7B81-F64F-A0EA-E00C919D0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797" y="1798720"/>
            <a:ext cx="3168935" cy="2378074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5F293-6204-0A24-E96D-44403C98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728284" cy="4835479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CSV module is a powerful solution developed for working with CSV files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Reading of CSV files is done using the CSV reader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You can construct a reader object using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which takes the file object as input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reader object can be used to iterate through the contents of the CSV file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similarly to how a file object was used to iterate through the contents of a text file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902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Example: Reading a CSV File </a:t>
            </a:r>
            <a:r>
              <a:rPr lang="en-US" b="1" dirty="0">
                <a:solidFill>
                  <a:srgbClr val="CC99FF"/>
                </a:solidFill>
              </a:rPr>
              <a:t>(</a:t>
            </a:r>
            <a:r>
              <a:rPr lang="en-US" b="1" dirty="0"/>
              <a:t>open</a:t>
            </a:r>
            <a:r>
              <a:rPr lang="en-US" b="1" dirty="0">
                <a:solidFill>
                  <a:schemeClr val="accent6"/>
                </a:solidFill>
              </a:rPr>
              <a:t>/</a:t>
            </a:r>
            <a:r>
              <a:rPr lang="en-US" b="1" dirty="0"/>
              <a:t>close</a:t>
            </a:r>
            <a:r>
              <a:rPr lang="en-US" b="1" dirty="0">
                <a:solidFill>
                  <a:srgbClr val="CC99FF"/>
                </a:solidFill>
              </a:rPr>
              <a:t>)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759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 each row of a CSV file the csv module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pic>
        <p:nvPicPr>
          <p:cNvPr id="8" name="Picture 2" descr="my mind on my coding my coding on my mind - snoop dogg | Meme Generator">
            <a:extLst>
              <a:ext uri="{FF2B5EF4-FFF2-40B4-BE49-F238E27FC236}">
                <a16:creationId xmlns:a16="http://schemas.microsoft.com/office/drawing/2014/main" id="{900933F3-2EBD-EB43-9DE4-11F4096F2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923" y="1676094"/>
            <a:ext cx="2540000" cy="2540000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3073A-0487-3A67-9484-9D0B3C138991}"/>
              </a:ext>
            </a:extLst>
          </p:cNvPr>
          <p:cNvSpPr/>
          <p:nvPr/>
        </p:nvSpPr>
        <p:spPr>
          <a:xfrm>
            <a:off x="1028366" y="2040007"/>
            <a:ext cx="934285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import csv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open('grades.csv', 'r') as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grades_reader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csv.reader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row in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grades_reader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print('Row #',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, ':', row)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+=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1 : ['Name', 'Test1', 'Test2', 'Final']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2 : [‘Kendrick', '100', '50', '29']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3 : [‘Dre', '76', '32', '33']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4 : [‘Snoop', '25', '75', '95']</a:t>
            </a:r>
            <a:endParaRPr lang="en-US" sz="22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004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Writing CSV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759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To write to the file we would first need to create a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dirty="0"/>
              <a:t> writer object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csv.writer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chemeClr val="accent6"/>
                </a:solidFill>
                <a:ea typeface="MS Mincho" panose="02020609040205080304" pitchFamily="49" charset="-128"/>
              </a:rPr>
              <a:t>,</a:t>
            </a:r>
            <a:r>
              <a:rPr lang="en-US" dirty="0">
                <a:ea typeface="MS Mincho" panose="02020609040205080304" pitchFamily="49" charset="-128"/>
              </a:rPr>
              <a:t> which similar to how we made a</a:t>
            </a:r>
            <a:r>
              <a:rPr lang="en-US" dirty="0">
                <a:solidFill>
                  <a:schemeClr val="accent6"/>
                </a:solidFill>
                <a:ea typeface="MS Mincho" panose="02020609040205080304" pitchFamily="49" charset="-128"/>
              </a:rPr>
              <a:t>,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dirty="0"/>
              <a:t> reader object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Once the CSV writer object is created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we can use 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writerow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method to populate it with data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writerow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method can only write a single row to the file at a time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9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CSV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0077EB-539E-6743-9EF1-5BE0DB44084A}"/>
              </a:ext>
            </a:extLst>
          </p:cNvPr>
          <p:cNvSpPr/>
          <p:nvPr/>
        </p:nvSpPr>
        <p:spPr>
          <a:xfrm>
            <a:off x="1036849" y="2941705"/>
            <a:ext cx="7543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import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</a:t>
            </a:r>
            <a:endParaRPr lang="en-US" sz="2000" b="1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 = [['Name', 'Test1', 'Test2', 'Final'],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[‘Kendrick', '100', '50', </a:t>
            </a:r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'69'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[‘Dre', '76', '32', </a:t>
            </a:r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'53'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[‘Snoop', '25', '75', '95']]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open('grades_new.csv', 'w') as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csv.writer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row in grades: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grades_writer.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writerow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(row)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1377-707D-542C-2581-5F887CAD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35489" cy="1910181"/>
          </a:xfrm>
        </p:spPr>
        <p:txBody>
          <a:bodyPr/>
          <a:lstStyle/>
          <a:p>
            <a:r>
              <a:rPr lang="en-US" sz="2400" dirty="0"/>
              <a:t>In </a:t>
            </a:r>
            <a:r>
              <a:rPr lang="en-US" sz="2400" dirty="0">
                <a:ea typeface="Times New Roman" panose="02020603050405020304" pitchFamily="18" charset="0"/>
              </a:rPr>
              <a:t>the previous grade example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,</a:t>
            </a:r>
            <a:r>
              <a:rPr lang="en-US" sz="2400" dirty="0">
                <a:ea typeface="Times New Roman" panose="02020603050405020304" pitchFamily="18" charset="0"/>
              </a:rPr>
              <a:t> there were a few marking errors on the final exam and both Kendrick and Dre should have received a higher grade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.</a:t>
            </a:r>
            <a:r>
              <a:rPr lang="en-US" sz="2400" dirty="0">
                <a:ea typeface="Times New Roman" panose="02020603050405020304" pitchFamily="18" charset="0"/>
              </a:rPr>
              <a:t> Update the grades using the </a:t>
            </a:r>
            <a:r>
              <a:rPr lang="en-US" sz="2400" b="1" dirty="0">
                <a:solidFill>
                  <a:srgbClr val="CC99FF"/>
                </a:solidFill>
                <a:ea typeface="Times New Roman" panose="02020603050405020304" pitchFamily="18" charset="0"/>
              </a:rPr>
              <a:t>CSV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writerow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ea typeface="Times New Roman" panose="02020603050405020304" pitchFamily="18" charset="0"/>
              </a:rPr>
              <a:t>method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.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endParaRPr lang="en-US" sz="2400" dirty="0"/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127734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Opening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b="1" dirty="0"/>
              <a:t> File in Excel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33529B-55D2-4948-BBC1-BE356738D7F0}"/>
              </a:ext>
            </a:extLst>
          </p:cNvPr>
          <p:cNvSpPr/>
          <p:nvPr/>
        </p:nvSpPr>
        <p:spPr>
          <a:xfrm>
            <a:off x="1142228" y="6052771"/>
            <a:ext cx="1085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open('grades_new.csv', 'w', </a:t>
            </a:r>
            <a:r>
              <a:rPr lang="en-US" sz="2400" b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newline=''</a:t>
            </a:r>
            <a:r>
              <a:rPr lang="en-US" sz="2400" b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 as csvfile:</a:t>
            </a:r>
            <a:endParaRPr lang="en-US" sz="2400" b="1" dirty="0">
              <a:solidFill>
                <a:srgbClr val="00FF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pic>
        <p:nvPicPr>
          <p:cNvPr id="11" name="Picture 10" descr="Table, Excel&#10;&#10;Description automatically generated">
            <a:extLst>
              <a:ext uri="{FF2B5EF4-FFF2-40B4-BE49-F238E27FC236}">
                <a16:creationId xmlns:a16="http://schemas.microsoft.com/office/drawing/2014/main" id="{C28D93BD-2FE6-374D-9828-AB9D95DF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965" y="1568120"/>
            <a:ext cx="4618035" cy="403700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FC52C-5788-0977-67B2-F698749C1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 the previous example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we created a </a:t>
            </a:r>
            <a:r>
              <a:rPr lang="en-US" sz="2400" b="1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CSV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file which can be opened in any commonly used spreadsheet software </a:t>
            </a:r>
            <a:r>
              <a:rPr lang="en-US" sz="2400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Excel</a:t>
            </a:r>
            <a:r>
              <a:rPr lang="en-US" sz="2400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</a:p>
          <a:p>
            <a:pPr marL="285750" marR="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In some cases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 formatting error may occur, probably due to the difference between newlines and carriage returns in Windows vs Mac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/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Linux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To correct this error in formatting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we will need to prevent the new line from forming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Add the parameter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newline=''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and that should resolve the problem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  <a:endParaRPr lang="en-US" sz="2400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9935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chemeClr val="accent6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chemeClr val="accent6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Reading and Writing to CSV Files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Parsing through CSV Files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Import the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CA" dirty="0"/>
              <a:t>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CSV Files</a:t>
            </a:r>
          </a:p>
        </p:txBody>
      </p:sp>
    </p:spTree>
    <p:extLst>
      <p:ext uri="{BB962C8B-B14F-4D97-AF65-F5344CB8AC3E}">
        <p14:creationId xmlns:p14="http://schemas.microsoft.com/office/powerpoint/2010/main" val="1133066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Reading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4FD42-18B9-D748-8D23-5DFBD9678B38}"/>
              </a:ext>
            </a:extLst>
          </p:cNvPr>
          <p:cNvSpPr/>
          <p:nvPr/>
        </p:nvSpPr>
        <p:spPr>
          <a:xfrm>
            <a:off x="124954" y="1729281"/>
            <a:ext cx="390735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Reading a file using the standard approach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92D050"/>
              </a:solidFill>
            </a:endParaRPr>
          </a:p>
          <a:p>
            <a:endParaRPr lang="en-US" sz="1600" dirty="0">
              <a:solidFill>
                <a:srgbClr val="92D050"/>
              </a:solidFill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open('grades.csv', 'r')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from file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=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myfile.readlines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L: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print(row, end = '')</a:t>
            </a:r>
          </a:p>
          <a:p>
            <a:endParaRPr lang="en-US" sz="15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CC9D8-95C9-B247-924E-A8C66A17EB59}"/>
              </a:ext>
            </a:extLst>
          </p:cNvPr>
          <p:cNvSpPr/>
          <p:nvPr/>
        </p:nvSpPr>
        <p:spPr>
          <a:xfrm>
            <a:off x="4105463" y="1729281"/>
            <a:ext cx="3907357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Reading a file using the CSV Module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endParaRPr lang="en-US" sz="1600" dirty="0">
              <a:solidFill>
                <a:schemeClr val="accent6"/>
              </a:solidFill>
            </a:endParaRP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csv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open('grades.csv', 'r')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from file</a:t>
            </a:r>
          </a:p>
          <a:p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csv_reader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csv_reader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print(row)</a:t>
            </a:r>
          </a:p>
          <a:p>
            <a:endParaRPr lang="en-US" sz="15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8502379" y="1291390"/>
            <a:ext cx="307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Requirement</a:t>
            </a:r>
            <a:r>
              <a:rPr lang="en-US" sz="1600" b="1" dirty="0">
                <a:solidFill>
                  <a:schemeClr val="accent6"/>
                </a:solidFill>
              </a:rPr>
              <a:t>: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“grades.csv”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</p:txBody>
      </p:sp>
      <p:pic>
        <p:nvPicPr>
          <p:cNvPr id="15" name="Picture 14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02675811-D716-2B4B-BF67-1F90D95E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" t="4569" r="6937"/>
          <a:stretch>
            <a:fillRect/>
          </a:stretch>
        </p:blipFill>
        <p:spPr>
          <a:xfrm>
            <a:off x="7952878" y="1733669"/>
            <a:ext cx="4174330" cy="42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44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Writing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7197892" y="646515"/>
            <a:ext cx="483018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+mj-lt"/>
                <a:cs typeface="Courier New" panose="02070309020205020404" pitchFamily="49" charset="0"/>
              </a:rPr>
              <a:t>Requirement</a:t>
            </a:r>
            <a:r>
              <a:rPr lang="en-US" sz="1300" b="1" dirty="0">
                <a:solidFill>
                  <a:schemeClr val="accent6"/>
                </a:solidFill>
                <a:latin typeface="+mj-lt"/>
                <a:cs typeface="Courier New" panose="02070309020205020404" pitchFamily="49" charset="0"/>
              </a:rPr>
              <a:t>:</a:t>
            </a:r>
            <a:r>
              <a:rPr lang="en-US" sz="1300" b="1" dirty="0">
                <a:solidFill>
                  <a:srgbClr val="FFFFFF"/>
                </a:solidFill>
                <a:latin typeface="+mj-lt"/>
                <a:cs typeface="Courier New" panose="02070309020205020404" pitchFamily="49" charset="0"/>
              </a:rPr>
              <a:t> grades needs to be defined</a:t>
            </a:r>
            <a:r>
              <a:rPr lang="en-US" sz="1300" b="1" dirty="0">
                <a:solidFill>
                  <a:schemeClr val="accent6"/>
                </a:solidFill>
                <a:latin typeface="+mj-lt"/>
                <a:cs typeface="Courier New" panose="02070309020205020404" pitchFamily="49" charset="0"/>
              </a:rPr>
              <a:t>.</a:t>
            </a:r>
          </a:p>
          <a:p>
            <a:endParaRPr lang="en-US" sz="13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 = [['Name', 'Test1', 'Test2', 'Final'],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[‘Kendrick', '100', '50', '69'],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[‘Dre', '76', '32', '53'],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[‘Snoop', '25', '75', '95']]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C766E-68D8-6148-B621-15E61C028D6F}"/>
              </a:ext>
            </a:extLst>
          </p:cNvPr>
          <p:cNvSpPr/>
          <p:nvPr/>
        </p:nvSpPr>
        <p:spPr>
          <a:xfrm>
            <a:off x="435142" y="2112509"/>
            <a:ext cx="676275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Writing a file using the standard approach</a:t>
            </a:r>
            <a:r>
              <a:rPr lang="en-US" sz="2000" b="1" dirty="0">
                <a:solidFill>
                  <a:schemeClr val="accent6"/>
                </a:solidFill>
              </a:rPr>
              <a:t>.</a:t>
            </a:r>
          </a:p>
          <a:p>
            <a:endParaRPr lang="en-US" sz="2000" dirty="0">
              <a:solidFill>
                <a:srgbClr val="92D050"/>
              </a:solidFill>
            </a:endParaRPr>
          </a:p>
          <a:p>
            <a:endParaRPr lang="en-US" sz="2000" dirty="0">
              <a:solidFill>
                <a:srgbClr val="92D050"/>
              </a:solidFill>
            </a:endParaRPr>
          </a:p>
          <a:p>
            <a:endParaRPr lang="en-US" sz="2000" dirty="0">
              <a:solidFill>
                <a:srgbClr val="92D050"/>
              </a:solidFill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open('new_grades.csv', 'w')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Write to file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grades: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col in row: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myfile.write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(col + ',')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myfile.write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('\n')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262FF9-9732-BC46-9D94-81AAF4B2F392}"/>
              </a:ext>
            </a:extLst>
          </p:cNvPr>
          <p:cNvSpPr/>
          <p:nvPr/>
        </p:nvSpPr>
        <p:spPr>
          <a:xfrm>
            <a:off x="6376230" y="2112509"/>
            <a:ext cx="53806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Writing a file using the standard approach</a:t>
            </a:r>
            <a:r>
              <a:rPr lang="en-US" sz="2000" b="1" dirty="0">
                <a:solidFill>
                  <a:schemeClr val="accent6"/>
                </a:solidFill>
              </a:rPr>
              <a:t>.</a:t>
            </a:r>
          </a:p>
          <a:p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csv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open('new_grades.csv', 'w')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Write to file</a:t>
            </a:r>
          </a:p>
          <a:p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grades_writer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grades: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grades_writer.writerow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(row)</a:t>
            </a:r>
          </a:p>
          <a:p>
            <a:endParaRPr 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63215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96A4-E22B-E1BE-5205-73B9657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59CB-A4E7-CBED-B752-BF642CBB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module is simply a file containing Python definitions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functions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classes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variables</a:t>
            </a:r>
            <a:r>
              <a:rPr lang="en-CA" dirty="0">
                <a:solidFill>
                  <a:schemeClr val="accent6"/>
                </a:solidFill>
              </a:rPr>
              <a:t>)</a:t>
            </a:r>
            <a:r>
              <a:rPr lang="en-CA" dirty="0"/>
              <a:t> that can be imported into your script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r>
              <a:rPr lang="en-CA" dirty="0"/>
              <a:t>By organizing code into modules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we</a:t>
            </a:r>
            <a:r>
              <a:rPr lang="en-CA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CA" dirty="0"/>
              <a:t>Keep code maintainable and organized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Reuse functions or classes across multiple projects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Avoid cluttering a single file with too much logic</a:t>
            </a:r>
            <a:r>
              <a:rPr lang="en-CA" dirty="0">
                <a:solidFill>
                  <a:schemeClr val="accent6"/>
                </a:solidFill>
              </a:rPr>
              <a:t>.</a:t>
            </a:r>
            <a:endParaRPr lang="en-CA" dirty="0"/>
          </a:p>
          <a:p>
            <a:r>
              <a:rPr lang="en-CA" dirty="0"/>
              <a:t>Tip</a:t>
            </a:r>
            <a:r>
              <a:rPr lang="en-CA" dirty="0">
                <a:solidFill>
                  <a:schemeClr val="accent6"/>
                </a:solidFill>
              </a:rPr>
              <a:t>:</a:t>
            </a:r>
            <a:r>
              <a:rPr lang="en-CA" dirty="0"/>
              <a:t> Any file named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something.py</a:t>
            </a:r>
            <a:r>
              <a:rPr lang="en-CA" dirty="0"/>
              <a:t> can be considered a module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82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36D3-73B4-C7E0-AC93-770FBCD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Importing 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5570-B626-F485-5C71-042E77C8C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1"/>
            <a:ext cx="11061032" cy="4835479"/>
          </a:xfrm>
        </p:spPr>
        <p:txBody>
          <a:bodyPr>
            <a:normAutofit lnSpcReduction="10000"/>
          </a:bodyPr>
          <a:lstStyle/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dirty="0"/>
              <a:t>Imports the entire module</a:t>
            </a:r>
            <a:r>
              <a:rPr lang="en-CA" dirty="0">
                <a:solidFill>
                  <a:schemeClr val="accent6"/>
                </a:solidFill>
              </a:rPr>
              <a:t>.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You call functions with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module_name.function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something</a:t>
            </a:r>
          </a:p>
          <a:p>
            <a:pPr lvl="1"/>
            <a:r>
              <a:rPr lang="en-CA" dirty="0"/>
              <a:t>Imports only something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function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class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or variable</a:t>
            </a:r>
            <a:r>
              <a:rPr lang="en-CA" dirty="0">
                <a:solidFill>
                  <a:schemeClr val="accent6"/>
                </a:solidFill>
              </a:rPr>
              <a:t>).</a:t>
            </a:r>
          </a:p>
          <a:p>
            <a:pPr lvl="1"/>
            <a:r>
              <a:rPr lang="en-CA" dirty="0"/>
              <a:t>You can access something without needing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module_name.something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*</a:t>
            </a:r>
          </a:p>
          <a:p>
            <a:pPr lvl="1"/>
            <a:r>
              <a:rPr lang="en-CA" dirty="0"/>
              <a:t>Imports everything from that module directly into your file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and scope or </a:t>
            </a:r>
            <a:r>
              <a:rPr lang="en-CA" dirty="0">
                <a:solidFill>
                  <a:schemeClr val="accent6"/>
                </a:solidFill>
              </a:rPr>
              <a:t>‘</a:t>
            </a:r>
            <a:r>
              <a:rPr lang="en-CA" dirty="0"/>
              <a:t>namespace</a:t>
            </a:r>
            <a:r>
              <a:rPr lang="en-CA" dirty="0">
                <a:solidFill>
                  <a:schemeClr val="accent6"/>
                </a:solidFill>
              </a:rPr>
              <a:t>’).</a:t>
            </a:r>
          </a:p>
          <a:p>
            <a:pPr lvl="1"/>
            <a:r>
              <a:rPr lang="en-CA" dirty="0"/>
              <a:t>Use sparingly to avoid name conflicts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9D27-9952-856D-0DA7-7A42741EF00A}"/>
              </a:ext>
            </a:extLst>
          </p:cNvPr>
          <p:cNvSpPr txBox="1"/>
          <p:nvPr/>
        </p:nvSpPr>
        <p:spPr>
          <a:xfrm>
            <a:off x="7220952" y="1029719"/>
            <a:ext cx="41857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r>
              <a:rPr lang="en-GB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GB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GB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(16)) # 4.0</a:t>
            </a:r>
          </a:p>
        </p:txBody>
      </p:sp>
    </p:spTree>
    <p:extLst>
      <p:ext uri="{BB962C8B-B14F-4D97-AF65-F5344CB8AC3E}">
        <p14:creationId xmlns:p14="http://schemas.microsoft.com/office/powerpoint/2010/main" val="158593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5D5-96CA-3DF6-AB09-33A8937C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Why Modules</a:t>
            </a:r>
            <a:r>
              <a:rPr lang="en-CA" b="1" dirty="0">
                <a:solidFill>
                  <a:schemeClr val="accent6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B0B7-6015-ECA6-96E0-6B52AC214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chemeClr val="accent6"/>
                </a:solidFill>
              </a:rPr>
              <a:t>Modularity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>
                <a:solidFill>
                  <a:schemeClr val="accent6"/>
                </a:solidFill>
              </a:rPr>
              <a:t> </a:t>
            </a:r>
            <a:r>
              <a:rPr lang="en-CA" dirty="0"/>
              <a:t>Split large applications into smaller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manageable pieces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Think back our fancy dictionary printing function called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dict_print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that we imported from our custom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utils</a:t>
            </a:r>
            <a:r>
              <a:rPr lang="en-CA" dirty="0"/>
              <a:t> module</a:t>
            </a:r>
            <a:r>
              <a:rPr lang="en-CA" dirty="0">
                <a:solidFill>
                  <a:schemeClr val="accent6"/>
                </a:solidFill>
              </a:rPr>
              <a:t>.</a:t>
            </a:r>
            <a:r>
              <a:rPr lang="en-CA" dirty="0"/>
              <a:t> </a:t>
            </a:r>
          </a:p>
          <a:p>
            <a:r>
              <a:rPr lang="en-CA" dirty="0">
                <a:solidFill>
                  <a:schemeClr val="accent6"/>
                </a:solidFill>
              </a:rPr>
              <a:t>Reusability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Reuse functions across multiple projects </a:t>
            </a:r>
            <a:r>
              <a:rPr lang="en-CA" dirty="0">
                <a:solidFill>
                  <a:srgbClr val="00FF00"/>
                </a:solidFill>
              </a:rPr>
              <a:t>(</a:t>
            </a:r>
            <a:r>
              <a:rPr lang="en-CA" dirty="0"/>
              <a:t>don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t rewrite the wheel</a:t>
            </a:r>
            <a:r>
              <a:rPr lang="en-CA" dirty="0">
                <a:solidFill>
                  <a:schemeClr val="accent6"/>
                </a:solidFill>
              </a:rPr>
              <a:t>!</a:t>
            </a:r>
            <a:r>
              <a:rPr lang="en-CA" dirty="0">
                <a:solidFill>
                  <a:srgbClr val="00FF00"/>
                </a:solidFill>
              </a:rPr>
              <a:t>)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Now you can import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dict_print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into any new python file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instead of needing to copy and paste the function into each file to use it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r>
              <a:rPr lang="en-CA" dirty="0">
                <a:solidFill>
                  <a:schemeClr val="accent6"/>
                </a:solidFill>
              </a:rPr>
              <a:t>Maintainability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Isolate functionality in separate files for easier updates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Improve your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utils</a:t>
            </a:r>
            <a:r>
              <a:rPr lang="en-CA" dirty="0"/>
              <a:t> module or add more fancy printing functions to utils without breaking any of your existing files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r>
              <a:rPr lang="en-CA" dirty="0">
                <a:solidFill>
                  <a:schemeClr val="accent6"/>
                </a:solidFill>
              </a:rPr>
              <a:t>Collaboration</a:t>
            </a:r>
            <a:r>
              <a:rPr lang="en-CA" dirty="0">
                <a:solidFill>
                  <a:srgbClr val="00FF00"/>
                </a:solidFill>
              </a:rPr>
              <a:t>:</a:t>
            </a:r>
            <a:r>
              <a:rPr lang="en-CA" dirty="0"/>
              <a:t> Multiple developers can work on different modules in parallel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9918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892C-CC2F-B33A-8887-CBE501B0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Build Your Own 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1E8B-3AD8-697C-E17B-81E08A54E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</a:t>
            </a:r>
            <a:r>
              <a:rPr lang="en-GB" dirty="0">
                <a:solidFill>
                  <a:schemeClr val="accent6"/>
                </a:solidFill>
              </a:rPr>
              <a:t>:</a:t>
            </a:r>
            <a:r>
              <a:rPr lang="en-GB" dirty="0"/>
              <a:t> Create a </a:t>
            </a:r>
            <a:r>
              <a:rPr lang="en-GB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GB" dirty="0"/>
              <a:t> file with functions</a:t>
            </a:r>
            <a:r>
              <a:rPr lang="en-GB" dirty="0">
                <a:solidFill>
                  <a:schemeClr val="accent6"/>
                </a:solidFill>
              </a:rPr>
              <a:t>,</a:t>
            </a:r>
            <a:r>
              <a:rPr lang="en-GB" dirty="0"/>
              <a:t> variables</a:t>
            </a:r>
            <a:r>
              <a:rPr lang="en-GB" dirty="0">
                <a:solidFill>
                  <a:schemeClr val="accent6"/>
                </a:solidFill>
              </a:rPr>
              <a:t>,</a:t>
            </a:r>
            <a:r>
              <a:rPr lang="en-GB" dirty="0"/>
              <a:t> etc</a:t>
            </a:r>
            <a:r>
              <a:rPr lang="en-GB" dirty="0">
                <a:solidFill>
                  <a:schemeClr val="accent6"/>
                </a:solidFill>
              </a:rPr>
              <a:t>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Step 2</a:t>
            </a:r>
            <a:r>
              <a:rPr lang="en-CA" dirty="0">
                <a:solidFill>
                  <a:schemeClr val="accent6"/>
                </a:solidFill>
              </a:rPr>
              <a:t>:</a:t>
            </a:r>
            <a:r>
              <a:rPr lang="en-CA" dirty="0"/>
              <a:t> Import your module into another file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4F437-2F26-2F80-CE34-F0D047923ED2}"/>
              </a:ext>
            </a:extLst>
          </p:cNvPr>
          <p:cNvSpPr txBox="1"/>
          <p:nvPr/>
        </p:nvSpPr>
        <p:spPr>
          <a:xfrm>
            <a:off x="1070042" y="2489037"/>
            <a:ext cx="3774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#inside </a:t>
            </a:r>
            <a:r>
              <a:rPr lang="en-CA" b="1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mymodule.py</a:t>
            </a:r>
            <a:endParaRPr lang="en-CA" b="1" dirty="0">
              <a:solidFill>
                <a:schemeClr val="tx1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 = 3.14</a:t>
            </a: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and_one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(x):</a:t>
            </a: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x + 1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02567-A0FD-9F2E-45DC-8ED7EC8FD507}"/>
              </a:ext>
            </a:extLst>
          </p:cNvPr>
          <p:cNvSpPr txBox="1"/>
          <p:nvPr/>
        </p:nvSpPr>
        <p:spPr>
          <a:xfrm>
            <a:off x="1070042" y="5033107"/>
            <a:ext cx="6984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my_pi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mymodule.pi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mymodule.and_one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my_pi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#prints 4.14</a:t>
            </a:r>
          </a:p>
        </p:txBody>
      </p:sp>
    </p:spTree>
    <p:extLst>
      <p:ext uri="{BB962C8B-B14F-4D97-AF65-F5344CB8AC3E}">
        <p14:creationId xmlns:p14="http://schemas.microsoft.com/office/powerpoint/2010/main" val="2318162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00B2-7F17-942C-3151-0C9FEB8C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D07F-CE1D-91C1-3C06-3A14476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E738-4D83-0CFB-6C3E-2C9285B17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Importing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Renaming modules and controlling our namespace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Building our own custom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11761CD1-1903-9ADB-AE4C-87D5248137DE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Modules</a:t>
            </a:r>
          </a:p>
        </p:txBody>
      </p:sp>
    </p:spTree>
    <p:extLst>
      <p:ext uri="{BB962C8B-B14F-4D97-AF65-F5344CB8AC3E}">
        <p14:creationId xmlns:p14="http://schemas.microsoft.com/office/powerpoint/2010/main" val="2936490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869E-7C59-AB0F-F91F-713FB4BB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47EE5E-8E4B-40DB-3E76-4702D07F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512" y="2955476"/>
            <a:ext cx="2499247" cy="250594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2F33E3E-3071-850D-8C10-35E92B543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Files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CSV</a:t>
            </a:r>
            <a:r>
              <a:rPr lang="en-US" dirty="0">
                <a:solidFill>
                  <a:srgbClr val="00FF00"/>
                </a:solidFill>
              </a:rPr>
              <a:t>s</a:t>
            </a:r>
            <a:r>
              <a:rPr lang="en-US" dirty="0"/>
              <a:t> and Modules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031E00-20E3-ECEA-07B1-61C9165F2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48FB7-E925-CBBE-BB8C-08240D22BC08}"/>
              </a:ext>
            </a:extLst>
          </p:cNvPr>
          <p:cNvSpPr txBox="1"/>
          <p:nvPr/>
        </p:nvSpPr>
        <p:spPr>
          <a:xfrm>
            <a:off x="8883867" y="2067831"/>
            <a:ext cx="299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solidFill>
                  <a:srgbClr val="FFFFFF"/>
                </a:solidFill>
              </a:rPr>
              <a:t>Course Evaluations</a:t>
            </a:r>
            <a:r>
              <a:rPr lang="en-CA" sz="2400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7C1467-7EA2-DD43-E16F-71AEE50ECAE3}"/>
              </a:ext>
            </a:extLst>
          </p:cNvPr>
          <p:cNvSpPr txBox="1"/>
          <p:nvPr/>
        </p:nvSpPr>
        <p:spPr>
          <a:xfrm>
            <a:off x="8883867" y="2482584"/>
            <a:ext cx="2965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FF00"/>
                </a:solidFill>
              </a:rPr>
              <a:t>Help us debug this course</a:t>
            </a:r>
            <a:r>
              <a:rPr lang="en-US" i="1" dirty="0">
                <a:solidFill>
                  <a:srgbClr val="FFFFFF"/>
                </a:solidFill>
              </a:rPr>
              <a:t>.</a:t>
            </a:r>
            <a:endParaRPr lang="en-CA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26673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43187</TotalTime>
  <Words>2142</Words>
  <Application>Microsoft Office PowerPoint</Application>
  <PresentationFormat>Widescreen</PresentationFormat>
  <Paragraphs>323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MS Mincho</vt:lpstr>
      <vt:lpstr>Arial</vt:lpstr>
      <vt:lpstr>Calibri</vt:lpstr>
      <vt:lpstr>Courier New</vt:lpstr>
      <vt:lpstr>Segoe UI</vt:lpstr>
      <vt:lpstr>Times New Roman</vt:lpstr>
      <vt:lpstr>Wingdings</vt:lpstr>
      <vt:lpstr>APS106_Theme</vt:lpstr>
      <vt:lpstr>Pandas.</vt:lpstr>
      <vt:lpstr>This Week’s Content</vt:lpstr>
      <vt:lpstr>The ”Writing to Files” Recipe.</vt:lpstr>
      <vt:lpstr>Let’s Code!</vt:lpstr>
      <vt:lpstr>Different Ways of Reading a File.</vt:lpstr>
      <vt:lpstr>Different ways of Reading a File.</vt:lpstr>
      <vt:lpstr>Let’s Code!</vt:lpstr>
      <vt:lpstr>The with Statement</vt:lpstr>
      <vt:lpstr>Example: with Statement.</vt:lpstr>
      <vt:lpstr>Let’s Code!</vt:lpstr>
      <vt:lpstr>Comma Separated Values files.</vt:lpstr>
      <vt:lpstr>CSV Files.</vt:lpstr>
      <vt:lpstr>Example: Opening a CSV File.</vt:lpstr>
      <vt:lpstr>Reading CSV Files.</vt:lpstr>
      <vt:lpstr>Example: Reading a CSV File (open/close).</vt:lpstr>
      <vt:lpstr>Writing CSV Files.</vt:lpstr>
      <vt:lpstr>Example: CSV Files</vt:lpstr>
      <vt:lpstr>Opening CSV File in Excel.</vt:lpstr>
      <vt:lpstr>Let’s Code!</vt:lpstr>
      <vt:lpstr>Summary: Reading Files.</vt:lpstr>
      <vt:lpstr>Summary: Writing Files.</vt:lpstr>
      <vt:lpstr>Modules.</vt:lpstr>
      <vt:lpstr>Importing Modules.</vt:lpstr>
      <vt:lpstr>Why Modules?</vt:lpstr>
      <vt:lpstr>Build Your Own Modules.</vt:lpstr>
      <vt:lpstr>Let’s Code!</vt:lpstr>
      <vt:lpstr>Files, CSVs and Modules.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262</cp:revision>
  <dcterms:created xsi:type="dcterms:W3CDTF">2021-11-03T00:49:37Z</dcterms:created>
  <dcterms:modified xsi:type="dcterms:W3CDTF">2026-03-31T18:30:38Z</dcterms:modified>
</cp:coreProperties>
</file>