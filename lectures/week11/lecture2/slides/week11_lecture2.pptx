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0" r:id="rId1"/>
  </p:sldMasterIdLst>
  <p:notesMasterIdLst>
    <p:notesMasterId r:id="rId32"/>
  </p:notesMasterIdLst>
  <p:sldIdLst>
    <p:sldId id="256" r:id="rId2"/>
    <p:sldId id="706" r:id="rId3"/>
    <p:sldId id="701" r:id="rId4"/>
    <p:sldId id="545" r:id="rId5"/>
    <p:sldId id="567" r:id="rId6"/>
    <p:sldId id="547" r:id="rId7"/>
    <p:sldId id="548" r:id="rId8"/>
    <p:sldId id="549" r:id="rId9"/>
    <p:sldId id="571" r:id="rId10"/>
    <p:sldId id="562" r:id="rId11"/>
    <p:sldId id="550" r:id="rId12"/>
    <p:sldId id="569" r:id="rId13"/>
    <p:sldId id="551" r:id="rId14"/>
    <p:sldId id="552" r:id="rId15"/>
    <p:sldId id="553" r:id="rId16"/>
    <p:sldId id="554" r:id="rId17"/>
    <p:sldId id="556" r:id="rId18"/>
    <p:sldId id="555" r:id="rId19"/>
    <p:sldId id="557" r:id="rId20"/>
    <p:sldId id="558" r:id="rId21"/>
    <p:sldId id="559" r:id="rId22"/>
    <p:sldId id="401" r:id="rId23"/>
    <p:sldId id="560" r:id="rId24"/>
    <p:sldId id="561" r:id="rId25"/>
    <p:sldId id="703" r:id="rId26"/>
    <p:sldId id="704" r:id="rId27"/>
    <p:sldId id="707" r:id="rId28"/>
    <p:sldId id="702" r:id="rId29"/>
    <p:sldId id="708" r:id="rId30"/>
    <p:sldId id="705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FFFF"/>
    <a:srgbClr val="00FCFF"/>
    <a:srgbClr val="FF00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275" autoAdjust="0"/>
    <p:restoredTop sz="96197"/>
  </p:normalViewPr>
  <p:slideViewPr>
    <p:cSldViewPr snapToGrid="0">
      <p:cViewPr varScale="1">
        <p:scale>
          <a:sx n="121" d="100"/>
          <a:sy n="121" d="100"/>
        </p:scale>
        <p:origin x="114" y="228"/>
      </p:cViewPr>
      <p:guideLst/>
    </p:cSldViewPr>
  </p:slideViewPr>
  <p:outlineViewPr>
    <p:cViewPr>
      <p:scale>
        <a:sx n="33" d="100"/>
        <a:sy n="33" d="100"/>
      </p:scale>
      <p:origin x="0" y="-20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5D7D83-D401-9A49-861D-A02E2788C764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36AFEF-5B50-AD45-8E89-F62EC9932D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522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7646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2376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2036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8702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05788-DAC8-78A2-BFFB-4CE026249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F86F2E-4CF5-0C0E-1E7F-838A613FE6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0127FB-CBCB-5625-A8F1-DC0546DD6E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036F35-92E2-EA9C-69F4-912CE956A5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3D110-B33C-3E49-B5DC-7F1369944E6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1097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8F638-606D-A22E-8F9F-A4A6D858ED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3285779"/>
            <a:ext cx="11391065" cy="89358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4BAB1-A261-2102-CEA9-063F697A42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4553849"/>
            <a:ext cx="11391065" cy="1655762"/>
          </a:xfrm>
        </p:spPr>
        <p:txBody>
          <a:bodyPr/>
          <a:lstStyle>
            <a:lvl1pPr marL="0" indent="0">
              <a:buNone/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920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44444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444445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444445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444445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444445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444445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527564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25796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074577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7171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171717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171717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171717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171717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171717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214538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1015876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034067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40C5A8-72D0-4B08-8FDA-49B8D1F9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514"/>
            <a:ext cx="10515600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E5D9C3-E281-4B14-8306-28D6CE33E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515600" cy="4842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544841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007EE5"/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1183154"/>
            <a:ext cx="11391065" cy="893580"/>
          </a:xfrm>
        </p:spPr>
        <p:txBody>
          <a:bodyPr>
            <a:normAutofit/>
          </a:bodyPr>
          <a:lstStyle/>
          <a:p>
            <a:r>
              <a:rPr lang="en-US" b="1" dirty="0"/>
              <a:t>Advanced Files: </a:t>
            </a:r>
            <a:r>
              <a:rPr lang="en-US" dirty="0"/>
              <a:t>CSVs and Modules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2076734"/>
            <a:ext cx="11391065" cy="1655762"/>
          </a:xfrm>
        </p:spPr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11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1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11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1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D30889-C360-9014-F30F-118C7EDBA086}"/>
              </a:ext>
            </a:extLst>
          </p:cNvPr>
          <p:cNvSpPr txBox="1"/>
          <p:nvPr/>
        </p:nvSpPr>
        <p:spPr>
          <a:xfrm>
            <a:off x="335946" y="4781266"/>
            <a:ext cx="11609620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CC99FF"/>
                </a:solidFill>
              </a:rPr>
              <a:t>While waiting, unzip the .zip file for today’s lecture, open that folder and the notebook inside.</a:t>
            </a:r>
            <a:endParaRPr lang="en-US" sz="1600" b="1" dirty="0">
              <a:solidFill>
                <a:srgbClr val="CC99FF"/>
              </a:solidFill>
            </a:endParaRPr>
          </a:p>
          <a:p>
            <a:r>
              <a:rPr lang="en-US" sz="1600" b="1" dirty="0">
                <a:solidFill>
                  <a:srgbClr val="CC99FF"/>
                </a:solidFill>
              </a:rPr>
              <a:t>Upcoming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Lab 7 due this Friday 11:59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Reflection 11 Released Friday 6:00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Tutorial (in-person </a:t>
            </a:r>
            <a:r>
              <a:rPr lang="en-US" sz="1600" b="1" dirty="0">
                <a:solidFill>
                  <a:srgbClr val="66FF99"/>
                </a:solidFill>
              </a:rPr>
              <a:t>AND</a:t>
            </a:r>
            <a:r>
              <a:rPr lang="en-US" sz="1600" dirty="0">
                <a:solidFill>
                  <a:srgbClr val="66FF99"/>
                </a:solidFill>
              </a:rPr>
              <a:t> online)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Practical sessions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Office Hours (in-person </a:t>
            </a:r>
            <a:r>
              <a:rPr lang="en-US" sz="1600" b="1" dirty="0">
                <a:solidFill>
                  <a:srgbClr val="66FF99"/>
                </a:solidFill>
              </a:rPr>
              <a:t>AND</a:t>
            </a:r>
            <a:r>
              <a:rPr lang="en-US" sz="1600" dirty="0">
                <a:solidFill>
                  <a:srgbClr val="66FF99"/>
                </a:solidFill>
              </a:rPr>
              <a:t> online) running all week</a:t>
            </a:r>
            <a:endParaRPr lang="en-US" sz="1600" dirty="0">
              <a:solidFill>
                <a:srgbClr val="CC99FF"/>
              </a:solidFill>
            </a:endParaRPr>
          </a:p>
        </p:txBody>
      </p:sp>
      <p:pic>
        <p:nvPicPr>
          <p:cNvPr id="7" name="Picture 6" descr="A cartoon of a person eating at a table&#10;&#10;AI-generated content may be incorrect.">
            <a:extLst>
              <a:ext uri="{FF2B5EF4-FFF2-40B4-BE49-F238E27FC236}">
                <a16:creationId xmlns:a16="http://schemas.microsoft.com/office/drawing/2014/main" id="{70008D23-1282-BFB7-B405-53097B8324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3212" y="2120900"/>
            <a:ext cx="6273800" cy="261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0643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9A57B-21DC-4557-9D2E-36BBF1E92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This Week</a:t>
            </a:r>
            <a:r>
              <a:rPr lang="en-US" b="1" dirty="0">
                <a:solidFill>
                  <a:schemeClr val="accent1"/>
                </a:solidFill>
              </a:rPr>
              <a:t>’</a:t>
            </a:r>
            <a:r>
              <a:rPr lang="en-US" b="1" dirty="0"/>
              <a:t>s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50049-8F6C-4DF3-BA59-31343B218C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105" y="1903610"/>
            <a:ext cx="6993835" cy="3766793"/>
          </a:xfrm>
        </p:spPr>
        <p:txBody>
          <a:bodyPr>
            <a:normAutofit/>
          </a:bodyPr>
          <a:lstStyle/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11.1</a:t>
            </a:r>
          </a:p>
          <a:p>
            <a:pPr lvl="1"/>
            <a:r>
              <a:rPr lang="en-US" dirty="0"/>
              <a:t>More OOP! Encapsulation and Examples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11.2</a:t>
            </a:r>
          </a:p>
          <a:p>
            <a:pPr lvl="1"/>
            <a:r>
              <a:rPr lang="en-US" b="1" dirty="0"/>
              <a:t>Advanced Files, CSVs, and Modules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11.3 </a:t>
            </a:r>
          </a:p>
          <a:p>
            <a:pPr lvl="1"/>
            <a:r>
              <a:rPr lang="en-US" dirty="0"/>
              <a:t>Design Problem</a:t>
            </a:r>
          </a:p>
        </p:txBody>
      </p:sp>
      <p:pic>
        <p:nvPicPr>
          <p:cNvPr id="6" name="Picture 5" descr="A cat holding a steering wheel&#10;&#10;AI-generated content may be incorrect.">
            <a:extLst>
              <a:ext uri="{FF2B5EF4-FFF2-40B4-BE49-F238E27FC236}">
                <a16:creationId xmlns:a16="http://schemas.microsoft.com/office/drawing/2014/main" id="{C3BF9335-E5CE-1B36-4EC6-9D53ABEB18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8940" y="2065622"/>
            <a:ext cx="4165877" cy="2726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282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”Writing to Files” Recipe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0FF35E-4A45-2149-8375-84C4CBF5E77F}"/>
              </a:ext>
            </a:extLst>
          </p:cNvPr>
          <p:cNvSpPr/>
          <p:nvPr/>
        </p:nvSpPr>
        <p:spPr>
          <a:xfrm>
            <a:off x="1535713" y="2255209"/>
            <a:ext cx="641113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open/create a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4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open("grades.txt", "w")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4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4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write to a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myfile.write</a:t>
            </a:r>
            <a:r>
              <a:rPr lang="en-US" sz="24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(’string’)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4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4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close the file    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myfile.close</a:t>
            </a:r>
            <a:r>
              <a:rPr lang="en-US" sz="24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  <a:endParaRPr lang="sv-SE" sz="2400" b="1" dirty="0">
              <a:solidFill>
                <a:srgbClr val="00B0F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379AA0B-9B01-A344-A95F-BB77AC0B08E9}"/>
              </a:ext>
            </a:extLst>
          </p:cNvPr>
          <p:cNvCxnSpPr/>
          <p:nvPr/>
        </p:nvCxnSpPr>
        <p:spPr bwMode="auto">
          <a:xfrm flipH="1">
            <a:off x="857250" y="2562986"/>
            <a:ext cx="533400" cy="0"/>
          </a:xfrm>
          <a:prstGeom prst="line">
            <a:avLst/>
          </a:prstGeom>
          <a:noFill/>
          <a:ln w="28575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3CFEB30-4335-124F-A699-57617E2D9586}"/>
              </a:ext>
            </a:extLst>
          </p:cNvPr>
          <p:cNvCxnSpPr>
            <a:cxnSpLocks/>
          </p:cNvCxnSpPr>
          <p:nvPr/>
        </p:nvCxnSpPr>
        <p:spPr bwMode="auto">
          <a:xfrm>
            <a:off x="857250" y="2562986"/>
            <a:ext cx="0" cy="2880450"/>
          </a:xfrm>
          <a:prstGeom prst="line">
            <a:avLst/>
          </a:prstGeom>
          <a:noFill/>
          <a:ln w="28575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0E7681-6B70-3948-9FE7-F632B9A4B12C}"/>
              </a:ext>
            </a:extLst>
          </p:cNvPr>
          <p:cNvCxnSpPr/>
          <p:nvPr/>
        </p:nvCxnSpPr>
        <p:spPr bwMode="auto">
          <a:xfrm flipH="1">
            <a:off x="857250" y="5443436"/>
            <a:ext cx="533400" cy="0"/>
          </a:xfrm>
          <a:prstGeom prst="line">
            <a:avLst/>
          </a:prstGeom>
          <a:noFill/>
          <a:ln w="28575" cap="flat" cmpd="sng" algn="ctr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6A57D9A-78A9-9040-AA12-8D654FA813A6}"/>
              </a:ext>
            </a:extLst>
          </p:cNvPr>
          <p:cNvSpPr txBox="1"/>
          <p:nvPr/>
        </p:nvSpPr>
        <p:spPr>
          <a:xfrm rot="16200000">
            <a:off x="-450182" y="3886425"/>
            <a:ext cx="2070182" cy="523220"/>
          </a:xfrm>
          <a:prstGeom prst="rect">
            <a:avLst/>
          </a:prstGeom>
          <a:noFill/>
          <a:ln>
            <a:solidFill>
              <a:srgbClr val="FFFFFF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FFFF"/>
                </a:solidFill>
              </a:rPr>
              <a:t>go together</a:t>
            </a:r>
          </a:p>
        </p:txBody>
      </p:sp>
      <p:pic>
        <p:nvPicPr>
          <p:cNvPr id="7170" name="Picture 2" descr="Final Paper due in 11 Hours | Writing humor, A writer's life, Ron burgundy  quotes">
            <a:extLst>
              <a:ext uri="{FF2B5EF4-FFF2-40B4-BE49-F238E27FC236}">
                <a16:creationId xmlns:a16="http://schemas.microsoft.com/office/drawing/2014/main" id="{F7B22A22-64A8-B242-AD87-ABC307CD56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414"/>
          <a:stretch/>
        </p:blipFill>
        <p:spPr bwMode="auto">
          <a:xfrm>
            <a:off x="7946843" y="1555768"/>
            <a:ext cx="3889323" cy="2014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384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Writing to Files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How would we store a dictionary data structure in a file?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0FF35E-4A45-2149-8375-84C4CBF5E77F}"/>
              </a:ext>
            </a:extLst>
          </p:cNvPr>
          <p:cNvSpPr/>
          <p:nvPr/>
        </p:nvSpPr>
        <p:spPr>
          <a:xfrm>
            <a:off x="360730" y="2652611"/>
            <a:ext cx="9711958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students = {‘Kendrick': 'A+', ‘Dre': 'C-', ‘Snoop': 'B'} 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create a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open("grades.txt", "w")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store dictionary items to the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for student in students: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</a:t>
            </a: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myfile.write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(student + ',' + students[student] + '\n')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00B0F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close the file    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myfile.close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  <a:endParaRPr lang="sv-SE" sz="2000" b="1" dirty="0">
              <a:solidFill>
                <a:srgbClr val="00B0F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01D33C5-D340-214D-8C90-BF06DA0D4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1955" y="2652611"/>
            <a:ext cx="3594100" cy="32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707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Let’s take a look at how this works in Python!</a:t>
            </a:r>
          </a:p>
          <a:p>
            <a:pPr lvl="1"/>
            <a:r>
              <a:rPr lang="en-CA" dirty="0"/>
              <a:t>Using a loop to write a dictionary to file</a:t>
            </a:r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1. Writing a dictionary to file</a:t>
            </a:r>
          </a:p>
        </p:txBody>
      </p:sp>
    </p:spTree>
    <p:extLst>
      <p:ext uri="{BB962C8B-B14F-4D97-AF65-F5344CB8AC3E}">
        <p14:creationId xmlns:p14="http://schemas.microsoft.com/office/powerpoint/2010/main" val="27103787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Different ways of Reading a File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 fontScale="92500" lnSpcReduction="10000"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Reading a file is similar to writing a file. First we need to open a file for reading (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“r”</a:t>
            </a:r>
            <a:r>
              <a:rPr lang="en-US" dirty="0"/>
              <a:t>):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If file doesn’t exist? </a:t>
            </a:r>
            <a:r>
              <a:rPr lang="en-US" dirty="0">
                <a:solidFill>
                  <a:srgbClr val="FF0000"/>
                </a:solidFill>
              </a:rPr>
              <a:t>ERROR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Then to read a file we apply one of the following approaches which take advantage of various read methods:</a:t>
            </a:r>
          </a:p>
          <a:p>
            <a:pPr marL="1657350" lvl="3" indent="-514350">
              <a:spcBef>
                <a:spcPct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US" dirty="0"/>
              <a:t>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en-US" dirty="0"/>
              <a:t> approach</a:t>
            </a:r>
          </a:p>
          <a:p>
            <a:pPr marL="1657350" lvl="3" indent="-514350">
              <a:spcBef>
                <a:spcPct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US" dirty="0"/>
              <a:t>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readline</a:t>
            </a:r>
            <a:r>
              <a:rPr lang="en-US" dirty="0"/>
              <a:t> approach</a:t>
            </a:r>
          </a:p>
          <a:p>
            <a:pPr marL="1657350" lvl="3" indent="-514350">
              <a:spcBef>
                <a:spcPct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US" dirty="0"/>
              <a:t>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line in file </a:t>
            </a:r>
            <a:r>
              <a:rPr lang="en-US" dirty="0"/>
              <a:t>approach</a:t>
            </a:r>
          </a:p>
          <a:p>
            <a:pPr marL="1657350" lvl="3" indent="-514350">
              <a:spcBef>
                <a:spcPct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US" dirty="0"/>
              <a:t>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readlines</a:t>
            </a:r>
            <a:r>
              <a:rPr lang="en-US" dirty="0"/>
              <a:t> approach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13" name="object 4">
            <a:extLst>
              <a:ext uri="{FF2B5EF4-FFF2-40B4-BE49-F238E27FC236}">
                <a16:creationId xmlns:a16="http://schemas.microsoft.com/office/drawing/2014/main" id="{52D1E3B6-E39E-D841-A944-7DF0BD96DED0}"/>
              </a:ext>
            </a:extLst>
          </p:cNvPr>
          <p:cNvSpPr txBox="1"/>
          <p:nvPr/>
        </p:nvSpPr>
        <p:spPr>
          <a:xfrm>
            <a:off x="1910861" y="2471672"/>
            <a:ext cx="8763001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lang="en-US" sz="3600" spc="-5" dirty="0" err="1">
                <a:solidFill>
                  <a:srgbClr val="00FF00"/>
                </a:solidFill>
                <a:latin typeface="Courier New"/>
                <a:cs typeface="Courier New"/>
              </a:rPr>
              <a:t>myfile</a:t>
            </a:r>
            <a:r>
              <a:rPr lang="en-US" sz="3600" spc="-5" dirty="0">
                <a:solidFill>
                  <a:srgbClr val="00FF00"/>
                </a:solidFill>
                <a:latin typeface="Courier New"/>
                <a:cs typeface="Courier New"/>
              </a:rPr>
              <a:t> = open(‘</a:t>
            </a:r>
            <a:r>
              <a:rPr lang="en-US" sz="3600" spc="-5" dirty="0" err="1">
                <a:solidFill>
                  <a:srgbClr val="00FF00"/>
                </a:solidFill>
                <a:latin typeface="Courier New"/>
                <a:cs typeface="Courier New"/>
              </a:rPr>
              <a:t>test.txt</a:t>
            </a:r>
            <a:r>
              <a:rPr lang="en-US" sz="3600" spc="-5" dirty="0">
                <a:solidFill>
                  <a:srgbClr val="00FF00"/>
                </a:solidFill>
                <a:latin typeface="Courier New"/>
                <a:cs typeface="Courier New"/>
              </a:rPr>
              <a:t>’, </a:t>
            </a:r>
            <a:r>
              <a:rPr lang="en-US" sz="3600" spc="-5" dirty="0">
                <a:solidFill>
                  <a:schemeClr val="accent6"/>
                </a:solidFill>
                <a:latin typeface="Courier New"/>
                <a:cs typeface="Courier New"/>
              </a:rPr>
              <a:t>‘r’</a:t>
            </a:r>
            <a:r>
              <a:rPr lang="en-US" sz="3600" spc="-5" dirty="0">
                <a:solidFill>
                  <a:srgbClr val="00FF00"/>
                </a:solidFill>
                <a:latin typeface="Courier New"/>
                <a:cs typeface="Courier New"/>
              </a:rPr>
              <a:t>)</a:t>
            </a:r>
            <a:endParaRPr sz="3600" dirty="0">
              <a:solidFill>
                <a:srgbClr val="00FF00"/>
              </a:solidFill>
              <a:latin typeface="Courier New"/>
              <a:cs typeface="Courier New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0596DF-A5C0-3A4D-8DAC-5BC81AB0CA43}"/>
              </a:ext>
            </a:extLst>
          </p:cNvPr>
          <p:cNvSpPr txBox="1"/>
          <p:nvPr/>
        </p:nvSpPr>
        <p:spPr>
          <a:xfrm>
            <a:off x="7543801" y="4722357"/>
            <a:ext cx="31300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</a:rPr>
              <a:t>No correct approach!</a:t>
            </a:r>
          </a:p>
          <a:p>
            <a:r>
              <a:rPr lang="en-US" dirty="0">
                <a:solidFill>
                  <a:srgbClr val="FFFF00"/>
                </a:solidFill>
              </a:rPr>
              <a:t>Multiple methods to help with contexts and purposes</a:t>
            </a:r>
          </a:p>
        </p:txBody>
      </p:sp>
    </p:spTree>
    <p:extLst>
      <p:ext uri="{BB962C8B-B14F-4D97-AF65-F5344CB8AC3E}">
        <p14:creationId xmlns:p14="http://schemas.microsoft.com/office/powerpoint/2010/main" val="222164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Different ways of Reading a File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658FBE8-A4CC-D040-B901-16DD3E0945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2297941"/>
              </p:ext>
            </p:extLst>
          </p:nvPr>
        </p:nvGraphicFramePr>
        <p:xfrm>
          <a:off x="206394" y="1487804"/>
          <a:ext cx="10241280" cy="51409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3454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267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690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Approach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Code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to use it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The read approach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 = open(filename, 'r')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contents = </a:t>
                      </a: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myfile.read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myfile.close()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Courier New" panose="02070309020205020404" pitchFamily="49" charset="0"/>
                        <a:ea typeface="MS Mincho" panose="02020609040205080304" pitchFamily="49" charset="-128"/>
                        <a:cs typeface="Courier New" panose="02070309020205020404" pitchFamily="49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you want to read the whole file at once and use it as a single string.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The </a:t>
                      </a:r>
                      <a:r>
                        <a:rPr lang="en-US" sz="1600" dirty="0" err="1">
                          <a:effectLst/>
                        </a:rPr>
                        <a:t>readline</a:t>
                      </a:r>
                      <a:r>
                        <a:rPr lang="en-US" sz="1600" dirty="0">
                          <a:effectLst/>
                        </a:rPr>
                        <a:t> approach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 = open(filename, 'r')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contents = ''</a:t>
                      </a:r>
                      <a:b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line = </a:t>
                      </a: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myfile.readline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while line != '':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    contents += line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    line = </a:t>
                      </a: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myfile.readline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  <a:b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</a:b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myfile.close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Courier New" panose="02070309020205020404" pitchFamily="49" charset="0"/>
                        <a:ea typeface="MS Mincho" panose="02020609040205080304" pitchFamily="49" charset="-128"/>
                        <a:cs typeface="Courier New" panose="02070309020205020404" pitchFamily="49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you want to process only part of a file. Each time through the loop line contains one line of the file.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The for line in file approach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 = open(filename, 'r')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contents = ''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for line in myfile:</a:t>
                      </a:r>
                      <a:b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    contents += line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myfile.close()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Courier New" panose="02070309020205020404" pitchFamily="49" charset="0"/>
                        <a:ea typeface="MS Mincho" panose="02020609040205080304" pitchFamily="49" charset="-128"/>
                        <a:cs typeface="Courier New" panose="02070309020205020404" pitchFamily="49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you want to process every line in the file one at a time.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The </a:t>
                      </a:r>
                      <a:r>
                        <a:rPr lang="en-US" sz="1600" dirty="0" err="1">
                          <a:effectLst/>
                        </a:rPr>
                        <a:t>readlines</a:t>
                      </a:r>
                      <a:r>
                        <a:rPr lang="en-US" sz="1600" dirty="0">
                          <a:effectLst/>
                        </a:rPr>
                        <a:t> approach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 = open(filename, 'r')</a:t>
                      </a:r>
                      <a:b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</a:b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lines = </a:t>
                      </a:r>
                      <a:r>
                        <a:rPr lang="en-US" sz="1600" dirty="0" err="1">
                          <a:solidFill>
                            <a:srgbClr val="0070C0"/>
                          </a:solidFill>
                          <a:effectLst/>
                        </a:rPr>
                        <a:t>myfile.readlines</a:t>
                      </a: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()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solidFill>
                            <a:srgbClr val="0070C0"/>
                          </a:solidFill>
                          <a:effectLst/>
                        </a:rPr>
                        <a:t>myfile.close()</a:t>
                      </a:r>
                      <a:endParaRPr lang="en-US" sz="1600" dirty="0">
                        <a:solidFill>
                          <a:srgbClr val="0070C0"/>
                        </a:solidFill>
                        <a:effectLst/>
                        <a:latin typeface="Courier New" panose="02070309020205020404" pitchFamily="49" charset="0"/>
                        <a:ea typeface="MS Mincho" panose="02020609040205080304" pitchFamily="49" charset="-128"/>
                        <a:cs typeface="Courier New" panose="02070309020205020404" pitchFamily="49" charset="0"/>
                      </a:endParaRPr>
                    </a:p>
                  </a:txBody>
                  <a:tcPr marL="50800" marR="50800" marT="50800" marB="50800"/>
                </a:tc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600" dirty="0">
                          <a:effectLst/>
                        </a:rPr>
                        <a:t>When you want to examine each line of a file by index.</a:t>
                      </a:r>
                      <a:endParaRPr lang="en-US" sz="16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MS Mincho" panose="02020609040205080304" pitchFamily="49" charset="-128"/>
                      </a:endParaRPr>
                    </a:p>
                  </a:txBody>
                  <a:tcPr marL="50800" marR="50800" marT="50800" marB="508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Right Brace 2">
            <a:extLst>
              <a:ext uri="{FF2B5EF4-FFF2-40B4-BE49-F238E27FC236}">
                <a16:creationId xmlns:a16="http://schemas.microsoft.com/office/drawing/2014/main" id="{D5B38CC2-7422-3308-8D1D-A14310F8C6EB}"/>
              </a:ext>
            </a:extLst>
          </p:cNvPr>
          <p:cNvSpPr/>
          <p:nvPr/>
        </p:nvSpPr>
        <p:spPr>
          <a:xfrm>
            <a:off x="10571635" y="4588317"/>
            <a:ext cx="609600" cy="1804354"/>
          </a:xfrm>
          <a:prstGeom prst="rightBrace">
            <a:avLst/>
          </a:prstGeom>
          <a:ln w="57150">
            <a:solidFill>
              <a:srgbClr val="00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4F834529-3EC7-6B01-EB6C-B87FA29C4E50}"/>
              </a:ext>
            </a:extLst>
          </p:cNvPr>
          <p:cNvSpPr/>
          <p:nvPr/>
        </p:nvSpPr>
        <p:spPr>
          <a:xfrm>
            <a:off x="10568479" y="2083812"/>
            <a:ext cx="609600" cy="1804354"/>
          </a:xfrm>
          <a:prstGeom prst="rightBrace">
            <a:avLst/>
          </a:prstGeom>
          <a:ln w="5715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139245-FC95-FB47-5A5F-4EE33C86EAA3}"/>
              </a:ext>
            </a:extLst>
          </p:cNvPr>
          <p:cNvSpPr txBox="1"/>
          <p:nvPr/>
        </p:nvSpPr>
        <p:spPr>
          <a:xfrm rot="5400000">
            <a:off x="10910947" y="5228884"/>
            <a:ext cx="1357166" cy="5232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CA" sz="2800" b="1" dirty="0"/>
              <a:t>TODAY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90EDD4-C7B1-960F-39C6-CE11A8B3D3E0}"/>
              </a:ext>
            </a:extLst>
          </p:cNvPr>
          <p:cNvSpPr txBox="1"/>
          <p:nvPr/>
        </p:nvSpPr>
        <p:spPr>
          <a:xfrm rot="5400000">
            <a:off x="10856798" y="2724379"/>
            <a:ext cx="1465466" cy="5232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CA" sz="2800" b="1" dirty="0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648069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Reading a File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Now that we have a file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grades.txt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dirty="0"/>
              <a:t> stored. How would we go about retrieving and storing the data into a dictionary?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2982C0-93BB-D64D-B7E6-207DEC7D393E}"/>
              </a:ext>
            </a:extLst>
          </p:cNvPr>
          <p:cNvSpPr/>
          <p:nvPr/>
        </p:nvSpPr>
        <p:spPr>
          <a:xfrm>
            <a:off x="838200" y="2487466"/>
            <a:ext cx="6632575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students = {}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open("grades.txt", "r")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read each line of the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for line in </a:t>
            </a: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# find indices for slicing each line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ind1 = </a:t>
            </a: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line.find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(',')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ind2 = </a:t>
            </a: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line.find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('\\')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name = line[:ind1]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grade = line[ind1+1:ind2]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students[name] = grade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b="1" dirty="0">
              <a:solidFill>
                <a:srgbClr val="00B0F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myfile.close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  <a:endParaRPr lang="sv-SE" sz="2000" b="1" dirty="0">
              <a:solidFill>
                <a:srgbClr val="00B0F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0F0B9C-1EA8-1648-9897-5032F7B13528}"/>
              </a:ext>
            </a:extLst>
          </p:cNvPr>
          <p:cNvSpPr/>
          <p:nvPr/>
        </p:nvSpPr>
        <p:spPr>
          <a:xfrm>
            <a:off x="9441257" y="2981623"/>
            <a:ext cx="2526907" cy="923330"/>
          </a:xfrm>
          <a:prstGeom prst="rect">
            <a:avLst/>
          </a:prstGeom>
          <a:ln>
            <a:solidFill>
              <a:srgbClr val="00FF00"/>
            </a:solidFill>
          </a:ln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Kendrick,A</a:t>
            </a:r>
            <a:r>
              <a:rPr lang="en-US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</a:p>
          <a:p>
            <a:r>
              <a:rPr lang="en-US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Dre,C</a:t>
            </a:r>
            <a:r>
              <a:rPr lang="en-US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</a:p>
          <a:p>
            <a:r>
              <a:rPr lang="en-US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Snoop,B</a:t>
            </a:r>
            <a:endParaRPr lang="en-US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5E1DC2-B9E5-CE4F-8E8B-89C613780E79}"/>
              </a:ext>
            </a:extLst>
          </p:cNvPr>
          <p:cNvSpPr txBox="1"/>
          <p:nvPr/>
        </p:nvSpPr>
        <p:spPr>
          <a:xfrm>
            <a:off x="10285838" y="2553227"/>
            <a:ext cx="1188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FF00"/>
                </a:solidFill>
              </a:rPr>
              <a:t>grades.txt</a:t>
            </a: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9ED4B4E-1218-3140-A269-F7FB9A64535A}"/>
              </a:ext>
            </a:extLst>
          </p:cNvPr>
          <p:cNvSpPr/>
          <p:nvPr/>
        </p:nvSpPr>
        <p:spPr>
          <a:xfrm>
            <a:off x="7622596" y="5807320"/>
            <a:ext cx="434556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</a:rPr>
              <a:t>&gt;&gt;&gt; students</a:t>
            </a:r>
          </a:p>
          <a:p>
            <a:r>
              <a:rPr lang="en-US" b="1" dirty="0">
                <a:solidFill>
                  <a:srgbClr val="00FF00"/>
                </a:solidFill>
              </a:rPr>
              <a:t>{‘Kendrick’: A+, ‘Dre': 'C-', ‘Snoop': ‘B'}</a:t>
            </a:r>
          </a:p>
        </p:txBody>
      </p:sp>
    </p:spTree>
    <p:extLst>
      <p:ext uri="{BB962C8B-B14F-4D97-AF65-F5344CB8AC3E}">
        <p14:creationId xmlns:p14="http://schemas.microsoft.com/office/powerpoint/2010/main" val="659233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Let’s take a look at how this works in Python!</a:t>
            </a:r>
          </a:p>
          <a:p>
            <a:pPr lvl="1"/>
            <a:r>
              <a:rPr lang="en-CA" dirty="0"/>
              <a:t>Different read approaches</a:t>
            </a:r>
          </a:p>
          <a:p>
            <a:pPr lvl="2"/>
            <a:r>
              <a:rPr lang="en-CA" dirty="0"/>
              <a:t>read()</a:t>
            </a:r>
          </a:p>
          <a:p>
            <a:pPr lvl="2"/>
            <a:r>
              <a:rPr lang="en-CA" dirty="0" err="1"/>
              <a:t>readline</a:t>
            </a:r>
            <a:r>
              <a:rPr lang="en-CA" dirty="0"/>
              <a:t>()</a:t>
            </a:r>
          </a:p>
          <a:p>
            <a:pPr lvl="2"/>
            <a:r>
              <a:rPr lang="en-CA" b="1" dirty="0"/>
              <a:t>for line in file</a:t>
            </a:r>
          </a:p>
          <a:p>
            <a:pPr lvl="2"/>
            <a:r>
              <a:rPr lang="en-CA" b="1" dirty="0" err="1"/>
              <a:t>readlines</a:t>
            </a:r>
            <a:r>
              <a:rPr lang="en-CA" b="1" dirty="0"/>
              <a:t>()</a:t>
            </a:r>
          </a:p>
          <a:p>
            <a:pPr lvl="1"/>
            <a:endParaRPr lang="en-CA" dirty="0"/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2. More advanced file reading</a:t>
            </a:r>
          </a:p>
        </p:txBody>
      </p:sp>
    </p:spTree>
    <p:extLst>
      <p:ext uri="{BB962C8B-B14F-4D97-AF65-F5344CB8AC3E}">
        <p14:creationId xmlns:p14="http://schemas.microsoft.com/office/powerpoint/2010/main" val="1517723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</a:t>
            </a:r>
            <a:r>
              <a:rPr lang="en-US" dirty="0">
                <a:solidFill>
                  <a:schemeClr val="accent6"/>
                </a:solidFill>
              </a:rPr>
              <a:t>with</a:t>
            </a:r>
            <a:r>
              <a:rPr lang="en-US" dirty="0"/>
              <a:t> Statement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Every call on function </a:t>
            </a:r>
            <a:r>
              <a:rPr lang="en-US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dirty="0"/>
              <a:t> should have an accompanying call on the method </a:t>
            </a:r>
            <a:r>
              <a:rPr lang="en-US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en-US" dirty="0"/>
              <a:t>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Python provides a statement </a:t>
            </a:r>
            <a:r>
              <a:rPr lang="en-US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en-US" dirty="0"/>
              <a:t>, which automatically closes the file when the end of with block is reached. 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 general form of a with statement is as follows: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 marL="0" indent="0">
              <a:spcBef>
                <a:spcPct val="0"/>
              </a:spcBef>
              <a:spcAft>
                <a:spcPts val="1800"/>
              </a:spcAft>
              <a:buNone/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C8B45E-FE26-6041-8680-398C82E8D702}"/>
              </a:ext>
            </a:extLst>
          </p:cNvPr>
          <p:cNvSpPr/>
          <p:nvPr/>
        </p:nvSpPr>
        <p:spPr>
          <a:xfrm>
            <a:off x="2065020" y="4353025"/>
            <a:ext cx="7239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</a:t>
            </a:r>
            <a:r>
              <a:rPr lang="en-US" sz="2400" dirty="0">
                <a:solidFill>
                  <a:srgbClr val="5B9BD5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open(filename, mode) </a:t>
            </a:r>
            <a:r>
              <a:rPr lang="en-US" sz="24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as variable: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5B9BD5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	body</a:t>
            </a:r>
          </a:p>
        </p:txBody>
      </p:sp>
    </p:spTree>
    <p:extLst>
      <p:ext uri="{BB962C8B-B14F-4D97-AF65-F5344CB8AC3E}">
        <p14:creationId xmlns:p14="http://schemas.microsoft.com/office/powerpoint/2010/main" val="17548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</a:t>
            </a:r>
            <a:r>
              <a:rPr lang="en-US" dirty="0">
                <a:solidFill>
                  <a:schemeClr val="accent6"/>
                </a:solidFill>
              </a:rPr>
              <a:t>with</a:t>
            </a:r>
            <a:r>
              <a:rPr lang="en-US" dirty="0"/>
              <a:t> Statement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Modifying the previous example, of reading a file into a dictionary, to use the </a:t>
            </a:r>
            <a:r>
              <a:rPr lang="en-US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en-US" dirty="0"/>
              <a:t> statement.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248A82-49E5-B246-8EEB-FCD379FE55E9}"/>
              </a:ext>
            </a:extLst>
          </p:cNvPr>
          <p:cNvSpPr/>
          <p:nvPr/>
        </p:nvSpPr>
        <p:spPr>
          <a:xfrm>
            <a:off x="1127740" y="2723805"/>
            <a:ext cx="6632575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students = {}</a:t>
            </a:r>
          </a:p>
          <a:p>
            <a:r>
              <a:rPr lang="en-US" sz="2000" strike="sngStrike" dirty="0" err="1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strike="sngStrike" dirty="0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open("</a:t>
            </a:r>
            <a:r>
              <a:rPr lang="en-US" sz="2000" strike="sngStrike" dirty="0" err="1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grades.txt</a:t>
            </a:r>
            <a:r>
              <a:rPr lang="en-US" sz="2000" strike="sngStrike" dirty="0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", "r")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</a:t>
            </a:r>
            <a:r>
              <a:rPr lang="en-US" sz="2000" dirty="0">
                <a:solidFill>
                  <a:srgbClr val="5B9BD5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open("grades.txt", "r") 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as </a:t>
            </a:r>
            <a:r>
              <a:rPr lang="en-US" sz="2000" b="1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# read each line of the file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for line in </a:t>
            </a:r>
            <a:r>
              <a:rPr lang="en-US" sz="2000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ind1 = </a:t>
            </a:r>
            <a:r>
              <a:rPr lang="en-US" sz="2000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line.find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(',')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ind2 = </a:t>
            </a:r>
            <a:r>
              <a:rPr lang="en-US" sz="2000" dirty="0" err="1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line.find</a:t>
            </a: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('\\')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name = line[:ind1]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grade = line[ind1+1:ind2]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B0F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students[name] = grade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5B9BD5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strike="sngStrike" dirty="0" err="1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myfile.close</a:t>
            </a:r>
            <a:r>
              <a:rPr lang="en-US" sz="2000" strike="sngStrike" dirty="0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  <a:endParaRPr lang="sv-SE" sz="2000" strike="sngStrike" dirty="0">
              <a:solidFill>
                <a:srgbClr val="FF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785522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Let’s take a look at how this works in Python!</a:t>
            </a:r>
          </a:p>
          <a:p>
            <a:pPr lvl="1"/>
            <a:r>
              <a:rPr lang="en-CA" dirty="0"/>
              <a:t>Opening and closing files with the with statement</a:t>
            </a:r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 err="1">
                <a:solidFill>
                  <a:srgbClr val="FFFFFF"/>
                </a:solidFill>
              </a:rPr>
              <a:t>Beakout</a:t>
            </a:r>
            <a:r>
              <a:rPr lang="en-US" sz="4400" b="1" dirty="0">
                <a:solidFill>
                  <a:srgbClr val="FFFFFF"/>
                </a:solidFill>
              </a:rPr>
              <a:t> Session!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3. The with statement</a:t>
            </a:r>
          </a:p>
        </p:txBody>
      </p:sp>
    </p:spTree>
    <p:extLst>
      <p:ext uri="{BB962C8B-B14F-4D97-AF65-F5344CB8AC3E}">
        <p14:creationId xmlns:p14="http://schemas.microsoft.com/office/powerpoint/2010/main" val="38535561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u="sng" dirty="0"/>
              <a:t>C</a:t>
            </a:r>
            <a:r>
              <a:rPr lang="en-US" dirty="0"/>
              <a:t>omma </a:t>
            </a:r>
            <a:r>
              <a:rPr lang="en-US" u="sng" dirty="0"/>
              <a:t>S</a:t>
            </a:r>
            <a:r>
              <a:rPr lang="en-US" dirty="0"/>
              <a:t>eparated </a:t>
            </a:r>
            <a:r>
              <a:rPr lang="en-US" u="sng" dirty="0"/>
              <a:t>V</a:t>
            </a:r>
            <a:r>
              <a:rPr lang="en-US" dirty="0"/>
              <a:t>alues files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73978"/>
            <a:ext cx="11034713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We use them often in Excel, and other spreadsheet software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Remember our old friend MS Excel?  They work with Python too…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pic>
        <p:nvPicPr>
          <p:cNvPr id="9218" name="Picture 2" descr="Understanding CSV Files in Excel | Spreadsheets Made Easy">
            <a:extLst>
              <a:ext uri="{FF2B5EF4-FFF2-40B4-BE49-F238E27FC236}">
                <a16:creationId xmlns:a16="http://schemas.microsoft.com/office/drawing/2014/main" id="{298FB030-1E93-8049-9826-0A962D42FE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3306" y="3069343"/>
            <a:ext cx="4372031" cy="3279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s your business stuck in the Excel hell? Stop it now!">
            <a:extLst>
              <a:ext uri="{FF2B5EF4-FFF2-40B4-BE49-F238E27FC236}">
                <a16:creationId xmlns:a16="http://schemas.microsoft.com/office/drawing/2014/main" id="{274D0EB2-4E87-B1A2-0263-07956899F2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445" y="3310533"/>
            <a:ext cx="5048250" cy="2796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6939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CSV Files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Text data is commonly organized in a spreadsheet format using columns and rows.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A common way to do this is to use a comma-separated value (CSV) file format that uses commas to separate data items, called fields.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pic>
        <p:nvPicPr>
          <p:cNvPr id="4" name="Picture 3" descr="Table&#10;&#10;Description automatically generated">
            <a:extLst>
              <a:ext uri="{FF2B5EF4-FFF2-40B4-BE49-F238E27FC236}">
                <a16:creationId xmlns:a16="http://schemas.microsoft.com/office/drawing/2014/main" id="{976ACDBF-CC1E-1F4F-A058-E6CEA22501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429" y="4339472"/>
            <a:ext cx="3416300" cy="1689100"/>
          </a:xfrm>
          <a:prstGeom prst="rect">
            <a:avLst/>
          </a:prstGeom>
        </p:spPr>
      </p:pic>
      <p:pic>
        <p:nvPicPr>
          <p:cNvPr id="10" name="Picture 9" descr="Text&#10;&#10;Description automatically generated">
            <a:extLst>
              <a:ext uri="{FF2B5EF4-FFF2-40B4-BE49-F238E27FC236}">
                <a16:creationId xmlns:a16="http://schemas.microsoft.com/office/drawing/2014/main" id="{2B87D60E-EABF-D64D-B71C-5FA0CBE8FF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958" y="3321629"/>
            <a:ext cx="4760054" cy="3950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2878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Opening a CSV File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>
                <a:ea typeface="Times New Roman" panose="02020603050405020304" pitchFamily="18" charset="0"/>
              </a:rPr>
              <a:t>Let’s see what happens when we try to read the CSV file, </a:t>
            </a:r>
            <a:r>
              <a:rPr lang="en-US" dirty="0">
                <a:latin typeface="Courier New" panose="02070309020205020404" pitchFamily="49" charset="0"/>
                <a:ea typeface="MS Mincho" panose="02020609040205080304" pitchFamily="49" charset="-128"/>
                <a:cs typeface="Courier New" panose="02070309020205020404" pitchFamily="49" charset="0"/>
              </a:rPr>
              <a:t>'</a:t>
            </a:r>
            <a:r>
              <a:rPr lang="en-US" dirty="0" err="1">
                <a:latin typeface="Courier New" panose="02070309020205020404" pitchFamily="49" charset="0"/>
                <a:ea typeface="MS Mincho" panose="02020609040205080304" pitchFamily="49" charset="-128"/>
                <a:cs typeface="Courier New" panose="02070309020205020404" pitchFamily="49" charset="0"/>
              </a:rPr>
              <a:t>grades.csv</a:t>
            </a:r>
            <a:r>
              <a:rPr lang="en-US" dirty="0">
                <a:latin typeface="Courier New" panose="02070309020205020404" pitchFamily="49" charset="0"/>
                <a:ea typeface="MS Mincho" panose="02020609040205080304" pitchFamily="49" charset="-128"/>
                <a:cs typeface="Courier New" panose="02070309020205020404" pitchFamily="49" charset="0"/>
              </a:rPr>
              <a:t>'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 </a:t>
            </a:r>
            <a:r>
              <a:rPr lang="en-US" dirty="0">
                <a:ea typeface="Times New Roman" panose="02020603050405020304" pitchFamily="18" charset="0"/>
              </a:rPr>
              <a:t>using the file reading techniques discussed earlier.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How can we use this to obtain column and row information?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AB240B-9BFE-ED44-89AD-71EB850FDB24}"/>
              </a:ext>
            </a:extLst>
          </p:cNvPr>
          <p:cNvSpPr/>
          <p:nvPr/>
        </p:nvSpPr>
        <p:spPr>
          <a:xfrm>
            <a:off x="255815" y="3276109"/>
            <a:ext cx="12121242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 open('grades.csv', 'r') as file: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contents =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file.read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&gt;&gt;&gt; contents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'Name,Test1,Test2,Final\nKendrick,100,50,29\nDre,76,32,33\nSnoop,25,75,95\n'</a:t>
            </a:r>
          </a:p>
        </p:txBody>
      </p:sp>
    </p:spTree>
    <p:extLst>
      <p:ext uri="{BB962C8B-B14F-4D97-AF65-F5344CB8AC3E}">
        <p14:creationId xmlns:p14="http://schemas.microsoft.com/office/powerpoint/2010/main" val="6220506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Reading CSV Files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975" y="1716841"/>
            <a:ext cx="859155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 CSV module is a powerful solution developed for working with CSV files.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Reading of CSV files is done using the CSV reader. You can construct a reader object using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which takes the file object as input.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 reader object can be used to iterate through the contents of the CSV file, similarly to how a file object was used to iterate through the contents in a text file.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pic>
        <p:nvPicPr>
          <p:cNvPr id="8194" name="Picture 2" descr="csv reader - Imgflip">
            <a:extLst>
              <a:ext uri="{FF2B5EF4-FFF2-40B4-BE49-F238E27FC236}">
                <a16:creationId xmlns:a16="http://schemas.microsoft.com/office/drawing/2014/main" id="{CA7C869A-7B81-F64F-A0EA-E00C919D0B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2090" y="2514600"/>
            <a:ext cx="3168935" cy="2378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9025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Reading a CSV File (open/close)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2759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Read each row of a CSV file using open/close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7B6835-209F-2F44-B6E3-2F5D5377A107}"/>
              </a:ext>
            </a:extLst>
          </p:cNvPr>
          <p:cNvSpPr/>
          <p:nvPr/>
        </p:nvSpPr>
        <p:spPr>
          <a:xfrm>
            <a:off x="1447800" y="1981200"/>
            <a:ext cx="7543800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import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</a:t>
            </a:r>
            <a:endParaRPr lang="en-US" sz="2000" dirty="0">
              <a:solidFill>
                <a:schemeClr val="accent6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open("grades.csv", "r")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grades_reader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csv.reader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row_num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1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for row in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grades_reader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print('Row #',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row_num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, ':', row)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row_num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+= 1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csvfile.close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1 : ['Name', 'Test1', 'Test2', 'Final']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2 : [‘Kendrick', '100', '50', '29']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3 : [‘Dre', '76', '32', '33']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4 : [‘Snoop', '25', '75', '95']</a:t>
            </a:r>
          </a:p>
        </p:txBody>
      </p:sp>
      <p:pic>
        <p:nvPicPr>
          <p:cNvPr id="8" name="Picture 2" descr="my mind on my coding my coding on my mind - snoop dogg | Meme Generator">
            <a:extLst>
              <a:ext uri="{FF2B5EF4-FFF2-40B4-BE49-F238E27FC236}">
                <a16:creationId xmlns:a16="http://schemas.microsoft.com/office/drawing/2014/main" id="{900933F3-2EBD-EB43-9DE4-11F4096F2C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74418" y="1922743"/>
            <a:ext cx="2540000" cy="2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00459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Reading a CSV File (with)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73978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Read each row of a CSV file using with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8AC732B-6D36-1247-8FEB-031331773E0A}"/>
              </a:ext>
            </a:extLst>
          </p:cNvPr>
          <p:cNvSpPr/>
          <p:nvPr/>
        </p:nvSpPr>
        <p:spPr>
          <a:xfrm>
            <a:off x="1667435" y="2416029"/>
            <a:ext cx="74676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import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</a:t>
            </a:r>
            <a:endParaRPr lang="en-US" sz="2000" dirty="0">
              <a:solidFill>
                <a:schemeClr val="accent6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 open('grades.csv', 'r') as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grades_reader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csv.reader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row_num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1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for row in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grades_reader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print('Row #',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row_num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, ':', row)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row_num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+= 1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1 : ['Name', 'Test1', 'Test2', 'Final']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2 : [‘Kendrick', '100', '50', '29']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3 : [‘Dre', '76', '32', '33']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Row # 4 : [‘Snoop', '25', '75', '95']</a:t>
            </a:r>
          </a:p>
        </p:txBody>
      </p:sp>
      <p:pic>
        <p:nvPicPr>
          <p:cNvPr id="11266" name="Picture 2" descr="my mind on my coding my coding on my mind - snoop dogg | Meme Generator">
            <a:extLst>
              <a:ext uri="{FF2B5EF4-FFF2-40B4-BE49-F238E27FC236}">
                <a16:creationId xmlns:a16="http://schemas.microsoft.com/office/drawing/2014/main" id="{B2C4E180-24F5-2A4B-A443-080982BC6A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74418" y="1922743"/>
            <a:ext cx="2540000" cy="2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2567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Writing CSV Files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2759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To write to the file we would first need to create a CSV writer object, </a:t>
            </a:r>
            <a:r>
              <a:rPr lang="en-US" dirty="0" err="1">
                <a:latin typeface="Courier New" panose="02070309020205020404" pitchFamily="49" charset="0"/>
                <a:ea typeface="MS Mincho" panose="02020609040205080304" pitchFamily="49" charset="-128"/>
                <a:cs typeface="Courier New" panose="02070309020205020404" pitchFamily="49" charset="0"/>
              </a:rPr>
              <a:t>csv.writer</a:t>
            </a:r>
            <a:r>
              <a:rPr lang="en-US" dirty="0">
                <a:latin typeface="Courier New" panose="02070309020205020404" pitchFamily="49" charset="0"/>
                <a:ea typeface="MS Mincho" panose="02020609040205080304" pitchFamily="49" charset="-128"/>
                <a:cs typeface="Courier New" panose="02070309020205020404" pitchFamily="49" charset="0"/>
              </a:rPr>
              <a:t>()</a:t>
            </a:r>
            <a:r>
              <a:rPr lang="en-US" dirty="0">
                <a:ea typeface="MS Mincho" panose="02020609040205080304" pitchFamily="49" charset="-128"/>
              </a:rPr>
              <a:t>, which similar to how we made a, </a:t>
            </a:r>
            <a:r>
              <a:rPr lang="en-US" dirty="0"/>
              <a:t>CSV reader object. 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Once the CSV writer object is created, we can use 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method to populate it with data. 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method can only write a single row to the file at a time.</a:t>
            </a: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40987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CSV Files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425" y="1383662"/>
            <a:ext cx="10515600" cy="4835479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/>
              <a:t>In </a:t>
            </a:r>
            <a:r>
              <a:rPr lang="en-US" dirty="0">
                <a:ea typeface="Times New Roman" panose="02020603050405020304" pitchFamily="18" charset="0"/>
              </a:rPr>
              <a:t>the previous grade example there were a few marking errors on the final exam and both Kendrick and Dre should have received a higher grade. Update the grades using the CSV </a:t>
            </a:r>
            <a:r>
              <a:rPr lang="en-US" dirty="0" err="1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writerow</a:t>
            </a:r>
            <a:r>
              <a:rPr lang="en-US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()</a:t>
            </a:r>
            <a:r>
              <a:rPr lang="en-US" dirty="0">
                <a:ea typeface="Times New Roman" panose="02020603050405020304" pitchFamily="18" charset="0"/>
              </a:rPr>
              <a:t>method. 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0077EB-539E-6743-9EF1-5BE0DB44084A}"/>
              </a:ext>
            </a:extLst>
          </p:cNvPr>
          <p:cNvSpPr/>
          <p:nvPr/>
        </p:nvSpPr>
        <p:spPr>
          <a:xfrm>
            <a:off x="958645" y="2881546"/>
            <a:ext cx="754380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import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</a:t>
            </a:r>
            <a:endParaRPr lang="en-US" sz="2000" dirty="0">
              <a:solidFill>
                <a:schemeClr val="accent6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 = [['Name', 'Test1', 'Test2', 'Final'],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 [‘Kendrick', '100', '50', </a:t>
            </a:r>
            <a:r>
              <a:rPr lang="en-US" sz="2000" dirty="0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'69'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],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 [‘Dre', '76', '32', </a:t>
            </a:r>
            <a:r>
              <a:rPr lang="en-US" sz="2000" dirty="0">
                <a:solidFill>
                  <a:srgbClr val="FF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'53'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],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 [‘Snoop', '25', '75', '95']]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 open('grades_new.csv', 'w') as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grades_writer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= 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csv.writer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myfile</a:t>
            </a:r>
            <a:r>
              <a:rPr lang="en-US" sz="2000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)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endParaRPr lang="en-US" sz="2000" dirty="0">
              <a:solidFill>
                <a:srgbClr val="00FF00"/>
              </a:solidFill>
              <a:latin typeface="Courier New" panose="02070309020205020404" pitchFamily="49" charset="0"/>
              <a:ea typeface="MS Mincho" panose="02020609040205080304" pitchFamily="49" charset="-128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for row in grades: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        </a:t>
            </a:r>
            <a:r>
              <a:rPr lang="en-US" sz="2000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grades_writer.</a:t>
            </a:r>
            <a:r>
              <a:rPr lang="en-US" sz="2000" dirty="0" err="1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writerow</a:t>
            </a:r>
            <a:r>
              <a:rPr lang="en-US" sz="2000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(row)</a:t>
            </a:r>
          </a:p>
        </p:txBody>
      </p:sp>
    </p:spTree>
    <p:extLst>
      <p:ext uri="{BB962C8B-B14F-4D97-AF65-F5344CB8AC3E}">
        <p14:creationId xmlns:p14="http://schemas.microsoft.com/office/powerpoint/2010/main" val="31277349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Opening CSV File in Excel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5FD1D87-9B42-1341-ACFC-DC01A7D5C7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867" y="1688266"/>
            <a:ext cx="7535846" cy="4189148"/>
          </a:xfrm>
        </p:spPr>
        <p:txBody>
          <a:bodyPr>
            <a:normAutofit fontScale="92500" lnSpcReduction="10000"/>
          </a:bodyPr>
          <a:lstStyle/>
          <a:p>
            <a:pPr>
              <a:spcBef>
                <a:spcPct val="0"/>
              </a:spcBef>
              <a:spcAft>
                <a:spcPts val="1800"/>
              </a:spcAft>
            </a:pPr>
            <a:r>
              <a:rPr lang="en-US" dirty="0"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In the previous example we created a CSV file which can be opened in any commonly used spreadsheet software (e.g. Excel).</a:t>
            </a:r>
          </a:p>
          <a:p>
            <a:pPr marL="285750" marR="0" indent="-285750"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Segoe UI" panose="020B0502040204020203" pitchFamily="34" charset="0"/>
                <a:ea typeface="MS Mincho" panose="02020609040205080304" pitchFamily="49" charset="-128"/>
                <a:cs typeface="Segoe UI" panose="020B0502040204020203" pitchFamily="34" charset="0"/>
              </a:rPr>
              <a:t>In some cases a formatting error may occur, probably due to the difference between newlines and carriage returns in Windows vs. Mac/Linux.</a:t>
            </a:r>
          </a:p>
          <a:p>
            <a:pPr marL="285750" indent="-285750"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Segoe UI" panose="020B0502040204020203" pitchFamily="34" charset="0"/>
                <a:ea typeface="MS Mincho" panose="02020609040205080304" pitchFamily="49" charset="-128"/>
                <a:cs typeface="Segoe UI" panose="020B0502040204020203" pitchFamily="34" charset="0"/>
              </a:rPr>
              <a:t>To correct this error in formatting, we will need to prevent the new line from forming. Add the parameter newline='', and that should resolve the problem.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dirty="0"/>
          </a:p>
          <a:p>
            <a:pPr>
              <a:spcBef>
                <a:spcPct val="0"/>
              </a:spcBef>
              <a:spcAft>
                <a:spcPts val="1800"/>
              </a:spcAft>
            </a:pP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33529B-55D2-4948-BBC1-BE356738D7F0}"/>
              </a:ext>
            </a:extLst>
          </p:cNvPr>
          <p:cNvSpPr/>
          <p:nvPr/>
        </p:nvSpPr>
        <p:spPr>
          <a:xfrm>
            <a:off x="2509530" y="5907137"/>
            <a:ext cx="84061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with open('grades_new.csv', 'w', 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newline=''</a:t>
            </a:r>
            <a:r>
              <a:rPr lang="en-US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) as </a:t>
            </a:r>
            <a:r>
              <a:rPr lang="en-US" dirty="0" err="1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csvfile</a:t>
            </a:r>
            <a:r>
              <a:rPr lang="en-US" dirty="0">
                <a:solidFill>
                  <a:srgbClr val="00FF00"/>
                </a:solidFill>
                <a:latin typeface="Courier New" panose="02070309020205020404" pitchFamily="49" charset="0"/>
                <a:ea typeface="MS Mincho" panose="02020609040205080304" pitchFamily="49" charset="-128"/>
              </a:rPr>
              <a:t>:</a:t>
            </a:r>
            <a:endParaRPr lang="en-US" dirty="0">
              <a:solidFill>
                <a:srgbClr val="00FF00"/>
              </a:solidFill>
              <a:effectLst/>
              <a:latin typeface="Courier New" panose="02070309020205020404" pitchFamily="49" charset="0"/>
              <a:ea typeface="MS Mincho" panose="02020609040205080304" pitchFamily="49" charset="-128"/>
            </a:endParaRPr>
          </a:p>
        </p:txBody>
      </p:sp>
      <p:pic>
        <p:nvPicPr>
          <p:cNvPr id="11" name="Picture 10" descr="Table, Excel&#10;&#10;Description automatically generated">
            <a:extLst>
              <a:ext uri="{FF2B5EF4-FFF2-40B4-BE49-F238E27FC236}">
                <a16:creationId xmlns:a16="http://schemas.microsoft.com/office/drawing/2014/main" id="{C28D93BD-2FE6-374D-9828-AB9D95DF94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7615" y="581531"/>
            <a:ext cx="4618035" cy="4037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9359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E942-D48A-CF4F-BAD4-22FE8605A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3DF1E-F240-BC41-B313-3625DDE1D9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Let’s take a look at how this works in Python!</a:t>
            </a:r>
          </a:p>
          <a:p>
            <a:pPr lvl="1"/>
            <a:r>
              <a:rPr lang="en-CA" dirty="0"/>
              <a:t>Reading and Writing to CSV Files</a:t>
            </a:r>
          </a:p>
          <a:p>
            <a:pPr lvl="1"/>
            <a:r>
              <a:rPr lang="en-CA" dirty="0"/>
              <a:t>Parsing through CSV Files</a:t>
            </a:r>
          </a:p>
          <a:p>
            <a:pPr lvl="1"/>
            <a:r>
              <a:rPr lang="en-CA" dirty="0"/>
              <a:t>Modules</a:t>
            </a:r>
          </a:p>
          <a:p>
            <a:pPr lvl="1"/>
            <a:endParaRPr lang="en-CA" dirty="0"/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9BD5FBCF-8C94-E44C-BBC9-C128207E6FA0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4. CSV Files</a:t>
            </a:r>
          </a:p>
        </p:txBody>
      </p:sp>
    </p:spTree>
    <p:extLst>
      <p:ext uri="{BB962C8B-B14F-4D97-AF65-F5344CB8AC3E}">
        <p14:creationId xmlns:p14="http://schemas.microsoft.com/office/powerpoint/2010/main" val="11330666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Summary: Reading Files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A4FD42-18B9-D748-8D23-5DFBD9678B38}"/>
              </a:ext>
            </a:extLst>
          </p:cNvPr>
          <p:cNvSpPr/>
          <p:nvPr/>
        </p:nvSpPr>
        <p:spPr>
          <a:xfrm>
            <a:off x="124954" y="1729281"/>
            <a:ext cx="3907357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FFFFFF"/>
                </a:solidFill>
              </a:rPr>
              <a:t>##############################</a:t>
            </a:r>
          </a:p>
          <a:p>
            <a:r>
              <a:rPr lang="en-US" sz="1600" dirty="0">
                <a:solidFill>
                  <a:srgbClr val="FFFFFF"/>
                </a:solidFill>
              </a:rPr>
              <a:t> reading a file using standard approach</a:t>
            </a:r>
          </a:p>
          <a:p>
            <a:r>
              <a:rPr lang="en-US" sz="1600" dirty="0">
                <a:solidFill>
                  <a:srgbClr val="FFFFFF"/>
                </a:solidFill>
              </a:rPr>
              <a:t>##############################</a:t>
            </a:r>
          </a:p>
          <a:p>
            <a:endParaRPr lang="en-US" sz="1600" dirty="0">
              <a:solidFill>
                <a:srgbClr val="FFFFFF"/>
              </a:solidFill>
            </a:endParaRPr>
          </a:p>
          <a:p>
            <a:endParaRPr lang="en-US" sz="1600" dirty="0">
              <a:solidFill>
                <a:srgbClr val="92D050"/>
              </a:solidFill>
            </a:endParaRPr>
          </a:p>
          <a:p>
            <a:r>
              <a:rPr lang="en-US" sz="1600" dirty="0">
                <a:solidFill>
                  <a:srgbClr val="92D050"/>
                </a:solidFill>
              </a:rPr>
              <a:t># open communication to a file (to read)</a:t>
            </a:r>
          </a:p>
          <a:p>
            <a:r>
              <a:rPr lang="en-US" sz="1600" dirty="0" err="1">
                <a:solidFill>
                  <a:srgbClr val="00B0F0"/>
                </a:solidFill>
              </a:rPr>
              <a:t>myfile</a:t>
            </a:r>
            <a:r>
              <a:rPr lang="en-US" sz="1600" dirty="0">
                <a:solidFill>
                  <a:srgbClr val="00B0F0"/>
                </a:solidFill>
              </a:rPr>
              <a:t> = open('grades.csv', 'r')</a:t>
            </a:r>
          </a:p>
          <a:p>
            <a:endParaRPr lang="en-US" sz="1600" dirty="0">
              <a:solidFill>
                <a:srgbClr val="92D050"/>
              </a:solidFill>
            </a:endParaRPr>
          </a:p>
          <a:p>
            <a:r>
              <a:rPr lang="en-US" sz="1600" dirty="0">
                <a:solidFill>
                  <a:srgbClr val="92D050"/>
                </a:solidFill>
              </a:rPr>
              <a:t># read from file</a:t>
            </a:r>
          </a:p>
          <a:p>
            <a:r>
              <a:rPr lang="en-US" sz="1600" dirty="0">
                <a:solidFill>
                  <a:srgbClr val="00B0F0"/>
                </a:solidFill>
              </a:rPr>
              <a:t>L = </a:t>
            </a:r>
            <a:r>
              <a:rPr lang="en-US" sz="1600" dirty="0" err="1">
                <a:solidFill>
                  <a:srgbClr val="00B0F0"/>
                </a:solidFill>
              </a:rPr>
              <a:t>myfile.readlines</a:t>
            </a:r>
            <a:r>
              <a:rPr lang="en-US" sz="1600" dirty="0">
                <a:solidFill>
                  <a:srgbClr val="00B0F0"/>
                </a:solidFill>
              </a:rPr>
              <a:t>()</a:t>
            </a:r>
          </a:p>
          <a:p>
            <a:r>
              <a:rPr lang="en-US" sz="1600" dirty="0">
                <a:solidFill>
                  <a:srgbClr val="00B0F0"/>
                </a:solidFill>
              </a:rPr>
              <a:t>for row in L:</a:t>
            </a:r>
          </a:p>
          <a:p>
            <a:r>
              <a:rPr lang="en-US" sz="1600" dirty="0">
                <a:solidFill>
                  <a:srgbClr val="00B0F0"/>
                </a:solidFill>
              </a:rPr>
              <a:t>    print(row, end = '')</a:t>
            </a:r>
          </a:p>
          <a:p>
            <a:endParaRPr lang="en-US" sz="1600" dirty="0">
              <a:solidFill>
                <a:srgbClr val="00B0F0"/>
              </a:solidFill>
            </a:endParaRPr>
          </a:p>
          <a:p>
            <a:r>
              <a:rPr lang="en-US" sz="1600" dirty="0" err="1">
                <a:solidFill>
                  <a:srgbClr val="00B0F0"/>
                </a:solidFill>
              </a:rPr>
              <a:t>myfile.close</a:t>
            </a:r>
            <a:r>
              <a:rPr lang="en-US" sz="1600" dirty="0">
                <a:solidFill>
                  <a:srgbClr val="00B0F0"/>
                </a:solidFill>
              </a:rPr>
              <a:t>()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FCC9D8-95C9-B247-924E-A8C66A17EB59}"/>
              </a:ext>
            </a:extLst>
          </p:cNvPr>
          <p:cNvSpPr/>
          <p:nvPr/>
        </p:nvSpPr>
        <p:spPr>
          <a:xfrm>
            <a:off x="4032311" y="1729281"/>
            <a:ext cx="3907357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FFFFFF"/>
                </a:solidFill>
              </a:rPr>
              <a:t>############################</a:t>
            </a:r>
          </a:p>
          <a:p>
            <a:r>
              <a:rPr lang="en-US" sz="1600" dirty="0">
                <a:solidFill>
                  <a:srgbClr val="FFFFFF"/>
                </a:solidFill>
              </a:rPr>
              <a:t>reading a file using CSV Module</a:t>
            </a:r>
          </a:p>
          <a:p>
            <a:r>
              <a:rPr lang="en-US" sz="1600" dirty="0">
                <a:solidFill>
                  <a:srgbClr val="FFFFFF"/>
                </a:solidFill>
              </a:rPr>
              <a:t>############################</a:t>
            </a:r>
          </a:p>
          <a:p>
            <a:r>
              <a:rPr lang="en-US" sz="1600" dirty="0">
                <a:solidFill>
                  <a:schemeClr val="accent6"/>
                </a:solidFill>
              </a:rPr>
              <a:t>import </a:t>
            </a:r>
            <a:r>
              <a:rPr lang="en-US" sz="1600" dirty="0" err="1">
                <a:solidFill>
                  <a:schemeClr val="accent6"/>
                </a:solidFill>
              </a:rPr>
              <a:t>csv</a:t>
            </a:r>
            <a:endParaRPr lang="en-US" sz="1600" dirty="0">
              <a:solidFill>
                <a:schemeClr val="accent6"/>
              </a:solidFill>
            </a:endParaRPr>
          </a:p>
          <a:p>
            <a:endParaRPr lang="en-US" sz="1600" dirty="0">
              <a:solidFill>
                <a:srgbClr val="92D050"/>
              </a:solidFill>
            </a:endParaRPr>
          </a:p>
          <a:p>
            <a:r>
              <a:rPr lang="en-US" sz="1600" dirty="0">
                <a:solidFill>
                  <a:srgbClr val="92D050"/>
                </a:solidFill>
              </a:rPr>
              <a:t># open communication to a file (to read)</a:t>
            </a:r>
          </a:p>
          <a:p>
            <a:r>
              <a:rPr lang="en-US" sz="1600" dirty="0" err="1">
                <a:solidFill>
                  <a:srgbClr val="00B0F0"/>
                </a:solidFill>
              </a:rPr>
              <a:t>myfile</a:t>
            </a:r>
            <a:r>
              <a:rPr lang="en-US" sz="1600" dirty="0">
                <a:solidFill>
                  <a:srgbClr val="00B0F0"/>
                </a:solidFill>
              </a:rPr>
              <a:t> = open('grades.csv', 'r')</a:t>
            </a:r>
          </a:p>
          <a:p>
            <a:endParaRPr lang="en-US" sz="1600" dirty="0">
              <a:solidFill>
                <a:srgbClr val="92D050"/>
              </a:solidFill>
            </a:endParaRPr>
          </a:p>
          <a:p>
            <a:r>
              <a:rPr lang="en-US" sz="1600" dirty="0">
                <a:solidFill>
                  <a:srgbClr val="92D050"/>
                </a:solidFill>
              </a:rPr>
              <a:t># read from file</a:t>
            </a:r>
          </a:p>
          <a:p>
            <a:r>
              <a:rPr lang="en-US" sz="1600" dirty="0" err="1">
                <a:solidFill>
                  <a:schemeClr val="accent6"/>
                </a:solidFill>
              </a:rPr>
              <a:t>csv_reader</a:t>
            </a:r>
            <a:r>
              <a:rPr lang="en-US" sz="1600" dirty="0">
                <a:solidFill>
                  <a:schemeClr val="accent6"/>
                </a:solidFill>
              </a:rPr>
              <a:t> = </a:t>
            </a:r>
            <a:r>
              <a:rPr lang="en-US" sz="1600" dirty="0" err="1">
                <a:solidFill>
                  <a:schemeClr val="accent6"/>
                </a:solidFill>
              </a:rPr>
              <a:t>csv.reader</a:t>
            </a:r>
            <a:r>
              <a:rPr lang="en-US" sz="1600" dirty="0">
                <a:solidFill>
                  <a:schemeClr val="accent6"/>
                </a:solidFill>
              </a:rPr>
              <a:t>(</a:t>
            </a:r>
            <a:r>
              <a:rPr lang="en-US" sz="1600" dirty="0" err="1">
                <a:solidFill>
                  <a:schemeClr val="accent6"/>
                </a:solidFill>
              </a:rPr>
              <a:t>myfile</a:t>
            </a:r>
            <a:r>
              <a:rPr lang="en-US" sz="1600" dirty="0">
                <a:solidFill>
                  <a:schemeClr val="accent6"/>
                </a:solidFill>
              </a:rPr>
              <a:t>)</a:t>
            </a:r>
          </a:p>
          <a:p>
            <a:r>
              <a:rPr lang="en-US" sz="1600" dirty="0">
                <a:solidFill>
                  <a:srgbClr val="00B0F0"/>
                </a:solidFill>
              </a:rPr>
              <a:t>for row in </a:t>
            </a:r>
            <a:r>
              <a:rPr lang="en-US" sz="1600" dirty="0" err="1">
                <a:solidFill>
                  <a:srgbClr val="00B0F0"/>
                </a:solidFill>
              </a:rPr>
              <a:t>csv_reader</a:t>
            </a:r>
            <a:r>
              <a:rPr lang="en-US" sz="1600" dirty="0">
                <a:solidFill>
                  <a:srgbClr val="00B0F0"/>
                </a:solidFill>
              </a:rPr>
              <a:t>:</a:t>
            </a:r>
          </a:p>
          <a:p>
            <a:r>
              <a:rPr lang="en-US" sz="1600" dirty="0">
                <a:solidFill>
                  <a:srgbClr val="00B0F0"/>
                </a:solidFill>
              </a:rPr>
              <a:t>    print(row)</a:t>
            </a:r>
          </a:p>
          <a:p>
            <a:endParaRPr lang="en-US" sz="1600" dirty="0">
              <a:solidFill>
                <a:srgbClr val="00B0F0"/>
              </a:solidFill>
            </a:endParaRPr>
          </a:p>
          <a:p>
            <a:r>
              <a:rPr lang="en-US" sz="1600" dirty="0" err="1">
                <a:solidFill>
                  <a:srgbClr val="00B0F0"/>
                </a:solidFill>
              </a:rPr>
              <a:t>myfile.close</a:t>
            </a:r>
            <a:r>
              <a:rPr lang="en-US" sz="1600" dirty="0">
                <a:solidFill>
                  <a:srgbClr val="00B0F0"/>
                </a:solidFill>
              </a:rPr>
              <a:t>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8925FA-FA37-1240-9EC5-F6A0765EE747}"/>
              </a:ext>
            </a:extLst>
          </p:cNvPr>
          <p:cNvSpPr txBox="1"/>
          <p:nvPr/>
        </p:nvSpPr>
        <p:spPr>
          <a:xfrm>
            <a:off x="1748836" y="4872981"/>
            <a:ext cx="1371600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Requires find() method to obtain data!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F11A69-AC3E-9543-B153-4173F5E2E5C0}"/>
              </a:ext>
            </a:extLst>
          </p:cNvPr>
          <p:cNvSpPr txBox="1"/>
          <p:nvPr/>
        </p:nvSpPr>
        <p:spPr>
          <a:xfrm>
            <a:off x="8902637" y="846221"/>
            <a:ext cx="19928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FF00"/>
                </a:solidFill>
              </a:rPr>
              <a:t>Requirement: “grades.csv”</a:t>
            </a:r>
          </a:p>
        </p:txBody>
      </p:sp>
      <p:pic>
        <p:nvPicPr>
          <p:cNvPr id="15" name="Picture 14" descr="Graphical user interface, application, table, Excel&#10;&#10;Description automatically generated">
            <a:extLst>
              <a:ext uri="{FF2B5EF4-FFF2-40B4-BE49-F238E27FC236}">
                <a16:creationId xmlns:a16="http://schemas.microsoft.com/office/drawing/2014/main" id="{02675811-D716-2B4B-BF67-1F90D95E6E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2197" y="1383662"/>
            <a:ext cx="4840675" cy="4500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1442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FAA8B-F3B4-7B44-B7CD-433A5271E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Summary: Writing Files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F11A69-AC3E-9543-B153-4173F5E2E5C0}"/>
              </a:ext>
            </a:extLst>
          </p:cNvPr>
          <p:cNvSpPr txBox="1"/>
          <p:nvPr/>
        </p:nvSpPr>
        <p:spPr>
          <a:xfrm>
            <a:off x="6753220" y="727514"/>
            <a:ext cx="2982355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FF00"/>
                </a:solidFill>
              </a:rPr>
              <a:t>Requirement: grades needs to be defined</a:t>
            </a:r>
          </a:p>
          <a:p>
            <a:endParaRPr lang="en-US" sz="1200" dirty="0">
              <a:solidFill>
                <a:srgbClr val="FFFF00"/>
              </a:solidFill>
            </a:endParaRPr>
          </a:p>
          <a:p>
            <a:r>
              <a:rPr lang="en-US" sz="1200" dirty="0">
                <a:solidFill>
                  <a:srgbClr val="FFFF00"/>
                </a:solidFill>
              </a:rPr>
              <a:t>grades = [['Name', 'Test1', 'Test2', 'Final'],</a:t>
            </a:r>
          </a:p>
          <a:p>
            <a:r>
              <a:rPr lang="en-US" sz="1200" dirty="0">
                <a:solidFill>
                  <a:srgbClr val="FFFF00"/>
                </a:solidFill>
              </a:rPr>
              <a:t>               [‘Kendrick', '100', '50', '69'],</a:t>
            </a:r>
          </a:p>
          <a:p>
            <a:r>
              <a:rPr lang="en-US" sz="1200" dirty="0">
                <a:solidFill>
                  <a:srgbClr val="FFFF00"/>
                </a:solidFill>
              </a:rPr>
              <a:t>               [‘Dre', '76', '32', '53'],</a:t>
            </a:r>
          </a:p>
          <a:p>
            <a:r>
              <a:rPr lang="en-US" sz="1200" dirty="0">
                <a:solidFill>
                  <a:srgbClr val="FFFF00"/>
                </a:solidFill>
              </a:rPr>
              <a:t>               [‘Snoop', '25', '75', '95']]</a:t>
            </a:r>
          </a:p>
          <a:p>
            <a:endParaRPr lang="en-US" sz="1200" dirty="0">
              <a:solidFill>
                <a:srgbClr val="FFFF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BC766E-68D8-6148-B621-15E61C028D6F}"/>
              </a:ext>
            </a:extLst>
          </p:cNvPr>
          <p:cNvSpPr/>
          <p:nvPr/>
        </p:nvSpPr>
        <p:spPr>
          <a:xfrm>
            <a:off x="838200" y="2112509"/>
            <a:ext cx="6762750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FFFFFF"/>
                </a:solidFill>
              </a:rPr>
              <a:t>#################################</a:t>
            </a:r>
          </a:p>
          <a:p>
            <a:r>
              <a:rPr lang="en-US" sz="2000" dirty="0">
                <a:solidFill>
                  <a:srgbClr val="FFFFFF"/>
                </a:solidFill>
              </a:rPr>
              <a:t>#writing to a file using standard approach</a:t>
            </a:r>
          </a:p>
          <a:p>
            <a:r>
              <a:rPr lang="en-US" sz="2000" dirty="0">
                <a:solidFill>
                  <a:srgbClr val="FFFFFF"/>
                </a:solidFill>
              </a:rPr>
              <a:t>#################################</a:t>
            </a:r>
          </a:p>
          <a:p>
            <a:endParaRPr lang="en-US" sz="2000" dirty="0">
              <a:solidFill>
                <a:srgbClr val="92D050"/>
              </a:solidFill>
            </a:endParaRPr>
          </a:p>
          <a:p>
            <a:r>
              <a:rPr lang="en-US" sz="2000" dirty="0">
                <a:solidFill>
                  <a:srgbClr val="92D050"/>
                </a:solidFill>
              </a:rPr>
              <a:t># open communication to a file (to write)</a:t>
            </a:r>
          </a:p>
          <a:p>
            <a:r>
              <a:rPr lang="en-US" sz="2000" dirty="0" err="1">
                <a:solidFill>
                  <a:srgbClr val="00B0F0"/>
                </a:solidFill>
              </a:rPr>
              <a:t>myfile</a:t>
            </a:r>
            <a:r>
              <a:rPr lang="en-US" sz="2000" dirty="0">
                <a:solidFill>
                  <a:srgbClr val="00B0F0"/>
                </a:solidFill>
              </a:rPr>
              <a:t> = open('new_grades.csv', 'w')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2000" dirty="0">
                <a:solidFill>
                  <a:srgbClr val="92D050"/>
                </a:solidFill>
              </a:rPr>
              <a:t># write to file</a:t>
            </a:r>
          </a:p>
          <a:p>
            <a:r>
              <a:rPr lang="en-US" sz="2000" dirty="0">
                <a:solidFill>
                  <a:srgbClr val="00B0F0"/>
                </a:solidFill>
              </a:rPr>
              <a:t>for row in grades:</a:t>
            </a:r>
          </a:p>
          <a:p>
            <a:r>
              <a:rPr lang="en-US" sz="2000" dirty="0">
                <a:solidFill>
                  <a:srgbClr val="00B0F0"/>
                </a:solidFill>
              </a:rPr>
              <a:t>    for col in row:</a:t>
            </a:r>
          </a:p>
          <a:p>
            <a:r>
              <a:rPr lang="en-US" sz="2000" dirty="0">
                <a:solidFill>
                  <a:srgbClr val="00B0F0"/>
                </a:solidFill>
              </a:rPr>
              <a:t>        </a:t>
            </a:r>
            <a:r>
              <a:rPr lang="en-US" sz="2000" dirty="0" err="1">
                <a:solidFill>
                  <a:srgbClr val="00B0F0"/>
                </a:solidFill>
              </a:rPr>
              <a:t>myfile.write</a:t>
            </a:r>
            <a:r>
              <a:rPr lang="en-US" sz="2000" dirty="0">
                <a:solidFill>
                  <a:srgbClr val="00B0F0"/>
                </a:solidFill>
              </a:rPr>
              <a:t>(col + ',')</a:t>
            </a:r>
          </a:p>
          <a:p>
            <a:r>
              <a:rPr lang="en-US" sz="2000" dirty="0">
                <a:solidFill>
                  <a:srgbClr val="00B0F0"/>
                </a:solidFill>
              </a:rPr>
              <a:t>    </a:t>
            </a:r>
            <a:r>
              <a:rPr lang="en-US" sz="2000" dirty="0" err="1">
                <a:solidFill>
                  <a:srgbClr val="00B0F0"/>
                </a:solidFill>
              </a:rPr>
              <a:t>myfile.write</a:t>
            </a:r>
            <a:r>
              <a:rPr lang="en-US" sz="2000" dirty="0">
                <a:solidFill>
                  <a:srgbClr val="00B0F0"/>
                </a:solidFill>
              </a:rPr>
              <a:t>('\n')</a:t>
            </a:r>
          </a:p>
          <a:p>
            <a:endParaRPr lang="en-US" sz="2000" dirty="0">
              <a:solidFill>
                <a:srgbClr val="00B0F0"/>
              </a:solidFill>
            </a:endParaRPr>
          </a:p>
          <a:p>
            <a:r>
              <a:rPr lang="en-US" sz="2000" dirty="0" err="1">
                <a:solidFill>
                  <a:srgbClr val="00B0F0"/>
                </a:solidFill>
              </a:rPr>
              <a:t>myfile.close</a:t>
            </a:r>
            <a:r>
              <a:rPr lang="en-US" sz="2000" dirty="0">
                <a:solidFill>
                  <a:srgbClr val="00B0F0"/>
                </a:solidFill>
              </a:rPr>
              <a:t>()</a:t>
            </a:r>
          </a:p>
          <a:p>
            <a:endParaRPr lang="en-US" sz="2000" dirty="0">
              <a:solidFill>
                <a:srgbClr val="0066FF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1262FF9-9732-BC46-9D94-81AAF4B2F392}"/>
              </a:ext>
            </a:extLst>
          </p:cNvPr>
          <p:cNvSpPr/>
          <p:nvPr/>
        </p:nvSpPr>
        <p:spPr>
          <a:xfrm>
            <a:off x="6753220" y="2112509"/>
            <a:ext cx="496253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FFFFFF"/>
                </a:solidFill>
              </a:rPr>
              <a:t>#############################</a:t>
            </a:r>
          </a:p>
          <a:p>
            <a:r>
              <a:rPr lang="en-US" sz="2000" dirty="0">
                <a:solidFill>
                  <a:srgbClr val="FFFFFF"/>
                </a:solidFill>
              </a:rPr>
              <a:t>#writing to a file using CSV Module</a:t>
            </a:r>
          </a:p>
          <a:p>
            <a:r>
              <a:rPr lang="en-US" sz="2000" dirty="0">
                <a:solidFill>
                  <a:srgbClr val="FFFFFF"/>
                </a:solidFill>
              </a:rPr>
              <a:t>#############################</a:t>
            </a:r>
          </a:p>
          <a:p>
            <a:r>
              <a:rPr lang="en-US" sz="2000" dirty="0">
                <a:solidFill>
                  <a:schemeClr val="accent6"/>
                </a:solidFill>
              </a:rPr>
              <a:t>import </a:t>
            </a:r>
            <a:r>
              <a:rPr lang="en-US" sz="2000" dirty="0" err="1">
                <a:solidFill>
                  <a:schemeClr val="accent6"/>
                </a:solidFill>
              </a:rPr>
              <a:t>csv</a:t>
            </a:r>
            <a:endParaRPr lang="en-US" sz="2000" dirty="0">
              <a:solidFill>
                <a:schemeClr val="accent6"/>
              </a:solidFill>
            </a:endParaRPr>
          </a:p>
          <a:p>
            <a:endParaRPr lang="en-US" sz="20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2000" dirty="0">
                <a:solidFill>
                  <a:srgbClr val="92D050"/>
                </a:solidFill>
              </a:rPr>
              <a:t># open communication to a file (to write)</a:t>
            </a:r>
          </a:p>
          <a:p>
            <a:r>
              <a:rPr lang="en-US" sz="2000" dirty="0" err="1">
                <a:solidFill>
                  <a:srgbClr val="00B0F0"/>
                </a:solidFill>
              </a:rPr>
              <a:t>myfile</a:t>
            </a:r>
            <a:r>
              <a:rPr lang="en-US" sz="2000" dirty="0">
                <a:solidFill>
                  <a:srgbClr val="00B0F0"/>
                </a:solidFill>
              </a:rPr>
              <a:t> = open('new_grades.csv', 'w')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2000" dirty="0">
                <a:solidFill>
                  <a:srgbClr val="92D050"/>
                </a:solidFill>
              </a:rPr>
              <a:t># write to file</a:t>
            </a:r>
          </a:p>
          <a:p>
            <a:r>
              <a:rPr lang="en-US" sz="2000" dirty="0" err="1">
                <a:solidFill>
                  <a:schemeClr val="accent6"/>
                </a:solidFill>
              </a:rPr>
              <a:t>grades_writer</a:t>
            </a:r>
            <a:r>
              <a:rPr lang="en-US" sz="2000" dirty="0">
                <a:solidFill>
                  <a:schemeClr val="accent6"/>
                </a:solidFill>
              </a:rPr>
              <a:t> = </a:t>
            </a:r>
            <a:r>
              <a:rPr lang="en-US" sz="2000" dirty="0" err="1">
                <a:solidFill>
                  <a:schemeClr val="accent6"/>
                </a:solidFill>
              </a:rPr>
              <a:t>csv.writer</a:t>
            </a:r>
            <a:r>
              <a:rPr lang="en-US" sz="2000" dirty="0">
                <a:solidFill>
                  <a:schemeClr val="accent6"/>
                </a:solidFill>
              </a:rPr>
              <a:t>(</a:t>
            </a:r>
            <a:r>
              <a:rPr lang="en-US" sz="2000" dirty="0" err="1">
                <a:solidFill>
                  <a:schemeClr val="accent6"/>
                </a:solidFill>
              </a:rPr>
              <a:t>myfile</a:t>
            </a:r>
            <a:r>
              <a:rPr lang="en-US" sz="2000" dirty="0">
                <a:solidFill>
                  <a:schemeClr val="accent6"/>
                </a:solidFill>
              </a:rPr>
              <a:t>)</a:t>
            </a:r>
          </a:p>
          <a:p>
            <a:r>
              <a:rPr lang="en-US" sz="2000" dirty="0">
                <a:solidFill>
                  <a:srgbClr val="00B0F0"/>
                </a:solidFill>
              </a:rPr>
              <a:t>for row in grades:</a:t>
            </a:r>
          </a:p>
          <a:p>
            <a:r>
              <a:rPr lang="en-US" sz="2000" dirty="0">
                <a:solidFill>
                  <a:srgbClr val="00B0F0"/>
                </a:solidFill>
              </a:rPr>
              <a:t>    </a:t>
            </a:r>
            <a:r>
              <a:rPr lang="en-US" sz="2000" dirty="0" err="1">
                <a:solidFill>
                  <a:schemeClr val="accent6"/>
                </a:solidFill>
              </a:rPr>
              <a:t>grades_writer</a:t>
            </a:r>
            <a:r>
              <a:rPr lang="en-US" sz="2000" dirty="0" err="1">
                <a:solidFill>
                  <a:srgbClr val="00B0F0"/>
                </a:solidFill>
              </a:rPr>
              <a:t>.</a:t>
            </a:r>
            <a:r>
              <a:rPr lang="en-US" sz="2000" dirty="0" err="1">
                <a:solidFill>
                  <a:schemeClr val="accent6"/>
                </a:solidFill>
              </a:rPr>
              <a:t>writerow</a:t>
            </a:r>
            <a:r>
              <a:rPr lang="en-US" sz="2000" dirty="0">
                <a:solidFill>
                  <a:srgbClr val="00B0F0"/>
                </a:solidFill>
              </a:rPr>
              <a:t>(row)</a:t>
            </a:r>
          </a:p>
          <a:p>
            <a:endParaRPr lang="en-US" sz="2000" dirty="0">
              <a:solidFill>
                <a:srgbClr val="00B0F0"/>
              </a:solidFill>
            </a:endParaRPr>
          </a:p>
          <a:p>
            <a:r>
              <a:rPr lang="en-US" sz="2000" dirty="0" err="1">
                <a:solidFill>
                  <a:srgbClr val="00B0F0"/>
                </a:solidFill>
              </a:rPr>
              <a:t>myfile.close</a:t>
            </a:r>
            <a:r>
              <a:rPr lang="en-US" sz="2000" dirty="0">
                <a:solidFill>
                  <a:srgbClr val="00B0F0"/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0632152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A96A4-E22B-E1BE-5205-73B9657BA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159CB-A4E7-CBED-B752-BF642CBBB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 module is simply a file containing Python definitions (functions, classes, variables) that can be imported into your script.</a:t>
            </a:r>
          </a:p>
          <a:p>
            <a:r>
              <a:rPr lang="en-CA" dirty="0"/>
              <a:t>By organizing code into modules, we:</a:t>
            </a:r>
          </a:p>
          <a:p>
            <a:pPr lvl="1"/>
            <a:r>
              <a:rPr lang="en-CA" dirty="0"/>
              <a:t>Keep code maintainable and organized</a:t>
            </a:r>
          </a:p>
          <a:p>
            <a:pPr lvl="1"/>
            <a:r>
              <a:rPr lang="en-CA" dirty="0"/>
              <a:t>Reuse functions or classes across multiple projects</a:t>
            </a:r>
          </a:p>
          <a:p>
            <a:pPr lvl="1"/>
            <a:r>
              <a:rPr lang="en-CA" dirty="0"/>
              <a:t>Avoid cluttering a single file with too much logic</a:t>
            </a:r>
          </a:p>
          <a:p>
            <a:endParaRPr lang="en-CA" dirty="0"/>
          </a:p>
          <a:p>
            <a:r>
              <a:rPr lang="en-CA" dirty="0"/>
              <a:t>Tip: Any file named </a:t>
            </a:r>
            <a:r>
              <a:rPr lang="en-CA" i="1" dirty="0" err="1"/>
              <a:t>something</a:t>
            </a:r>
            <a:r>
              <a:rPr lang="en-CA" dirty="0" err="1"/>
              <a:t>.py</a:t>
            </a:r>
            <a:r>
              <a:rPr lang="en-CA" dirty="0"/>
              <a:t> can be considered a module.</a:t>
            </a:r>
          </a:p>
        </p:txBody>
      </p:sp>
    </p:spTree>
    <p:extLst>
      <p:ext uri="{BB962C8B-B14F-4D97-AF65-F5344CB8AC3E}">
        <p14:creationId xmlns:p14="http://schemas.microsoft.com/office/powerpoint/2010/main" val="6908259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E36D3-73B4-C7E0-AC93-770FBCD0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Importing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95570-B626-F485-5C71-042E77C8C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7571"/>
            <a:ext cx="10515600" cy="4835479"/>
          </a:xfrm>
        </p:spPr>
        <p:txBody>
          <a:bodyPr/>
          <a:lstStyle/>
          <a:p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CA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module_name</a:t>
            </a:r>
            <a:endParaRPr lang="en-CA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CA" dirty="0"/>
              <a:t>Imports the entire module. </a:t>
            </a:r>
          </a:p>
          <a:p>
            <a:pPr lvl="1"/>
            <a:r>
              <a:rPr lang="en-CA" dirty="0"/>
              <a:t>You call functions with </a:t>
            </a:r>
            <a:r>
              <a:rPr lang="en-CA" dirty="0" err="1"/>
              <a:t>module_name.function</a:t>
            </a:r>
            <a:r>
              <a:rPr lang="en-CA" dirty="0"/>
              <a:t>().</a:t>
            </a:r>
          </a:p>
          <a:p>
            <a:pPr lvl="1"/>
            <a:endParaRPr lang="en-CA" dirty="0"/>
          </a:p>
          <a:p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CA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module_name</a:t>
            </a:r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something</a:t>
            </a:r>
          </a:p>
          <a:p>
            <a:pPr lvl="1"/>
            <a:r>
              <a:rPr lang="en-CA" dirty="0"/>
              <a:t>Imports only something (function, class, or variable)</a:t>
            </a:r>
          </a:p>
          <a:p>
            <a:pPr lvl="1"/>
            <a:r>
              <a:rPr lang="en-CA" dirty="0"/>
              <a:t>You can access something without needing </a:t>
            </a:r>
            <a:r>
              <a:rPr lang="en-CA" dirty="0" err="1"/>
              <a:t>module_name.something</a:t>
            </a:r>
            <a:endParaRPr lang="en-CA" dirty="0"/>
          </a:p>
          <a:p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CA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module_name</a:t>
            </a:r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import *</a:t>
            </a:r>
          </a:p>
          <a:p>
            <a:pPr lvl="1"/>
            <a:r>
              <a:rPr lang="en-CA" dirty="0"/>
              <a:t>Imports everything from that module directly into your file (and scope or ‘namespace’)</a:t>
            </a:r>
          </a:p>
          <a:p>
            <a:pPr lvl="1"/>
            <a:r>
              <a:rPr lang="en-CA" dirty="0"/>
              <a:t>Use sparingly to avoid name conflicts</a:t>
            </a:r>
          </a:p>
          <a:p>
            <a:endParaRPr lang="en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839D27-9952-856D-0DA7-7A42741EF00A}"/>
              </a:ext>
            </a:extLst>
          </p:cNvPr>
          <p:cNvSpPr txBox="1"/>
          <p:nvPr/>
        </p:nvSpPr>
        <p:spPr>
          <a:xfrm>
            <a:off x="6096000" y="1943484"/>
            <a:ext cx="39068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buNone/>
            </a:pPr>
            <a:r>
              <a:rPr lang="en-GB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 math</a:t>
            </a:r>
          </a:p>
          <a:p>
            <a:r>
              <a:rPr lang="en-GB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GB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en-GB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(16)) # 4.0</a:t>
            </a:r>
          </a:p>
        </p:txBody>
      </p:sp>
    </p:spTree>
    <p:extLst>
      <p:ext uri="{BB962C8B-B14F-4D97-AF65-F5344CB8AC3E}">
        <p14:creationId xmlns:p14="http://schemas.microsoft.com/office/powerpoint/2010/main" val="1585930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6B5D5-96CA-3DF6-AB09-33A8937CE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Why Modules?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BB0B7-6015-ECA6-96E0-6B52AC214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>
                <a:solidFill>
                  <a:schemeClr val="accent6"/>
                </a:solidFill>
              </a:rPr>
              <a:t>Modularity</a:t>
            </a:r>
            <a:r>
              <a:rPr lang="en-CA" dirty="0"/>
              <a:t>:</a:t>
            </a:r>
            <a:r>
              <a:rPr lang="en-CA" dirty="0">
                <a:solidFill>
                  <a:schemeClr val="accent6"/>
                </a:solidFill>
              </a:rPr>
              <a:t> </a:t>
            </a:r>
            <a:r>
              <a:rPr lang="en-CA" dirty="0"/>
              <a:t>Split large applications into smaller, manageable pieces</a:t>
            </a:r>
          </a:p>
          <a:p>
            <a:pPr lvl="1"/>
            <a:r>
              <a:rPr lang="en-CA" dirty="0"/>
              <a:t>Think back our fancy dictionary printing function called </a:t>
            </a:r>
            <a:r>
              <a:rPr lang="en-CA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dict_print</a:t>
            </a:r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dirty="0"/>
              <a:t>that we imported from our custom </a:t>
            </a:r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utils</a:t>
            </a:r>
            <a:r>
              <a:rPr lang="en-CA" dirty="0"/>
              <a:t> module. </a:t>
            </a:r>
          </a:p>
          <a:p>
            <a:r>
              <a:rPr lang="en-CA" dirty="0">
                <a:solidFill>
                  <a:schemeClr val="accent6"/>
                </a:solidFill>
              </a:rPr>
              <a:t>Reusability</a:t>
            </a:r>
            <a:r>
              <a:rPr lang="en-CA" dirty="0"/>
              <a:t>: Reuse functions across multiple projects (don’t rewrite the wheel!)</a:t>
            </a:r>
          </a:p>
          <a:p>
            <a:pPr lvl="1"/>
            <a:r>
              <a:rPr lang="en-CA" dirty="0"/>
              <a:t>Now you can import </a:t>
            </a:r>
            <a:r>
              <a:rPr lang="en-CA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dict_print</a:t>
            </a:r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CA" dirty="0"/>
              <a:t>into any new python file, instead of needing to copy and paste the function into each file to use it</a:t>
            </a:r>
          </a:p>
          <a:p>
            <a:r>
              <a:rPr lang="en-CA" dirty="0">
                <a:solidFill>
                  <a:schemeClr val="accent6"/>
                </a:solidFill>
              </a:rPr>
              <a:t>Maintainability</a:t>
            </a:r>
            <a:r>
              <a:rPr lang="en-CA" dirty="0"/>
              <a:t>: Isolate functionality in separate files for easier updates</a:t>
            </a:r>
          </a:p>
          <a:p>
            <a:pPr lvl="1"/>
            <a:r>
              <a:rPr lang="en-CA" dirty="0"/>
              <a:t>Improve your </a:t>
            </a:r>
            <a:r>
              <a:rPr lang="en-CA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utils</a:t>
            </a:r>
            <a:r>
              <a:rPr lang="en-CA" dirty="0"/>
              <a:t> module or add more fancy printing functions to utils without breaking any of your existing files</a:t>
            </a:r>
          </a:p>
          <a:p>
            <a:r>
              <a:rPr lang="en-CA" dirty="0">
                <a:solidFill>
                  <a:schemeClr val="accent6"/>
                </a:solidFill>
              </a:rPr>
              <a:t>Collaboration</a:t>
            </a:r>
            <a:r>
              <a:rPr lang="en-CA" dirty="0"/>
              <a:t>: Multiple developers can work on different modules in parallel</a:t>
            </a:r>
          </a:p>
        </p:txBody>
      </p:sp>
    </p:spTree>
    <p:extLst>
      <p:ext uri="{BB962C8B-B14F-4D97-AF65-F5344CB8AC3E}">
        <p14:creationId xmlns:p14="http://schemas.microsoft.com/office/powerpoint/2010/main" val="104991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5892C-CC2F-B33A-8887-CBE501B06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Build Your Own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A41E8B-3AD8-697C-E17B-81E08A54E5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Step 1</a:t>
            </a:r>
            <a:r>
              <a:rPr lang="en-GB" dirty="0"/>
              <a:t>: Create a .</a:t>
            </a:r>
            <a:r>
              <a:rPr lang="en-GB" dirty="0" err="1"/>
              <a:t>py</a:t>
            </a:r>
            <a:r>
              <a:rPr lang="en-GB" dirty="0"/>
              <a:t> file with functions, variables, etc.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r>
              <a:rPr lang="en-CA" b="1" dirty="0"/>
              <a:t>Step 2</a:t>
            </a:r>
            <a:r>
              <a:rPr lang="en-CA" dirty="0"/>
              <a:t>: Import your module into another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D4F437-2F26-2F80-CE34-F0D047923ED2}"/>
              </a:ext>
            </a:extLst>
          </p:cNvPr>
          <p:cNvSpPr txBox="1"/>
          <p:nvPr/>
        </p:nvSpPr>
        <p:spPr>
          <a:xfrm>
            <a:off x="1070043" y="2489037"/>
            <a:ext cx="3774332" cy="1754326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CA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#inside </a:t>
            </a:r>
            <a:r>
              <a:rPr lang="en-CA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mymodule.py</a:t>
            </a:r>
            <a:endParaRPr lang="en-CA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CA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pi = 3.14</a:t>
            </a:r>
          </a:p>
          <a:p>
            <a:endParaRPr lang="en-CA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CA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and_one</a:t>
            </a:r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(x):</a:t>
            </a:r>
          </a:p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x + 1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A02567-A0FD-9F2E-45DC-8ED7EC8FD507}"/>
              </a:ext>
            </a:extLst>
          </p:cNvPr>
          <p:cNvSpPr txBox="1"/>
          <p:nvPr/>
        </p:nvSpPr>
        <p:spPr>
          <a:xfrm>
            <a:off x="1070042" y="4906776"/>
            <a:ext cx="6984459" cy="1477328"/>
          </a:xfrm>
          <a:prstGeom prst="rect">
            <a:avLst/>
          </a:prstGeom>
          <a:solidFill>
            <a:srgbClr val="FFFFFF"/>
          </a:solidFill>
        </p:spPr>
        <p:txBody>
          <a:bodyPr wrap="square" rtlCol="0">
            <a:spAutoFit/>
          </a:bodyPr>
          <a:lstStyle/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CA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mymodule</a:t>
            </a:r>
            <a:endParaRPr lang="en-CA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CA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my_pi</a:t>
            </a:r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CA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mymodule.pi</a:t>
            </a:r>
            <a:endParaRPr lang="en-CA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CA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CA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mymodule.and_one</a:t>
            </a:r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my_pi</a:t>
            </a:r>
            <a:r>
              <a:rPr lang="en-CA" b="1" dirty="0">
                <a:latin typeface="Courier New" panose="02070309020205020404" pitchFamily="49" charset="0"/>
                <a:cs typeface="Courier New" panose="02070309020205020404" pitchFamily="49" charset="0"/>
              </a:rPr>
              <a:t>) #prints 4.14</a:t>
            </a:r>
          </a:p>
        </p:txBody>
      </p:sp>
    </p:spTree>
    <p:extLst>
      <p:ext uri="{BB962C8B-B14F-4D97-AF65-F5344CB8AC3E}">
        <p14:creationId xmlns:p14="http://schemas.microsoft.com/office/powerpoint/2010/main" val="23181627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700B2-7F17-942C-3151-0C9FEB8CB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CD07F-CE1D-91C1-3C06-3A144765F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Let’s Code!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63E738-4D83-0CFB-6C3E-2C9285B17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532292"/>
            <a:ext cx="7025986" cy="4835479"/>
          </a:xfrm>
        </p:spPr>
        <p:txBody>
          <a:bodyPr>
            <a:normAutofit/>
          </a:bodyPr>
          <a:lstStyle/>
          <a:p>
            <a:r>
              <a:rPr lang="en-CA" dirty="0"/>
              <a:t>Let’s take a look at how this works in Python!</a:t>
            </a:r>
          </a:p>
          <a:p>
            <a:pPr lvl="1"/>
            <a:r>
              <a:rPr lang="en-CA" dirty="0"/>
              <a:t>Importing modules</a:t>
            </a:r>
          </a:p>
          <a:p>
            <a:pPr lvl="1"/>
            <a:r>
              <a:rPr lang="en-CA" dirty="0"/>
              <a:t>Renaming modules and controlling our namespace</a:t>
            </a:r>
          </a:p>
          <a:p>
            <a:pPr lvl="1"/>
            <a:r>
              <a:rPr lang="en-CA" dirty="0"/>
              <a:t>Building our own custom modules</a:t>
            </a:r>
          </a:p>
          <a:p>
            <a:pPr lvl="1"/>
            <a:endParaRPr lang="en-CA" dirty="0"/>
          </a:p>
          <a:p>
            <a:pPr lvl="1"/>
            <a:endParaRPr lang="en-CA" dirty="0"/>
          </a:p>
        </p:txBody>
      </p:sp>
      <p:sp>
        <p:nvSpPr>
          <p:cNvPr id="4" name="Rectangle: Rounded Corners 5">
            <a:extLst>
              <a:ext uri="{FF2B5EF4-FFF2-40B4-BE49-F238E27FC236}">
                <a16:creationId xmlns:a16="http://schemas.microsoft.com/office/drawing/2014/main" id="{11761CD1-1903-9ADB-AE4C-87D5248137DE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5. Modules</a:t>
            </a:r>
          </a:p>
        </p:txBody>
      </p:sp>
    </p:spTree>
    <p:extLst>
      <p:ext uri="{BB962C8B-B14F-4D97-AF65-F5344CB8AC3E}">
        <p14:creationId xmlns:p14="http://schemas.microsoft.com/office/powerpoint/2010/main" val="29364901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Advanced Files: </a:t>
            </a:r>
            <a:r>
              <a:rPr lang="en-US" dirty="0"/>
              <a:t>CSVs and Modules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11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1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11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1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D30889-C360-9014-F30F-118C7EDBA086}"/>
              </a:ext>
            </a:extLst>
          </p:cNvPr>
          <p:cNvSpPr txBox="1"/>
          <p:nvPr/>
        </p:nvSpPr>
        <p:spPr>
          <a:xfrm>
            <a:off x="335947" y="4442932"/>
            <a:ext cx="758060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C99FF"/>
                </a:solidFill>
              </a:rPr>
              <a:t>While waiting, open the </a:t>
            </a:r>
            <a:r>
              <a:rPr lang="en-US" sz="2000" b="1" dirty="0" err="1">
                <a:solidFill>
                  <a:srgbClr val="CC99FF"/>
                </a:solidFill>
              </a:rPr>
              <a:t>Jupyter</a:t>
            </a:r>
            <a:r>
              <a:rPr lang="en-US" sz="2000" b="1" dirty="0">
                <a:solidFill>
                  <a:srgbClr val="CC99FF"/>
                </a:solidFill>
              </a:rPr>
              <a:t> Notebook for today’s lecture.</a:t>
            </a:r>
          </a:p>
          <a:p>
            <a:endParaRPr lang="en-US" sz="1600" b="1" dirty="0">
              <a:solidFill>
                <a:srgbClr val="CC99FF"/>
              </a:solidFill>
            </a:endParaRPr>
          </a:p>
          <a:p>
            <a:r>
              <a:rPr lang="en-US" sz="1600" b="1" dirty="0">
                <a:solidFill>
                  <a:srgbClr val="CC99FF"/>
                </a:solidFill>
              </a:rPr>
              <a:t>Upcoming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Lab 7 due this Friday 11:59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Reflection 11 Released Friday 6:00 pm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  <a:endParaRPr lang="en-US" sz="1600" dirty="0">
              <a:solidFill>
                <a:srgbClr val="66FF99"/>
              </a:solidFill>
            </a:endParaRP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Tutorial (in-person </a:t>
            </a:r>
            <a:r>
              <a:rPr lang="en-US" sz="1600" b="1" dirty="0">
                <a:solidFill>
                  <a:srgbClr val="66FF99"/>
                </a:solidFill>
              </a:rPr>
              <a:t>AND</a:t>
            </a:r>
            <a:r>
              <a:rPr lang="en-US" sz="1600" dirty="0">
                <a:solidFill>
                  <a:srgbClr val="66FF99"/>
                </a:solidFill>
              </a:rPr>
              <a:t> online)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Practical sessions running all week</a:t>
            </a:r>
            <a:r>
              <a:rPr lang="en-US" sz="1600" dirty="0">
                <a:solidFill>
                  <a:srgbClr val="CC99FF"/>
                </a:solidFill>
              </a:rPr>
              <a:t>.</a:t>
            </a:r>
          </a:p>
          <a:p>
            <a:pPr marL="285750" indent="-285750">
              <a:buClr>
                <a:srgbClr val="CC99FF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rgbClr val="66FF99"/>
                </a:solidFill>
              </a:rPr>
              <a:t>Office Hours (in-person </a:t>
            </a:r>
            <a:r>
              <a:rPr lang="en-US" sz="1600" b="1" dirty="0">
                <a:solidFill>
                  <a:srgbClr val="66FF99"/>
                </a:solidFill>
              </a:rPr>
              <a:t>AND</a:t>
            </a:r>
            <a:r>
              <a:rPr lang="en-US" sz="1600" dirty="0">
                <a:solidFill>
                  <a:srgbClr val="66FF99"/>
                </a:solidFill>
              </a:rPr>
              <a:t> online) running all week</a:t>
            </a:r>
            <a:endParaRPr lang="en-US" sz="1600" dirty="0">
              <a:solidFill>
                <a:srgbClr val="CC99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5725515"/>
      </p:ext>
    </p:extLst>
  </p:cSld>
  <p:clrMapOvr>
    <a:masterClrMapping/>
  </p:clrMapOvr>
</p:sld>
</file>

<file path=ppt/theme/theme1.xml><?xml version="1.0" encoding="utf-8"?>
<a:theme xmlns:a="http://schemas.openxmlformats.org/drawingml/2006/main" name="APS106_Theme">
  <a:themeElements>
    <a:clrScheme name="Custom 2">
      <a:dk1>
        <a:srgbClr val="444445"/>
      </a:dk1>
      <a:lt1>
        <a:srgbClr val="000000"/>
      </a:lt1>
      <a:dk2>
        <a:srgbClr val="7B8994"/>
      </a:dk2>
      <a:lt2>
        <a:srgbClr val="3D464D"/>
      </a:lt2>
      <a:accent1>
        <a:srgbClr val="0061FF"/>
      </a:accent1>
      <a:accent2>
        <a:srgbClr val="0061FF"/>
      </a:accent2>
      <a:accent3>
        <a:srgbClr val="0061FF"/>
      </a:accent3>
      <a:accent4>
        <a:srgbClr val="7B8994"/>
      </a:accent4>
      <a:accent5>
        <a:srgbClr val="7B8994"/>
      </a:accent5>
      <a:accent6>
        <a:srgbClr val="F7B41A"/>
      </a:accent6>
      <a:hlink>
        <a:srgbClr val="3D464D"/>
      </a:hlink>
      <a:folHlink>
        <a:srgbClr val="3D464D"/>
      </a:folHlink>
    </a:clrScheme>
    <a:fontScheme name="Custom 1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PS106_Theme" id="{3BEEB87C-8A6C-443F-995D-4A4893CCEBD8}" vid="{9B7A7CDB-8752-4A8C-8C1A-92E8A921146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APS106_Theme</Template>
  <TotalTime>39229</TotalTime>
  <Words>2538</Words>
  <Application>Microsoft Office PowerPoint</Application>
  <PresentationFormat>Widescreen</PresentationFormat>
  <Paragraphs>373</Paragraphs>
  <Slides>30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MS Mincho</vt:lpstr>
      <vt:lpstr>Arial</vt:lpstr>
      <vt:lpstr>Calibri</vt:lpstr>
      <vt:lpstr>Courier New</vt:lpstr>
      <vt:lpstr>Segoe UI</vt:lpstr>
      <vt:lpstr>Times New Roman</vt:lpstr>
      <vt:lpstr>Wingdings</vt:lpstr>
      <vt:lpstr>APS106_Theme</vt:lpstr>
      <vt:lpstr>Advanced Files: CSVs and Modules</vt:lpstr>
      <vt:lpstr>This Week’s Content</vt:lpstr>
      <vt:lpstr>The ”Writing to Files” Recipe</vt:lpstr>
      <vt:lpstr>Example: Writing to Files</vt:lpstr>
      <vt:lpstr>Let’s Code!</vt:lpstr>
      <vt:lpstr>Different ways of Reading a File</vt:lpstr>
      <vt:lpstr>Different ways of Reading a File</vt:lpstr>
      <vt:lpstr>Example: Reading a File</vt:lpstr>
      <vt:lpstr>Let’s Code!</vt:lpstr>
      <vt:lpstr>The with Statement</vt:lpstr>
      <vt:lpstr>Example: with Statement</vt:lpstr>
      <vt:lpstr>Let’s Code!</vt:lpstr>
      <vt:lpstr>Comma Separated Values files</vt:lpstr>
      <vt:lpstr>CSV Files</vt:lpstr>
      <vt:lpstr>Example: Opening a CSV File</vt:lpstr>
      <vt:lpstr>Reading CSV Files</vt:lpstr>
      <vt:lpstr>Example: Reading a CSV File (open/close)</vt:lpstr>
      <vt:lpstr>Example: Reading a CSV File (with)</vt:lpstr>
      <vt:lpstr>Writing CSV Files</vt:lpstr>
      <vt:lpstr>Example: CSV Files</vt:lpstr>
      <vt:lpstr>Opening CSV File in Excel</vt:lpstr>
      <vt:lpstr>Let’s Code!</vt:lpstr>
      <vt:lpstr>Summary: Reading Files</vt:lpstr>
      <vt:lpstr>Summary: Writing Files</vt:lpstr>
      <vt:lpstr>Modules</vt:lpstr>
      <vt:lpstr>Importing Modules</vt:lpstr>
      <vt:lpstr>Why Modules?</vt:lpstr>
      <vt:lpstr>Build Your Own Modules</vt:lpstr>
      <vt:lpstr>Let’s Code!</vt:lpstr>
      <vt:lpstr>Advanced Files: CSVs and Modules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Sebastian Goodfellow</dc:creator>
  <cp:lastModifiedBy>Sebastian Goodfellow</cp:lastModifiedBy>
  <cp:revision>250</cp:revision>
  <dcterms:created xsi:type="dcterms:W3CDTF">2021-11-03T00:49:37Z</dcterms:created>
  <dcterms:modified xsi:type="dcterms:W3CDTF">2026-03-15T01:23:14Z</dcterms:modified>
</cp:coreProperties>
</file>