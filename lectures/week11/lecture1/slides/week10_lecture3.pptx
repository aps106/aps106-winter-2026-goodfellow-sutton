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0"/>
  </p:notesMasterIdLst>
  <p:sldIdLst>
    <p:sldId id="256" r:id="rId2"/>
    <p:sldId id="259" r:id="rId3"/>
    <p:sldId id="415" r:id="rId4"/>
    <p:sldId id="420" r:id="rId5"/>
    <p:sldId id="421" r:id="rId6"/>
    <p:sldId id="691" r:id="rId7"/>
    <p:sldId id="699" r:id="rId8"/>
    <p:sldId id="356" r:id="rId9"/>
    <p:sldId id="411" r:id="rId10"/>
    <p:sldId id="695" r:id="rId11"/>
    <p:sldId id="693" r:id="rId12"/>
    <p:sldId id="696" r:id="rId13"/>
    <p:sldId id="412" r:id="rId14"/>
    <p:sldId id="697" r:id="rId15"/>
    <p:sldId id="698" r:id="rId16"/>
    <p:sldId id="428" r:id="rId17"/>
    <p:sldId id="429" r:id="rId18"/>
    <p:sldId id="6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CFF"/>
    <a:srgbClr val="00FF00"/>
    <a:srgbClr val="FF0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521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5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77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77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96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8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More OOP! </a:t>
            </a:r>
            <a:r>
              <a:rPr lang="en-US" dirty="0"/>
              <a:t>Encapsulation and Examples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10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10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CA1B7-FA9F-C160-DCB4-F1B031F9D0DE}"/>
              </a:ext>
            </a:extLst>
          </p:cNvPr>
          <p:cNvSpPr txBox="1"/>
          <p:nvPr/>
        </p:nvSpPr>
        <p:spPr>
          <a:xfrm>
            <a:off x="335947" y="4442932"/>
            <a:ext cx="758060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C99FF"/>
                </a:solidFill>
              </a:rPr>
              <a:t>While waiting, open the </a:t>
            </a:r>
            <a:r>
              <a:rPr lang="en-US" sz="2000" b="1" dirty="0" err="1">
                <a:solidFill>
                  <a:srgbClr val="CC99FF"/>
                </a:solidFill>
              </a:rPr>
              <a:t>Jupyter</a:t>
            </a:r>
            <a:r>
              <a:rPr lang="en-US" sz="2000" b="1" dirty="0">
                <a:solidFill>
                  <a:srgbClr val="CC99FF"/>
                </a:solidFill>
              </a:rPr>
              <a:t> Notebook for today’s lecture.</a:t>
            </a:r>
          </a:p>
          <a:p>
            <a:endParaRPr lang="en-US" sz="1600" b="1" dirty="0">
              <a:solidFill>
                <a:srgbClr val="CC99FF"/>
              </a:solidFill>
            </a:endParaRPr>
          </a:p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7 due this Friday 11:59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11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(in-person </a:t>
            </a:r>
            <a:r>
              <a:rPr lang="en-US" sz="1600" b="1" dirty="0">
                <a:solidFill>
                  <a:srgbClr val="66FF99"/>
                </a:solidFill>
              </a:rPr>
              <a:t>AND</a:t>
            </a:r>
            <a:r>
              <a:rPr lang="en-US" sz="1600" dirty="0">
                <a:solidFill>
                  <a:srgbClr val="66FF99"/>
                </a:solidFill>
              </a:rPr>
              <a:t> online)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Practical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Office Hours (in-person </a:t>
            </a:r>
            <a:r>
              <a:rPr lang="en-US" sz="1600" b="1" dirty="0">
                <a:solidFill>
                  <a:srgbClr val="66FF99"/>
                </a:solidFill>
              </a:rPr>
              <a:t>AND</a:t>
            </a:r>
            <a:r>
              <a:rPr lang="en-US" sz="1600" dirty="0">
                <a:solidFill>
                  <a:srgbClr val="66FF99"/>
                </a:solidFill>
              </a:rPr>
              <a:t> online) running all week</a:t>
            </a:r>
            <a:endParaRPr lang="en-US" sz="1600" dirty="0">
              <a:solidFill>
                <a:srgbClr val="CC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11.1</a:t>
            </a:r>
          </a:p>
          <a:p>
            <a:pPr lvl="1"/>
            <a:r>
              <a:rPr lang="en-US" b="1" dirty="0"/>
              <a:t>More OOP! Encapsulation and Examples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11.2</a:t>
            </a:r>
          </a:p>
          <a:p>
            <a:pPr lvl="1"/>
            <a:r>
              <a:rPr lang="en-US" dirty="0"/>
              <a:t>Advanced Files, CSVs, and Modules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11.3 </a:t>
            </a:r>
          </a:p>
          <a:p>
            <a:pPr lvl="1"/>
            <a:r>
              <a:rPr lang="en-US" dirty="0"/>
              <a:t>Design Problem</a:t>
            </a:r>
          </a:p>
        </p:txBody>
      </p:sp>
      <p:pic>
        <p:nvPicPr>
          <p:cNvPr id="4" name="Picture 4" descr="Your meme-fied ode to midterms | The Daily Californian">
            <a:extLst>
              <a:ext uri="{FF2B5EF4-FFF2-40B4-BE49-F238E27FC236}">
                <a16:creationId xmlns:a16="http://schemas.microsoft.com/office/drawing/2014/main" id="{A0C4808E-DEA7-2C30-4E63-7D94A2460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460" y="1383662"/>
            <a:ext cx="4035898" cy="403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7ECA-E2FE-C443-935A-9744B8368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666"/>
            <a:ext cx="10515600" cy="100043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Exam: April 15, 2:00 PM </a:t>
            </a:r>
            <a:br>
              <a:rPr lang="en-US" dirty="0"/>
            </a:br>
            <a:r>
              <a:rPr lang="en-US" dirty="0"/>
              <a:t>Bahen (1), Myhal (1), Wallberg (2)</a:t>
            </a:r>
          </a:p>
        </p:txBody>
      </p:sp>
      <p:pic>
        <p:nvPicPr>
          <p:cNvPr id="7170" name="Picture 2" descr="10 Final Exam Memes By People Wasting More Time Than You">
            <a:extLst>
              <a:ext uri="{FF2B5EF4-FFF2-40B4-BE49-F238E27FC236}">
                <a16:creationId xmlns:a16="http://schemas.microsoft.com/office/drawing/2014/main" id="{5C61C0AB-213A-E640-B9A0-1D0BDC710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4" r="6659" b="8821"/>
          <a:stretch/>
        </p:blipFill>
        <p:spPr bwMode="auto">
          <a:xfrm>
            <a:off x="1203774" y="2464494"/>
            <a:ext cx="5721503" cy="399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Meme Creator - Funny studying 1 day before exam Meme Generator at  MemeCreator.org!">
            <a:extLst>
              <a:ext uri="{FF2B5EF4-FFF2-40B4-BE49-F238E27FC236}">
                <a16:creationId xmlns:a16="http://schemas.microsoft.com/office/drawing/2014/main" id="{C0D9B1FB-8B02-7741-BADE-CE14E3515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720" y="2950192"/>
            <a:ext cx="3686506" cy="278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36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F16E-A41C-FF43-B7FB-848C939B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Online Tutorial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480E74-8034-EF44-BDEE-9AE91F3282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3059" y="4276377"/>
          <a:ext cx="7540282" cy="80772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686831">
                  <a:extLst>
                    <a:ext uri="{9D8B030D-6E8A-4147-A177-3AD203B41FA5}">
                      <a16:colId xmlns:a16="http://schemas.microsoft.com/office/drawing/2014/main" val="1777798719"/>
                    </a:ext>
                  </a:extLst>
                </a:gridCol>
                <a:gridCol w="4853451">
                  <a:extLst>
                    <a:ext uri="{9D8B030D-6E8A-4147-A177-3AD203B41FA5}">
                      <a16:colId xmlns:a16="http://schemas.microsoft.com/office/drawing/2014/main" val="192095789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endParaRPr lang="en-CA" sz="2400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effectLst/>
                        </a:rPr>
                        <a:t>Time</a:t>
                      </a:r>
                      <a:endParaRPr lang="en-CA" sz="2400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89084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>
                          <a:effectLst/>
                        </a:rPr>
                        <a:t>Tutorial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>
                          <a:effectLst/>
                        </a:rPr>
                        <a:t>Wednesday 7 – 8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403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9245E3-752D-1D4D-9D33-21C8A2B686B7}"/>
              </a:ext>
            </a:extLst>
          </p:cNvPr>
          <p:cNvSpPr txBox="1">
            <a:spLocks/>
          </p:cNvSpPr>
          <p:nvPr/>
        </p:nvSpPr>
        <p:spPr>
          <a:xfrm>
            <a:off x="78836" y="1566885"/>
            <a:ext cx="11274963" cy="2544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These times worked best for you! </a:t>
            </a:r>
          </a:p>
          <a:p>
            <a:pPr lvl="1"/>
            <a:r>
              <a:rPr lang="en-CA" dirty="0">
                <a:solidFill>
                  <a:srgbClr val="00B050"/>
                </a:solidFill>
              </a:rPr>
              <a:t>TIP FOR SUCCESS</a:t>
            </a:r>
            <a:r>
              <a:rPr lang="en-CA" dirty="0"/>
              <a:t>: Put these in your calendar!   Labs are due Friday night! </a:t>
            </a:r>
          </a:p>
          <a:p>
            <a:r>
              <a:rPr lang="en-CA" dirty="0"/>
              <a:t>Schedule and Zoom Links are on Quercus</a:t>
            </a:r>
          </a:p>
          <a:p>
            <a:pPr lvl="1"/>
            <a:r>
              <a:rPr lang="en-CA" dirty="0"/>
              <a:t>“Tutorial Homepage”</a:t>
            </a:r>
          </a:p>
        </p:txBody>
      </p:sp>
      <p:pic>
        <p:nvPicPr>
          <p:cNvPr id="1029" name="Picture 5" descr="Drake Hotline Bling Meme Generator - Imgflip">
            <a:extLst>
              <a:ext uri="{FF2B5EF4-FFF2-40B4-BE49-F238E27FC236}">
                <a16:creationId xmlns:a16="http://schemas.microsoft.com/office/drawing/2014/main" id="{2804BB82-9DB1-0142-875A-473DC8894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1" y="2623381"/>
            <a:ext cx="3934362" cy="393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175649-4AED-AE4C-96D2-D435897609F1}"/>
              </a:ext>
            </a:extLst>
          </p:cNvPr>
          <p:cNvSpPr txBox="1"/>
          <p:nvPr/>
        </p:nvSpPr>
        <p:spPr>
          <a:xfrm>
            <a:off x="10160093" y="3391178"/>
            <a:ext cx="1981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Commuting</a:t>
            </a:r>
            <a:br>
              <a:rPr lang="en-US" sz="2400" b="1" dirty="0">
                <a:solidFill>
                  <a:schemeClr val="bg1"/>
                </a:solidFill>
              </a:rPr>
            </a:b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AE69D3-E6B7-FB43-927D-DCC75C187041}"/>
              </a:ext>
            </a:extLst>
          </p:cNvPr>
          <p:cNvSpPr txBox="1"/>
          <p:nvPr/>
        </p:nvSpPr>
        <p:spPr>
          <a:xfrm>
            <a:off x="10210986" y="5084097"/>
            <a:ext cx="18792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Online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Tutorials</a:t>
            </a:r>
          </a:p>
        </p:txBody>
      </p:sp>
    </p:spTree>
    <p:extLst>
      <p:ext uri="{BB962C8B-B14F-4D97-AF65-F5344CB8AC3E}">
        <p14:creationId xmlns:p14="http://schemas.microsoft.com/office/powerpoint/2010/main" val="110364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F16E-A41C-FF43-B7FB-848C939B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Coffee Break with a TA!</a:t>
            </a:r>
          </a:p>
        </p:txBody>
      </p:sp>
      <p:pic>
        <p:nvPicPr>
          <p:cNvPr id="1026" name="Picture 2" descr="Break time Memes">
            <a:extLst>
              <a:ext uri="{FF2B5EF4-FFF2-40B4-BE49-F238E27FC236}">
                <a16:creationId xmlns:a16="http://schemas.microsoft.com/office/drawing/2014/main" id="{98148F9B-6B16-8340-B346-C606A44D8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889" y="653851"/>
            <a:ext cx="2472787" cy="164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9245E3-752D-1D4D-9D33-21C8A2B686B7}"/>
              </a:ext>
            </a:extLst>
          </p:cNvPr>
          <p:cNvSpPr txBox="1">
            <a:spLocks/>
          </p:cNvSpPr>
          <p:nvPr/>
        </p:nvSpPr>
        <p:spPr>
          <a:xfrm>
            <a:off x="78836" y="1566885"/>
            <a:ext cx="9160667" cy="456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Extra help hours! </a:t>
            </a:r>
          </a:p>
          <a:p>
            <a:pPr lvl="1"/>
            <a:r>
              <a:rPr lang="en-CA" dirty="0">
                <a:solidFill>
                  <a:srgbClr val="00B050"/>
                </a:solidFill>
              </a:rPr>
              <a:t>TIP FOR SUCCESS</a:t>
            </a:r>
            <a:r>
              <a:rPr lang="en-CA" dirty="0"/>
              <a:t>: Put in calendar, treat as a scheduled class</a:t>
            </a:r>
          </a:p>
          <a:p>
            <a:r>
              <a:rPr lang="en-CA" dirty="0"/>
              <a:t>Schedule and Zoom Links are on Quercus</a:t>
            </a:r>
          </a:p>
          <a:p>
            <a:pPr lvl="1"/>
            <a:r>
              <a:rPr lang="en-CA" dirty="0"/>
              <a:t>”Coffee Break (Office Hours)”</a:t>
            </a:r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518B242-4036-E5CD-4828-41B98F2B7F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0299" y="3907301"/>
          <a:ext cx="8269627" cy="227838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112702">
                  <a:extLst>
                    <a:ext uri="{9D8B030D-6E8A-4147-A177-3AD203B41FA5}">
                      <a16:colId xmlns:a16="http://schemas.microsoft.com/office/drawing/2014/main" val="1777798719"/>
                    </a:ext>
                  </a:extLst>
                </a:gridCol>
                <a:gridCol w="2938944">
                  <a:extLst>
                    <a:ext uri="{9D8B030D-6E8A-4147-A177-3AD203B41FA5}">
                      <a16:colId xmlns:a16="http://schemas.microsoft.com/office/drawing/2014/main" val="1920957893"/>
                    </a:ext>
                  </a:extLst>
                </a:gridCol>
                <a:gridCol w="2217981">
                  <a:extLst>
                    <a:ext uri="{9D8B030D-6E8A-4147-A177-3AD203B41FA5}">
                      <a16:colId xmlns:a16="http://schemas.microsoft.com/office/drawing/2014/main" val="323198660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effectLst/>
                        </a:rPr>
                        <a:t>Teaching Team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effectLst/>
                        </a:rPr>
                        <a:t>Time</a:t>
                      </a:r>
                      <a:endParaRPr lang="en-CA" sz="2400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effectLst/>
                        </a:rPr>
                        <a:t>Mode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89084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Ben &amp; Seb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Fridays 2 - 3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MY765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74343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Michael </a:t>
                      </a:r>
                      <a:r>
                        <a:rPr lang="en-GB" dirty="0" err="1">
                          <a:effectLst/>
                        </a:rPr>
                        <a:t>Tisi</a:t>
                      </a:r>
                      <a:endParaRPr lang="en-GB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Fridays 10 - 11 AM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02472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Thomas Pruyn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Mondays 3-4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WB255 and 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403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Mo Saneii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Tuesdays 3 - 4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09394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Rachel Leung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Wednesdays 2-3PM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GB144 and 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3403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Hosein Seyed </a:t>
                      </a:r>
                      <a:r>
                        <a:rPr lang="en-GB" dirty="0" err="1">
                          <a:effectLst/>
                        </a:rPr>
                        <a:t>Ghafouri</a:t>
                      </a:r>
                      <a:endParaRPr lang="en-GB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Mondays 5 - 6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011976"/>
                  </a:ext>
                </a:extLst>
              </a:tr>
            </a:tbl>
          </a:graphicData>
        </a:graphic>
      </p:graphicFrame>
      <p:pic>
        <p:nvPicPr>
          <p:cNvPr id="4" name="Picture 3" descr="A collage of a person&#10;&#10;Description automatically generated">
            <a:extLst>
              <a:ext uri="{FF2B5EF4-FFF2-40B4-BE49-F238E27FC236}">
                <a16:creationId xmlns:a16="http://schemas.microsoft.com/office/drawing/2014/main" id="{FC1B2542-8CCE-BDD4-072B-2E72D9925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753" y="3324431"/>
            <a:ext cx="3044923" cy="29941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F5B371-7DD2-2E71-0140-E1D245F301CE}"/>
              </a:ext>
            </a:extLst>
          </p:cNvPr>
          <p:cNvSpPr txBox="1"/>
          <p:nvPr/>
        </p:nvSpPr>
        <p:spPr>
          <a:xfrm>
            <a:off x="8794509" y="2605965"/>
            <a:ext cx="3227409" cy="76944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200" dirty="0">
                <a:latin typeface="Impact" panose="020B0806030902050204" pitchFamily="34" charset="0"/>
              </a:rPr>
              <a:t>WAITING FOR STUDENTS </a:t>
            </a:r>
            <a:br>
              <a:rPr lang="en-CA" sz="2200" dirty="0">
                <a:latin typeface="Impact" panose="020B0806030902050204" pitchFamily="34" charset="0"/>
              </a:rPr>
            </a:br>
            <a:r>
              <a:rPr lang="en-CA" sz="2200" dirty="0">
                <a:latin typeface="Impact" panose="020B0806030902050204" pitchFamily="34" charset="0"/>
              </a:rPr>
              <a:t>TO COME TO OFFICE HOURS</a:t>
            </a:r>
          </a:p>
        </p:txBody>
      </p:sp>
    </p:spTree>
    <p:extLst>
      <p:ext uri="{BB962C8B-B14F-4D97-AF65-F5344CB8AC3E}">
        <p14:creationId xmlns:p14="http://schemas.microsoft.com/office/powerpoint/2010/main" val="235646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2121458"/>
            <a:ext cx="8298872" cy="4385419"/>
          </a:xfrm>
        </p:spPr>
        <p:txBody>
          <a:bodyPr>
            <a:normAutofit/>
          </a:bodyPr>
          <a:lstStyle/>
          <a:p>
            <a:r>
              <a:rPr lang="en-US" sz="2400" dirty="0"/>
              <a:t>Models </a:t>
            </a:r>
            <a:r>
              <a:rPr lang="en-CA" sz="2400" dirty="0"/>
              <a:t>our real-life thinking </a:t>
            </a:r>
          </a:p>
          <a:p>
            <a:pPr lvl="1"/>
            <a:r>
              <a:rPr lang="en-CA" dirty="0"/>
              <a:t>Sandwich – </a:t>
            </a:r>
            <a:r>
              <a:rPr lang="en-CA" dirty="0">
                <a:solidFill>
                  <a:srgbClr val="00B0F0"/>
                </a:solidFill>
              </a:rPr>
              <a:t>ingredients,  freshness,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Car – </a:t>
            </a:r>
            <a:r>
              <a:rPr lang="en-CA" dirty="0">
                <a:solidFill>
                  <a:srgbClr val="00B0F0"/>
                </a:solidFill>
              </a:rPr>
              <a:t>model, year, fuel level, </a:t>
            </a:r>
            <a:r>
              <a:rPr lang="en-CA" dirty="0">
                <a:solidFill>
                  <a:schemeClr val="accent6"/>
                </a:solidFill>
              </a:rPr>
              <a:t>forward, reverse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Movie – </a:t>
            </a:r>
            <a:r>
              <a:rPr lang="en-CA" dirty="0">
                <a:solidFill>
                  <a:srgbClr val="00B0F0"/>
                </a:solidFill>
              </a:rPr>
              <a:t>actors, director, genre, rating,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Cat – </a:t>
            </a:r>
            <a:r>
              <a:rPr lang="en-CA" dirty="0">
                <a:solidFill>
                  <a:srgbClr val="00B0F0"/>
                </a:solidFill>
              </a:rPr>
              <a:t>weight, name, colour, </a:t>
            </a:r>
            <a:r>
              <a:rPr lang="en-CA" dirty="0">
                <a:solidFill>
                  <a:schemeClr val="accent6"/>
                </a:solidFill>
              </a:rPr>
              <a:t>scratch, meow, sleep,</a:t>
            </a:r>
            <a:r>
              <a:rPr lang="en-CA" dirty="0"/>
              <a:t> etc.</a:t>
            </a:r>
          </a:p>
          <a:p>
            <a:endParaRPr lang="en-CA" sz="2400" dirty="0"/>
          </a:p>
          <a:p>
            <a:r>
              <a:rPr lang="en-CA" sz="2400" dirty="0"/>
              <a:t>Why do we use it in programming?</a:t>
            </a:r>
          </a:p>
          <a:p>
            <a:pPr lvl="1"/>
            <a:r>
              <a:rPr lang="en-CA" dirty="0"/>
              <a:t>Default values for a new object (initialization)</a:t>
            </a:r>
          </a:p>
          <a:p>
            <a:pPr lvl="1"/>
            <a:r>
              <a:rPr lang="en-CA" dirty="0"/>
              <a:t>Properly set-up, predictable behaviours of different objects within the same class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pic>
        <p:nvPicPr>
          <p:cNvPr id="5124" name="Picture 4" descr="I should learn object oriented programming - newspaper cat realization |  Meme Generator">
            <a:extLst>
              <a:ext uri="{FF2B5EF4-FFF2-40B4-BE49-F238E27FC236}">
                <a16:creationId xmlns:a16="http://schemas.microsoft.com/office/drawing/2014/main" id="{A71F287F-A183-5A4C-9783-9C3FF8BAD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833" y="558943"/>
            <a:ext cx="3927186" cy="288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15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C873-7BFB-8245-9776-04B4EB90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930D-4DE9-004E-92D6-C8E51488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652162"/>
            <a:ext cx="6063343" cy="48354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</a:t>
            </a:r>
            <a:r>
              <a:rPr lang="en-CA" dirty="0"/>
              <a:t> reason for this dot operator convention is an implicit metaphor:</a:t>
            </a:r>
          </a:p>
          <a:p>
            <a:r>
              <a:rPr lang="en-CA" dirty="0"/>
              <a:t>The syntax for a function call, </a:t>
            </a:r>
            <a:r>
              <a:rPr lang="en-CA" dirty="0" err="1">
                <a:solidFill>
                  <a:srgbClr val="FF0000"/>
                </a:solidFill>
              </a:rPr>
              <a:t>Cat.meow</a:t>
            </a:r>
            <a:r>
              <a:rPr lang="en-CA" dirty="0">
                <a:solidFill>
                  <a:srgbClr val="FF0000"/>
                </a:solidFill>
              </a:rPr>
              <a:t>(kitty) </a:t>
            </a:r>
            <a:r>
              <a:rPr lang="en-CA" dirty="0"/>
              <a:t>suggests that the function is the active agent. It says something like, </a:t>
            </a:r>
            <a:r>
              <a:rPr lang="en-CA" i="1" dirty="0">
                <a:solidFill>
                  <a:srgbClr val="00FCFF"/>
                </a:solidFill>
              </a:rPr>
              <a:t>“Hey meow method from the Cat class! Here’s a Cat object (named kitty) for you to meow with.”</a:t>
            </a:r>
            <a:endParaRPr lang="en-CA" dirty="0">
              <a:solidFill>
                <a:srgbClr val="00FCFF"/>
              </a:solidFill>
            </a:endParaRPr>
          </a:p>
          <a:p>
            <a:r>
              <a:rPr lang="en-CA" dirty="0"/>
              <a:t>In OOP, the objects are the active agents. A method invocation like </a:t>
            </a:r>
            <a:r>
              <a:rPr lang="en-CA" dirty="0" err="1">
                <a:solidFill>
                  <a:srgbClr val="00FF00"/>
                </a:solidFill>
              </a:rPr>
              <a:t>kitty.meow</a:t>
            </a:r>
            <a:r>
              <a:rPr lang="en-CA" dirty="0">
                <a:solidFill>
                  <a:srgbClr val="00FF00"/>
                </a:solidFill>
              </a:rPr>
              <a:t>() </a:t>
            </a:r>
            <a:r>
              <a:rPr lang="en-CA" dirty="0"/>
              <a:t>says </a:t>
            </a:r>
            <a:r>
              <a:rPr lang="en-CA" i="1" dirty="0">
                <a:solidFill>
                  <a:srgbClr val="00FCFF"/>
                </a:solidFill>
              </a:rPr>
              <a:t>“Hey kitty! Please meow.”</a:t>
            </a:r>
          </a:p>
          <a:p>
            <a:endParaRPr lang="en-US" dirty="0"/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1105F92-6621-6640-8AC8-91ECBC6FD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771" y="740042"/>
            <a:ext cx="3441700" cy="2565400"/>
          </a:xfrm>
          <a:prstGeom prst="rect">
            <a:avLst/>
          </a:prstGeo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2F9324D-4EAF-594F-A477-F1460DE28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60" y="2915341"/>
            <a:ext cx="2603500" cy="1981200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C5C92E26-6E25-ED46-9BD2-F2C923CC283D}"/>
              </a:ext>
            </a:extLst>
          </p:cNvPr>
          <p:cNvSpPr/>
          <p:nvPr/>
        </p:nvSpPr>
        <p:spPr>
          <a:xfrm>
            <a:off x="6455229" y="1493696"/>
            <a:ext cx="3507013" cy="466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2E96A342-3B83-B443-AC5E-E2EE516B5DC0}"/>
              </a:ext>
            </a:extLst>
          </p:cNvPr>
          <p:cNvSpPr/>
          <p:nvPr/>
        </p:nvSpPr>
        <p:spPr>
          <a:xfrm>
            <a:off x="9314548" y="3672486"/>
            <a:ext cx="2112734" cy="466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BF9969B-2F43-7745-8A15-92A1490FE9D2}"/>
              </a:ext>
            </a:extLst>
          </p:cNvPr>
          <p:cNvSpPr/>
          <p:nvPr/>
        </p:nvSpPr>
        <p:spPr>
          <a:xfrm>
            <a:off x="9314548" y="4172614"/>
            <a:ext cx="2112734" cy="466909"/>
          </a:xfrm>
          <a:prstGeom prst="fram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87376828-7E05-D24B-8B12-F732A626ED97}"/>
              </a:ext>
            </a:extLst>
          </p:cNvPr>
          <p:cNvSpPr/>
          <p:nvPr/>
        </p:nvSpPr>
        <p:spPr>
          <a:xfrm>
            <a:off x="6466114" y="2010440"/>
            <a:ext cx="3507013" cy="466909"/>
          </a:xfrm>
          <a:prstGeom prst="fram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3074" name="Picture 2" descr="25+ Best Captain Meow Memes | Tumblr Com Memes, a Href Memes, Â–¡ Memes">
            <a:extLst>
              <a:ext uri="{FF2B5EF4-FFF2-40B4-BE49-F238E27FC236}">
                <a16:creationId xmlns:a16="http://schemas.microsoft.com/office/drawing/2014/main" id="{0AD0F804-834D-FD46-86BA-331F95256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874" y="3452341"/>
            <a:ext cx="25400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83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CDD1-56E6-4389-AFFE-26A42FD6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r>
              <a:rPr lang="en-US" dirty="0"/>
              <a:t>The core of object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/>
              <a:t>oriented programming is the organization of the program by </a:t>
            </a:r>
            <a:r>
              <a:rPr lang="en-US" b="1" dirty="0">
                <a:solidFill>
                  <a:schemeClr val="accent6"/>
                </a:solidFill>
              </a:rPr>
              <a:t>encapsulating</a:t>
            </a:r>
            <a:r>
              <a:rPr lang="en-US" dirty="0"/>
              <a:t> related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functions</a:t>
            </a:r>
            <a:r>
              <a:rPr lang="en-US" dirty="0"/>
              <a:t> together in an object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To encapsulate something means to enclose it in some kind of container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In programming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encapsulation means keeping </a:t>
            </a:r>
            <a:r>
              <a:rPr lang="en-US" b="1" dirty="0">
                <a:solidFill>
                  <a:srgbClr val="E00BE5"/>
                </a:solidFill>
              </a:rPr>
              <a:t>data</a:t>
            </a:r>
            <a:r>
              <a:rPr lang="en-US" dirty="0"/>
              <a:t> and the </a:t>
            </a:r>
            <a:r>
              <a:rPr lang="en-US" b="1" dirty="0">
                <a:solidFill>
                  <a:srgbClr val="E00BE5"/>
                </a:solidFill>
              </a:rPr>
              <a:t>code</a:t>
            </a:r>
            <a:r>
              <a:rPr lang="en-US" dirty="0"/>
              <a:t> that uses it in one place and hiding the details of exactly how they work together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E815B5-A0F6-4AB7-A3AC-6D77EC275801}"/>
              </a:ext>
            </a:extLst>
          </p:cNvPr>
          <p:cNvSpPr/>
          <p:nvPr/>
        </p:nvSpPr>
        <p:spPr>
          <a:xfrm>
            <a:off x="8688874" y="1801561"/>
            <a:ext cx="2283924" cy="55776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7D26D2-32C8-4EC8-B895-03F10F8D9AE4}"/>
              </a:ext>
            </a:extLst>
          </p:cNvPr>
          <p:cNvSpPr/>
          <p:nvPr/>
        </p:nvSpPr>
        <p:spPr>
          <a:xfrm>
            <a:off x="8688874" y="2600779"/>
            <a:ext cx="2283924" cy="14776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0962CE-A6B5-4B3C-85DE-1B9CA7B379B6}"/>
              </a:ext>
            </a:extLst>
          </p:cNvPr>
          <p:cNvSpPr/>
          <p:nvPr/>
        </p:nvSpPr>
        <p:spPr>
          <a:xfrm>
            <a:off x="8688874" y="4319864"/>
            <a:ext cx="2283924" cy="163719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BBE01C-C44B-4EE8-9F05-595BAC0B7A7F}"/>
              </a:ext>
            </a:extLst>
          </p:cNvPr>
          <p:cNvSpPr/>
          <p:nvPr/>
        </p:nvSpPr>
        <p:spPr>
          <a:xfrm>
            <a:off x="7598978" y="1191126"/>
            <a:ext cx="4463716" cy="5378116"/>
          </a:xfrm>
          <a:prstGeom prst="ellipse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DF094-E06A-4842-8081-7F4CC8DF2303}"/>
              </a:ext>
            </a:extLst>
          </p:cNvPr>
          <p:cNvSpPr txBox="1"/>
          <p:nvPr/>
        </p:nvSpPr>
        <p:spPr>
          <a:xfrm>
            <a:off x="8562700" y="578945"/>
            <a:ext cx="2536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00BE5"/>
                </a:solidFill>
              </a:rPr>
              <a:t>Encapsulation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8C931-5832-4830-8E6E-DC988A727470}"/>
              </a:ext>
            </a:extLst>
          </p:cNvPr>
          <p:cNvSpPr txBox="1"/>
          <p:nvPr/>
        </p:nvSpPr>
        <p:spPr>
          <a:xfrm>
            <a:off x="4942733" y="727514"/>
            <a:ext cx="446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forward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(50)</a:t>
            </a: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kitty.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scratch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   </a:t>
            </a:r>
          </a:p>
        </p:txBody>
      </p:sp>
    </p:spTree>
    <p:extLst>
      <p:ext uri="{BB962C8B-B14F-4D97-AF65-F5344CB8AC3E}">
        <p14:creationId xmlns:p14="http://schemas.microsoft.com/office/powerpoint/2010/main" val="432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Encapsulate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05" y="1848718"/>
            <a:ext cx="5494225" cy="4835479"/>
          </a:xfrm>
        </p:spPr>
        <p:txBody>
          <a:bodyPr>
            <a:normAutofit/>
          </a:bodyPr>
          <a:lstStyle/>
          <a:p>
            <a:r>
              <a:rPr lang="en-US" dirty="0"/>
              <a:t>For example, each instance of class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file </a:t>
            </a:r>
            <a:r>
              <a:rPr lang="en-US" dirty="0"/>
              <a:t>keeps track of which file on the disk it is reading/writing and where it currently is on that file.</a:t>
            </a:r>
          </a:p>
          <a:p>
            <a:r>
              <a:rPr lang="en-US" dirty="0"/>
              <a:t>The class hides the details of how it is done, so we (as programmers) can use it without needing to know how it is implemented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C905-178B-CA41-8B19-EA10E8450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1890282"/>
            <a:ext cx="3215081" cy="987874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3F3FD835-FD46-F34C-BF61-7E7B64F8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074" y="2236567"/>
            <a:ext cx="3608926" cy="2927007"/>
          </a:xfrm>
          <a:prstGeom prst="rect">
            <a:avLst/>
          </a:prstGeom>
        </p:spPr>
      </p:pic>
      <p:pic>
        <p:nvPicPr>
          <p:cNvPr id="12" name="Picture 11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8356DD0C-A1C9-5E48-9D39-547659B49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4521984"/>
            <a:ext cx="3215078" cy="987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C792F3-70FB-1A4E-BBF6-02951E641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6" y="5459295"/>
            <a:ext cx="6144519" cy="26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CA" dirty="0"/>
              <a:t>Point Class Recap</a:t>
            </a:r>
          </a:p>
          <a:p>
            <a:pPr lvl="1"/>
            <a:r>
              <a:rPr lang="en-CA" dirty="0"/>
              <a:t>Rectangle Class</a:t>
            </a:r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Encapsulation</a:t>
            </a:r>
          </a:p>
        </p:txBody>
      </p:sp>
      <p:pic>
        <p:nvPicPr>
          <p:cNvPr id="5" name="Picture 2" descr="Pretty layers of encapsulation : r/ProgrammerHumor">
            <a:extLst>
              <a:ext uri="{FF2B5EF4-FFF2-40B4-BE49-F238E27FC236}">
                <a16:creationId xmlns:a16="http://schemas.microsoft.com/office/drawing/2014/main" id="{50471478-DAE1-3341-B655-F3D05BDDF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3028181"/>
            <a:ext cx="4786745" cy="333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884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662-D2F9-454D-8182-0E3A3A7F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E886-4A89-AD42-9138-CE102F1D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would be nice to not have to write a print statement when we want to display attribute information: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there a better way to encapsulate this? How about a method?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D78018B-EE42-7446-A316-AC67025A187A}"/>
              </a:ext>
            </a:extLst>
          </p:cNvPr>
          <p:cNvSpPr txBox="1"/>
          <p:nvPr/>
        </p:nvSpPr>
        <p:spPr>
          <a:xfrm>
            <a:off x="4064635" y="2778242"/>
            <a:ext cx="8127365" cy="353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print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.x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,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US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.y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3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</a:t>
            </a: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 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p.halfway(Point(5,12))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r.</a:t>
            </a: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'(4,8)'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E1DC6-BC1E-1849-9678-E19549819074}"/>
              </a:ext>
            </a:extLst>
          </p:cNvPr>
          <p:cNvSpPr txBox="1"/>
          <p:nvPr/>
        </p:nvSpPr>
        <p:spPr>
          <a:xfrm>
            <a:off x="-1407320" y="2778242"/>
            <a:ext cx="750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print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)</a:t>
            </a:r>
          </a:p>
          <a:p>
            <a:pPr marL="1765300" lvl="0">
              <a:defRPr/>
            </a:pPr>
            <a:r>
              <a:rPr lang="en-CA" dirty="0">
                <a:solidFill>
                  <a:srgbClr val="00FF00"/>
                </a:solidFill>
              </a:rPr>
              <a:t>&lt;__</a:t>
            </a:r>
            <a:r>
              <a:rPr lang="en-CA" dirty="0" err="1">
                <a:solidFill>
                  <a:srgbClr val="00FF00"/>
                </a:solidFill>
              </a:rPr>
              <a:t>main__.Point</a:t>
            </a:r>
            <a:r>
              <a:rPr lang="en-CA" dirty="0">
                <a:solidFill>
                  <a:srgbClr val="00FF00"/>
                </a:solidFill>
              </a:rPr>
              <a:t> object at 0x7fd8100778b0&gt;</a:t>
            </a:r>
            <a:endParaRPr kumimoji="0" lang="en-CA" sz="18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0158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662-D2F9-454D-8182-0E3A3A7F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E886-4A89-AD42-9138-CE102F1D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had a method, we just need to format the attributes into a string: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could make a similar method for any class (ex: Square)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E1DC6-BC1E-1849-9678-E19549819074}"/>
              </a:ext>
            </a:extLst>
          </p:cNvPr>
          <p:cNvSpPr txBox="1"/>
          <p:nvPr/>
        </p:nvSpPr>
        <p:spPr>
          <a:xfrm>
            <a:off x="178590" y="2812201"/>
            <a:ext cx="8422485" cy="2945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class Point: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"""A class that represents and manipulates 2D points"""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(self):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(self) -&gt; None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Prints the (x, y) coordinate for the point.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print('('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self.x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', '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self.y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')')</a:t>
            </a:r>
            <a:endParaRPr kumimoji="0" lang="en-CA" sz="18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F6282-2CF2-3A45-AD92-A60375377CB9}"/>
              </a:ext>
            </a:extLst>
          </p:cNvPr>
          <p:cNvSpPr txBox="1"/>
          <p:nvPr/>
        </p:nvSpPr>
        <p:spPr>
          <a:xfrm>
            <a:off x="6096000" y="2812201"/>
            <a:ext cx="61650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</a:t>
            </a:r>
            <a:r>
              <a:rPr lang="en-CA" spc="-5" dirty="0" err="1">
                <a:solidFill>
                  <a:srgbClr val="00FCFF"/>
                </a:solidFill>
                <a:latin typeface="Courier New"/>
                <a:cs typeface="Courier New"/>
              </a:rPr>
              <a:t>to_string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 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-5" normalizeH="0" baseline="0" noProof="0" dirty="0" err="1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p.halfway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(Point(5,12))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 err="1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r.to_string</a:t>
            </a:r>
            <a:r>
              <a:rPr lang="en-CA" sz="1800" spc="-5" dirty="0">
                <a:solidFill>
                  <a:srgbClr val="00FCFF"/>
                </a:solidFill>
                <a:latin typeface="Courier New"/>
                <a:cs typeface="Courier New"/>
              </a:rPr>
              <a:t>()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'(4,8)'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5980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714788"/>
            <a:ext cx="10674928" cy="4835479"/>
          </a:xfrm>
        </p:spPr>
        <p:txBody>
          <a:bodyPr>
            <a:normAutofit/>
          </a:bodyPr>
          <a:lstStyle/>
          <a:p>
            <a:r>
              <a:rPr lang="en-US" sz="2400" dirty="0"/>
              <a:t>If every class we made had a </a:t>
            </a:r>
            <a:r>
              <a:rPr lang="en-US" sz="2400" dirty="0" err="1"/>
              <a:t>to_string</a:t>
            </a:r>
            <a:r>
              <a:rPr lang="en-US" sz="2400" dirty="0"/>
              <a:t>() method, great!</a:t>
            </a:r>
          </a:p>
          <a:p>
            <a:pPr lvl="1"/>
            <a:r>
              <a:rPr lang="en-US" sz="2000" dirty="0"/>
              <a:t>Easy to remember</a:t>
            </a:r>
          </a:p>
          <a:p>
            <a:pPr lvl="1"/>
            <a:r>
              <a:rPr lang="en-US" sz="2000" dirty="0"/>
              <a:t>All formatting specific to printing an object would be encapsulated</a:t>
            </a:r>
          </a:p>
          <a:p>
            <a:pPr lvl="1"/>
            <a:r>
              <a:rPr lang="en-US" sz="2000" dirty="0"/>
              <a:t>But they won’t all have one…</a:t>
            </a:r>
          </a:p>
          <a:p>
            <a:pPr lvl="1"/>
            <a:endParaRPr lang="en-US" sz="2000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What if other people made their own method for printing and called it something else?</a:t>
            </a:r>
          </a:p>
          <a:p>
            <a:pPr lvl="1"/>
            <a:r>
              <a:rPr lang="en-US" sz="2000" dirty="0"/>
              <a:t>Then it would no longer be obvious how to quickly display information</a:t>
            </a:r>
          </a:p>
          <a:p>
            <a:pPr lvl="1"/>
            <a:r>
              <a:rPr lang="en-US" sz="2000" dirty="0"/>
              <a:t>Is it called </a:t>
            </a:r>
            <a:r>
              <a:rPr lang="en-US" sz="2000" dirty="0" err="1">
                <a:solidFill>
                  <a:srgbClr val="FF00E9"/>
                </a:solidFill>
              </a:rPr>
              <a:t>to_string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rgbClr val="00FF00"/>
                </a:solidFill>
              </a:rPr>
              <a:t>tostring</a:t>
            </a:r>
            <a:r>
              <a:rPr lang="en-US" sz="2000" dirty="0"/>
              <a:t>? </a:t>
            </a:r>
            <a:r>
              <a:rPr lang="en-US" sz="2000" dirty="0">
                <a:solidFill>
                  <a:srgbClr val="FF0000"/>
                </a:solidFill>
              </a:rPr>
              <a:t>2stringz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rgbClr val="00FCFF"/>
                </a:solidFill>
              </a:rPr>
              <a:t>print_point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chemeClr val="accent6"/>
                </a:solidFill>
              </a:rPr>
              <a:t>plz_print_me</a:t>
            </a:r>
            <a:r>
              <a:rPr lang="en-US" sz="2000" dirty="0"/>
              <a:t>?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8F186-4E7A-3B4F-A108-57DE31D51590}"/>
              </a:ext>
            </a:extLst>
          </p:cNvPr>
          <p:cNvSpPr txBox="1"/>
          <p:nvPr/>
        </p:nvSpPr>
        <p:spPr>
          <a:xfrm>
            <a:off x="838200" y="5668821"/>
            <a:ext cx="4601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Python has a clever trick for this!</a:t>
            </a:r>
          </a:p>
        </p:txBody>
      </p:sp>
      <p:pic>
        <p:nvPicPr>
          <p:cNvPr id="8194" name="Picture 2" descr="how it really feels like : r/ProgrammerHumor">
            <a:extLst>
              <a:ext uri="{FF2B5EF4-FFF2-40B4-BE49-F238E27FC236}">
                <a16:creationId xmlns:a16="http://schemas.microsoft.com/office/drawing/2014/main" id="{CEA5A02B-FEDA-464B-B0D2-F007E79FF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726" y="602822"/>
            <a:ext cx="3161146" cy="194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63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714788"/>
            <a:ext cx="10674928" cy="4835479"/>
          </a:xfrm>
        </p:spPr>
        <p:txBody>
          <a:bodyPr>
            <a:normAutofit/>
          </a:bodyPr>
          <a:lstStyle/>
          <a:p>
            <a:r>
              <a:rPr lang="en-US" sz="2400" dirty="0"/>
              <a:t>If we call our new method __str__ instead of </a:t>
            </a:r>
            <a:r>
              <a:rPr lang="en-US" sz="2400" dirty="0" err="1"/>
              <a:t>to_string</a:t>
            </a:r>
            <a:r>
              <a:rPr lang="en-US" sz="2400" dirty="0"/>
              <a:t>, Python will use our code whenever it needs to convert Point to a string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E7499-C0F9-F547-ABC0-4E4BBDCDA094}"/>
              </a:ext>
            </a:extLst>
          </p:cNvPr>
          <p:cNvSpPr txBox="1"/>
          <p:nvPr/>
        </p:nvSpPr>
        <p:spPr>
          <a:xfrm>
            <a:off x="339436" y="2557597"/>
            <a:ext cx="93189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class Point: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"""A class that represents and manipulates 2D points"""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__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init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__(self, x=0 , y=0):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	 ...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__str__(self):</a:t>
            </a:r>
            <a:endParaRPr lang="en-CA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return (‘(’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self.x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‘,’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self.y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‘)’)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ECCCE-23F1-CB4C-BA91-2EA82025E5D0}"/>
              </a:ext>
            </a:extLst>
          </p:cNvPr>
          <p:cNvSpPr txBox="1"/>
          <p:nvPr/>
        </p:nvSpPr>
        <p:spPr>
          <a:xfrm>
            <a:off x="0" y="5351200"/>
            <a:ext cx="4629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print(p)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7488CEE-3FC7-3E4F-860A-A1036F9CAB76}"/>
              </a:ext>
            </a:extLst>
          </p:cNvPr>
          <p:cNvSpPr txBox="1"/>
          <p:nvPr/>
        </p:nvSpPr>
        <p:spPr>
          <a:xfrm>
            <a:off x="5676900" y="5329429"/>
            <a:ext cx="5337464" cy="836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algn="just" defTabSz="914400" rtl="0" eaLnBrk="1" fontAlgn="auto" latinLnBrk="0" hangingPunct="1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9720" algn="l"/>
              </a:tabLst>
              <a:defRPr/>
            </a:pPr>
            <a:r>
              <a:rPr kumimoji="0" lang="en-CA" sz="1800" b="1" i="0" u="none" strike="noStrike" kern="1200" cap="none" spc="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er!</a:t>
            </a:r>
            <a:r>
              <a:rPr kumimoji="0" lang="en-CA" sz="1800" b="1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CA" spc="5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5080" lvl="0" algn="just" defTabSz="914400" rtl="0" eaLnBrk="1" fontAlgn="auto" latinLnBrk="0" hangingPunct="1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9720" algn="l"/>
              </a:tabLst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hen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sz="1800" b="0" i="0" u="none" strike="noStrike" kern="1200" cap="none" spc="4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print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(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obj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)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, th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obj.</a:t>
            </a:r>
            <a:r>
              <a:rPr kumimoji="0" lang="en-US" sz="1800" b="0" i="0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__</a:t>
            </a:r>
            <a:r>
              <a:rPr kumimoji="0" sz="1800" b="0" i="0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st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r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(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)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is c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to fi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nt</a:t>
            </a: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DD1F613A-4624-5E46-8FB6-37635B42749C}"/>
              </a:ext>
            </a:extLst>
          </p:cNvPr>
          <p:cNvSpPr/>
          <p:nvPr/>
        </p:nvSpPr>
        <p:spPr>
          <a:xfrm>
            <a:off x="522514" y="4049484"/>
            <a:ext cx="8730343" cy="97059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462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US" dirty="0"/>
              <a:t>__str__ method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Printing Objects</a:t>
            </a:r>
          </a:p>
        </p:txBody>
      </p:sp>
      <p:pic>
        <p:nvPicPr>
          <p:cNvPr id="5" name="Picture 2" descr="OOPS : r/ProgrammerHumor">
            <a:extLst>
              <a:ext uri="{FF2B5EF4-FFF2-40B4-BE49-F238E27FC236}">
                <a16:creationId xmlns:a16="http://schemas.microsoft.com/office/drawing/2014/main" id="{0327627B-26F9-CD45-BBC5-A1A0ECFF7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03146"/>
            <a:ext cx="5570393" cy="348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19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F1F2-87C7-DA47-91C7-1F3842EB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Build a Cash Register!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F3C4-C09D-BB4F-98E3-9D50BB19C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34213" cy="4835479"/>
          </a:xfrm>
        </p:spPr>
        <p:txBody>
          <a:bodyPr/>
          <a:lstStyle/>
          <a:p>
            <a:r>
              <a:rPr lang="en-US" dirty="0"/>
              <a:t>We want to build a cash register program.  What features do we want?</a:t>
            </a:r>
          </a:p>
          <a:p>
            <a:pPr lvl="1"/>
            <a:r>
              <a:rPr lang="en-US" dirty="0">
                <a:solidFill>
                  <a:srgbClr val="00FCFF"/>
                </a:solidFill>
              </a:rPr>
              <a:t>Track number of:</a:t>
            </a:r>
          </a:p>
          <a:p>
            <a:pPr lvl="2"/>
            <a:r>
              <a:rPr lang="en-CA" dirty="0"/>
              <a:t>Loonies</a:t>
            </a:r>
          </a:p>
          <a:p>
            <a:pPr lvl="2"/>
            <a:r>
              <a:rPr lang="en-CA" dirty="0"/>
              <a:t>Toonies</a:t>
            </a:r>
          </a:p>
          <a:p>
            <a:pPr lvl="2"/>
            <a:r>
              <a:rPr lang="en-CA" dirty="0"/>
              <a:t>$5 bills </a:t>
            </a:r>
          </a:p>
          <a:p>
            <a:pPr lvl="2"/>
            <a:r>
              <a:rPr lang="en-CA" dirty="0"/>
              <a:t>$10 bills</a:t>
            </a:r>
          </a:p>
          <a:p>
            <a:pPr lvl="2"/>
            <a:r>
              <a:rPr lang="en-CA" dirty="0"/>
              <a:t>$20 bills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Accepts cash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Removes cash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Calculates value of contents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Print the entire contents</a:t>
            </a:r>
          </a:p>
          <a:p>
            <a:pPr lvl="1"/>
            <a:endParaRPr lang="en-US" dirty="0"/>
          </a:p>
        </p:txBody>
      </p:sp>
      <p:pic>
        <p:nvPicPr>
          <p:cNvPr id="1026" name="Picture 2" descr="I so smart - Imgflip">
            <a:extLst>
              <a:ext uri="{FF2B5EF4-FFF2-40B4-BE49-F238E27FC236}">
                <a16:creationId xmlns:a16="http://schemas.microsoft.com/office/drawing/2014/main" id="{4A275BF4-E18C-9147-ADA3-6E09740A9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942" y="3717036"/>
            <a:ext cx="3680282" cy="276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641F1D-ACF1-894C-AC25-E7FFC8624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867" y="774699"/>
            <a:ext cx="808736" cy="80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8EEEF0D-2F8F-F24F-8AE1-F47A8A54B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4202" y="756170"/>
            <a:ext cx="821632" cy="8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$5 Polymer Note - Bank of Canada">
            <a:extLst>
              <a:ext uri="{FF2B5EF4-FFF2-40B4-BE49-F238E27FC236}">
                <a16:creationId xmlns:a16="http://schemas.microsoft.com/office/drawing/2014/main" id="{22DD17E8-4505-7542-9D48-FE0BD89AE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512" y="1707309"/>
            <a:ext cx="1760434" cy="8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some money&#10;&#10;Description automatically generated with low confidence">
            <a:extLst>
              <a:ext uri="{FF2B5EF4-FFF2-40B4-BE49-F238E27FC236}">
                <a16:creationId xmlns:a16="http://schemas.microsoft.com/office/drawing/2014/main" id="{B9125843-BC27-C74C-8A68-770FC38984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790" y="2153190"/>
            <a:ext cx="1760434" cy="790435"/>
          </a:xfrm>
          <a:prstGeom prst="rect">
            <a:avLst/>
          </a:prstGeom>
        </p:spPr>
      </p:pic>
      <p:pic>
        <p:nvPicPr>
          <p:cNvPr id="7" name="Picture 6" descr="A close-up of some money&#10;&#10;Description automatically generated with medium confidence">
            <a:extLst>
              <a:ext uri="{FF2B5EF4-FFF2-40B4-BE49-F238E27FC236}">
                <a16:creationId xmlns:a16="http://schemas.microsoft.com/office/drawing/2014/main" id="{3F03A9A5-3507-EA49-AF51-BACFC12727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942" y="2656722"/>
            <a:ext cx="1807574" cy="80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0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Breakout Session!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US" dirty="0"/>
              <a:t>Building a cash register</a:t>
            </a:r>
          </a:p>
          <a:p>
            <a:pPr lvl="2"/>
            <a:r>
              <a:rPr lang="en-US" dirty="0"/>
              <a:t>Attributes</a:t>
            </a:r>
          </a:p>
          <a:p>
            <a:pPr lvl="2"/>
            <a:r>
              <a:rPr lang="en-US" dirty="0"/>
              <a:t>Methods</a:t>
            </a:r>
          </a:p>
          <a:p>
            <a:pPr lvl="3"/>
            <a:r>
              <a:rPr lang="en-US" dirty="0"/>
              <a:t>Including __str__ method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Building a Cash Register</a:t>
            </a:r>
          </a:p>
        </p:txBody>
      </p:sp>
      <p:pic>
        <p:nvPicPr>
          <p:cNvPr id="2050" name="Picture 2" descr="do you work here?&quot; No, i just like standing behind a cash register - The  Friendly Cashier - quickmeme">
            <a:extLst>
              <a:ext uri="{FF2B5EF4-FFF2-40B4-BE49-F238E27FC236}">
                <a16:creationId xmlns:a16="http://schemas.microsoft.com/office/drawing/2014/main" id="{88125863-9285-684F-BDA1-A147CA34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3787720"/>
            <a:ext cx="3276600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555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More OOP! </a:t>
            </a:r>
            <a:r>
              <a:rPr lang="en-US" dirty="0"/>
              <a:t>Encapsulation and Examples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10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10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5966729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33157</TotalTime>
  <Words>1206</Words>
  <Application>Microsoft Office PowerPoint</Application>
  <PresentationFormat>Widescreen</PresentationFormat>
  <Paragraphs>196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</vt:lpstr>
      <vt:lpstr>Courier New</vt:lpstr>
      <vt:lpstr>Impact</vt:lpstr>
      <vt:lpstr>Segoe UI</vt:lpstr>
      <vt:lpstr>Wingdings</vt:lpstr>
      <vt:lpstr>APS106_PPTX_Theme</vt:lpstr>
      <vt:lpstr>More OOP! Encapsulation and Examples</vt:lpstr>
      <vt:lpstr>This Week’s Content</vt:lpstr>
      <vt:lpstr>Exam: April 15, 2:00 PM  Bahen (1), Myhal (1), Wallberg (2)</vt:lpstr>
      <vt:lpstr>Online Tutorial</vt:lpstr>
      <vt:lpstr>Coffee Break with a TA!</vt:lpstr>
      <vt:lpstr>Why OOP?</vt:lpstr>
      <vt:lpstr>Why OOP?</vt:lpstr>
      <vt:lpstr>Encapsulation</vt:lpstr>
      <vt:lpstr>Encapsulate it!</vt:lpstr>
      <vt:lpstr>Let’s Code!</vt:lpstr>
      <vt:lpstr>Printing Information</vt:lpstr>
      <vt:lpstr>Printing Information</vt:lpstr>
      <vt:lpstr>Printing Information</vt:lpstr>
      <vt:lpstr>Printing Information</vt:lpstr>
      <vt:lpstr>Let’s Code!</vt:lpstr>
      <vt:lpstr>Let’s Build a Cash Register!</vt:lpstr>
      <vt:lpstr>Breakout Session!</vt:lpstr>
      <vt:lpstr>More OOP! Encapsulation and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246</cp:revision>
  <dcterms:created xsi:type="dcterms:W3CDTF">2021-11-03T00:49:37Z</dcterms:created>
  <dcterms:modified xsi:type="dcterms:W3CDTF">2025-12-18T15:19:29Z</dcterms:modified>
</cp:coreProperties>
</file>