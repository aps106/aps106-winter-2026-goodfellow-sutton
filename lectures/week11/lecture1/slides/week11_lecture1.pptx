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0" r:id="rId1"/>
  </p:sldMasterIdLst>
  <p:notesMasterIdLst>
    <p:notesMasterId r:id="rId15"/>
  </p:notesMasterIdLst>
  <p:sldIdLst>
    <p:sldId id="256" r:id="rId2"/>
    <p:sldId id="356" r:id="rId3"/>
    <p:sldId id="411" r:id="rId4"/>
    <p:sldId id="695" r:id="rId5"/>
    <p:sldId id="693" r:id="rId6"/>
    <p:sldId id="696" r:id="rId7"/>
    <p:sldId id="701" r:id="rId8"/>
    <p:sldId id="697" r:id="rId9"/>
    <p:sldId id="698" r:id="rId10"/>
    <p:sldId id="428" r:id="rId11"/>
    <p:sldId id="429" r:id="rId12"/>
    <p:sldId id="700" r:id="rId13"/>
    <p:sldId id="690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99FF"/>
    <a:srgbClr val="00FF00"/>
    <a:srgbClr val="FFFFFF"/>
    <a:srgbClr val="66FF99"/>
    <a:srgbClr val="00FCFF"/>
    <a:srgbClr val="FF00E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38521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156" y="29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25D7D83-D401-9A49-861D-A02E2788C764}" type="datetimeFigureOut">
              <a:rPr lang="en-US" smtClean="0"/>
              <a:t>3/22/2026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236AFEF-5B50-AD45-8E89-F62EC9932D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35229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3D110-B33C-3E49-B5DC-7F1369944E6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83064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3D110-B33C-3E49-B5DC-7F1369944E63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75963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3D110-B33C-3E49-B5DC-7F1369944E63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77817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F8F638-606D-A22E-8F9F-A4A6D858ED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5947" y="3285779"/>
            <a:ext cx="11391065" cy="893580"/>
          </a:xfr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EB4BAB1-A261-2102-CEA9-063F697A42A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5947" y="4553849"/>
            <a:ext cx="11391065" cy="1655762"/>
          </a:xfrm>
        </p:spPr>
        <p:txBody>
          <a:bodyPr/>
          <a:lstStyle>
            <a:lvl1pPr marL="0" indent="0">
              <a:buNone/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90206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3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BFABF-0FF7-46A7-A3E7-B6C1EFC20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444445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1B3E0-28C0-49B4-B789-CFB199546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35479"/>
          </a:xfrm>
          <a:prstGeom prst="rect">
            <a:avLst/>
          </a:prstGeom>
        </p:spPr>
        <p:txBody>
          <a:bodyPr/>
          <a:lstStyle>
            <a:lvl1pPr>
              <a:buClr>
                <a:schemeClr val="accent2"/>
              </a:buClr>
              <a:defRPr>
                <a:solidFill>
                  <a:srgbClr val="444445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rgbClr val="444445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rgbClr val="444445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rgbClr val="444445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rgbClr val="444445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22382664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BFABF-0FF7-46A7-A3E7-B6C1EFC20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1B3E0-28C0-49B4-B789-CFB199546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35479"/>
          </a:xfrm>
          <a:prstGeom prst="rect">
            <a:avLst/>
          </a:prstGeom>
        </p:spPr>
        <p:txBody>
          <a:bodyPr/>
          <a:lstStyle>
            <a:lvl1pPr>
              <a:buClr>
                <a:schemeClr val="accent6"/>
              </a:buClr>
              <a:defRPr>
                <a:solidFill>
                  <a:srgbClr val="FFFFFF"/>
                </a:solidFill>
              </a:defRPr>
            </a:lvl1pPr>
            <a:lvl2pPr>
              <a:buClr>
                <a:schemeClr val="accent6"/>
              </a:buClr>
              <a:defRPr>
                <a:solidFill>
                  <a:srgbClr val="FFFFFF"/>
                </a:solidFill>
              </a:defRPr>
            </a:lvl2pPr>
            <a:lvl3pPr>
              <a:buClr>
                <a:schemeClr val="accent6"/>
              </a:buClr>
              <a:defRPr>
                <a:solidFill>
                  <a:srgbClr val="FFFFFF"/>
                </a:solidFill>
              </a:defRPr>
            </a:lvl3pPr>
            <a:lvl4pPr>
              <a:buClr>
                <a:schemeClr val="accent6"/>
              </a:buClr>
              <a:defRPr>
                <a:solidFill>
                  <a:srgbClr val="FFFFFF"/>
                </a:solidFill>
              </a:defRPr>
            </a:lvl4pPr>
            <a:lvl5pPr>
              <a:buClr>
                <a:schemeClr val="accent6"/>
              </a:buClr>
              <a:defRPr>
                <a:solidFill>
                  <a:srgbClr val="FFFFFF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1990413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BFABF-0FF7-46A7-A3E7-B6C1EFC20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1B3E0-28C0-49B4-B789-CFB199546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35479"/>
          </a:xfrm>
          <a:prstGeom prst="rect">
            <a:avLst/>
          </a:prstGeom>
        </p:spPr>
        <p:txBody>
          <a:bodyPr/>
          <a:lstStyle>
            <a:lvl1pPr>
              <a:buClr>
                <a:schemeClr val="accent6"/>
              </a:buClr>
              <a:defRPr>
                <a:solidFill>
                  <a:srgbClr val="FFFFFF"/>
                </a:solidFill>
              </a:defRPr>
            </a:lvl1pPr>
            <a:lvl2pPr>
              <a:buClr>
                <a:schemeClr val="accent6"/>
              </a:buClr>
              <a:defRPr>
                <a:solidFill>
                  <a:srgbClr val="FFFFFF"/>
                </a:solidFill>
              </a:defRPr>
            </a:lvl2pPr>
            <a:lvl3pPr>
              <a:buClr>
                <a:schemeClr val="accent6"/>
              </a:buClr>
              <a:defRPr>
                <a:solidFill>
                  <a:srgbClr val="FFFFFF"/>
                </a:solidFill>
              </a:defRPr>
            </a:lvl3pPr>
            <a:lvl4pPr>
              <a:buClr>
                <a:schemeClr val="accent6"/>
              </a:buClr>
              <a:defRPr>
                <a:solidFill>
                  <a:srgbClr val="FFFFFF"/>
                </a:solidFill>
              </a:defRPr>
            </a:lvl4pPr>
            <a:lvl5pPr>
              <a:buClr>
                <a:schemeClr val="accent6"/>
              </a:buClr>
              <a:defRPr>
                <a:solidFill>
                  <a:srgbClr val="FFFFFF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2737013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4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BFABF-0FF7-46A7-A3E7-B6C1EFC20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171717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1B3E0-28C0-49B4-B789-CFB199546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35479"/>
          </a:xfrm>
          <a:prstGeom prst="rect">
            <a:avLst/>
          </a:prstGeom>
        </p:spPr>
        <p:txBody>
          <a:bodyPr/>
          <a:lstStyle>
            <a:lvl1pPr>
              <a:buClr>
                <a:schemeClr val="accent2"/>
              </a:buClr>
              <a:defRPr>
                <a:solidFill>
                  <a:srgbClr val="171717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rgbClr val="171717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rgbClr val="171717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rgbClr val="171717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rgbClr val="171717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7498898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5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BFABF-0FF7-46A7-A3E7-B6C1EFC20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1B3E0-28C0-49B4-B789-CFB199546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35479"/>
          </a:xfrm>
          <a:prstGeom prst="rect">
            <a:avLst/>
          </a:prstGeom>
        </p:spPr>
        <p:txBody>
          <a:bodyPr/>
          <a:lstStyle>
            <a:lvl1pPr>
              <a:buClr>
                <a:schemeClr val="accent2"/>
              </a:buClr>
              <a:defRPr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20377482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6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BFABF-0FF7-46A7-A3E7-B6C1EFC20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1B3E0-28C0-49B4-B789-CFB199546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35479"/>
          </a:xfrm>
          <a:prstGeom prst="rect">
            <a:avLst/>
          </a:prstGeom>
        </p:spPr>
        <p:txBody>
          <a:bodyPr/>
          <a:lstStyle>
            <a:lvl1pPr>
              <a:buClr>
                <a:schemeClr val="accent2"/>
              </a:buClr>
              <a:defRPr>
                <a:solidFill>
                  <a:srgbClr val="FFFFFF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rgbClr val="FFFFFF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rgbClr val="FFFFFF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rgbClr val="FFFFFF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rgbClr val="FFFFFF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0152077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9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D40C5A8-72D0-4B08-8FDA-49B8D1F97D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27514"/>
            <a:ext cx="10515600" cy="6561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E5D9C3-E281-4B14-8306-28D6CE33EC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4"/>
            <a:ext cx="10515600" cy="48421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6047475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2" r:id="rId2"/>
    <p:sldLayoutId id="2147483673" r:id="rId3"/>
    <p:sldLayoutId id="2147483674" r:id="rId4"/>
    <p:sldLayoutId id="2147483675" r:id="rId5"/>
    <p:sldLayoutId id="2147483676" r:id="rId6"/>
    <p:sldLayoutId id="2147483677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007EE5"/>
        </a:buClr>
        <a:buFont typeface="Wingdings" panose="05000000000000000000" pitchFamily="2" charset="2"/>
        <a:buChar char="§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7EE5"/>
        </a:buClr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7EE5"/>
        </a:buClr>
        <a:buFont typeface="Wingdings" panose="05000000000000000000" pitchFamily="2" charset="2"/>
        <a:buChar char="§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7EE5"/>
        </a:buClr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7EE5"/>
        </a:buClr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jp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8.jpg"/><Relationship Id="rId5" Type="http://schemas.openxmlformats.org/officeDocument/2006/relationships/image" Target="../media/image17.jpeg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7F06F2-AC3E-484E-9926-59D4F59092C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more OOP</a:t>
            </a:r>
            <a:r>
              <a:rPr lang="en-US" dirty="0">
                <a:solidFill>
                  <a:schemeClr val="accent6"/>
                </a:solidFill>
              </a:rPr>
              <a:t>!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B07687-F068-40FC-84A1-E7860490CAC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b="1" dirty="0"/>
              <a:t>Week </a:t>
            </a:r>
            <a:r>
              <a:rPr lang="en-US" b="1" dirty="0">
                <a:solidFill>
                  <a:schemeClr val="accent6"/>
                </a:solidFill>
              </a:rPr>
              <a:t>11</a:t>
            </a:r>
            <a:r>
              <a:rPr lang="en-US" b="1" dirty="0"/>
              <a:t> </a:t>
            </a:r>
            <a:r>
              <a:rPr lang="en-US" dirty="0">
                <a:solidFill>
                  <a:schemeClr val="accent2"/>
                </a:solidFill>
              </a:rPr>
              <a:t>|</a:t>
            </a:r>
            <a:r>
              <a:rPr lang="en-US" dirty="0"/>
              <a:t> Lecture </a:t>
            </a:r>
            <a:r>
              <a:rPr lang="en-US" dirty="0">
                <a:solidFill>
                  <a:schemeClr val="accent6"/>
                </a:solidFill>
              </a:rPr>
              <a:t>1 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>
                <a:solidFill>
                  <a:schemeClr val="accent6"/>
                </a:solidFill>
              </a:rPr>
              <a:t>11</a:t>
            </a:r>
            <a:r>
              <a:rPr lang="en-US" dirty="0"/>
              <a:t>.</a:t>
            </a:r>
            <a:r>
              <a:rPr lang="en-US" dirty="0">
                <a:solidFill>
                  <a:schemeClr val="accent6"/>
                </a:solidFill>
              </a:rPr>
              <a:t>1</a:t>
            </a:r>
            <a:r>
              <a:rPr lang="en-US" dirty="0">
                <a:solidFill>
                  <a:schemeClr val="accent1"/>
                </a:soli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2806432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DA742D-1B93-4351-9522-5F2B39F3DE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Encapsulation</a:t>
            </a:r>
            <a:r>
              <a:rPr lang="en-US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0BCDD1-56E6-4389-AFFE-26A42FD638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6789821" cy="4835479"/>
          </a:xfrm>
        </p:spPr>
        <p:txBody>
          <a:bodyPr>
            <a:normAutofit/>
          </a:bodyPr>
          <a:lstStyle/>
          <a:p>
            <a:r>
              <a:rPr lang="en-US" dirty="0"/>
              <a:t>The core of object</a:t>
            </a:r>
            <a:r>
              <a:rPr lang="en-US" dirty="0">
                <a:solidFill>
                  <a:srgbClr val="00FF00"/>
                </a:solidFill>
              </a:rPr>
              <a:t>-</a:t>
            </a:r>
            <a:r>
              <a:rPr lang="en-US" dirty="0"/>
              <a:t>oriented programming is the organization of the program by </a:t>
            </a:r>
            <a:r>
              <a:rPr lang="en-US" b="1" dirty="0">
                <a:solidFill>
                  <a:schemeClr val="accent6"/>
                </a:solidFill>
              </a:rPr>
              <a:t>encapsulating</a:t>
            </a:r>
            <a:r>
              <a:rPr lang="en-US" dirty="0"/>
              <a:t> related </a:t>
            </a:r>
            <a:r>
              <a:rPr lang="en-US" dirty="0">
                <a:solidFill>
                  <a:schemeClr val="accent6"/>
                </a:solidFill>
              </a:rPr>
              <a:t>data</a:t>
            </a:r>
            <a:r>
              <a:rPr lang="en-US" dirty="0"/>
              <a:t> and </a:t>
            </a:r>
            <a:r>
              <a:rPr lang="en-US" dirty="0">
                <a:solidFill>
                  <a:schemeClr val="accent6"/>
                </a:solidFill>
              </a:rPr>
              <a:t>functions</a:t>
            </a:r>
            <a:r>
              <a:rPr lang="en-US" dirty="0"/>
              <a:t> together in an object</a:t>
            </a:r>
            <a:r>
              <a:rPr lang="en-US" dirty="0">
                <a:solidFill>
                  <a:srgbClr val="00FF00"/>
                </a:solidFill>
              </a:rPr>
              <a:t>.</a:t>
            </a:r>
          </a:p>
          <a:p>
            <a:r>
              <a:rPr lang="en-US" dirty="0"/>
              <a:t>To encapsulate something means to enclose it in some kind of container</a:t>
            </a:r>
            <a:r>
              <a:rPr lang="en-US" dirty="0">
                <a:solidFill>
                  <a:srgbClr val="00FF00"/>
                </a:solidFill>
              </a:rPr>
              <a:t>.</a:t>
            </a:r>
            <a:r>
              <a:rPr lang="en-US" dirty="0"/>
              <a:t> </a:t>
            </a:r>
          </a:p>
          <a:p>
            <a:r>
              <a:rPr lang="en-US" dirty="0"/>
              <a:t>In programming</a:t>
            </a:r>
            <a:r>
              <a:rPr lang="en-US" dirty="0">
                <a:solidFill>
                  <a:srgbClr val="00FF00"/>
                </a:solidFill>
              </a:rPr>
              <a:t>,</a:t>
            </a:r>
            <a:r>
              <a:rPr lang="en-US" dirty="0"/>
              <a:t> encapsulation means keeping </a:t>
            </a:r>
            <a:r>
              <a:rPr lang="en-US" b="1" dirty="0">
                <a:solidFill>
                  <a:srgbClr val="E00BE5"/>
                </a:solidFill>
              </a:rPr>
              <a:t>data</a:t>
            </a:r>
            <a:r>
              <a:rPr lang="en-US" dirty="0"/>
              <a:t> and the </a:t>
            </a:r>
            <a:r>
              <a:rPr lang="en-US" b="1" dirty="0">
                <a:solidFill>
                  <a:srgbClr val="E00BE5"/>
                </a:solidFill>
              </a:rPr>
              <a:t>code</a:t>
            </a:r>
            <a:r>
              <a:rPr lang="en-US" dirty="0"/>
              <a:t> that uses it in one place and hiding the details of exactly how they work together</a:t>
            </a:r>
            <a:r>
              <a:rPr lang="en-US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6E815B5-A0F6-4AB7-A3AC-6D77EC275801}"/>
              </a:ext>
            </a:extLst>
          </p:cNvPr>
          <p:cNvSpPr/>
          <p:nvPr/>
        </p:nvSpPr>
        <p:spPr>
          <a:xfrm>
            <a:off x="8688874" y="1801561"/>
            <a:ext cx="2283924" cy="557769"/>
          </a:xfrm>
          <a:prstGeom prst="roundRect">
            <a:avLst/>
          </a:prstGeom>
          <a:noFill/>
          <a:ln w="571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Class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D7D26D2-32C8-4EC8-B895-03F10F8D9AE4}"/>
              </a:ext>
            </a:extLst>
          </p:cNvPr>
          <p:cNvSpPr/>
          <p:nvPr/>
        </p:nvSpPr>
        <p:spPr>
          <a:xfrm>
            <a:off x="8688874" y="2600779"/>
            <a:ext cx="2283924" cy="1477636"/>
          </a:xfrm>
          <a:prstGeom prst="roundRect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Attributes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10962CE-A6B5-4B3C-85DE-1B9CA7B379B6}"/>
              </a:ext>
            </a:extLst>
          </p:cNvPr>
          <p:cNvSpPr/>
          <p:nvPr/>
        </p:nvSpPr>
        <p:spPr>
          <a:xfrm>
            <a:off x="8688874" y="4319864"/>
            <a:ext cx="2283924" cy="1637197"/>
          </a:xfrm>
          <a:prstGeom prst="round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Methods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1EBBE01C-C44B-4EE8-9F05-595BAC0B7A7F}"/>
              </a:ext>
            </a:extLst>
          </p:cNvPr>
          <p:cNvSpPr/>
          <p:nvPr/>
        </p:nvSpPr>
        <p:spPr>
          <a:xfrm>
            <a:off x="7598978" y="1191126"/>
            <a:ext cx="4463716" cy="5378116"/>
          </a:xfrm>
          <a:prstGeom prst="ellipse">
            <a:avLst/>
          </a:prstGeom>
          <a:noFill/>
          <a:ln w="38100">
            <a:solidFill>
              <a:srgbClr val="E00BE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8EDF094-E06A-4842-8081-7F4CC8DF2303}"/>
              </a:ext>
            </a:extLst>
          </p:cNvPr>
          <p:cNvSpPr txBox="1"/>
          <p:nvPr/>
        </p:nvSpPr>
        <p:spPr>
          <a:xfrm>
            <a:off x="8562700" y="578945"/>
            <a:ext cx="253627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E00BE5"/>
                </a:solidFill>
              </a:rPr>
              <a:t>Encapsulation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B18C931-5832-4830-8E6E-DC988A727470}"/>
              </a:ext>
            </a:extLst>
          </p:cNvPr>
          <p:cNvSpPr txBox="1"/>
          <p:nvPr/>
        </p:nvSpPr>
        <p:spPr>
          <a:xfrm>
            <a:off x="4942733" y="727514"/>
            <a:ext cx="446371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 err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seb.</a:t>
            </a:r>
            <a:r>
              <a:rPr lang="en-US" sz="2800" b="1" dirty="0" err="1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forward</a:t>
            </a:r>
            <a:r>
              <a:rPr lang="en-US" sz="2800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(50)</a:t>
            </a:r>
          </a:p>
          <a:p>
            <a:r>
              <a:rPr lang="en-US" sz="2800" b="1" dirty="0" err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kitty.</a:t>
            </a:r>
            <a:r>
              <a:rPr lang="en-US" sz="2800" b="1" dirty="0" err="1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scratch</a:t>
            </a:r>
            <a:r>
              <a:rPr lang="en-US" sz="2800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      </a:t>
            </a:r>
          </a:p>
        </p:txBody>
      </p:sp>
    </p:spTree>
    <p:extLst>
      <p:ext uri="{BB962C8B-B14F-4D97-AF65-F5344CB8AC3E}">
        <p14:creationId xmlns:p14="http://schemas.microsoft.com/office/powerpoint/2010/main" val="43285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BFE9CA-3CBC-5841-8561-1BC587C9E1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Encapsulate it</a:t>
            </a:r>
            <a:r>
              <a:rPr lang="en-US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D14B4A-8438-D54A-B041-EC96B896D4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4648200" cy="4835479"/>
          </a:xfrm>
        </p:spPr>
        <p:txBody>
          <a:bodyPr>
            <a:normAutofit/>
          </a:bodyPr>
          <a:lstStyle/>
          <a:p>
            <a:r>
              <a:rPr lang="en-US" dirty="0"/>
              <a:t>For example</a:t>
            </a:r>
            <a:r>
              <a:rPr lang="en-US" dirty="0">
                <a:solidFill>
                  <a:srgbClr val="00FF00"/>
                </a:solidFill>
              </a:rPr>
              <a:t>,</a:t>
            </a:r>
            <a:r>
              <a:rPr lang="en-US" dirty="0"/>
              <a:t> each instance of class</a:t>
            </a:r>
            <a:r>
              <a:rPr lang="en-US" dirty="0">
                <a:solidFill>
                  <a:srgbClr val="00FF00"/>
                </a:solidFill>
                <a:latin typeface="Courier" pitchFamily="2" charset="0"/>
              </a:rPr>
              <a:t> file </a:t>
            </a:r>
            <a:r>
              <a:rPr lang="en-US" dirty="0"/>
              <a:t>keeps track of which file on the disk it is reading</a:t>
            </a:r>
            <a:r>
              <a:rPr lang="en-US" dirty="0">
                <a:solidFill>
                  <a:srgbClr val="00FF00"/>
                </a:solidFill>
              </a:rPr>
              <a:t>/</a:t>
            </a:r>
            <a:r>
              <a:rPr lang="en-US" dirty="0"/>
              <a:t>writing and where it currently is on that file</a:t>
            </a:r>
            <a:r>
              <a:rPr lang="en-US" dirty="0">
                <a:solidFill>
                  <a:srgbClr val="00FF00"/>
                </a:solidFill>
              </a:rPr>
              <a:t>.</a:t>
            </a:r>
          </a:p>
          <a:p>
            <a:r>
              <a:rPr lang="en-US" dirty="0"/>
              <a:t>The class hides the details of how it is done</a:t>
            </a:r>
            <a:r>
              <a:rPr lang="en-US" dirty="0">
                <a:solidFill>
                  <a:srgbClr val="00FF00"/>
                </a:solidFill>
              </a:rPr>
              <a:t>,</a:t>
            </a:r>
            <a:r>
              <a:rPr lang="en-US" dirty="0"/>
              <a:t> so we </a:t>
            </a:r>
            <a:r>
              <a:rPr lang="en-US" dirty="0">
                <a:solidFill>
                  <a:srgbClr val="00FF00"/>
                </a:solidFill>
              </a:rPr>
              <a:t>(</a:t>
            </a:r>
            <a:r>
              <a:rPr lang="en-US" dirty="0"/>
              <a:t>as programmers</a:t>
            </a:r>
            <a:r>
              <a:rPr lang="en-US" dirty="0">
                <a:solidFill>
                  <a:srgbClr val="00FF00"/>
                </a:solidFill>
              </a:rPr>
              <a:t>)</a:t>
            </a:r>
            <a:r>
              <a:rPr lang="en-US" dirty="0"/>
              <a:t> can use it without needing to know how it is implemented</a:t>
            </a:r>
            <a:r>
              <a:rPr lang="en-US" dirty="0">
                <a:solidFill>
                  <a:srgbClr val="00FF00"/>
                </a:solidFill>
              </a:rPr>
              <a:t>.</a:t>
            </a:r>
          </a:p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6E8C905-178B-CA41-8B19-EA10E84501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9787" y="1890282"/>
            <a:ext cx="3215081" cy="987874"/>
          </a:xfrm>
          <a:prstGeom prst="rect">
            <a:avLst/>
          </a:prstGeom>
        </p:spPr>
      </p:pic>
      <p:pic>
        <p:nvPicPr>
          <p:cNvPr id="10" name="Picture 9" descr="Text&#10;&#10;Description automatically generated">
            <a:extLst>
              <a:ext uri="{FF2B5EF4-FFF2-40B4-BE49-F238E27FC236}">
                <a16:creationId xmlns:a16="http://schemas.microsoft.com/office/drawing/2014/main" id="{3F3FD835-FD46-F34C-BF61-7E7B64F803B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83074" y="2236567"/>
            <a:ext cx="3608926" cy="2927007"/>
          </a:xfrm>
          <a:prstGeom prst="rect">
            <a:avLst/>
          </a:prstGeom>
        </p:spPr>
      </p:pic>
      <p:pic>
        <p:nvPicPr>
          <p:cNvPr id="12" name="Picture 11" descr="A black screen with white text&#10;&#10;Description automatically generated with low confidence">
            <a:extLst>
              <a:ext uri="{FF2B5EF4-FFF2-40B4-BE49-F238E27FC236}">
                <a16:creationId xmlns:a16="http://schemas.microsoft.com/office/drawing/2014/main" id="{8356DD0C-A1C9-5E48-9D39-547659B49C3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9787" y="4521984"/>
            <a:ext cx="3215078" cy="98787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8C792F3-70FB-1A4E-BBF6-02951E6411F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9786" y="5459295"/>
            <a:ext cx="6144519" cy="261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0156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D3E942-D48A-CF4F-BAD4-22FE8605A5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Let</a:t>
            </a:r>
            <a:r>
              <a:rPr lang="en-US" b="1" dirty="0">
                <a:solidFill>
                  <a:srgbClr val="00FF00"/>
                </a:solidFill>
              </a:rPr>
              <a:t>’</a:t>
            </a:r>
            <a:r>
              <a:rPr lang="en-US" b="1" dirty="0"/>
              <a:t>s Code</a:t>
            </a:r>
            <a:r>
              <a:rPr lang="en-US" b="1" dirty="0">
                <a:solidFill>
                  <a:srgbClr val="00FF00"/>
                </a:solidFill>
              </a:rPr>
              <a:t>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A3DF1E-F240-BC41-B313-3625DDE1D9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0050" y="1532292"/>
            <a:ext cx="7025986" cy="4835479"/>
          </a:xfrm>
        </p:spPr>
        <p:txBody>
          <a:bodyPr>
            <a:normAutofit/>
          </a:bodyPr>
          <a:lstStyle/>
          <a:p>
            <a:r>
              <a:rPr lang="en-CA" dirty="0"/>
              <a:t>Let</a:t>
            </a:r>
            <a:r>
              <a:rPr lang="en-CA" dirty="0">
                <a:solidFill>
                  <a:srgbClr val="00FF00"/>
                </a:solidFill>
              </a:rPr>
              <a:t>’</a:t>
            </a:r>
            <a:r>
              <a:rPr lang="en-CA" dirty="0"/>
              <a:t>s look at how this works in Python</a:t>
            </a:r>
            <a:r>
              <a:rPr lang="en-CA" dirty="0">
                <a:solidFill>
                  <a:srgbClr val="00FF00"/>
                </a:solidFill>
              </a:rPr>
              <a:t>!</a:t>
            </a:r>
          </a:p>
          <a:p>
            <a:pPr lvl="1"/>
            <a:r>
              <a:rPr lang="en-CA" dirty="0"/>
              <a:t>Point Class Recap</a:t>
            </a:r>
            <a:r>
              <a:rPr lang="en-CA" dirty="0">
                <a:solidFill>
                  <a:srgbClr val="00FF00"/>
                </a:solidFill>
              </a:rPr>
              <a:t>.</a:t>
            </a:r>
          </a:p>
          <a:p>
            <a:pPr lvl="1"/>
            <a:r>
              <a:rPr lang="en-CA" dirty="0"/>
              <a:t>Rectangle Class</a:t>
            </a:r>
            <a:r>
              <a:rPr lang="en-CA" dirty="0">
                <a:solidFill>
                  <a:srgbClr val="00FF00"/>
                </a:solidFill>
              </a:rPr>
              <a:t>.</a:t>
            </a:r>
          </a:p>
          <a:p>
            <a:endParaRPr lang="en-CA" dirty="0"/>
          </a:p>
        </p:txBody>
      </p:sp>
      <p:sp>
        <p:nvSpPr>
          <p:cNvPr id="4" name="Rectangle: Rounded Corners 5">
            <a:extLst>
              <a:ext uri="{FF2B5EF4-FFF2-40B4-BE49-F238E27FC236}">
                <a16:creationId xmlns:a16="http://schemas.microsoft.com/office/drawing/2014/main" id="{9BD5FBCF-8C94-E44C-BBC9-C128207E6FA0}"/>
              </a:ext>
            </a:extLst>
          </p:cNvPr>
          <p:cNvSpPr/>
          <p:nvPr/>
        </p:nvSpPr>
        <p:spPr>
          <a:xfrm>
            <a:off x="7664115" y="1949006"/>
            <a:ext cx="3958389" cy="4418765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>
                <a:solidFill>
                  <a:srgbClr val="FFFFFF"/>
                </a:solidFill>
              </a:rPr>
              <a:t>Open your notebook</a:t>
            </a:r>
          </a:p>
          <a:p>
            <a:endParaRPr lang="en-US" sz="44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Click Link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r>
              <a:rPr lang="en-US" sz="2800" b="1" dirty="0">
                <a:solidFill>
                  <a:schemeClr val="accent6"/>
                </a:solidFill>
              </a:rPr>
              <a:t>1. Encapsulation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983A706-C853-49B5-5072-8F417277D73A}"/>
              </a:ext>
            </a:extLst>
          </p:cNvPr>
          <p:cNvSpPr/>
          <p:nvPr/>
        </p:nvSpPr>
        <p:spPr>
          <a:xfrm>
            <a:off x="1551327" y="3776359"/>
            <a:ext cx="3376943" cy="2152252"/>
          </a:xfrm>
          <a:prstGeom prst="rect">
            <a:avLst/>
          </a:prstGeom>
          <a:noFill/>
          <a:ln w="762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034E4FF7-45A6-DB72-6A22-471682C3F87F}"/>
              </a:ext>
            </a:extLst>
          </p:cNvPr>
          <p:cNvSpPr/>
          <p:nvPr/>
        </p:nvSpPr>
        <p:spPr>
          <a:xfrm>
            <a:off x="1456324" y="5833608"/>
            <a:ext cx="190005" cy="19000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AD35BF80-2750-E197-65B2-FD4A4F204A31}"/>
              </a:ext>
            </a:extLst>
          </p:cNvPr>
          <p:cNvSpPr/>
          <p:nvPr/>
        </p:nvSpPr>
        <p:spPr>
          <a:xfrm>
            <a:off x="4821714" y="3680068"/>
            <a:ext cx="190005" cy="19000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65960F-CA7F-E423-5E9A-5089E2132232}"/>
              </a:ext>
            </a:extLst>
          </p:cNvPr>
          <p:cNvSpPr txBox="1"/>
          <p:nvPr/>
        </p:nvSpPr>
        <p:spPr>
          <a:xfrm>
            <a:off x="1993303" y="4652430"/>
            <a:ext cx="24929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 Rectangle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8DD6137-8A59-47B1-FA7E-30B719F55C8B}"/>
              </a:ext>
            </a:extLst>
          </p:cNvPr>
          <p:cNvSpPr txBox="1"/>
          <p:nvPr/>
        </p:nvSpPr>
        <p:spPr>
          <a:xfrm>
            <a:off x="327395" y="5994689"/>
            <a:ext cx="297709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Point(x1, y1)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F1B73C4-0D93-98BC-D154-274D32D1EF24}"/>
              </a:ext>
            </a:extLst>
          </p:cNvPr>
          <p:cNvSpPr txBox="1"/>
          <p:nvPr/>
        </p:nvSpPr>
        <p:spPr>
          <a:xfrm>
            <a:off x="4509815" y="3133099"/>
            <a:ext cx="297709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Point(x2, y2)</a:t>
            </a:r>
          </a:p>
        </p:txBody>
      </p:sp>
    </p:spTree>
    <p:extLst>
      <p:ext uri="{BB962C8B-B14F-4D97-AF65-F5344CB8AC3E}">
        <p14:creationId xmlns:p14="http://schemas.microsoft.com/office/powerpoint/2010/main" val="37448847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7B8662-D2F9-454D-8182-0E3A3A7F69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Printing Information</a:t>
            </a:r>
            <a:r>
              <a:rPr lang="en-US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6DE886-4A89-AD42-9138-CE102F1D6C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It would be nice to not have to write a print statement when we want to display attribute information</a:t>
            </a:r>
            <a:r>
              <a:rPr lang="en-US" dirty="0">
                <a:solidFill>
                  <a:srgbClr val="CC99FF"/>
                </a:solidFill>
              </a:rPr>
              <a:t>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Is there a better way to encapsulate this</a:t>
            </a:r>
            <a:r>
              <a:rPr lang="en-US" dirty="0">
                <a:solidFill>
                  <a:srgbClr val="CC99FF"/>
                </a:solidFill>
              </a:rPr>
              <a:t>?</a:t>
            </a:r>
            <a:r>
              <a:rPr lang="en-US" dirty="0"/>
              <a:t> How about a method</a:t>
            </a:r>
            <a:r>
              <a:rPr lang="en-US" dirty="0">
                <a:solidFill>
                  <a:srgbClr val="CC99FF"/>
                </a:solidFill>
              </a:rPr>
              <a:t>?</a:t>
            </a:r>
          </a:p>
        </p:txBody>
      </p:sp>
      <p:sp>
        <p:nvSpPr>
          <p:cNvPr id="4" name="object 5">
            <a:extLst>
              <a:ext uri="{FF2B5EF4-FFF2-40B4-BE49-F238E27FC236}">
                <a16:creationId xmlns:a16="http://schemas.microsoft.com/office/drawing/2014/main" id="{DD78018B-EE42-7446-A316-AC67025A187A}"/>
              </a:ext>
            </a:extLst>
          </p:cNvPr>
          <p:cNvSpPr txBox="1"/>
          <p:nvPr/>
        </p:nvSpPr>
        <p:spPr>
          <a:xfrm>
            <a:off x="6539536" y="2975641"/>
            <a:ext cx="5404421" cy="110799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765300" marR="0" lvl="0" indent="0" algn="l" defTabSz="914400" rtl="0" eaLnBrk="1" fontAlgn="auto" latinLnBrk="0" hangingPunct="1">
              <a:lnSpc>
                <a:spcPct val="100000"/>
              </a:lnSpc>
              <a:spcBef>
                <a:spcPts val="186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&gt;&gt;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&gt;</a:t>
            </a: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 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p</a:t>
            </a: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 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=</a:t>
            </a: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 Point(3,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4)</a:t>
            </a:r>
          </a:p>
          <a:p>
            <a:pPr marL="17653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&gt;&gt;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&gt;</a:t>
            </a: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 print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(</a:t>
            </a:r>
            <a:r>
              <a:rPr lang="en-US" sz="2400" b="1" spc="-5" dirty="0">
                <a:solidFill>
                  <a:srgbClr val="00FF00"/>
                </a:solidFill>
                <a:latin typeface="Courier New"/>
                <a:cs typeface="Courier New"/>
              </a:rPr>
              <a:t>p</a:t>
            </a: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.x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,</a:t>
            </a: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 </a:t>
            </a:r>
            <a:r>
              <a:rPr kumimoji="0" lang="en-US" sz="2400" b="1" i="0" u="none" strike="noStrike" kern="1200" cap="none" spc="-5" normalizeH="0" baseline="0" noProof="0" dirty="0" err="1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p</a:t>
            </a:r>
            <a:r>
              <a:rPr kumimoji="0" sz="2400" b="1" i="0" u="none" strike="noStrike" kern="1200" cap="none" spc="-5" normalizeH="0" baseline="0" noProof="0" dirty="0" err="1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.y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)</a:t>
            </a:r>
          </a:p>
          <a:p>
            <a:pPr marL="17653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3</a:t>
            </a: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 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4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srgbClr val="00FF00"/>
              </a:solidFill>
              <a:effectLst/>
              <a:uLnTx/>
              <a:uFillTx/>
              <a:latin typeface="Courier New"/>
              <a:ea typeface="+mn-ea"/>
              <a:cs typeface="Courier New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20E1DC6-BC1E-1849-9678-E19549819074}"/>
              </a:ext>
            </a:extLst>
          </p:cNvPr>
          <p:cNvSpPr txBox="1"/>
          <p:nvPr/>
        </p:nvSpPr>
        <p:spPr>
          <a:xfrm>
            <a:off x="-682106" y="2960320"/>
            <a:ext cx="8817113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65300" marR="0" lvl="0" indent="0" algn="l" defTabSz="914400" rtl="0" eaLnBrk="1" fontAlgn="auto" latinLnBrk="0" hangingPunct="1">
              <a:lnSpc>
                <a:spcPct val="100000"/>
              </a:lnSpc>
              <a:spcBef>
                <a:spcPts val="186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2000" b="1" i="0" u="none" strike="noStrike" kern="1200" cap="none" spc="-5" normalizeH="0" baseline="0" noProof="0" dirty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rPr>
              <a:t>&gt;&gt;</a:t>
            </a:r>
            <a:r>
              <a:rPr kumimoji="0" lang="en-CA" sz="2000" b="1" i="0" u="none" strike="noStrike" kern="1200" cap="none" spc="0" normalizeH="0" baseline="0" noProof="0" dirty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r>
              <a:rPr kumimoji="0" lang="en-CA" sz="2000" b="1" i="0" u="none" strike="noStrike" kern="1200" cap="none" spc="-5" normalizeH="0" baseline="0" noProof="0" dirty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en-CA" sz="2000" b="1" i="0" u="none" strike="noStrike" kern="1200" cap="none" spc="0" normalizeH="0" baseline="0" noProof="0" dirty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rPr>
              <a:t>p</a:t>
            </a:r>
            <a:r>
              <a:rPr kumimoji="0" lang="en-CA" sz="2000" b="1" i="0" u="none" strike="noStrike" kern="1200" cap="none" spc="-5" normalizeH="0" baseline="0" noProof="0" dirty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en-CA" sz="2000" b="1" i="0" u="none" strike="noStrike" kern="1200" cap="none" spc="0" normalizeH="0" baseline="0" noProof="0" dirty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kumimoji="0" lang="en-CA" sz="2000" b="1" i="0" u="none" strike="noStrike" kern="1200" cap="none" spc="-5" normalizeH="0" baseline="0" noProof="0" dirty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rPr>
              <a:t> Point(3,</a:t>
            </a:r>
            <a:r>
              <a:rPr kumimoji="0" lang="en-CA" sz="2000" b="1" i="0" u="none" strike="noStrike" kern="1200" cap="none" spc="0" normalizeH="0" baseline="0" noProof="0" dirty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rPr>
              <a:t>4)</a:t>
            </a:r>
          </a:p>
          <a:p>
            <a:pPr marL="17653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2000" b="1" i="0" u="none" strike="noStrike" kern="1200" cap="none" spc="-5" normalizeH="0" baseline="0" noProof="0" dirty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rPr>
              <a:t>&gt;&gt;</a:t>
            </a:r>
            <a:r>
              <a:rPr kumimoji="0" lang="en-CA" sz="2000" b="1" i="0" u="none" strike="noStrike" kern="1200" cap="none" spc="0" normalizeH="0" baseline="0" noProof="0" dirty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r>
              <a:rPr kumimoji="0" lang="en-CA" sz="2000" b="1" i="0" u="none" strike="noStrike" kern="1200" cap="none" spc="-5" normalizeH="0" baseline="0" noProof="0" dirty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rPr>
              <a:t> print</a:t>
            </a:r>
            <a:r>
              <a:rPr kumimoji="0" lang="en-CA" sz="2000" b="1" i="0" u="none" strike="noStrike" kern="1200" cap="none" spc="0" normalizeH="0" baseline="0" noProof="0" dirty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kumimoji="0" lang="en-CA" sz="2000" b="1" i="0" u="none" strike="noStrike" kern="1200" cap="none" spc="-5" normalizeH="0" baseline="0" noProof="0" dirty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rPr>
              <a:t>p</a:t>
            </a:r>
            <a:r>
              <a:rPr kumimoji="0" lang="en-CA" sz="2000" b="1" i="0" u="none" strike="noStrike" kern="1200" cap="none" spc="0" normalizeH="0" baseline="0" noProof="0" dirty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1765300" lvl="0">
              <a:defRPr/>
            </a:pPr>
            <a:r>
              <a:rPr lang="en-CA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&lt;__</a:t>
            </a:r>
            <a:r>
              <a:rPr lang="en-CA" sz="2000" b="1" dirty="0" err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main__.Point</a:t>
            </a:r>
            <a:r>
              <a:rPr lang="en-CA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object at 0x7fd8100778b0&gt;</a:t>
            </a:r>
            <a:endParaRPr kumimoji="0" lang="en-CA" sz="2000" b="1" i="0" u="none" strike="noStrike" kern="1200" cap="none" spc="0" normalizeH="0" baseline="0" noProof="0" dirty="0">
              <a:ln>
                <a:noFill/>
              </a:ln>
              <a:solidFill>
                <a:srgbClr val="00FF00"/>
              </a:solidFill>
              <a:effectLst/>
              <a:uLnTx/>
              <a:uFillTx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51F1C9C-CB1B-63FD-85D2-C89D65DDCC78}"/>
              </a:ext>
            </a:extLst>
          </p:cNvPr>
          <p:cNvSpPr txBox="1"/>
          <p:nvPr/>
        </p:nvSpPr>
        <p:spPr>
          <a:xfrm>
            <a:off x="1084666" y="4747679"/>
            <a:ext cx="4801314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 p = Point(3,4)</a:t>
            </a: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 </a:t>
            </a:r>
            <a:r>
              <a:rPr lang="en-US" sz="2000" b="1" dirty="0" err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p.to_string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'(3,4)'</a:t>
            </a: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 r = </a:t>
            </a:r>
            <a:r>
              <a:rPr lang="en-US" sz="2000" b="1" dirty="0" err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p.halfway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(Point(5,12))</a:t>
            </a: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 </a:t>
            </a:r>
            <a:r>
              <a:rPr lang="en-US" sz="2000" b="1" dirty="0" err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r.to_string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'(4,8)'</a:t>
            </a:r>
            <a:endParaRPr lang="en-CA" sz="20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015851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7B8662-D2F9-454D-8182-0E3A3A7F69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Printing Information</a:t>
            </a:r>
            <a:r>
              <a:rPr lang="en-US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6DE886-4A89-AD42-9138-CE102F1D6C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6338263" cy="4835479"/>
          </a:xfrm>
        </p:spPr>
        <p:txBody>
          <a:bodyPr/>
          <a:lstStyle/>
          <a:p>
            <a:r>
              <a:rPr lang="en-US" dirty="0"/>
              <a:t>If we had a method, we just need to format the attributes into a string</a:t>
            </a:r>
            <a:r>
              <a:rPr lang="en-US" dirty="0">
                <a:solidFill>
                  <a:srgbClr val="00FF00"/>
                </a:solidFill>
              </a:rPr>
              <a:t>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We could make a similar method for any class</a:t>
            </a:r>
            <a:r>
              <a:rPr lang="en-US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20E1DC6-BC1E-1849-9678-E19549819074}"/>
              </a:ext>
            </a:extLst>
          </p:cNvPr>
          <p:cNvSpPr txBox="1"/>
          <p:nvPr/>
        </p:nvSpPr>
        <p:spPr>
          <a:xfrm>
            <a:off x="1080376" y="2795751"/>
            <a:ext cx="8422485" cy="29456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CA" b="1" spc="-5" dirty="0">
                <a:solidFill>
                  <a:srgbClr val="00FF00"/>
                </a:solidFill>
                <a:latin typeface="Courier New"/>
                <a:cs typeface="Courier New"/>
              </a:rPr>
              <a:t>class Point:</a:t>
            </a:r>
          </a:p>
          <a:p>
            <a:pPr lvl="0">
              <a:defRPr/>
            </a:pPr>
            <a:r>
              <a:rPr lang="en-CA" b="1" spc="-5" dirty="0">
                <a:solidFill>
                  <a:srgbClr val="00FF00"/>
                </a:solidFill>
                <a:latin typeface="Courier New"/>
                <a:cs typeface="Courier New"/>
              </a:rPr>
              <a:t>    </a:t>
            </a:r>
          </a:p>
          <a:p>
            <a:pPr lvl="0">
              <a:defRPr/>
            </a:pPr>
            <a:r>
              <a:rPr lang="en-CA" b="1" spc="-5" dirty="0">
                <a:solidFill>
                  <a:srgbClr val="00FF00"/>
                </a:solidFill>
                <a:latin typeface="Courier New"/>
                <a:cs typeface="Courier New"/>
              </a:rPr>
              <a:t>"""A class that represents and manipulates 2D points"""</a:t>
            </a:r>
          </a:p>
          <a:p>
            <a:pPr lvl="0">
              <a:defRPr/>
            </a:pPr>
            <a:r>
              <a:rPr lang="en-CA" b="1" spc="-5" dirty="0">
                <a:solidFill>
                  <a:srgbClr val="00FF00"/>
                </a:solidFill>
                <a:latin typeface="Courier New"/>
                <a:cs typeface="Courier New"/>
              </a:rPr>
              <a:t>    </a:t>
            </a:r>
          </a:p>
          <a:p>
            <a:pPr lvl="0">
              <a:defRPr/>
            </a:pPr>
            <a:r>
              <a:rPr lang="en-CA" b="1" spc="-5" dirty="0">
                <a:solidFill>
                  <a:srgbClr val="00FF00"/>
                </a:solidFill>
                <a:latin typeface="Courier New"/>
                <a:cs typeface="Courier New"/>
              </a:rPr>
              <a:t>    def </a:t>
            </a:r>
            <a:r>
              <a:rPr lang="en-CA" b="1" spc="-5" dirty="0" err="1">
                <a:solidFill>
                  <a:srgbClr val="00FF00"/>
                </a:solidFill>
                <a:latin typeface="Courier New"/>
                <a:cs typeface="Courier New"/>
              </a:rPr>
              <a:t>to_string</a:t>
            </a:r>
            <a:r>
              <a:rPr lang="en-CA" b="1" spc="-5" dirty="0">
                <a:solidFill>
                  <a:srgbClr val="00FF00"/>
                </a:solidFill>
                <a:latin typeface="Courier New"/>
                <a:cs typeface="Courier New"/>
              </a:rPr>
              <a:t>(self):</a:t>
            </a:r>
          </a:p>
          <a:p>
            <a:pPr lvl="0">
              <a:defRPr/>
            </a:pPr>
            <a:r>
              <a:rPr lang="en-CA" b="1" spc="-5" dirty="0">
                <a:solidFill>
                  <a:srgbClr val="00FF00"/>
                </a:solidFill>
                <a:latin typeface="Courier New"/>
                <a:cs typeface="Courier New"/>
              </a:rPr>
              <a:t>        """</a:t>
            </a:r>
          </a:p>
          <a:p>
            <a:pPr lvl="0">
              <a:defRPr/>
            </a:pPr>
            <a:r>
              <a:rPr lang="en-CA" b="1" spc="-5" dirty="0">
                <a:solidFill>
                  <a:srgbClr val="00FF00"/>
                </a:solidFill>
                <a:latin typeface="Courier New"/>
                <a:cs typeface="Courier New"/>
              </a:rPr>
              <a:t>        (self) -&gt; None</a:t>
            </a:r>
          </a:p>
          <a:p>
            <a:pPr lvl="0">
              <a:defRPr/>
            </a:pPr>
            <a:r>
              <a:rPr lang="en-CA" b="1" spc="-5" dirty="0">
                <a:solidFill>
                  <a:srgbClr val="00FF00"/>
                </a:solidFill>
                <a:latin typeface="Courier New"/>
                <a:cs typeface="Courier New"/>
              </a:rPr>
              <a:t>        Prints the (x, y) coordinate for the point.</a:t>
            </a:r>
          </a:p>
          <a:p>
            <a:pPr lvl="0">
              <a:defRPr/>
            </a:pPr>
            <a:r>
              <a:rPr lang="en-CA" b="1" spc="-5" dirty="0">
                <a:solidFill>
                  <a:srgbClr val="00FF00"/>
                </a:solidFill>
                <a:latin typeface="Courier New"/>
                <a:cs typeface="Courier New"/>
              </a:rPr>
              <a:t>        """</a:t>
            </a:r>
          </a:p>
          <a:p>
            <a:pPr lvl="0">
              <a:defRPr/>
            </a:pPr>
            <a:r>
              <a:rPr lang="en-CA" b="1" spc="-5" dirty="0">
                <a:solidFill>
                  <a:srgbClr val="00FF00"/>
                </a:solidFill>
                <a:latin typeface="Courier New"/>
                <a:cs typeface="Courier New"/>
              </a:rPr>
              <a:t>        print('(' + str(</a:t>
            </a:r>
            <a:r>
              <a:rPr lang="en-CA" b="1" spc="-5" dirty="0" err="1">
                <a:solidFill>
                  <a:srgbClr val="00FF00"/>
                </a:solidFill>
                <a:latin typeface="Courier New"/>
                <a:cs typeface="Courier New"/>
              </a:rPr>
              <a:t>self.x</a:t>
            </a:r>
            <a:r>
              <a:rPr lang="en-CA" b="1" spc="-5" dirty="0">
                <a:solidFill>
                  <a:srgbClr val="00FF00"/>
                </a:solidFill>
                <a:latin typeface="Courier New"/>
                <a:cs typeface="Courier New"/>
              </a:rPr>
              <a:t>) + ', ' + str(</a:t>
            </a:r>
            <a:r>
              <a:rPr lang="en-CA" b="1" spc="-5" dirty="0" err="1">
                <a:solidFill>
                  <a:srgbClr val="00FF00"/>
                </a:solidFill>
                <a:latin typeface="Courier New"/>
                <a:cs typeface="Courier New"/>
              </a:rPr>
              <a:t>self.y</a:t>
            </a:r>
            <a:r>
              <a:rPr lang="en-CA" b="1" spc="-5" dirty="0">
                <a:solidFill>
                  <a:srgbClr val="00FF00"/>
                </a:solidFill>
                <a:latin typeface="Courier New"/>
                <a:cs typeface="Courier New"/>
              </a:rPr>
              <a:t>) + ')')</a:t>
            </a:r>
            <a:endParaRPr kumimoji="0" lang="en-CA" sz="1800" b="1" i="0" u="none" strike="noStrike" kern="1200" cap="none" spc="0" normalizeH="0" baseline="0" noProof="0" dirty="0">
              <a:ln>
                <a:noFill/>
              </a:ln>
              <a:solidFill>
                <a:srgbClr val="00FF00"/>
              </a:solidFill>
              <a:effectLst/>
              <a:uLnTx/>
              <a:uFillTx/>
              <a:latin typeface="Courier New"/>
              <a:ea typeface="+mn-ea"/>
              <a:cs typeface="Courier New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26EE2E1-93AA-8557-D3B4-0C59D2B18EED}"/>
              </a:ext>
            </a:extLst>
          </p:cNvPr>
          <p:cNvSpPr txBox="1"/>
          <p:nvPr/>
        </p:nvSpPr>
        <p:spPr>
          <a:xfrm>
            <a:off x="7781091" y="582173"/>
            <a:ext cx="4320413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 p = Point(3,4)</a:t>
            </a:r>
          </a:p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 </a:t>
            </a:r>
            <a:r>
              <a:rPr lang="en-US" b="1" dirty="0" err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p.to_string</a:t>
            </a:r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'(3,4)'</a:t>
            </a:r>
          </a:p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 r = </a:t>
            </a:r>
            <a:r>
              <a:rPr lang="en-US" b="1" dirty="0" err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p.halfway</a:t>
            </a:r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(Point(5,12))</a:t>
            </a:r>
          </a:p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 </a:t>
            </a:r>
            <a:r>
              <a:rPr lang="en-US" b="1" dirty="0" err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r.to_string</a:t>
            </a:r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'(4,8)'</a:t>
            </a:r>
          </a:p>
        </p:txBody>
      </p:sp>
    </p:spTree>
    <p:extLst>
      <p:ext uri="{BB962C8B-B14F-4D97-AF65-F5344CB8AC3E}">
        <p14:creationId xmlns:p14="http://schemas.microsoft.com/office/powerpoint/2010/main" val="9598014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3529D3-1C7F-895F-7ECD-52026EC549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Printing Information</a:t>
            </a:r>
            <a:r>
              <a:rPr lang="en-US" b="1" dirty="0">
                <a:solidFill>
                  <a:srgbClr val="00FF00"/>
                </a:solidFill>
              </a:rPr>
              <a:t>.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36CFC3-B8ED-8E1F-80E6-5CAFA925B7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9182363" cy="4835479"/>
          </a:xfrm>
        </p:spPr>
        <p:txBody>
          <a:bodyPr/>
          <a:lstStyle/>
          <a:p>
            <a:r>
              <a:rPr lang="en-US" sz="2400" dirty="0"/>
              <a:t>If every class we made had a </a:t>
            </a:r>
            <a:r>
              <a:rPr lang="en-US" sz="2400" b="1" dirty="0" err="1">
                <a:solidFill>
                  <a:srgbClr val="00FF00"/>
                </a:solidFill>
              </a:rPr>
              <a:t>to_string</a:t>
            </a:r>
            <a:r>
              <a:rPr lang="en-US" sz="2400" b="1" dirty="0">
                <a:solidFill>
                  <a:srgbClr val="00FF00"/>
                </a:solidFill>
              </a:rPr>
              <a:t>() </a:t>
            </a:r>
            <a:r>
              <a:rPr lang="en-US" sz="2400" dirty="0"/>
              <a:t>method</a:t>
            </a:r>
            <a:r>
              <a:rPr lang="en-US" sz="2400" dirty="0">
                <a:solidFill>
                  <a:srgbClr val="00FF00"/>
                </a:solidFill>
              </a:rPr>
              <a:t>,</a:t>
            </a:r>
            <a:r>
              <a:rPr lang="en-US" sz="2400" dirty="0"/>
              <a:t> great</a:t>
            </a:r>
            <a:r>
              <a:rPr lang="en-US" sz="2400" dirty="0">
                <a:solidFill>
                  <a:srgbClr val="00FF00"/>
                </a:solidFill>
              </a:rPr>
              <a:t>!</a:t>
            </a:r>
          </a:p>
          <a:p>
            <a:pPr lvl="1"/>
            <a:r>
              <a:rPr lang="en-US" sz="2000" dirty="0"/>
              <a:t>Easy to remember</a:t>
            </a:r>
            <a:r>
              <a:rPr lang="en-US" sz="2000" dirty="0">
                <a:solidFill>
                  <a:srgbClr val="00FF00"/>
                </a:solidFill>
              </a:rPr>
              <a:t>.</a:t>
            </a:r>
          </a:p>
          <a:p>
            <a:pPr lvl="1"/>
            <a:r>
              <a:rPr lang="en-US" sz="2000" dirty="0"/>
              <a:t>All formatting specific to printing an object would be encapsulated</a:t>
            </a:r>
            <a:r>
              <a:rPr lang="en-US" sz="2000" dirty="0">
                <a:solidFill>
                  <a:srgbClr val="00FF00"/>
                </a:solidFill>
              </a:rPr>
              <a:t>.</a:t>
            </a:r>
          </a:p>
          <a:p>
            <a:pPr lvl="1"/>
            <a:r>
              <a:rPr lang="en-US" sz="2000" dirty="0"/>
              <a:t>But they won</a:t>
            </a:r>
            <a:r>
              <a:rPr lang="en-US" sz="2000" dirty="0">
                <a:solidFill>
                  <a:srgbClr val="00FF00"/>
                </a:solidFill>
              </a:rPr>
              <a:t>’</a:t>
            </a:r>
            <a:r>
              <a:rPr lang="en-US" sz="2000" dirty="0"/>
              <a:t>t all have one</a:t>
            </a:r>
            <a:r>
              <a:rPr lang="en-US" sz="2000" dirty="0">
                <a:solidFill>
                  <a:srgbClr val="00FF00"/>
                </a:solidFill>
              </a:rPr>
              <a:t>…</a:t>
            </a:r>
          </a:p>
          <a:p>
            <a:pPr marL="457200" lvl="1" indent="0">
              <a:buNone/>
            </a:pPr>
            <a:endParaRPr lang="en-US" sz="2000" dirty="0"/>
          </a:p>
          <a:p>
            <a:r>
              <a:rPr lang="en-US" sz="2400" dirty="0"/>
              <a:t>What if other people made their own method for printing and called it something else</a:t>
            </a:r>
            <a:r>
              <a:rPr lang="en-US" sz="2400" dirty="0">
                <a:solidFill>
                  <a:srgbClr val="00FF00"/>
                </a:solidFill>
              </a:rPr>
              <a:t>?</a:t>
            </a:r>
          </a:p>
          <a:p>
            <a:pPr lvl="1"/>
            <a:r>
              <a:rPr lang="en-US" sz="2000" dirty="0"/>
              <a:t>Then it would no longer be obvious how to quickly display information</a:t>
            </a:r>
            <a:r>
              <a:rPr lang="en-US" sz="2000" dirty="0">
                <a:solidFill>
                  <a:srgbClr val="00FF00"/>
                </a:solidFill>
              </a:rPr>
              <a:t>.</a:t>
            </a:r>
          </a:p>
          <a:p>
            <a:pPr lvl="1"/>
            <a:r>
              <a:rPr lang="en-US" sz="2000" dirty="0"/>
              <a:t>Is it called </a:t>
            </a:r>
            <a:r>
              <a:rPr lang="en-US" sz="2000" dirty="0" err="1">
                <a:solidFill>
                  <a:srgbClr val="FF00E9"/>
                </a:solidFill>
              </a:rPr>
              <a:t>to_string</a:t>
            </a:r>
            <a:r>
              <a:rPr lang="en-US" sz="2000" dirty="0">
                <a:solidFill>
                  <a:srgbClr val="CC99FF"/>
                </a:solidFill>
              </a:rPr>
              <a:t>?</a:t>
            </a:r>
            <a:r>
              <a:rPr lang="en-US" sz="2000" dirty="0"/>
              <a:t> </a:t>
            </a:r>
            <a:r>
              <a:rPr lang="en-US" sz="2000" dirty="0" err="1">
                <a:solidFill>
                  <a:srgbClr val="00FF00"/>
                </a:solidFill>
              </a:rPr>
              <a:t>tostring</a:t>
            </a:r>
            <a:r>
              <a:rPr lang="en-US" sz="2000" dirty="0">
                <a:solidFill>
                  <a:srgbClr val="CC99FF"/>
                </a:solidFill>
              </a:rPr>
              <a:t>?</a:t>
            </a:r>
            <a:r>
              <a:rPr lang="en-US" sz="2000" dirty="0"/>
              <a:t> </a:t>
            </a:r>
            <a:r>
              <a:rPr lang="en-US" sz="2000" dirty="0">
                <a:solidFill>
                  <a:srgbClr val="FFFF00"/>
                </a:solidFill>
              </a:rPr>
              <a:t>2stringz</a:t>
            </a:r>
            <a:r>
              <a:rPr lang="en-US" sz="2000" dirty="0">
                <a:solidFill>
                  <a:srgbClr val="CC99FF"/>
                </a:solidFill>
              </a:rPr>
              <a:t>?</a:t>
            </a:r>
            <a:r>
              <a:rPr lang="en-US" sz="2000" dirty="0"/>
              <a:t> </a:t>
            </a:r>
            <a:r>
              <a:rPr lang="en-US" sz="2000" dirty="0" err="1">
                <a:solidFill>
                  <a:srgbClr val="00FCFF"/>
                </a:solidFill>
              </a:rPr>
              <a:t>print_point</a:t>
            </a:r>
            <a:r>
              <a:rPr lang="en-US" sz="2000" dirty="0">
                <a:solidFill>
                  <a:srgbClr val="CC99FF"/>
                </a:solidFill>
              </a:rPr>
              <a:t>?</a:t>
            </a:r>
            <a:r>
              <a:rPr lang="en-US" sz="2000" dirty="0"/>
              <a:t> </a:t>
            </a:r>
            <a:r>
              <a:rPr lang="en-US" sz="2000" dirty="0" err="1">
                <a:solidFill>
                  <a:schemeClr val="accent6"/>
                </a:solidFill>
              </a:rPr>
              <a:t>plz_print_me</a:t>
            </a:r>
            <a:r>
              <a:rPr lang="en-US" sz="2000" dirty="0">
                <a:solidFill>
                  <a:srgbClr val="CC99FF"/>
                </a:solidFill>
              </a:rPr>
              <a:t>?</a:t>
            </a:r>
          </a:p>
          <a:p>
            <a:endParaRPr lang="en-CA" dirty="0"/>
          </a:p>
          <a:p>
            <a:r>
              <a:rPr lang="en-US" b="1" dirty="0">
                <a:solidFill>
                  <a:srgbClr val="00FF00"/>
                </a:solidFill>
              </a:rPr>
              <a:t>Python has a clever trick for this</a:t>
            </a:r>
            <a:r>
              <a:rPr lang="en-US" b="1" dirty="0">
                <a:solidFill>
                  <a:srgbClr val="CC99FF"/>
                </a:solidFill>
              </a:rPr>
              <a:t>!</a:t>
            </a:r>
          </a:p>
          <a:p>
            <a:pPr marL="0" indent="0">
              <a:buNone/>
            </a:pPr>
            <a:endParaRPr lang="en-CA" dirty="0"/>
          </a:p>
        </p:txBody>
      </p:sp>
      <p:pic>
        <p:nvPicPr>
          <p:cNvPr id="4" name="Picture 2" descr="how it really feels like : r/ProgrammerHumor">
            <a:extLst>
              <a:ext uri="{FF2B5EF4-FFF2-40B4-BE49-F238E27FC236}">
                <a16:creationId xmlns:a16="http://schemas.microsoft.com/office/drawing/2014/main" id="{F0EE0D7C-7940-C686-4070-5822D1B55A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03581" y="577599"/>
            <a:ext cx="3161146" cy="1940943"/>
          </a:xfrm>
          <a:prstGeom prst="rect">
            <a:avLst/>
          </a:prstGeom>
          <a:noFill/>
          <a:ln>
            <a:solidFill>
              <a:schemeClr val="accent6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95856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BFE9CA-3CBC-5841-8561-1BC587C9E1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Printing Information</a:t>
            </a:r>
            <a:r>
              <a:rPr lang="en-US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D14B4A-8438-D54A-B041-EC96B896D4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9436" y="1714788"/>
            <a:ext cx="10674928" cy="4835479"/>
          </a:xfrm>
        </p:spPr>
        <p:txBody>
          <a:bodyPr>
            <a:normAutofit/>
          </a:bodyPr>
          <a:lstStyle/>
          <a:p>
            <a:r>
              <a:rPr lang="en-US" sz="2400" dirty="0"/>
              <a:t>If we call our new method</a:t>
            </a:r>
            <a:r>
              <a:rPr lang="en-US" sz="2400" dirty="0">
                <a:solidFill>
                  <a:srgbClr val="00FF00"/>
                </a:solidFill>
              </a:rPr>
              <a:t> </a:t>
            </a:r>
            <a:r>
              <a:rPr lang="en-US" sz="2400" b="1" dirty="0">
                <a:solidFill>
                  <a:srgbClr val="00FF00"/>
                </a:solidFill>
              </a:rPr>
              <a:t>__str__ </a:t>
            </a:r>
            <a:r>
              <a:rPr lang="en-US" sz="2400" dirty="0"/>
              <a:t>instead of </a:t>
            </a:r>
            <a:r>
              <a:rPr lang="en-US" sz="2400" dirty="0" err="1">
                <a:solidFill>
                  <a:srgbClr val="00FF00"/>
                </a:solidFill>
              </a:rPr>
              <a:t>to_string</a:t>
            </a:r>
            <a:r>
              <a:rPr lang="en-US" sz="2400" dirty="0">
                <a:solidFill>
                  <a:srgbClr val="CC99FF"/>
                </a:solidFill>
              </a:rPr>
              <a:t>,</a:t>
            </a:r>
            <a:r>
              <a:rPr lang="en-US" sz="2400" dirty="0"/>
              <a:t> Python will use our code whenever it needs to convert Point to a string</a:t>
            </a:r>
            <a:r>
              <a:rPr lang="en-US" sz="2400" dirty="0">
                <a:solidFill>
                  <a:srgbClr val="CC99FF"/>
                </a:solidFill>
              </a:rPr>
              <a:t>.</a:t>
            </a:r>
          </a:p>
          <a:p>
            <a:endParaRPr lang="en-US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FE7499-C0F9-F547-ABC0-4E4BBDCDA094}"/>
              </a:ext>
            </a:extLst>
          </p:cNvPr>
          <p:cNvSpPr txBox="1"/>
          <p:nvPr/>
        </p:nvSpPr>
        <p:spPr>
          <a:xfrm>
            <a:off x="572962" y="2614348"/>
            <a:ext cx="9318914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CA" sz="2000" b="1" spc="-5" dirty="0">
                <a:solidFill>
                  <a:srgbClr val="00FF00"/>
                </a:solidFill>
                <a:latin typeface="Courier New"/>
                <a:cs typeface="Courier New"/>
              </a:rPr>
              <a:t>class Point:</a:t>
            </a:r>
          </a:p>
          <a:p>
            <a:pPr lvl="0">
              <a:defRPr/>
            </a:pPr>
            <a:r>
              <a:rPr lang="en-CA" sz="2000" b="1" spc="-5" dirty="0">
                <a:solidFill>
                  <a:srgbClr val="00FF00"/>
                </a:solidFill>
                <a:latin typeface="Courier New"/>
                <a:cs typeface="Courier New"/>
              </a:rPr>
              <a:t>    </a:t>
            </a:r>
          </a:p>
          <a:p>
            <a:pPr lvl="0">
              <a:defRPr/>
            </a:pPr>
            <a:r>
              <a:rPr lang="en-CA" sz="2000" b="1" spc="-5" dirty="0">
                <a:solidFill>
                  <a:srgbClr val="00FF00"/>
                </a:solidFill>
                <a:latin typeface="Courier New"/>
                <a:cs typeface="Courier New"/>
              </a:rPr>
              <a:t>"""A class that represents and manipulates 2D points"""</a:t>
            </a:r>
          </a:p>
          <a:p>
            <a:pPr lvl="0">
              <a:defRPr/>
            </a:pPr>
            <a:r>
              <a:rPr lang="en-CA" sz="2000" b="1" spc="-5" dirty="0">
                <a:solidFill>
                  <a:srgbClr val="00FF00"/>
                </a:solidFill>
                <a:latin typeface="Courier New"/>
                <a:cs typeface="Courier New"/>
              </a:rPr>
              <a:t>    def __</a:t>
            </a:r>
            <a:r>
              <a:rPr lang="en-CA" sz="2000" b="1" spc="-5" dirty="0" err="1">
                <a:solidFill>
                  <a:srgbClr val="00FF00"/>
                </a:solidFill>
                <a:latin typeface="Courier New"/>
                <a:cs typeface="Courier New"/>
              </a:rPr>
              <a:t>init</a:t>
            </a:r>
            <a:r>
              <a:rPr lang="en-CA" sz="2000" b="1" spc="-5" dirty="0">
                <a:solidFill>
                  <a:srgbClr val="00FF00"/>
                </a:solidFill>
                <a:latin typeface="Courier New"/>
                <a:cs typeface="Courier New"/>
              </a:rPr>
              <a:t>__(self, x=0 , y=0):</a:t>
            </a:r>
          </a:p>
          <a:p>
            <a:pPr lvl="0">
              <a:defRPr/>
            </a:pPr>
            <a:r>
              <a:rPr lang="en-CA" sz="2000" b="1" spc="-5" dirty="0">
                <a:solidFill>
                  <a:srgbClr val="00FF00"/>
                </a:solidFill>
                <a:latin typeface="Courier New"/>
                <a:cs typeface="Courier New"/>
              </a:rPr>
              <a:t>	 ...</a:t>
            </a:r>
          </a:p>
          <a:p>
            <a:pPr lvl="0">
              <a:defRPr/>
            </a:pPr>
            <a:r>
              <a:rPr lang="en-CA" sz="2000" b="1" spc="-5" dirty="0">
                <a:solidFill>
                  <a:srgbClr val="00FF00"/>
                </a:solidFill>
                <a:latin typeface="Courier New"/>
                <a:cs typeface="Courier New"/>
              </a:rPr>
              <a:t>    </a:t>
            </a:r>
          </a:p>
          <a:p>
            <a:pPr lvl="0">
              <a:defRPr/>
            </a:pPr>
            <a:r>
              <a:rPr lang="en-CA" sz="2000" b="1" spc="-5" dirty="0">
                <a:solidFill>
                  <a:srgbClr val="00FF00"/>
                </a:solidFill>
                <a:latin typeface="Courier New"/>
                <a:cs typeface="Courier New"/>
              </a:rPr>
              <a:t>    def __str__(self):</a:t>
            </a:r>
            <a:endParaRPr lang="en-CA" sz="2000" b="1" dirty="0">
              <a:solidFill>
                <a:srgbClr val="00FF00"/>
              </a:solidFill>
              <a:latin typeface="Courier New"/>
              <a:cs typeface="Courier New"/>
            </a:endParaRPr>
          </a:p>
          <a:p>
            <a:pPr lvl="0">
              <a:defRPr/>
            </a:pPr>
            <a:r>
              <a:rPr lang="en-CA" sz="2000" b="1" spc="-5" dirty="0">
                <a:solidFill>
                  <a:srgbClr val="00FF00"/>
                </a:solidFill>
                <a:latin typeface="Courier New"/>
                <a:cs typeface="Courier New"/>
              </a:rPr>
              <a:t>        return (‘(’ + str(</a:t>
            </a:r>
            <a:r>
              <a:rPr lang="en-CA" sz="2000" b="1" spc="-5" dirty="0" err="1">
                <a:solidFill>
                  <a:srgbClr val="00FF00"/>
                </a:solidFill>
                <a:latin typeface="Courier New"/>
                <a:cs typeface="Courier New"/>
              </a:rPr>
              <a:t>self.x</a:t>
            </a:r>
            <a:r>
              <a:rPr lang="en-CA" sz="2000" b="1" spc="-5" dirty="0">
                <a:solidFill>
                  <a:srgbClr val="00FF00"/>
                </a:solidFill>
                <a:latin typeface="Courier New"/>
                <a:cs typeface="Courier New"/>
              </a:rPr>
              <a:t>) + ‘,’ + str(</a:t>
            </a:r>
            <a:r>
              <a:rPr lang="en-CA" sz="2000" b="1" spc="-5" dirty="0" err="1">
                <a:solidFill>
                  <a:srgbClr val="00FF00"/>
                </a:solidFill>
                <a:latin typeface="Courier New"/>
                <a:cs typeface="Courier New"/>
              </a:rPr>
              <a:t>self.y</a:t>
            </a:r>
            <a:r>
              <a:rPr lang="en-CA" sz="2000" b="1" spc="-5" dirty="0">
                <a:solidFill>
                  <a:srgbClr val="00FF00"/>
                </a:solidFill>
                <a:latin typeface="Courier New"/>
                <a:cs typeface="Courier New"/>
              </a:rPr>
              <a:t>) + ‘)’)</a:t>
            </a:r>
          </a:p>
        </p:txBody>
      </p:sp>
      <p:sp>
        <p:nvSpPr>
          <p:cNvPr id="7" name="object 6">
            <a:extLst>
              <a:ext uri="{FF2B5EF4-FFF2-40B4-BE49-F238E27FC236}">
                <a16:creationId xmlns:a16="http://schemas.microsoft.com/office/drawing/2014/main" id="{37488CEE-3FC7-3E4F-860A-A1036F9CAB76}"/>
              </a:ext>
            </a:extLst>
          </p:cNvPr>
          <p:cNvSpPr txBox="1"/>
          <p:nvPr/>
        </p:nvSpPr>
        <p:spPr>
          <a:xfrm>
            <a:off x="4371515" y="5645844"/>
            <a:ext cx="6412099" cy="92987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5080" lvl="0" defTabSz="914400" rtl="0" eaLnBrk="1" fontAlgn="auto" latinLnBrk="0" hangingPunct="1">
              <a:lnSpc>
                <a:spcPct val="1028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>
                <a:tab pos="299720" algn="l"/>
              </a:tabLst>
              <a:defRPr/>
            </a:pPr>
            <a:r>
              <a:rPr kumimoji="0" lang="en-CA" sz="2000" b="1" i="0" u="none" strike="noStrike" kern="1200" cap="none" spc="1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T</a:t>
            </a:r>
            <a:r>
              <a:rPr kumimoji="0" lang="en-CA" sz="20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h</a:t>
            </a:r>
            <a:r>
              <a:rPr kumimoji="0" lang="en-CA" sz="2000" b="1" i="0" u="none" strike="noStrike" kern="1200" cap="none" spc="-1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a</a:t>
            </a:r>
            <a:r>
              <a:rPr kumimoji="0" lang="en-CA" sz="20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t</a:t>
            </a:r>
            <a:r>
              <a:rPr kumimoji="0" lang="en-CA" sz="2000" b="1" i="0" u="none" strike="noStrike" kern="1200" cap="none" spc="-40" normalizeH="0" baseline="0" noProof="0" dirty="0">
                <a:ln>
                  <a:noFill/>
                </a:ln>
                <a:solidFill>
                  <a:srgbClr val="CC99FF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’</a:t>
            </a:r>
            <a:r>
              <a:rPr kumimoji="0" lang="en-CA" sz="20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r>
              <a:rPr kumimoji="0" lang="en-CA" sz="2000" b="1" i="0" u="none" strike="noStrike" kern="1200" cap="none" spc="-1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kumimoji="0" lang="en-CA" sz="20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b</a:t>
            </a:r>
            <a:r>
              <a:rPr kumimoji="0" lang="en-CA" sz="2000" b="1" i="0" u="none" strike="noStrike" kern="1200" cap="none" spc="-1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e</a:t>
            </a:r>
            <a:r>
              <a:rPr kumimoji="0" lang="en-CA" sz="20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t</a:t>
            </a:r>
            <a:r>
              <a:rPr kumimoji="0" lang="en-CA" sz="2000" b="1" i="0" u="none" strike="noStrike" kern="1200" cap="none" spc="5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t</a:t>
            </a:r>
            <a:r>
              <a:rPr kumimoji="0" lang="en-CA" sz="20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er</a:t>
            </a:r>
            <a:r>
              <a:rPr kumimoji="0" lang="en-CA" sz="2000" b="1" i="0" u="none" strike="noStrike" kern="1200" cap="none" spc="0" normalizeH="0" baseline="0" noProof="0" dirty="0">
                <a:ln>
                  <a:noFill/>
                </a:ln>
                <a:solidFill>
                  <a:srgbClr val="CC99FF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!</a:t>
            </a:r>
            <a:r>
              <a:rPr kumimoji="0" lang="en-CA" sz="2000" b="1" i="0" u="none" strike="noStrike" kern="1200" cap="none" spc="5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endParaRPr lang="en-CA" sz="2000" spc="5" dirty="0">
              <a:solidFill>
                <a:srgbClr val="FFFF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2700" marR="5080" lvl="0" defTabSz="914400" rtl="0" eaLnBrk="1" fontAlgn="auto" latinLnBrk="0" hangingPunct="1">
              <a:lnSpc>
                <a:spcPct val="1028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>
                <a:tab pos="299720" algn="l"/>
              </a:tabLst>
              <a:defRPr/>
            </a:pPr>
            <a:r>
              <a:rPr kumimoji="0" sz="2000" b="0" i="0" u="none" strike="noStrike" kern="1200" cap="none" spc="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W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hen</a:t>
            </a:r>
            <a:r>
              <a:rPr kumimoji="0" sz="2000" b="0" i="0" u="none" strike="noStrike" kern="120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kumimoji="0" sz="2000" b="0" i="0" u="none" strike="noStrike" kern="1200" cap="none" spc="-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w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e</a:t>
            </a:r>
            <a:r>
              <a:rPr kumimoji="0" sz="2000" b="0" i="0" u="none" strike="noStrike" kern="1200" cap="none" spc="4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ca</a:t>
            </a:r>
            <a:r>
              <a:rPr kumimoji="0" sz="2000" b="0" i="0" u="none" strike="noStrike" kern="120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l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l </a:t>
            </a:r>
            <a:r>
              <a:rPr kumimoji="0" sz="2000" b="1" i="0" u="none" strike="noStrike" kern="1200" cap="none" spc="-5" normalizeH="0" baseline="0" noProof="0" dirty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" pitchFamily="2" charset="0"/>
                <a:cs typeface="Segoe UI" panose="020B0502040204020203" pitchFamily="34" charset="0"/>
              </a:rPr>
              <a:t>print</a:t>
            </a:r>
            <a:r>
              <a:rPr kumimoji="0" sz="2000" b="1" i="0" u="none" strike="noStrike" kern="1200" cap="none" spc="0" normalizeH="0" baseline="0" noProof="0" dirty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" pitchFamily="2" charset="0"/>
                <a:cs typeface="Segoe UI" panose="020B0502040204020203" pitchFamily="34" charset="0"/>
              </a:rPr>
              <a:t>(</a:t>
            </a:r>
            <a:r>
              <a:rPr kumimoji="0" sz="2000" b="1" i="0" u="none" strike="noStrike" kern="1200" cap="none" spc="-5" normalizeH="0" baseline="0" noProof="0" dirty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" pitchFamily="2" charset="0"/>
                <a:cs typeface="Segoe UI" panose="020B0502040204020203" pitchFamily="34" charset="0"/>
              </a:rPr>
              <a:t>obj</a:t>
            </a:r>
            <a:r>
              <a:rPr kumimoji="0" sz="2000" b="1" i="0" u="none" strike="noStrike" kern="1200" cap="none" spc="-15" normalizeH="0" baseline="0" noProof="0" dirty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" pitchFamily="2" charset="0"/>
                <a:cs typeface="Segoe UI" panose="020B0502040204020203" pitchFamily="34" charset="0"/>
              </a:rPr>
              <a:t>)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CC99FF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,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 th</a:t>
            </a:r>
            <a:r>
              <a:rPr kumimoji="0" sz="2000" b="0" i="0" u="none" strike="noStrike" kern="120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e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n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kumimoji="0" sz="2000" b="1" i="0" strike="noStrike" kern="1200" cap="none" spc="-5" normalizeH="0" baseline="0" noProof="0" dirty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" pitchFamily="2" charset="0"/>
                <a:cs typeface="Segoe UI" panose="020B0502040204020203" pitchFamily="34" charset="0"/>
              </a:rPr>
              <a:t>obj.</a:t>
            </a:r>
            <a:r>
              <a:rPr kumimoji="0" lang="en-US" sz="2000" b="1" i="0" strike="noStrike" kern="1200" cap="none" spc="0" normalizeH="0" baseline="0" noProof="0" dirty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" pitchFamily="2" charset="0"/>
                <a:cs typeface="Segoe UI" panose="020B0502040204020203" pitchFamily="34" charset="0"/>
              </a:rPr>
              <a:t>__</a:t>
            </a:r>
            <a:r>
              <a:rPr kumimoji="0" sz="2000" b="1" i="0" strike="noStrike" kern="1200" cap="none" spc="-5" normalizeH="0" baseline="0" noProof="0" dirty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" pitchFamily="2" charset="0"/>
                <a:cs typeface="Segoe UI" panose="020B0502040204020203" pitchFamily="34" charset="0"/>
              </a:rPr>
              <a:t>st</a:t>
            </a:r>
            <a:r>
              <a:rPr kumimoji="0" sz="2000" b="1" i="0" u="none" strike="noStrike" kern="1200" cap="none" spc="0" normalizeH="0" baseline="0" noProof="0" dirty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" pitchFamily="2" charset="0"/>
                <a:cs typeface="Segoe UI" panose="020B0502040204020203" pitchFamily="34" charset="0"/>
              </a:rPr>
              <a:t>r</a:t>
            </a:r>
            <a:r>
              <a:rPr kumimoji="0" sz="2000" b="1" i="0" u="none" strike="noStrike" kern="1200" cap="none" spc="-15" normalizeH="0" baseline="0" noProof="0" dirty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" pitchFamily="2" charset="0"/>
                <a:cs typeface="Segoe UI" panose="020B0502040204020203" pitchFamily="34" charset="0"/>
              </a:rPr>
              <a:t>_</a:t>
            </a:r>
            <a:r>
              <a:rPr kumimoji="0" sz="2000" b="1" i="0" u="none" strike="noStrike" kern="1200" cap="none" spc="-5" normalizeH="0" baseline="0" noProof="0" dirty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" pitchFamily="2" charset="0"/>
                <a:cs typeface="Segoe UI" panose="020B0502040204020203" pitchFamily="34" charset="0"/>
              </a:rPr>
              <a:t>_</a:t>
            </a:r>
            <a:r>
              <a:rPr kumimoji="0" sz="2000" b="1" i="0" u="none" strike="noStrike" kern="1200" cap="none" spc="-15" normalizeH="0" baseline="0" noProof="0" dirty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" pitchFamily="2" charset="0"/>
                <a:cs typeface="Segoe UI" panose="020B0502040204020203" pitchFamily="34" charset="0"/>
              </a:rPr>
              <a:t>(</a:t>
            </a:r>
            <a:r>
              <a:rPr kumimoji="0" sz="2000" b="1" i="0" u="none" strike="noStrike" kern="1200" cap="none" spc="0" normalizeH="0" baseline="0" noProof="0" dirty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" pitchFamily="2" charset="0"/>
                <a:cs typeface="Segoe UI" panose="020B0502040204020203" pitchFamily="34" charset="0"/>
              </a:rPr>
              <a:t>)</a:t>
            </a:r>
            <a:r>
              <a:rPr kumimoji="0" sz="2000" b="1" i="0" u="none" strike="noStrike" kern="1200" cap="none" spc="-40" normalizeH="0" baseline="0" noProof="0" dirty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" pitchFamily="2" charset="0"/>
                <a:cs typeface="Segoe UI" panose="020B0502040204020203" pitchFamily="34" charset="0"/>
              </a:rPr>
              <a:t>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is c</a:t>
            </a:r>
            <a:r>
              <a:rPr kumimoji="0" sz="2000" b="0" i="0" u="none" strike="noStrike" kern="120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a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l</a:t>
            </a:r>
            <a:r>
              <a:rPr kumimoji="0" sz="2000" b="0" i="0" u="none" strike="noStrike" kern="120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le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d</a:t>
            </a:r>
            <a:r>
              <a:rPr kumimoji="0" sz="2000" b="0" i="0" u="none" strike="noStrike" kern="1200" cap="none" spc="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to fi</a:t>
            </a:r>
            <a:r>
              <a:rPr kumimoji="0" sz="2000" b="0" i="0" u="none" strike="noStrike" kern="120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n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d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o</a:t>
            </a:r>
            <a:r>
              <a:rPr kumimoji="0" sz="2000" b="0" i="0" u="none" strike="noStrike" kern="120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u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t </a:t>
            </a:r>
            <a:r>
              <a:rPr kumimoji="0" sz="2000" b="0" i="0" u="none" strike="noStrike" kern="1200" cap="none" spc="-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w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h</a:t>
            </a:r>
            <a:r>
              <a:rPr kumimoji="0" sz="2000" b="0" i="0" u="none" strike="noStrike" kern="120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a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t</a:t>
            </a:r>
            <a:r>
              <a:rPr kumimoji="0" sz="2000" b="0" i="0" u="none" strike="noStrike" kern="1200" cap="none" spc="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string</a:t>
            </a:r>
            <a:r>
              <a:rPr kumimoji="0" sz="2000" b="0" i="0" u="none" strike="noStrike" kern="1200" cap="none" spc="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to</a:t>
            </a:r>
            <a:r>
              <a:rPr kumimoji="0" sz="2000" b="0" i="0" u="none" strike="noStrike" kern="120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pr</a:t>
            </a:r>
            <a:r>
              <a:rPr kumimoji="0" sz="2000" b="0" i="0" u="none" strike="noStrike" kern="120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i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nt</a:t>
            </a:r>
            <a:r>
              <a:rPr kumimoji="0" lang="en-CA" sz="2000" b="0" i="0" u="none" strike="noStrike" kern="1200" cap="none" spc="0" normalizeH="0" baseline="0" noProof="0" dirty="0">
                <a:ln>
                  <a:noFill/>
                </a:ln>
                <a:solidFill>
                  <a:srgbClr val="CC99FF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.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srgbClr val="CC99FF"/>
              </a:solidFill>
              <a:effectLst/>
              <a:uLnTx/>
              <a:uFillTx/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" name="Frame 7">
            <a:extLst>
              <a:ext uri="{FF2B5EF4-FFF2-40B4-BE49-F238E27FC236}">
                <a16:creationId xmlns:a16="http://schemas.microsoft.com/office/drawing/2014/main" id="{DD1F613A-4624-5E46-8FB6-37635B42749C}"/>
              </a:ext>
            </a:extLst>
          </p:cNvPr>
          <p:cNvSpPr/>
          <p:nvPr/>
        </p:nvSpPr>
        <p:spPr>
          <a:xfrm>
            <a:off x="932419" y="4267685"/>
            <a:ext cx="9123616" cy="1061743"/>
          </a:xfrm>
          <a:prstGeom prst="frame">
            <a:avLst/>
          </a:prstGeom>
          <a:solidFill>
            <a:srgbClr val="CC99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6E8ED38-9018-A8B5-2F7D-0367D6366F12}"/>
              </a:ext>
            </a:extLst>
          </p:cNvPr>
          <p:cNvSpPr txBox="1"/>
          <p:nvPr/>
        </p:nvSpPr>
        <p:spPr>
          <a:xfrm>
            <a:off x="579268" y="5656890"/>
            <a:ext cx="295465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 p = Point(3,4)</a:t>
            </a:r>
          </a:p>
          <a:p>
            <a:r>
              <a:rPr lang="fr-FR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 </a:t>
            </a:r>
            <a:r>
              <a:rPr lang="fr-FR" sz="2000" b="1" dirty="0" err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fr-FR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(p)</a:t>
            </a:r>
          </a:p>
          <a:p>
            <a:r>
              <a:rPr lang="fr-FR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'(3,4)'</a:t>
            </a:r>
          </a:p>
        </p:txBody>
      </p:sp>
    </p:spTree>
    <p:extLst>
      <p:ext uri="{BB962C8B-B14F-4D97-AF65-F5344CB8AC3E}">
        <p14:creationId xmlns:p14="http://schemas.microsoft.com/office/powerpoint/2010/main" val="41484629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D3E942-D48A-CF4F-BAD4-22FE8605A5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Let</a:t>
            </a:r>
            <a:r>
              <a:rPr lang="en-US" b="1" dirty="0">
                <a:solidFill>
                  <a:srgbClr val="00FF00"/>
                </a:solidFill>
              </a:rPr>
              <a:t>’</a:t>
            </a:r>
            <a:r>
              <a:rPr lang="en-US" b="1" dirty="0"/>
              <a:t>s Code</a:t>
            </a:r>
            <a:r>
              <a:rPr lang="en-US" b="1" dirty="0">
                <a:solidFill>
                  <a:srgbClr val="00FF00"/>
                </a:solidFill>
              </a:rPr>
              <a:t>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A3DF1E-F240-BC41-B313-3625DDE1D9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0050" y="1532292"/>
            <a:ext cx="7025986" cy="4835479"/>
          </a:xfrm>
        </p:spPr>
        <p:txBody>
          <a:bodyPr>
            <a:normAutofit/>
          </a:bodyPr>
          <a:lstStyle/>
          <a:p>
            <a:r>
              <a:rPr lang="en-CA" dirty="0"/>
              <a:t>Let</a:t>
            </a:r>
            <a:r>
              <a:rPr lang="en-CA" dirty="0">
                <a:solidFill>
                  <a:srgbClr val="00FF00"/>
                </a:solidFill>
              </a:rPr>
              <a:t>’</a:t>
            </a:r>
            <a:r>
              <a:rPr lang="en-CA" dirty="0"/>
              <a:t>s look at how this works in Python</a:t>
            </a:r>
            <a:r>
              <a:rPr lang="en-CA" dirty="0">
                <a:solidFill>
                  <a:srgbClr val="00FF00"/>
                </a:solidFill>
              </a:rPr>
              <a:t>!</a:t>
            </a:r>
          </a:p>
          <a:p>
            <a:pPr lvl="1"/>
            <a:r>
              <a:rPr lang="en-US" b="1" dirty="0">
                <a:solidFill>
                  <a:srgbClr val="CC99FF"/>
                </a:solidFill>
              </a:rPr>
              <a:t>__str__ </a:t>
            </a:r>
            <a:r>
              <a:rPr lang="en-US" dirty="0"/>
              <a:t>method</a:t>
            </a:r>
            <a:r>
              <a:rPr lang="en-US" dirty="0">
                <a:solidFill>
                  <a:srgbClr val="00FF00"/>
                </a:solidFill>
              </a:rPr>
              <a:t>.</a:t>
            </a:r>
          </a:p>
          <a:p>
            <a:pPr lvl="1"/>
            <a:endParaRPr lang="en-US" dirty="0"/>
          </a:p>
          <a:p>
            <a:endParaRPr lang="en-CA" dirty="0"/>
          </a:p>
        </p:txBody>
      </p:sp>
      <p:sp>
        <p:nvSpPr>
          <p:cNvPr id="4" name="Rectangle: Rounded Corners 5">
            <a:extLst>
              <a:ext uri="{FF2B5EF4-FFF2-40B4-BE49-F238E27FC236}">
                <a16:creationId xmlns:a16="http://schemas.microsoft.com/office/drawing/2014/main" id="{9BD5FBCF-8C94-E44C-BBC9-C128207E6FA0}"/>
              </a:ext>
            </a:extLst>
          </p:cNvPr>
          <p:cNvSpPr/>
          <p:nvPr/>
        </p:nvSpPr>
        <p:spPr>
          <a:xfrm>
            <a:off x="7664115" y="1949006"/>
            <a:ext cx="3958389" cy="4418765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>
                <a:solidFill>
                  <a:srgbClr val="FFFFFF"/>
                </a:solidFill>
              </a:rPr>
              <a:t>Open your notebook</a:t>
            </a:r>
          </a:p>
          <a:p>
            <a:endParaRPr lang="en-US" sz="44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Click Link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r>
              <a:rPr lang="en-US" sz="2800" b="1" dirty="0">
                <a:solidFill>
                  <a:schemeClr val="accent6"/>
                </a:solidFill>
              </a:rPr>
              <a:t>2. Printing Objects</a:t>
            </a:r>
          </a:p>
        </p:txBody>
      </p:sp>
      <p:pic>
        <p:nvPicPr>
          <p:cNvPr id="5" name="Picture 2" descr="OOPS : r/ProgrammerHumor">
            <a:extLst>
              <a:ext uri="{FF2B5EF4-FFF2-40B4-BE49-F238E27FC236}">
                <a16:creationId xmlns:a16="http://schemas.microsoft.com/office/drawing/2014/main" id="{0327627B-26F9-CD45-BBC5-A1A0ECFF78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914" y="2796839"/>
            <a:ext cx="5570393" cy="3481497"/>
          </a:xfrm>
          <a:prstGeom prst="rect">
            <a:avLst/>
          </a:prstGeom>
          <a:noFill/>
          <a:ln>
            <a:solidFill>
              <a:schemeClr val="accent6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351941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FEF1F2-87C7-DA47-91C7-1F3842EBA8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Let</a:t>
            </a:r>
            <a:r>
              <a:rPr lang="en-US" b="1" dirty="0">
                <a:solidFill>
                  <a:srgbClr val="00FF00"/>
                </a:solidFill>
              </a:rPr>
              <a:t>’</a:t>
            </a:r>
            <a:r>
              <a:rPr lang="en-US" b="1" dirty="0"/>
              <a:t>s Build a Cash Register</a:t>
            </a:r>
            <a:r>
              <a:rPr lang="en-US" b="1" dirty="0">
                <a:solidFill>
                  <a:srgbClr val="00FF00"/>
                </a:solidFill>
              </a:rPr>
              <a:t>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25F3C4-C09D-BB4F-98E3-9D50BB19CD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7034213" cy="4835479"/>
          </a:xfrm>
        </p:spPr>
        <p:txBody>
          <a:bodyPr/>
          <a:lstStyle/>
          <a:p>
            <a:r>
              <a:rPr lang="en-US" dirty="0"/>
              <a:t>We want to build a cash register program.  What features do we want</a:t>
            </a:r>
            <a:r>
              <a:rPr lang="en-US" dirty="0">
                <a:solidFill>
                  <a:srgbClr val="00FF00"/>
                </a:solidFill>
              </a:rPr>
              <a:t>?</a:t>
            </a:r>
          </a:p>
          <a:p>
            <a:pPr lvl="1"/>
            <a:r>
              <a:rPr lang="en-US" dirty="0"/>
              <a:t>Track number of</a:t>
            </a:r>
            <a:r>
              <a:rPr lang="en-US" dirty="0">
                <a:solidFill>
                  <a:srgbClr val="00FF00"/>
                </a:solidFill>
              </a:rPr>
              <a:t>:</a:t>
            </a:r>
          </a:p>
          <a:p>
            <a:pPr lvl="2"/>
            <a:r>
              <a:rPr lang="en-CA" dirty="0"/>
              <a:t>Loonies</a:t>
            </a:r>
            <a:r>
              <a:rPr lang="en-CA" dirty="0">
                <a:solidFill>
                  <a:srgbClr val="00FF00"/>
                </a:solidFill>
              </a:rPr>
              <a:t>.</a:t>
            </a:r>
          </a:p>
          <a:p>
            <a:pPr lvl="2"/>
            <a:r>
              <a:rPr lang="en-CA" dirty="0"/>
              <a:t>Toonies</a:t>
            </a:r>
            <a:r>
              <a:rPr lang="en-CA" dirty="0">
                <a:solidFill>
                  <a:srgbClr val="00FF00"/>
                </a:solidFill>
              </a:rPr>
              <a:t>.</a:t>
            </a:r>
          </a:p>
          <a:p>
            <a:pPr lvl="2"/>
            <a:r>
              <a:rPr lang="en-CA" dirty="0"/>
              <a:t>$5 bills</a:t>
            </a:r>
            <a:r>
              <a:rPr lang="en-CA" dirty="0">
                <a:solidFill>
                  <a:srgbClr val="00FF00"/>
                </a:solidFill>
              </a:rPr>
              <a:t>.</a:t>
            </a:r>
            <a:r>
              <a:rPr lang="en-CA" dirty="0"/>
              <a:t> </a:t>
            </a:r>
          </a:p>
          <a:p>
            <a:pPr lvl="2"/>
            <a:r>
              <a:rPr lang="en-CA" dirty="0"/>
              <a:t>$10 bills</a:t>
            </a:r>
            <a:r>
              <a:rPr lang="en-CA" dirty="0">
                <a:solidFill>
                  <a:srgbClr val="00FF00"/>
                </a:solidFill>
              </a:rPr>
              <a:t>.</a:t>
            </a:r>
          </a:p>
          <a:p>
            <a:pPr lvl="2"/>
            <a:r>
              <a:rPr lang="en-CA" dirty="0"/>
              <a:t>$20 bills</a:t>
            </a:r>
            <a:r>
              <a:rPr lang="en-CA" dirty="0">
                <a:solidFill>
                  <a:srgbClr val="00FF00"/>
                </a:solidFill>
              </a:rPr>
              <a:t>.</a:t>
            </a:r>
          </a:p>
          <a:p>
            <a:pPr lvl="1"/>
            <a:r>
              <a:rPr lang="en-US" dirty="0">
                <a:solidFill>
                  <a:srgbClr val="CC99FF"/>
                </a:solidFill>
              </a:rPr>
              <a:t>Accepts cash</a:t>
            </a:r>
            <a:r>
              <a:rPr lang="en-US" dirty="0">
                <a:solidFill>
                  <a:srgbClr val="00FF00"/>
                </a:solidFill>
              </a:rPr>
              <a:t>.</a:t>
            </a:r>
          </a:p>
          <a:p>
            <a:pPr lvl="1"/>
            <a:r>
              <a:rPr lang="en-US" dirty="0">
                <a:solidFill>
                  <a:srgbClr val="CC99FF"/>
                </a:solidFill>
              </a:rPr>
              <a:t>Removes cash</a:t>
            </a:r>
            <a:r>
              <a:rPr lang="en-US" dirty="0">
                <a:solidFill>
                  <a:srgbClr val="00FF00"/>
                </a:solidFill>
              </a:rPr>
              <a:t>.</a:t>
            </a:r>
          </a:p>
          <a:p>
            <a:pPr lvl="1"/>
            <a:r>
              <a:rPr lang="en-US" dirty="0">
                <a:solidFill>
                  <a:srgbClr val="CC99FF"/>
                </a:solidFill>
              </a:rPr>
              <a:t>Calculates value of contents</a:t>
            </a:r>
            <a:r>
              <a:rPr lang="en-US" dirty="0">
                <a:solidFill>
                  <a:srgbClr val="00FF00"/>
                </a:solidFill>
              </a:rPr>
              <a:t>.</a:t>
            </a:r>
          </a:p>
          <a:p>
            <a:pPr lvl="1"/>
            <a:r>
              <a:rPr lang="en-US" dirty="0">
                <a:solidFill>
                  <a:srgbClr val="CC99FF"/>
                </a:solidFill>
              </a:rPr>
              <a:t>Print the entire contents</a:t>
            </a:r>
            <a:r>
              <a:rPr lang="en-US" dirty="0">
                <a:solidFill>
                  <a:srgbClr val="00FF00"/>
                </a:solidFill>
              </a:rPr>
              <a:t>.</a:t>
            </a:r>
          </a:p>
          <a:p>
            <a:pPr lvl="1"/>
            <a:endParaRPr lang="en-US" dirty="0"/>
          </a:p>
        </p:txBody>
      </p:sp>
      <p:pic>
        <p:nvPicPr>
          <p:cNvPr id="1026" name="Picture 2" descr="I so smart - Imgflip">
            <a:extLst>
              <a:ext uri="{FF2B5EF4-FFF2-40B4-BE49-F238E27FC236}">
                <a16:creationId xmlns:a16="http://schemas.microsoft.com/office/drawing/2014/main" id="{4A275BF4-E18C-9147-ADA3-6E09740A93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58942" y="3717036"/>
            <a:ext cx="3680282" cy="27629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F0641F1D-ACF1-894C-AC25-E7FFC86245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11867" y="774699"/>
            <a:ext cx="808736" cy="8061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D8EEEF0D-2F8F-F24F-8AE1-F47A8A54B7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34202" y="756170"/>
            <a:ext cx="821632" cy="8061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$5 Polymer Note - Bank of Canada">
            <a:extLst>
              <a:ext uri="{FF2B5EF4-FFF2-40B4-BE49-F238E27FC236}">
                <a16:creationId xmlns:a16="http://schemas.microsoft.com/office/drawing/2014/main" id="{22DD17E8-4505-7542-9D48-FE0BD89AE6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512" y="1707309"/>
            <a:ext cx="1760434" cy="8061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A close-up of some money&#10;&#10;Description automatically generated with low confidence">
            <a:extLst>
              <a:ext uri="{FF2B5EF4-FFF2-40B4-BE49-F238E27FC236}">
                <a16:creationId xmlns:a16="http://schemas.microsoft.com/office/drawing/2014/main" id="{B9125843-BC27-C74C-8A68-770FC38984A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78790" y="2153190"/>
            <a:ext cx="1760434" cy="790435"/>
          </a:xfrm>
          <a:prstGeom prst="rect">
            <a:avLst/>
          </a:prstGeom>
        </p:spPr>
      </p:pic>
      <p:pic>
        <p:nvPicPr>
          <p:cNvPr id="7" name="Picture 6" descr="A close-up of some money&#10;&#10;Description automatically generated with medium confidence">
            <a:extLst>
              <a:ext uri="{FF2B5EF4-FFF2-40B4-BE49-F238E27FC236}">
                <a16:creationId xmlns:a16="http://schemas.microsoft.com/office/drawing/2014/main" id="{3F03A9A5-3507-EA49-AF51-BACFC127271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8942" y="2656722"/>
            <a:ext cx="1807574" cy="806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07071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D3E942-D48A-CF4F-BAD4-22FE8605A5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Breakout Session</a:t>
            </a:r>
            <a:r>
              <a:rPr lang="en-US" b="1" dirty="0">
                <a:solidFill>
                  <a:srgbClr val="00FF00"/>
                </a:solidFill>
              </a:rPr>
              <a:t>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A3DF1E-F240-BC41-B313-3625DDE1D9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0050" y="1532292"/>
            <a:ext cx="7025986" cy="4835479"/>
          </a:xfrm>
        </p:spPr>
        <p:txBody>
          <a:bodyPr>
            <a:normAutofit/>
          </a:bodyPr>
          <a:lstStyle/>
          <a:p>
            <a:r>
              <a:rPr lang="en-CA" dirty="0"/>
              <a:t>Let</a:t>
            </a:r>
            <a:r>
              <a:rPr lang="en-CA" dirty="0">
                <a:solidFill>
                  <a:srgbClr val="00FF00"/>
                </a:solidFill>
              </a:rPr>
              <a:t>’</a:t>
            </a:r>
            <a:r>
              <a:rPr lang="en-CA" dirty="0"/>
              <a:t>s look at how this works in Python</a:t>
            </a:r>
            <a:r>
              <a:rPr lang="en-CA" dirty="0">
                <a:solidFill>
                  <a:srgbClr val="00FF00"/>
                </a:solidFill>
              </a:rPr>
              <a:t>!</a:t>
            </a:r>
          </a:p>
          <a:p>
            <a:pPr lvl="1"/>
            <a:r>
              <a:rPr lang="en-US" dirty="0"/>
              <a:t>Building a cash register</a:t>
            </a:r>
            <a:r>
              <a:rPr lang="en-US" dirty="0">
                <a:solidFill>
                  <a:srgbClr val="00FF00"/>
                </a:solidFill>
              </a:rPr>
              <a:t>:</a:t>
            </a:r>
          </a:p>
          <a:p>
            <a:pPr lvl="2"/>
            <a:r>
              <a:rPr lang="en-US" dirty="0"/>
              <a:t>Attributes</a:t>
            </a:r>
            <a:r>
              <a:rPr lang="en-US" dirty="0">
                <a:solidFill>
                  <a:srgbClr val="00FF00"/>
                </a:solidFill>
              </a:rPr>
              <a:t>.</a:t>
            </a:r>
          </a:p>
          <a:p>
            <a:pPr lvl="2"/>
            <a:r>
              <a:rPr lang="en-US" dirty="0"/>
              <a:t>Methods</a:t>
            </a:r>
            <a:r>
              <a:rPr lang="en-US" dirty="0">
                <a:solidFill>
                  <a:srgbClr val="00FF00"/>
                </a:solidFill>
              </a:rPr>
              <a:t>.</a:t>
            </a:r>
          </a:p>
          <a:p>
            <a:pPr lvl="3"/>
            <a:r>
              <a:rPr lang="en-US" dirty="0"/>
              <a:t>Including </a:t>
            </a:r>
            <a:r>
              <a:rPr lang="en-US" b="1" dirty="0">
                <a:solidFill>
                  <a:srgbClr val="CC99FF"/>
                </a:solidFill>
              </a:rPr>
              <a:t>__str__ </a:t>
            </a:r>
            <a:r>
              <a:rPr lang="en-US" dirty="0"/>
              <a:t>method</a:t>
            </a:r>
            <a:r>
              <a:rPr lang="en-US" dirty="0">
                <a:solidFill>
                  <a:srgbClr val="00FF00"/>
                </a:solidFill>
              </a:rPr>
              <a:t>.</a:t>
            </a:r>
          </a:p>
          <a:p>
            <a:pPr lvl="1"/>
            <a:endParaRPr lang="en-US" dirty="0"/>
          </a:p>
          <a:p>
            <a:endParaRPr lang="en-CA" dirty="0"/>
          </a:p>
        </p:txBody>
      </p:sp>
      <p:sp>
        <p:nvSpPr>
          <p:cNvPr id="4" name="Rectangle: Rounded Corners 5">
            <a:extLst>
              <a:ext uri="{FF2B5EF4-FFF2-40B4-BE49-F238E27FC236}">
                <a16:creationId xmlns:a16="http://schemas.microsoft.com/office/drawing/2014/main" id="{9BD5FBCF-8C94-E44C-BBC9-C128207E6FA0}"/>
              </a:ext>
            </a:extLst>
          </p:cNvPr>
          <p:cNvSpPr/>
          <p:nvPr/>
        </p:nvSpPr>
        <p:spPr>
          <a:xfrm>
            <a:off x="7664115" y="1949006"/>
            <a:ext cx="3958389" cy="4418765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>
                <a:solidFill>
                  <a:srgbClr val="FFFFFF"/>
                </a:solidFill>
              </a:rPr>
              <a:t>Open your notebook</a:t>
            </a:r>
          </a:p>
          <a:p>
            <a:endParaRPr lang="en-US" sz="44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Click Link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r>
              <a:rPr lang="en-US" sz="2800" b="1" dirty="0">
                <a:solidFill>
                  <a:schemeClr val="accent6"/>
                </a:solidFill>
              </a:rPr>
              <a:t>3. Building a Cash Register</a:t>
            </a:r>
          </a:p>
        </p:txBody>
      </p:sp>
      <p:pic>
        <p:nvPicPr>
          <p:cNvPr id="2050" name="Picture 2" descr="do you work here?&quot; No, i just like standing behind a cash register - The  Friendly Cashier - quickmeme">
            <a:extLst>
              <a:ext uri="{FF2B5EF4-FFF2-40B4-BE49-F238E27FC236}">
                <a16:creationId xmlns:a16="http://schemas.microsoft.com/office/drawing/2014/main" id="{88125863-9285-684F-BDA1-A147CA341B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85925" y="3787720"/>
            <a:ext cx="3276600" cy="2489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585558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b="1" dirty="0"/>
              <a:t>Let</a:t>
            </a:r>
            <a:r>
              <a:rPr b="1" dirty="0">
                <a:solidFill>
                  <a:srgbClr val="00FF00"/>
                </a:solidFill>
              </a:rPr>
              <a:t>'</a:t>
            </a:r>
            <a:r>
              <a:rPr b="1" dirty="0"/>
              <a:t>s Code</a:t>
            </a:r>
            <a:r>
              <a:rPr b="1" dirty="0">
                <a:solidFill>
                  <a:srgbClr val="00FF00"/>
                </a:solidFill>
              </a:rPr>
              <a:t>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6634655" cy="4835479"/>
          </a:xfrm>
        </p:spPr>
        <p:txBody>
          <a:bodyPr>
            <a:normAutofit lnSpcReduction="10000"/>
          </a:bodyPr>
          <a:lstStyle/>
          <a:p>
            <a:r>
              <a:rPr lang="en-CA" dirty="0"/>
              <a:t>We are going to model a solar system using OOP</a:t>
            </a:r>
            <a:r>
              <a:rPr lang="en-CA" dirty="0">
                <a:solidFill>
                  <a:srgbClr val="00FF00"/>
                </a:solidFill>
              </a:rPr>
              <a:t>.</a:t>
            </a:r>
          </a:p>
          <a:p>
            <a:pPr lvl="1"/>
            <a:r>
              <a:rPr lang="en-CA" dirty="0"/>
              <a:t>Two classes</a:t>
            </a:r>
            <a:r>
              <a:rPr lang="en-CA" dirty="0">
                <a:solidFill>
                  <a:srgbClr val="00FF00"/>
                </a:solidFill>
              </a:rPr>
              <a:t>:</a:t>
            </a:r>
            <a:r>
              <a:rPr lang="en-CA" dirty="0"/>
              <a:t> Planet and </a:t>
            </a:r>
            <a:r>
              <a:rPr lang="en-CA" dirty="0" err="1"/>
              <a:t>SolarSystem</a:t>
            </a:r>
            <a:r>
              <a:rPr lang="en-CA" dirty="0">
                <a:solidFill>
                  <a:srgbClr val="00FF00"/>
                </a:solidFill>
              </a:rPr>
              <a:t>.</a:t>
            </a:r>
            <a:endParaRPr lang="en-CA" dirty="0"/>
          </a:p>
          <a:p>
            <a:pPr lvl="1"/>
            <a:r>
              <a:rPr lang="en-CA" b="1" dirty="0">
                <a:solidFill>
                  <a:srgbClr val="CC99FF"/>
                </a:solidFill>
              </a:rPr>
              <a:t>Planet</a:t>
            </a:r>
            <a:r>
              <a:rPr lang="en-CA" dirty="0">
                <a:solidFill>
                  <a:srgbClr val="00FF00"/>
                </a:solidFill>
              </a:rPr>
              <a:t>:</a:t>
            </a:r>
            <a:r>
              <a:rPr lang="en-CA" dirty="0"/>
              <a:t> name</a:t>
            </a:r>
            <a:r>
              <a:rPr lang="en-CA" dirty="0">
                <a:solidFill>
                  <a:srgbClr val="00FF00"/>
                </a:solidFill>
              </a:rPr>
              <a:t>,</a:t>
            </a:r>
            <a:r>
              <a:rPr lang="en-CA" dirty="0"/>
              <a:t> distance</a:t>
            </a:r>
            <a:r>
              <a:rPr lang="en-CA" dirty="0">
                <a:solidFill>
                  <a:srgbClr val="00FF00"/>
                </a:solidFill>
              </a:rPr>
              <a:t>,</a:t>
            </a:r>
            <a:r>
              <a:rPr lang="en-CA" dirty="0"/>
              <a:t> radius</a:t>
            </a:r>
            <a:r>
              <a:rPr lang="en-CA" dirty="0">
                <a:solidFill>
                  <a:srgbClr val="00FF00"/>
                </a:solidFill>
              </a:rPr>
              <a:t>,</a:t>
            </a:r>
            <a:r>
              <a:rPr lang="en-CA" dirty="0"/>
              <a:t> color</a:t>
            </a:r>
            <a:r>
              <a:rPr lang="en-CA" dirty="0">
                <a:solidFill>
                  <a:srgbClr val="00FF00"/>
                </a:solidFill>
              </a:rPr>
              <a:t>,</a:t>
            </a:r>
            <a:r>
              <a:rPr lang="en-CA" dirty="0"/>
              <a:t> angle</a:t>
            </a:r>
            <a:r>
              <a:rPr lang="en-CA" dirty="0">
                <a:solidFill>
                  <a:srgbClr val="00FF00"/>
                </a:solidFill>
              </a:rPr>
              <a:t>.</a:t>
            </a:r>
            <a:endParaRPr lang="en-CA" dirty="0"/>
          </a:p>
          <a:p>
            <a:pPr lvl="1"/>
            <a:r>
              <a:rPr lang="en-CA" b="1" dirty="0" err="1">
                <a:solidFill>
                  <a:srgbClr val="CC99FF"/>
                </a:solidFill>
              </a:rPr>
              <a:t>SolarSystem</a:t>
            </a:r>
            <a:r>
              <a:rPr lang="en-CA" dirty="0">
                <a:solidFill>
                  <a:srgbClr val="00FF00"/>
                </a:solidFill>
              </a:rPr>
              <a:t>:</a:t>
            </a:r>
            <a:r>
              <a:rPr lang="en-CA" dirty="0"/>
              <a:t> add</a:t>
            </a:r>
            <a:r>
              <a:rPr lang="en-CA" dirty="0">
                <a:solidFill>
                  <a:srgbClr val="00FF00"/>
                </a:solidFill>
              </a:rPr>
              <a:t>/</a:t>
            </a:r>
            <a:r>
              <a:rPr lang="en-CA" dirty="0"/>
              <a:t>remove planets</a:t>
            </a:r>
            <a:r>
              <a:rPr lang="en-CA" dirty="0">
                <a:solidFill>
                  <a:srgbClr val="00FF00"/>
                </a:solidFill>
              </a:rPr>
              <a:t>,</a:t>
            </a:r>
            <a:r>
              <a:rPr lang="en-CA" dirty="0"/>
              <a:t> visualize</a:t>
            </a:r>
            <a:r>
              <a:rPr lang="en-CA" dirty="0">
                <a:solidFill>
                  <a:srgbClr val="00FF00"/>
                </a:solidFill>
              </a:rPr>
              <a:t>,</a:t>
            </a:r>
            <a:r>
              <a:rPr lang="en-CA" dirty="0"/>
              <a:t> animate</a:t>
            </a:r>
            <a:r>
              <a:rPr lang="en-CA" dirty="0">
                <a:solidFill>
                  <a:srgbClr val="00FF00"/>
                </a:solidFill>
              </a:rPr>
              <a:t>.</a:t>
            </a:r>
            <a:endParaRPr lang="en-CA" dirty="0"/>
          </a:p>
          <a:p>
            <a:pPr lvl="1"/>
            <a:r>
              <a:rPr lang="en-CA" dirty="0"/>
              <a:t>Custom module handles the visualization</a:t>
            </a:r>
            <a:r>
              <a:rPr lang="en-CA" dirty="0">
                <a:solidFill>
                  <a:srgbClr val="00FF00"/>
                </a:solidFill>
              </a:rPr>
              <a:t>.</a:t>
            </a:r>
            <a:endParaRPr lang="en-CA" dirty="0"/>
          </a:p>
          <a:p>
            <a:pPr lvl="1"/>
            <a:r>
              <a:rPr lang="en-CA" dirty="0"/>
              <a:t>Kepler</a:t>
            </a:r>
            <a:r>
              <a:rPr lang="en-CA" dirty="0">
                <a:solidFill>
                  <a:srgbClr val="00FF00"/>
                </a:solidFill>
              </a:rPr>
              <a:t>'</a:t>
            </a:r>
            <a:r>
              <a:rPr lang="en-CA" dirty="0"/>
              <a:t>s Third Law for orbital periods</a:t>
            </a:r>
            <a:r>
              <a:rPr lang="en-CA" dirty="0">
                <a:solidFill>
                  <a:srgbClr val="00FF00"/>
                </a:solidFill>
              </a:rPr>
              <a:t>.</a:t>
            </a:r>
            <a:endParaRPr lang="en-CA" dirty="0"/>
          </a:p>
          <a:p>
            <a:r>
              <a:rPr dirty="0"/>
              <a:t>Let</a:t>
            </a:r>
            <a:r>
              <a:rPr dirty="0">
                <a:solidFill>
                  <a:srgbClr val="00FF00"/>
                </a:solidFill>
              </a:rPr>
              <a:t>'</a:t>
            </a:r>
            <a:r>
              <a:rPr dirty="0"/>
              <a:t>s look at how this works in Python</a:t>
            </a:r>
            <a:r>
              <a:rPr dirty="0">
                <a:solidFill>
                  <a:srgbClr val="00FF00"/>
                </a:solidFill>
              </a:rPr>
              <a:t>!</a:t>
            </a:r>
          </a:p>
          <a:p>
            <a:pPr lvl="1"/>
            <a:r>
              <a:rPr b="1" dirty="0">
                <a:solidFill>
                  <a:srgbClr val="CC99FF"/>
                </a:solidFill>
              </a:rPr>
              <a:t>Planet</a:t>
            </a:r>
            <a:r>
              <a:rPr dirty="0"/>
              <a:t> class</a:t>
            </a:r>
            <a:r>
              <a:rPr lang="en-CA" dirty="0">
                <a:solidFill>
                  <a:srgbClr val="00FF00"/>
                </a:solidFill>
              </a:rPr>
              <a:t>.</a:t>
            </a:r>
            <a:endParaRPr dirty="0"/>
          </a:p>
          <a:p>
            <a:pPr lvl="1"/>
            <a:r>
              <a:rPr b="1" dirty="0" err="1">
                <a:solidFill>
                  <a:srgbClr val="CC99FF"/>
                </a:solidFill>
              </a:rPr>
              <a:t>SolarSystem</a:t>
            </a:r>
            <a:r>
              <a:rPr dirty="0"/>
              <a:t> class</a:t>
            </a:r>
            <a:r>
              <a:rPr lang="en-CA" dirty="0">
                <a:solidFill>
                  <a:srgbClr val="00FF00"/>
                </a:solidFill>
              </a:rPr>
              <a:t>.</a:t>
            </a:r>
            <a:endParaRPr dirty="0"/>
          </a:p>
          <a:p>
            <a:pPr lvl="1"/>
            <a:r>
              <a:rPr dirty="0"/>
              <a:t>Visualization and animation</a:t>
            </a:r>
            <a:r>
              <a:rPr lang="en-CA" dirty="0">
                <a:solidFill>
                  <a:srgbClr val="00FF00"/>
                </a:solidFill>
              </a:rPr>
              <a:t>.</a:t>
            </a:r>
            <a:endParaRPr dirty="0">
              <a:solidFill>
                <a:srgbClr val="00FF00"/>
              </a:solidFill>
            </a:endParaRPr>
          </a:p>
        </p:txBody>
      </p:sp>
      <p:sp>
        <p:nvSpPr>
          <p:cNvPr id="4" name="Rectangle: Rounded Corners 5">
            <a:extLst>
              <a:ext uri="{FF2B5EF4-FFF2-40B4-BE49-F238E27FC236}">
                <a16:creationId xmlns:a16="http://schemas.microsoft.com/office/drawing/2014/main" id="{9BD5FBCF-8C94-E44C-BBC9-C128207E6FA0}"/>
              </a:ext>
            </a:extLst>
          </p:cNvPr>
          <p:cNvSpPr/>
          <p:nvPr/>
        </p:nvSpPr>
        <p:spPr>
          <a:xfrm>
            <a:off x="7664115" y="1949006"/>
            <a:ext cx="3958389" cy="4418765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>
                <a:solidFill>
                  <a:srgbClr val="FFFFFF"/>
                </a:solidFill>
              </a:rPr>
              <a:t>Open your notebook</a:t>
            </a:r>
          </a:p>
          <a:p>
            <a:endParaRPr lang="en-US" sz="44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Click Link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r>
              <a:rPr lang="en-US" sz="2800" b="1" dirty="0">
                <a:solidFill>
                  <a:schemeClr val="accent6"/>
                </a:solidFill>
              </a:rPr>
              <a:t>4. Solar System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7F06F2-AC3E-484E-9926-59D4F59092C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more OOP</a:t>
            </a:r>
            <a:r>
              <a:rPr lang="en-US" dirty="0">
                <a:solidFill>
                  <a:schemeClr val="accent6"/>
                </a:solidFill>
              </a:rPr>
              <a:t>!</a:t>
            </a: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B07687-F068-40FC-84A1-E7860490CAC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b="1" dirty="0"/>
              <a:t>Week </a:t>
            </a:r>
            <a:r>
              <a:rPr lang="en-US" b="1" dirty="0">
                <a:solidFill>
                  <a:schemeClr val="accent6"/>
                </a:solidFill>
              </a:rPr>
              <a:t>11</a:t>
            </a:r>
            <a:r>
              <a:rPr lang="en-US" b="1" dirty="0"/>
              <a:t> </a:t>
            </a:r>
            <a:r>
              <a:rPr lang="en-US" dirty="0">
                <a:solidFill>
                  <a:schemeClr val="accent2"/>
                </a:solidFill>
              </a:rPr>
              <a:t>|</a:t>
            </a:r>
            <a:r>
              <a:rPr lang="en-US" dirty="0"/>
              <a:t> Lecture </a:t>
            </a:r>
            <a:r>
              <a:rPr lang="en-US" dirty="0">
                <a:solidFill>
                  <a:schemeClr val="accent6"/>
                </a:solidFill>
              </a:rPr>
              <a:t>1 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>
                <a:solidFill>
                  <a:schemeClr val="accent6"/>
                </a:solidFill>
              </a:rPr>
              <a:t>11</a:t>
            </a:r>
            <a:r>
              <a:rPr lang="en-US" dirty="0"/>
              <a:t>.</a:t>
            </a:r>
            <a:r>
              <a:rPr lang="en-US" dirty="0">
                <a:solidFill>
                  <a:schemeClr val="accent6"/>
                </a:solidFill>
              </a:rPr>
              <a:t>1</a:t>
            </a:r>
            <a:r>
              <a:rPr lang="en-US" dirty="0">
                <a:solidFill>
                  <a:schemeClr val="accent1"/>
                </a:soli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845966729"/>
      </p:ext>
    </p:extLst>
  </p:cSld>
  <p:clrMapOvr>
    <a:masterClrMapping/>
  </p:clrMapOvr>
</p:sld>
</file>

<file path=ppt/theme/theme1.xml><?xml version="1.0" encoding="utf-8"?>
<a:theme xmlns:a="http://schemas.openxmlformats.org/drawingml/2006/main" name="APS106_Theme">
  <a:themeElements>
    <a:clrScheme name="Custom 2">
      <a:dk1>
        <a:srgbClr val="444445"/>
      </a:dk1>
      <a:lt1>
        <a:srgbClr val="000000"/>
      </a:lt1>
      <a:dk2>
        <a:srgbClr val="7B8994"/>
      </a:dk2>
      <a:lt2>
        <a:srgbClr val="3D464D"/>
      </a:lt2>
      <a:accent1>
        <a:srgbClr val="0061FF"/>
      </a:accent1>
      <a:accent2>
        <a:srgbClr val="0061FF"/>
      </a:accent2>
      <a:accent3>
        <a:srgbClr val="0061FF"/>
      </a:accent3>
      <a:accent4>
        <a:srgbClr val="7B8994"/>
      </a:accent4>
      <a:accent5>
        <a:srgbClr val="7B8994"/>
      </a:accent5>
      <a:accent6>
        <a:srgbClr val="F7B41A"/>
      </a:accent6>
      <a:hlink>
        <a:srgbClr val="3D464D"/>
      </a:hlink>
      <a:folHlink>
        <a:srgbClr val="3D464D"/>
      </a:folHlink>
    </a:clrScheme>
    <a:fontScheme name="Custom 1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PS106_Theme" id="{3BEEB87C-8A6C-443F-995D-4A4893CCEBD8}" vid="{9B7A7CDB-8752-4A8C-8C1A-92E8A921146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APS106_Theme</Template>
  <TotalTime>37025</TotalTime>
  <Words>900</Words>
  <Application>Microsoft Office PowerPoint</Application>
  <PresentationFormat>Widescreen</PresentationFormat>
  <Paragraphs>144</Paragraphs>
  <Slides>13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0" baseType="lpstr">
      <vt:lpstr>Arial</vt:lpstr>
      <vt:lpstr>Calibri</vt:lpstr>
      <vt:lpstr>Courier</vt:lpstr>
      <vt:lpstr>Courier New</vt:lpstr>
      <vt:lpstr>Segoe UI</vt:lpstr>
      <vt:lpstr>Wingdings</vt:lpstr>
      <vt:lpstr>APS106_Theme</vt:lpstr>
      <vt:lpstr>more OOP!</vt:lpstr>
      <vt:lpstr>Encapsulation.</vt:lpstr>
      <vt:lpstr>Encapsulate it.</vt:lpstr>
      <vt:lpstr>Let’s Code!</vt:lpstr>
      <vt:lpstr>Printing Information.</vt:lpstr>
      <vt:lpstr>Printing Information.</vt:lpstr>
      <vt:lpstr>Printing Information.</vt:lpstr>
      <vt:lpstr>Printing Information.</vt:lpstr>
      <vt:lpstr>Let’s Code!</vt:lpstr>
      <vt:lpstr>Let’s Build a Cash Register!</vt:lpstr>
      <vt:lpstr>Breakout Session!</vt:lpstr>
      <vt:lpstr>Let's Code!</vt:lpstr>
      <vt:lpstr>more OOP!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Sebastian Goodfellow</dc:creator>
  <cp:lastModifiedBy>Sebastian Goodfellow</cp:lastModifiedBy>
  <cp:revision>252</cp:revision>
  <dcterms:created xsi:type="dcterms:W3CDTF">2021-11-03T00:49:37Z</dcterms:created>
  <dcterms:modified xsi:type="dcterms:W3CDTF">2026-03-23T03:04:48Z</dcterms:modified>
</cp:coreProperties>
</file>