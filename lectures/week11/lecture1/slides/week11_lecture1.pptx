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5"/>
  </p:notesMasterIdLst>
  <p:sldIdLst>
    <p:sldId id="256" r:id="rId2"/>
    <p:sldId id="356" r:id="rId3"/>
    <p:sldId id="411" r:id="rId4"/>
    <p:sldId id="695" r:id="rId5"/>
    <p:sldId id="693" r:id="rId6"/>
    <p:sldId id="696" r:id="rId7"/>
    <p:sldId id="701" r:id="rId8"/>
    <p:sldId id="697" r:id="rId9"/>
    <p:sldId id="698" r:id="rId10"/>
    <p:sldId id="428" r:id="rId11"/>
    <p:sldId id="429" r:id="rId12"/>
    <p:sldId id="700" r:id="rId13"/>
    <p:sldId id="6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C99FF"/>
    <a:srgbClr val="FFFFFF"/>
    <a:srgbClr val="66FF99"/>
    <a:srgbClr val="00FCFF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52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6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96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02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826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904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370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988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774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520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474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OOP</a:t>
            </a:r>
            <a:r>
              <a:rPr lang="en-US" dirty="0">
                <a:solidFill>
                  <a:schemeClr val="accent6"/>
                </a:solidFill>
              </a:rPr>
              <a:t>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  <a:r>
              <a:rPr lang="en-US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rgbClr val="00FF00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r>
              <a:rPr lang="en-US" dirty="0"/>
              <a:t>To encapsulate something means to enclose it in some kind of container</a:t>
            </a:r>
            <a:r>
              <a:rPr lang="en-US" dirty="0">
                <a:solidFill>
                  <a:srgbClr val="00FF00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programming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encapsulation means keeping </a:t>
            </a:r>
            <a:r>
              <a:rPr lang="en-US" b="1" dirty="0">
                <a:solidFill>
                  <a:srgbClr val="E00BE5"/>
                </a:solidFill>
              </a:rPr>
              <a:t>data</a:t>
            </a:r>
            <a:r>
              <a:rPr lang="en-US" dirty="0"/>
              <a:t> and the </a:t>
            </a:r>
            <a:r>
              <a:rPr lang="en-US" b="1" dirty="0">
                <a:solidFill>
                  <a:srgbClr val="E00BE5"/>
                </a:solidFill>
              </a:rPr>
              <a:t>code</a:t>
            </a:r>
            <a:r>
              <a:rPr lang="en-US" dirty="0"/>
              <a:t> that uses it in one place and hiding the details of exactly how they work together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8C931-5832-4830-8E6E-DC988A727470}"/>
              </a:ext>
            </a:extLst>
          </p:cNvPr>
          <p:cNvSpPr txBox="1"/>
          <p:nvPr/>
        </p:nvSpPr>
        <p:spPr>
          <a:xfrm>
            <a:off x="4942733" y="727514"/>
            <a:ext cx="446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(50)</a:t>
            </a: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kitty.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Encapsulate it</a:t>
            </a:r>
            <a:r>
              <a:rPr lang="en-US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48200" cy="4835479"/>
          </a:xfrm>
        </p:spPr>
        <p:txBody>
          <a:bodyPr>
            <a:normAutofit/>
          </a:bodyPr>
          <a:lstStyle/>
          <a:p>
            <a:r>
              <a:rPr lang="en-US" dirty="0"/>
              <a:t>For example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each instance of class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file </a:t>
            </a:r>
            <a:r>
              <a:rPr lang="en-US" dirty="0"/>
              <a:t>keeps track of which file on the disk it is reading</a:t>
            </a:r>
            <a:r>
              <a:rPr lang="en-US" dirty="0">
                <a:solidFill>
                  <a:srgbClr val="00FF00"/>
                </a:solidFill>
              </a:rPr>
              <a:t>/</a:t>
            </a:r>
            <a:r>
              <a:rPr lang="en-US" dirty="0"/>
              <a:t>writing and where it currently is on that file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r>
              <a:rPr lang="en-US" dirty="0"/>
              <a:t>The class hides the details of how it is done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so we </a:t>
            </a:r>
            <a:r>
              <a:rPr lang="en-US" dirty="0">
                <a:solidFill>
                  <a:srgbClr val="00FF00"/>
                </a:solidFill>
              </a:rPr>
              <a:t>(</a:t>
            </a:r>
            <a:r>
              <a:rPr lang="en-US" dirty="0"/>
              <a:t>as programmers</a:t>
            </a:r>
            <a:r>
              <a:rPr lang="en-US" dirty="0">
                <a:solidFill>
                  <a:srgbClr val="00FF00"/>
                </a:solidFill>
              </a:rPr>
              <a:t>)</a:t>
            </a:r>
            <a:r>
              <a:rPr lang="en-US" dirty="0"/>
              <a:t> can use it without needing to know how it is implemented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C905-178B-CA41-8B19-EA10E8450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1890282"/>
            <a:ext cx="3215081" cy="987874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3F3FD835-FD46-F34C-BF61-7E7B64F8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074" y="2236567"/>
            <a:ext cx="3608926" cy="2927007"/>
          </a:xfrm>
          <a:prstGeom prst="rect">
            <a:avLst/>
          </a:prstGeom>
        </p:spPr>
      </p:pic>
      <p:pic>
        <p:nvPicPr>
          <p:cNvPr id="12" name="Picture 11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8356DD0C-A1C9-5E48-9D39-547659B49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4521984"/>
            <a:ext cx="3215078" cy="987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792F3-70FB-1A4E-BBF6-02951E641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6" y="5459295"/>
            <a:ext cx="6144519" cy="26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rgbClr val="00FF00"/>
                </a:solidFill>
              </a:rPr>
              <a:t>’</a:t>
            </a:r>
            <a:r>
              <a:rPr lang="en-CA" dirty="0"/>
              <a:t>s look at how this works in Python</a:t>
            </a:r>
            <a:r>
              <a:rPr lang="en-CA" dirty="0">
                <a:solidFill>
                  <a:srgbClr val="00FF00"/>
                </a:solidFill>
              </a:rPr>
              <a:t>!</a:t>
            </a:r>
          </a:p>
          <a:p>
            <a:pPr lvl="1"/>
            <a:r>
              <a:rPr lang="en-CA" dirty="0"/>
              <a:t>Point Class Recap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CA" dirty="0"/>
              <a:t>Rectangle Class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Encapsulation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83A706-C853-49B5-5072-8F417277D73A}"/>
              </a:ext>
            </a:extLst>
          </p:cNvPr>
          <p:cNvSpPr/>
          <p:nvPr/>
        </p:nvSpPr>
        <p:spPr>
          <a:xfrm>
            <a:off x="1551327" y="3776359"/>
            <a:ext cx="3376943" cy="2152252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4E4FF7-45A6-DB72-6A22-471682C3F87F}"/>
              </a:ext>
            </a:extLst>
          </p:cNvPr>
          <p:cNvSpPr/>
          <p:nvPr/>
        </p:nvSpPr>
        <p:spPr>
          <a:xfrm>
            <a:off x="1456324" y="5833608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35BF80-2750-E197-65B2-FD4A4F204A31}"/>
              </a:ext>
            </a:extLst>
          </p:cNvPr>
          <p:cNvSpPr/>
          <p:nvPr/>
        </p:nvSpPr>
        <p:spPr>
          <a:xfrm>
            <a:off x="4821714" y="3680068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5960F-CA7F-E423-5E9A-5089E2132232}"/>
              </a:ext>
            </a:extLst>
          </p:cNvPr>
          <p:cNvSpPr txBox="1"/>
          <p:nvPr/>
        </p:nvSpPr>
        <p:spPr>
          <a:xfrm>
            <a:off x="1993303" y="4652430"/>
            <a:ext cx="2492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DD6137-8A59-47B1-FA7E-30B719F55C8B}"/>
              </a:ext>
            </a:extLst>
          </p:cNvPr>
          <p:cNvSpPr txBox="1"/>
          <p:nvPr/>
        </p:nvSpPr>
        <p:spPr>
          <a:xfrm>
            <a:off x="327395" y="5994689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Point(x1, y1)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1B73C4-0D93-98BC-D154-274D32D1EF24}"/>
              </a:ext>
            </a:extLst>
          </p:cNvPr>
          <p:cNvSpPr txBox="1"/>
          <p:nvPr/>
        </p:nvSpPr>
        <p:spPr>
          <a:xfrm>
            <a:off x="4509815" y="3133099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Point(x2, y2)</a:t>
            </a:r>
          </a:p>
        </p:txBody>
      </p:sp>
    </p:spTree>
    <p:extLst>
      <p:ext uri="{BB962C8B-B14F-4D97-AF65-F5344CB8AC3E}">
        <p14:creationId xmlns:p14="http://schemas.microsoft.com/office/powerpoint/2010/main" val="374488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Printing Information</a:t>
            </a:r>
            <a:r>
              <a:rPr lang="en-US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would be nice to not have to write a print statement when we want to display attribute information</a:t>
            </a:r>
            <a:r>
              <a:rPr lang="en-US" dirty="0">
                <a:solidFill>
                  <a:srgbClr val="CC99FF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there a better way to encapsulate this</a:t>
            </a:r>
            <a:r>
              <a:rPr lang="en-US" dirty="0">
                <a:solidFill>
                  <a:srgbClr val="CC99FF"/>
                </a:solidFill>
              </a:rPr>
              <a:t>?</a:t>
            </a:r>
            <a:r>
              <a:rPr lang="en-US" dirty="0"/>
              <a:t> How about a method</a:t>
            </a:r>
            <a:r>
              <a:rPr lang="en-US" dirty="0">
                <a:solidFill>
                  <a:srgbClr val="CC99FF"/>
                </a:solidFill>
              </a:rPr>
              <a:t>?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D78018B-EE42-7446-A316-AC67025A187A}"/>
              </a:ext>
            </a:extLst>
          </p:cNvPr>
          <p:cNvSpPr txBox="1"/>
          <p:nvPr/>
        </p:nvSpPr>
        <p:spPr>
          <a:xfrm>
            <a:off x="6539536" y="2975641"/>
            <a:ext cx="5404421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lang="en-US" sz="2400" b="1" spc="-5" dirty="0">
                <a:solidFill>
                  <a:srgbClr val="00FF00"/>
                </a:solidFill>
                <a:latin typeface="Courier New"/>
                <a:cs typeface="Courier New"/>
              </a:rPr>
              <a:t>p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.x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,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.y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3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-682106" y="2960320"/>
            <a:ext cx="88171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Point(3,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print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CA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765300" lvl="0">
              <a:defRPr/>
            </a:pPr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&lt;__</a:t>
            </a:r>
            <a:r>
              <a:rPr lang="en-CA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main__.Point</a:t>
            </a:r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object at 0x7fd8100778b0&gt;</a:t>
            </a: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F1C9C-CB1B-63FD-85D2-C89D65DDCC78}"/>
              </a:ext>
            </a:extLst>
          </p:cNvPr>
          <p:cNvSpPr txBox="1"/>
          <p:nvPr/>
        </p:nvSpPr>
        <p:spPr>
          <a:xfrm>
            <a:off x="1084666" y="4747679"/>
            <a:ext cx="48013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 = Point(3,4)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p.to_string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'(3,4)'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r =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p.halfway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(Point(5,12))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r.to_string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'(4,8)'</a:t>
            </a:r>
            <a:endParaRPr lang="en-CA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58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Printing Information</a:t>
            </a:r>
            <a:r>
              <a:rPr lang="en-US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38263" cy="4835479"/>
          </a:xfrm>
        </p:spPr>
        <p:txBody>
          <a:bodyPr/>
          <a:lstStyle/>
          <a:p>
            <a:r>
              <a:rPr lang="en-US" dirty="0"/>
              <a:t>If we had a method, we just need to format the attributes into a string</a:t>
            </a:r>
            <a:r>
              <a:rPr lang="en-US" dirty="0">
                <a:solidFill>
                  <a:srgbClr val="00FF00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could make a similar method for any class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1080376" y="2795751"/>
            <a:ext cx="8422485" cy="2945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def </a:t>
            </a:r>
            <a:r>
              <a:rPr lang="en-CA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(self):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    (self) -&gt; None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    Prints the (x, y) coordinate for the point.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        print('(' + str(</a:t>
            </a:r>
            <a:r>
              <a:rPr lang="en-CA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) + ', ' + str(</a:t>
            </a:r>
            <a:r>
              <a:rPr lang="en-CA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b="1" spc="-5" dirty="0">
                <a:solidFill>
                  <a:srgbClr val="00FF00"/>
                </a:solidFill>
                <a:latin typeface="Courier New"/>
                <a:cs typeface="Courier New"/>
              </a:rPr>
              <a:t>) + ')')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EE2E1-93AA-8557-D3B4-0C59D2B18EED}"/>
              </a:ext>
            </a:extLst>
          </p:cNvPr>
          <p:cNvSpPr txBox="1"/>
          <p:nvPr/>
        </p:nvSpPr>
        <p:spPr>
          <a:xfrm>
            <a:off x="7781091" y="582173"/>
            <a:ext cx="43204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 = Point(3,4)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p.to_string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'(3,4)'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r =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p.halfway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(Point(5,12))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r.to_string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'(4,8)'</a:t>
            </a:r>
          </a:p>
        </p:txBody>
      </p:sp>
    </p:spTree>
    <p:extLst>
      <p:ext uri="{BB962C8B-B14F-4D97-AF65-F5344CB8AC3E}">
        <p14:creationId xmlns:p14="http://schemas.microsoft.com/office/powerpoint/2010/main" val="95980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29D3-1C7F-895F-7ECD-52026EC5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Printing Information</a:t>
            </a:r>
            <a:r>
              <a:rPr lang="en-US" b="1" dirty="0">
                <a:solidFill>
                  <a:srgbClr val="00FF00"/>
                </a:solidFill>
              </a:rPr>
              <a:t>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CFC3-B8ED-8E1F-80E6-5CAFA925B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182363" cy="4835479"/>
          </a:xfrm>
        </p:spPr>
        <p:txBody>
          <a:bodyPr/>
          <a:lstStyle/>
          <a:p>
            <a:r>
              <a:rPr lang="en-US" sz="2400" dirty="0"/>
              <a:t>If every class we made had a </a:t>
            </a:r>
            <a:r>
              <a:rPr lang="en-US" sz="2400" b="1" dirty="0" err="1">
                <a:solidFill>
                  <a:srgbClr val="00FF00"/>
                </a:solidFill>
              </a:rPr>
              <a:t>to_string</a:t>
            </a:r>
            <a:r>
              <a:rPr lang="en-US" sz="2400" b="1" dirty="0">
                <a:solidFill>
                  <a:srgbClr val="00FF00"/>
                </a:solidFill>
              </a:rPr>
              <a:t>() </a:t>
            </a:r>
            <a:r>
              <a:rPr lang="en-US" sz="2400" dirty="0"/>
              <a:t>method</a:t>
            </a:r>
            <a:r>
              <a:rPr lang="en-US" sz="2400" dirty="0">
                <a:solidFill>
                  <a:srgbClr val="00FF00"/>
                </a:solidFill>
              </a:rPr>
              <a:t>,</a:t>
            </a:r>
            <a:r>
              <a:rPr lang="en-US" sz="2400" dirty="0"/>
              <a:t> great</a:t>
            </a:r>
            <a:r>
              <a:rPr lang="en-US" sz="2400" dirty="0">
                <a:solidFill>
                  <a:srgbClr val="00FF00"/>
                </a:solidFill>
              </a:rPr>
              <a:t>!</a:t>
            </a:r>
          </a:p>
          <a:p>
            <a:pPr lvl="1"/>
            <a:r>
              <a:rPr lang="en-US" sz="2000" dirty="0"/>
              <a:t>Easy to remember</a:t>
            </a:r>
            <a:r>
              <a:rPr lang="en-US" sz="2000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sz="2000" dirty="0"/>
              <a:t>All formatting specific to printing an object would be encapsulated</a:t>
            </a:r>
            <a:r>
              <a:rPr lang="en-US" sz="2000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sz="2000" dirty="0"/>
              <a:t>But they won</a:t>
            </a:r>
            <a:r>
              <a:rPr lang="en-US" sz="2000" dirty="0">
                <a:solidFill>
                  <a:srgbClr val="00FF00"/>
                </a:solidFill>
              </a:rPr>
              <a:t>’</a:t>
            </a:r>
            <a:r>
              <a:rPr lang="en-US" sz="2000" dirty="0"/>
              <a:t>t all have one</a:t>
            </a:r>
            <a:r>
              <a:rPr lang="en-US" sz="2000" dirty="0">
                <a:solidFill>
                  <a:srgbClr val="00FF00"/>
                </a:solidFill>
              </a:rPr>
              <a:t>…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What if other people made their own method for printing and called it something else</a:t>
            </a:r>
            <a:r>
              <a:rPr lang="en-US" sz="2400" dirty="0">
                <a:solidFill>
                  <a:srgbClr val="00FF00"/>
                </a:solidFill>
              </a:rPr>
              <a:t>?</a:t>
            </a:r>
          </a:p>
          <a:p>
            <a:pPr lvl="1"/>
            <a:r>
              <a:rPr lang="en-US" sz="2000" dirty="0"/>
              <a:t>Then it would no longer be obvious how to quickly display information</a:t>
            </a:r>
            <a:r>
              <a:rPr lang="en-US" sz="2000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sz="2000" dirty="0"/>
              <a:t>Is it called </a:t>
            </a:r>
            <a:r>
              <a:rPr lang="en-US" sz="2000" dirty="0" err="1">
                <a:solidFill>
                  <a:srgbClr val="FF00E9"/>
                </a:solidFill>
              </a:rPr>
              <a:t>to_string</a:t>
            </a:r>
            <a:r>
              <a:rPr lang="en-US" sz="2000" dirty="0">
                <a:solidFill>
                  <a:srgbClr val="CC99FF"/>
                </a:solidFill>
              </a:rPr>
              <a:t>?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FF00"/>
                </a:solidFill>
              </a:rPr>
              <a:t>tostring</a:t>
            </a:r>
            <a:r>
              <a:rPr lang="en-US" sz="2000" dirty="0">
                <a:solidFill>
                  <a:srgbClr val="CC99FF"/>
                </a:solidFill>
              </a:rPr>
              <a:t>?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2stringz</a:t>
            </a:r>
            <a:r>
              <a:rPr lang="en-US" sz="2000" dirty="0">
                <a:solidFill>
                  <a:srgbClr val="CC99FF"/>
                </a:solidFill>
              </a:rPr>
              <a:t>?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FCFF"/>
                </a:solidFill>
              </a:rPr>
              <a:t>print_point</a:t>
            </a:r>
            <a:r>
              <a:rPr lang="en-US" sz="2000" dirty="0">
                <a:solidFill>
                  <a:srgbClr val="CC99FF"/>
                </a:solidFill>
              </a:rPr>
              <a:t>?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/>
                </a:solidFill>
              </a:rPr>
              <a:t>plz_print_me</a:t>
            </a:r>
            <a:r>
              <a:rPr lang="en-US" sz="2000" dirty="0">
                <a:solidFill>
                  <a:srgbClr val="CC99FF"/>
                </a:solidFill>
              </a:rPr>
              <a:t>?</a:t>
            </a:r>
          </a:p>
          <a:p>
            <a:endParaRPr lang="en-CA" dirty="0"/>
          </a:p>
          <a:p>
            <a:r>
              <a:rPr lang="en-US" b="1" dirty="0">
                <a:solidFill>
                  <a:srgbClr val="00FF00"/>
                </a:solidFill>
              </a:rPr>
              <a:t>Python has a clever trick for this</a:t>
            </a:r>
            <a:r>
              <a:rPr lang="en-US" b="1" dirty="0">
                <a:solidFill>
                  <a:srgbClr val="CC99FF"/>
                </a:solidFill>
              </a:rPr>
              <a:t>!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2" descr="how it really feels like : r/ProgrammerHumor">
            <a:extLst>
              <a:ext uri="{FF2B5EF4-FFF2-40B4-BE49-F238E27FC236}">
                <a16:creationId xmlns:a16="http://schemas.microsoft.com/office/drawing/2014/main" id="{F0EE0D7C-7940-C686-4070-5822D1B55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581" y="577599"/>
            <a:ext cx="3161146" cy="1940943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8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Printing Information</a:t>
            </a:r>
            <a:r>
              <a:rPr lang="en-US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9123616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we call our new method</a:t>
            </a:r>
            <a:r>
              <a:rPr lang="en-US" sz="2400" dirty="0">
                <a:solidFill>
                  <a:srgbClr val="00FF00"/>
                </a:solidFill>
              </a:rPr>
              <a:t> </a:t>
            </a:r>
            <a:r>
              <a:rPr lang="en-US" sz="2400" b="1" dirty="0">
                <a:solidFill>
                  <a:srgbClr val="00FF00"/>
                </a:solidFill>
              </a:rPr>
              <a:t>__str__ </a:t>
            </a:r>
            <a:r>
              <a:rPr lang="en-US" sz="2400" dirty="0"/>
              <a:t>instead of </a:t>
            </a:r>
            <a:r>
              <a:rPr lang="en-US" sz="2400" dirty="0" err="1">
                <a:solidFill>
                  <a:srgbClr val="00FF00"/>
                </a:solidFill>
              </a:rPr>
              <a:t>to_string</a:t>
            </a:r>
            <a:r>
              <a:rPr lang="en-US" sz="2400" dirty="0">
                <a:solidFill>
                  <a:srgbClr val="CC99FF"/>
                </a:solidFill>
              </a:rPr>
              <a:t>,</a:t>
            </a:r>
            <a:r>
              <a:rPr lang="en-US" sz="2400" dirty="0"/>
              <a:t> Python will use our code whenever it needs to convert Point to a string</a:t>
            </a:r>
            <a:r>
              <a:rPr lang="en-US" sz="2400" dirty="0">
                <a:solidFill>
                  <a:srgbClr val="CC99FF"/>
                </a:solidFill>
              </a:rPr>
              <a:t>.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E7499-C0F9-F547-ABC0-4E4BBDCDA094}"/>
              </a:ext>
            </a:extLst>
          </p:cNvPr>
          <p:cNvSpPr txBox="1"/>
          <p:nvPr/>
        </p:nvSpPr>
        <p:spPr>
          <a:xfrm>
            <a:off x="572962" y="2614348"/>
            <a:ext cx="93189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def __</a:t>
            </a:r>
            <a:r>
              <a:rPr lang="en-CA" sz="20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init</a:t>
            </a: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__(self, x=0 , y=0):</a:t>
            </a:r>
          </a:p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	 ...</a:t>
            </a:r>
          </a:p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    def __str__(self):</a:t>
            </a:r>
            <a:endParaRPr lang="en-CA" sz="2000" b="1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        return (‘(’ + str(</a:t>
            </a:r>
            <a:r>
              <a:rPr lang="en-CA" sz="20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) + ‘,’ + str(</a:t>
            </a:r>
            <a:r>
              <a:rPr lang="en-CA" sz="20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z="2000" b="1" spc="-5" dirty="0">
                <a:solidFill>
                  <a:srgbClr val="00FF00"/>
                </a:solidFill>
                <a:latin typeface="Courier New"/>
                <a:cs typeface="Courier New"/>
              </a:rPr>
              <a:t>) + ‘)’)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7488CEE-3FC7-3E4F-860A-A1036F9CAB76}"/>
              </a:ext>
            </a:extLst>
          </p:cNvPr>
          <p:cNvSpPr txBox="1"/>
          <p:nvPr/>
        </p:nvSpPr>
        <p:spPr>
          <a:xfrm>
            <a:off x="4371515" y="5433196"/>
            <a:ext cx="6412099" cy="9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lang="en-CA" sz="2000" b="1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lang="en-CA" sz="20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2000" b="1" i="0" u="none" strike="noStrike" kern="1200" cap="none" spc="-40" normalizeH="0" baseline="0" noProof="0" dirty="0">
                <a:ln>
                  <a:noFill/>
                </a:ln>
                <a:solidFill>
                  <a:srgbClr val="CC99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CA" sz="20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kumimoji="0" lang="en-CA" sz="20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20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er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CC99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r>
              <a:rPr kumimoji="0" lang="en-CA" sz="20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CA" sz="2000" spc="5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5080" lvl="0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hen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2000" b="0" i="0" u="none" strike="noStrike" kern="1200" cap="none" spc="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 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print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</a:t>
            </a:r>
            <a:r>
              <a:rPr kumimoji="0" sz="2000" b="1" i="0" u="none" strike="noStrike" kern="1200" cap="none" spc="-1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CC99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th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1" i="0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obj.</a:t>
            </a:r>
            <a:r>
              <a:rPr kumimoji="0" lang="en-US" sz="2000" b="1" i="0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__</a:t>
            </a:r>
            <a:r>
              <a:rPr kumimoji="0" sz="2000" b="1" i="0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st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r</a:t>
            </a:r>
            <a:r>
              <a:rPr kumimoji="0" sz="2000" b="1" i="0" u="none" strike="noStrike" kern="1200" cap="none" spc="-1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2000" b="1" i="0" u="none" strike="noStrike" kern="1200" cap="none" spc="-1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2000" b="1" i="0" u="none" strike="noStrike" kern="1200" cap="none" spc="-4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is c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 fi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nt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CC99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C99FF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DD1F613A-4624-5E46-8FB6-37635B42749C}"/>
              </a:ext>
            </a:extLst>
          </p:cNvPr>
          <p:cNvSpPr/>
          <p:nvPr/>
        </p:nvSpPr>
        <p:spPr>
          <a:xfrm>
            <a:off x="932419" y="3962889"/>
            <a:ext cx="9123616" cy="1061743"/>
          </a:xfrm>
          <a:prstGeom prst="frame">
            <a:avLst/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8ED38-9018-A8B5-2F7D-0367D6366F12}"/>
              </a:ext>
            </a:extLst>
          </p:cNvPr>
          <p:cNvSpPr txBox="1"/>
          <p:nvPr/>
        </p:nvSpPr>
        <p:spPr>
          <a:xfrm>
            <a:off x="579268" y="5444242"/>
            <a:ext cx="29546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 = Point(3,4)</a:t>
            </a:r>
          </a:p>
          <a:p>
            <a:r>
              <a:rPr lang="fr-FR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fr-FR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</a:p>
          <a:p>
            <a:r>
              <a:rPr lang="fr-FR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'(3,4)'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6A7F1-316C-9CC1-7F7E-59C643A5C7A5}"/>
              </a:ext>
            </a:extLst>
          </p:cNvPr>
          <p:cNvSpPr txBox="1"/>
          <p:nvPr/>
        </p:nvSpPr>
        <p:spPr>
          <a:xfrm>
            <a:off x="9966251" y="644998"/>
            <a:ext cx="2046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FF00"/>
                </a:solidFill>
              </a:rPr>
              <a:t>Special Methods</a:t>
            </a:r>
          </a:p>
          <a:p>
            <a:r>
              <a:rPr lang="en-CA" b="1" dirty="0">
                <a:solidFill>
                  <a:srgbClr val="00FF00"/>
                </a:solidFill>
              </a:rPr>
              <a:t>Magic Methods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These are part of Python</a:t>
            </a:r>
            <a:r>
              <a:rPr lang="en-US" dirty="0">
                <a:solidFill>
                  <a:srgbClr val="CC99FF"/>
                </a:solidFill>
              </a:rPr>
              <a:t>’</a:t>
            </a:r>
            <a:r>
              <a:rPr lang="en-US" dirty="0">
                <a:solidFill>
                  <a:srgbClr val="FFFFFF"/>
                </a:solidFill>
              </a:rPr>
              <a:t>s special object protocol</a:t>
            </a:r>
            <a:r>
              <a:rPr lang="en-US" dirty="0">
                <a:solidFill>
                  <a:srgbClr val="CC99FF"/>
                </a:solidFill>
              </a:rPr>
              <a:t>.</a:t>
            </a:r>
            <a:endParaRPr lang="en-CA" dirty="0">
              <a:solidFill>
                <a:srgbClr val="CC99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DA52E-6DA2-E09D-E27B-6DE3D5C04D9C}"/>
              </a:ext>
            </a:extLst>
          </p:cNvPr>
          <p:cNvSpPr txBox="1"/>
          <p:nvPr/>
        </p:nvSpPr>
        <p:spPr>
          <a:xfrm>
            <a:off x="6743473" y="2642699"/>
            <a:ext cx="51090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→ x.__</a:t>
            </a:r>
            <a:r>
              <a:rPr lang="en-CA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print(x) or str(x) → </a:t>
            </a:r>
            <a:r>
              <a:rPr lang="en-CA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x.__str</a:t>
            </a:r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bool(x) → </a:t>
            </a:r>
            <a:r>
              <a:rPr lang="en-CA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x.__bool</a:t>
            </a:r>
            <a:r>
              <a:rPr lang="en-CA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</p:spTree>
    <p:extLst>
      <p:ext uri="{BB962C8B-B14F-4D97-AF65-F5344CB8AC3E}">
        <p14:creationId xmlns:p14="http://schemas.microsoft.com/office/powerpoint/2010/main" val="414846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rgbClr val="00FF00"/>
                </a:solidFill>
              </a:rPr>
              <a:t>’</a:t>
            </a:r>
            <a:r>
              <a:rPr lang="en-CA" dirty="0"/>
              <a:t>s look at how this works in Python</a:t>
            </a:r>
            <a:r>
              <a:rPr lang="en-CA" dirty="0">
                <a:solidFill>
                  <a:srgbClr val="00FF00"/>
                </a:solidFill>
              </a:rPr>
              <a:t>!</a:t>
            </a:r>
          </a:p>
          <a:p>
            <a:pPr lvl="1"/>
            <a:r>
              <a:rPr lang="en-US" b="1" dirty="0">
                <a:solidFill>
                  <a:srgbClr val="CC99FF"/>
                </a:solidFill>
              </a:rPr>
              <a:t>__str__ </a:t>
            </a:r>
            <a:r>
              <a:rPr lang="en-US" dirty="0"/>
              <a:t>method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Printing Objects</a:t>
            </a:r>
          </a:p>
        </p:txBody>
      </p:sp>
      <p:pic>
        <p:nvPicPr>
          <p:cNvPr id="5" name="Picture 2" descr="OOPS : r/ProgrammerHumor">
            <a:extLst>
              <a:ext uri="{FF2B5EF4-FFF2-40B4-BE49-F238E27FC236}">
                <a16:creationId xmlns:a16="http://schemas.microsoft.com/office/drawing/2014/main" id="{0327627B-26F9-CD45-BBC5-A1A0ECFF7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14" y="2796839"/>
            <a:ext cx="5570393" cy="3481497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194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F1F2-87C7-DA47-91C7-1F3842EB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Build a Cash Register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F3C4-C09D-BB4F-98E3-9D50BB19C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34213" cy="4835479"/>
          </a:xfrm>
        </p:spPr>
        <p:txBody>
          <a:bodyPr/>
          <a:lstStyle/>
          <a:p>
            <a:r>
              <a:rPr lang="en-US" dirty="0"/>
              <a:t>We want to build a cash register program.  What features do we want</a:t>
            </a:r>
            <a:r>
              <a:rPr lang="en-US" dirty="0">
                <a:solidFill>
                  <a:srgbClr val="00FF00"/>
                </a:solidFill>
              </a:rPr>
              <a:t>?</a:t>
            </a:r>
          </a:p>
          <a:p>
            <a:pPr lvl="1"/>
            <a:r>
              <a:rPr lang="en-US" dirty="0"/>
              <a:t>Track number of</a:t>
            </a:r>
            <a:r>
              <a:rPr lang="en-US" dirty="0">
                <a:solidFill>
                  <a:srgbClr val="00FF00"/>
                </a:solidFill>
              </a:rPr>
              <a:t>:</a:t>
            </a:r>
          </a:p>
          <a:p>
            <a:pPr lvl="2"/>
            <a:r>
              <a:rPr lang="en-CA" dirty="0"/>
              <a:t>Loonies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pPr lvl="2"/>
            <a:r>
              <a:rPr lang="en-CA" dirty="0"/>
              <a:t>Toonies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pPr lvl="2"/>
            <a:r>
              <a:rPr lang="en-CA" dirty="0"/>
              <a:t>$5 bills</a:t>
            </a:r>
            <a:r>
              <a:rPr lang="en-CA" dirty="0">
                <a:solidFill>
                  <a:srgbClr val="00FF00"/>
                </a:solidFill>
              </a:rPr>
              <a:t>.</a:t>
            </a:r>
            <a:r>
              <a:rPr lang="en-CA" dirty="0"/>
              <a:t> </a:t>
            </a:r>
          </a:p>
          <a:p>
            <a:pPr lvl="2"/>
            <a:r>
              <a:rPr lang="en-CA" dirty="0"/>
              <a:t>$10 bills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pPr lvl="2"/>
            <a:r>
              <a:rPr lang="en-CA" dirty="0"/>
              <a:t>$20 bills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rgbClr val="CC99FF"/>
                </a:solidFill>
              </a:rPr>
              <a:t>Accepts cash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rgbClr val="CC99FF"/>
                </a:solidFill>
              </a:rPr>
              <a:t>Removes cash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rgbClr val="CC99FF"/>
                </a:solidFill>
              </a:rPr>
              <a:t>Calculates value of contents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rgbClr val="CC99FF"/>
                </a:solidFill>
              </a:rPr>
              <a:t>Print the entire contents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1"/>
            <a:endParaRPr lang="en-US" dirty="0"/>
          </a:p>
        </p:txBody>
      </p:sp>
      <p:pic>
        <p:nvPicPr>
          <p:cNvPr id="1026" name="Picture 2" descr="I so smart - Imgflip">
            <a:extLst>
              <a:ext uri="{FF2B5EF4-FFF2-40B4-BE49-F238E27FC236}">
                <a16:creationId xmlns:a16="http://schemas.microsoft.com/office/drawing/2014/main" id="{4A275BF4-E18C-9147-ADA3-6E09740A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942" y="3717036"/>
            <a:ext cx="3680282" cy="27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641F1D-ACF1-894C-AC25-E7FFC862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867" y="774699"/>
            <a:ext cx="808736" cy="8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8EEEF0D-2F8F-F24F-8AE1-F47A8A54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4202" y="756170"/>
            <a:ext cx="821632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$5 Polymer Note - Bank of Canada">
            <a:extLst>
              <a:ext uri="{FF2B5EF4-FFF2-40B4-BE49-F238E27FC236}">
                <a16:creationId xmlns:a16="http://schemas.microsoft.com/office/drawing/2014/main" id="{22DD17E8-4505-7542-9D48-FE0BD89A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512" y="1707309"/>
            <a:ext cx="1760434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some money&#10;&#10;Description automatically generated with low confidence">
            <a:extLst>
              <a:ext uri="{FF2B5EF4-FFF2-40B4-BE49-F238E27FC236}">
                <a16:creationId xmlns:a16="http://schemas.microsoft.com/office/drawing/2014/main" id="{B9125843-BC27-C74C-8A68-770FC38984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790" y="2153190"/>
            <a:ext cx="1760434" cy="790435"/>
          </a:xfrm>
          <a:prstGeom prst="rect">
            <a:avLst/>
          </a:prstGeom>
        </p:spPr>
      </p:pic>
      <p:pic>
        <p:nvPicPr>
          <p:cNvPr id="7" name="Picture 6" descr="A close-up of some money&#10;&#10;Description automatically generated with medium confidence">
            <a:extLst>
              <a:ext uri="{FF2B5EF4-FFF2-40B4-BE49-F238E27FC236}">
                <a16:creationId xmlns:a16="http://schemas.microsoft.com/office/drawing/2014/main" id="{3F03A9A5-3507-EA49-AF51-BACFC1272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942" y="2656722"/>
            <a:ext cx="1807574" cy="80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07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Breakout Session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rgbClr val="00FF00"/>
                </a:solidFill>
              </a:rPr>
              <a:t>’</a:t>
            </a:r>
            <a:r>
              <a:rPr lang="en-CA" dirty="0"/>
              <a:t>s look at how this works in Python</a:t>
            </a:r>
            <a:r>
              <a:rPr lang="en-CA" dirty="0">
                <a:solidFill>
                  <a:srgbClr val="00FF00"/>
                </a:solidFill>
              </a:rPr>
              <a:t>!</a:t>
            </a:r>
          </a:p>
          <a:p>
            <a:pPr lvl="1"/>
            <a:r>
              <a:rPr lang="en-US" dirty="0"/>
              <a:t>Building a cash register</a:t>
            </a:r>
            <a:r>
              <a:rPr lang="en-US" dirty="0">
                <a:solidFill>
                  <a:srgbClr val="00FF00"/>
                </a:solidFill>
              </a:rPr>
              <a:t>:</a:t>
            </a:r>
          </a:p>
          <a:p>
            <a:pPr lvl="2"/>
            <a:r>
              <a:rPr lang="en-US" dirty="0"/>
              <a:t>Attributes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2"/>
            <a:r>
              <a:rPr lang="en-US" dirty="0"/>
              <a:t>Methods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3"/>
            <a:r>
              <a:rPr lang="en-US" dirty="0"/>
              <a:t>Including </a:t>
            </a:r>
            <a:r>
              <a:rPr lang="en-US" b="1" dirty="0">
                <a:solidFill>
                  <a:srgbClr val="CC99FF"/>
                </a:solidFill>
              </a:rPr>
              <a:t>__str__ </a:t>
            </a:r>
            <a:r>
              <a:rPr lang="en-US" dirty="0"/>
              <a:t>method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Building a Cash Register</a:t>
            </a:r>
          </a:p>
        </p:txBody>
      </p:sp>
      <p:pic>
        <p:nvPicPr>
          <p:cNvPr id="2050" name="Picture 2" descr="do you work here?&quot; No, i just like standing behind a cash register - The  Friendly Cashier - quickmeme">
            <a:extLst>
              <a:ext uri="{FF2B5EF4-FFF2-40B4-BE49-F238E27FC236}">
                <a16:creationId xmlns:a16="http://schemas.microsoft.com/office/drawing/2014/main" id="{88125863-9285-684F-BDA1-A147CA34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3787720"/>
            <a:ext cx="3276600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55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Let</a:t>
            </a:r>
            <a:r>
              <a:rPr b="1" dirty="0">
                <a:solidFill>
                  <a:srgbClr val="00FF00"/>
                </a:solidFill>
              </a:rPr>
              <a:t>'</a:t>
            </a:r>
            <a:r>
              <a:rPr b="1" dirty="0"/>
              <a:t>s Code</a:t>
            </a:r>
            <a:r>
              <a:rPr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634655" cy="483547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We are going to model a solar system using OOP</a:t>
            </a:r>
            <a:r>
              <a:rPr lang="en-CA" dirty="0">
                <a:solidFill>
                  <a:srgbClr val="00FF00"/>
                </a:solidFill>
              </a:rPr>
              <a:t>.</a:t>
            </a:r>
          </a:p>
          <a:p>
            <a:pPr lvl="1"/>
            <a:r>
              <a:rPr lang="en-CA" dirty="0"/>
              <a:t>Two classes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/>
              <a:t> Planet and </a:t>
            </a:r>
            <a:r>
              <a:rPr lang="en-CA" dirty="0" err="1"/>
              <a:t>SolarSystem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lang="en-CA" dirty="0"/>
          </a:p>
          <a:p>
            <a:pPr lvl="1"/>
            <a:r>
              <a:rPr lang="en-CA" b="1" dirty="0">
                <a:solidFill>
                  <a:srgbClr val="CC99FF"/>
                </a:solidFill>
              </a:rPr>
              <a:t>Planet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/>
              <a:t> name</a:t>
            </a:r>
            <a:r>
              <a:rPr lang="en-CA" dirty="0">
                <a:solidFill>
                  <a:srgbClr val="00FF00"/>
                </a:solidFill>
              </a:rPr>
              <a:t>,</a:t>
            </a:r>
            <a:r>
              <a:rPr lang="en-CA" dirty="0"/>
              <a:t> distance</a:t>
            </a:r>
            <a:r>
              <a:rPr lang="en-CA" dirty="0">
                <a:solidFill>
                  <a:srgbClr val="00FF00"/>
                </a:solidFill>
              </a:rPr>
              <a:t>,</a:t>
            </a:r>
            <a:r>
              <a:rPr lang="en-CA" dirty="0"/>
              <a:t> radius</a:t>
            </a:r>
            <a:r>
              <a:rPr lang="en-CA" dirty="0">
                <a:solidFill>
                  <a:srgbClr val="00FF00"/>
                </a:solidFill>
              </a:rPr>
              <a:t>,</a:t>
            </a:r>
            <a:r>
              <a:rPr lang="en-CA" dirty="0"/>
              <a:t> color</a:t>
            </a:r>
            <a:r>
              <a:rPr lang="en-CA" dirty="0">
                <a:solidFill>
                  <a:srgbClr val="00FF00"/>
                </a:solidFill>
              </a:rPr>
              <a:t>,</a:t>
            </a:r>
            <a:r>
              <a:rPr lang="en-CA" dirty="0"/>
              <a:t> angle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lang="en-CA" dirty="0"/>
          </a:p>
          <a:p>
            <a:pPr lvl="1"/>
            <a:r>
              <a:rPr lang="en-CA" b="1" dirty="0" err="1">
                <a:solidFill>
                  <a:srgbClr val="CC99FF"/>
                </a:solidFill>
              </a:rPr>
              <a:t>SolarSystem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/>
              <a:t> add</a:t>
            </a:r>
            <a:r>
              <a:rPr lang="en-CA" dirty="0">
                <a:solidFill>
                  <a:srgbClr val="00FF00"/>
                </a:solidFill>
              </a:rPr>
              <a:t>/</a:t>
            </a:r>
            <a:r>
              <a:rPr lang="en-CA" dirty="0"/>
              <a:t>remove planets</a:t>
            </a:r>
            <a:r>
              <a:rPr lang="en-CA" dirty="0">
                <a:solidFill>
                  <a:srgbClr val="00FF00"/>
                </a:solidFill>
              </a:rPr>
              <a:t>,</a:t>
            </a:r>
            <a:r>
              <a:rPr lang="en-CA" dirty="0"/>
              <a:t> visualize</a:t>
            </a:r>
            <a:r>
              <a:rPr lang="en-CA" dirty="0">
                <a:solidFill>
                  <a:srgbClr val="00FF00"/>
                </a:solidFill>
              </a:rPr>
              <a:t>,</a:t>
            </a:r>
            <a:r>
              <a:rPr lang="en-CA" dirty="0"/>
              <a:t> animate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lang="en-CA" dirty="0"/>
          </a:p>
          <a:p>
            <a:pPr lvl="1"/>
            <a:r>
              <a:rPr lang="en-CA" dirty="0"/>
              <a:t>Custom module handles the visualization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lang="en-CA" dirty="0"/>
          </a:p>
          <a:p>
            <a:pPr lvl="1"/>
            <a:r>
              <a:rPr lang="en-CA" dirty="0"/>
              <a:t>Kepler</a:t>
            </a:r>
            <a:r>
              <a:rPr lang="en-CA" dirty="0">
                <a:solidFill>
                  <a:srgbClr val="00FF00"/>
                </a:solidFill>
              </a:rPr>
              <a:t>'</a:t>
            </a:r>
            <a:r>
              <a:rPr lang="en-CA" dirty="0"/>
              <a:t>s Third Law for orbital periods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lang="en-CA" dirty="0"/>
          </a:p>
          <a:p>
            <a:r>
              <a:rPr dirty="0"/>
              <a:t>Let</a:t>
            </a:r>
            <a:r>
              <a:rPr dirty="0">
                <a:solidFill>
                  <a:srgbClr val="00FF00"/>
                </a:solidFill>
              </a:rPr>
              <a:t>'</a:t>
            </a:r>
            <a:r>
              <a:rPr dirty="0"/>
              <a:t>s look at how this works in Python</a:t>
            </a:r>
            <a:r>
              <a:rPr dirty="0">
                <a:solidFill>
                  <a:srgbClr val="00FF00"/>
                </a:solidFill>
              </a:rPr>
              <a:t>!</a:t>
            </a:r>
          </a:p>
          <a:p>
            <a:pPr lvl="1"/>
            <a:r>
              <a:rPr b="1" dirty="0">
                <a:solidFill>
                  <a:srgbClr val="CC99FF"/>
                </a:solidFill>
              </a:rPr>
              <a:t>Planet</a:t>
            </a:r>
            <a:r>
              <a:rPr dirty="0"/>
              <a:t> class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dirty="0"/>
          </a:p>
          <a:p>
            <a:pPr lvl="1"/>
            <a:r>
              <a:rPr b="1" dirty="0" err="1">
                <a:solidFill>
                  <a:srgbClr val="CC99FF"/>
                </a:solidFill>
              </a:rPr>
              <a:t>SolarSystem</a:t>
            </a:r>
            <a:r>
              <a:rPr dirty="0"/>
              <a:t> class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dirty="0"/>
          </a:p>
          <a:p>
            <a:pPr lvl="1"/>
            <a:r>
              <a:rPr dirty="0"/>
              <a:t>Visualization and animation</a:t>
            </a:r>
            <a:r>
              <a:rPr lang="en-CA" dirty="0">
                <a:solidFill>
                  <a:srgbClr val="00FF00"/>
                </a:solidFill>
              </a:rPr>
              <a:t>.</a:t>
            </a:r>
            <a:endParaRPr dirty="0">
              <a:solidFill>
                <a:srgbClr val="00FF00"/>
              </a:solidFill>
            </a:endParaRP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Solar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OOP</a:t>
            </a:r>
            <a:r>
              <a:rPr lang="en-US" dirty="0">
                <a:solidFill>
                  <a:schemeClr val="accent6"/>
                </a:solidFill>
              </a:rPr>
              <a:t>!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5966729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37078</TotalTime>
  <Words>934</Words>
  <Application>Microsoft Office PowerPoint</Application>
  <PresentationFormat>Widescreen</PresentationFormat>
  <Paragraphs>150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</vt:lpstr>
      <vt:lpstr>Courier New</vt:lpstr>
      <vt:lpstr>Segoe UI</vt:lpstr>
      <vt:lpstr>Wingdings</vt:lpstr>
      <vt:lpstr>APS106_Theme</vt:lpstr>
      <vt:lpstr>more OOP!</vt:lpstr>
      <vt:lpstr>Encapsulation.</vt:lpstr>
      <vt:lpstr>Encapsulate it.</vt:lpstr>
      <vt:lpstr>Let’s Code!</vt:lpstr>
      <vt:lpstr>Printing Information.</vt:lpstr>
      <vt:lpstr>Printing Information.</vt:lpstr>
      <vt:lpstr>Printing Information.</vt:lpstr>
      <vt:lpstr>Printing Information.</vt:lpstr>
      <vt:lpstr>Let’s Code!</vt:lpstr>
      <vt:lpstr>Let’s Build a Cash Register!</vt:lpstr>
      <vt:lpstr>Breakout Session!</vt:lpstr>
      <vt:lpstr>Let's Code!</vt:lpstr>
      <vt:lpstr>more OOP!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256</cp:revision>
  <dcterms:created xsi:type="dcterms:W3CDTF">2021-11-03T00:49:37Z</dcterms:created>
  <dcterms:modified xsi:type="dcterms:W3CDTF">2026-03-23T14:29:01Z</dcterms:modified>
</cp:coreProperties>
</file>