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8" r:id="rId3"/>
    <p:sldId id="259" r:id="rId4"/>
    <p:sldId id="290" r:id="rId5"/>
    <p:sldId id="260" r:id="rId6"/>
    <p:sldId id="325" r:id="rId7"/>
    <p:sldId id="313" r:id="rId8"/>
    <p:sldId id="314" r:id="rId9"/>
    <p:sldId id="315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2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6FF99"/>
    <a:srgbClr val="4879C0"/>
    <a:srgbClr val="4979C0"/>
    <a:srgbClr val="FF99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171716-A75D-C241-9BEB-41E672D65607}" v="167" dt="2025-01-15T20:44:10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6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4625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429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9877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767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311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450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2152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243F541-8B6F-A81A-50A6-79FECA621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756207"/>
            <a:ext cx="11391065" cy="893580"/>
          </a:xfrm>
        </p:spPr>
        <p:txBody>
          <a:bodyPr>
            <a:normAutofit fontScale="90000"/>
          </a:bodyPr>
          <a:lstStyle/>
          <a:p>
            <a:r>
              <a:rPr lang="en-GB" b="1" i="0" u="none" strike="noStrike" dirty="0">
                <a:solidFill>
                  <a:srgbClr val="F7F7F7"/>
                </a:solidFill>
                <a:effectLst/>
                <a:latin typeface="Lato Extended"/>
              </a:rPr>
              <a:t>Fundamentals </a:t>
            </a:r>
            <a:r>
              <a:rPr lang="en-GB" b="1" i="0" u="none" strike="noStrike" dirty="0">
                <a:solidFill>
                  <a:srgbClr val="66FF66"/>
                </a:solidFill>
                <a:effectLst/>
                <a:latin typeface="Lato Extended"/>
              </a:rPr>
              <a:t>of</a:t>
            </a:r>
            <a:r>
              <a:rPr lang="en-GB" b="1" i="0" u="none" strike="noStrike" dirty="0">
                <a:solidFill>
                  <a:srgbClr val="F7F7F7"/>
                </a:solidFill>
                <a:effectLst/>
                <a:latin typeface="Lato Extended"/>
              </a:rPr>
              <a:t> Computer Programming</a:t>
            </a:r>
            <a:br>
              <a:rPr lang="en-GB" i="0" u="none" strike="noStrike" dirty="0">
                <a:solidFill>
                  <a:srgbClr val="F7F7F7"/>
                </a:solidFill>
                <a:effectLst/>
                <a:latin typeface="Lato Extended"/>
              </a:rPr>
            </a:br>
            <a:br>
              <a:rPr lang="en-GB" i="0" u="none" strike="noStrike" dirty="0">
                <a:solidFill>
                  <a:srgbClr val="F7F7F7"/>
                </a:solidFill>
                <a:effectLst/>
                <a:latin typeface="Lato Extended"/>
              </a:rPr>
            </a:br>
            <a:br>
              <a:rPr lang="en-US" dirty="0">
                <a:solidFill>
                  <a:srgbClr val="F7F7F7"/>
                </a:solidFill>
              </a:rPr>
            </a:br>
            <a:r>
              <a:rPr lang="en-US" dirty="0">
                <a:solidFill>
                  <a:srgbClr val="F7F7F7"/>
                </a:solidFill>
              </a:rPr>
              <a:t>Design Problem</a:t>
            </a:r>
            <a:r>
              <a:rPr lang="en-US" dirty="0">
                <a:solidFill>
                  <a:schemeClr val="accent6"/>
                </a:solidFill>
              </a:rPr>
              <a:t>:</a:t>
            </a:r>
            <a:r>
              <a:rPr lang="en-US" dirty="0">
                <a:solidFill>
                  <a:srgbClr val="F7F7F7"/>
                </a:solidFill>
              </a:rPr>
              <a:t> Forward Kinematics</a:t>
            </a:r>
            <a:r>
              <a:rPr lang="en-US" dirty="0">
                <a:solidFill>
                  <a:srgbClr val="66FF66"/>
                </a:solidFill>
              </a:rPr>
              <a:t>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8431F0A-4DA0-F830-6DDD-A6A7A478D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2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D1239E-FDEE-7578-33B4-6A6D2D22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Agenda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F3D3EF-7259-55CB-E2FA-11DBCD58B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Problem Background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Learning Objectives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Live Coding</a:t>
            </a:r>
            <a:r>
              <a:rPr lang="en-US" dirty="0">
                <a:solidFill>
                  <a:schemeClr val="accent6"/>
                </a:solidFill>
              </a:rPr>
              <a:t>!</a:t>
            </a:r>
          </a:p>
        </p:txBody>
      </p:sp>
      <p:pic>
        <p:nvPicPr>
          <p:cNvPr id="2050" name="Picture 2" descr="Implementing Forward Kinematics - Alan Zucconi">
            <a:extLst>
              <a:ext uri="{FF2B5EF4-FFF2-40B4-BE49-F238E27FC236}">
                <a16:creationId xmlns:a16="http://schemas.microsoft.com/office/drawing/2014/main" id="{0B303586-EFE2-FDC5-39E9-6C9DBD291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246" y="1232159"/>
            <a:ext cx="6606582" cy="521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399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A57670-5D3E-33FB-9C12-C23BF2D36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89354"/>
            <a:ext cx="12198019" cy="625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7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D1239E-FDEE-7578-33B4-6A6D2D22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Other Cool Examples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4B1A4B-8503-EE51-1A74-D1CB9A496226}"/>
              </a:ext>
            </a:extLst>
          </p:cNvPr>
          <p:cNvSpPr txBox="1"/>
          <p:nvPr/>
        </p:nvSpPr>
        <p:spPr>
          <a:xfrm>
            <a:off x="838200" y="1532347"/>
            <a:ext cx="11033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Humanoid and Industrial Robots</a:t>
            </a:r>
            <a:r>
              <a:rPr lang="en-US" sz="2000" dirty="0">
                <a:solidFill>
                  <a:schemeClr val="accent6"/>
                </a:solidFill>
              </a:rPr>
              <a:t>,</a:t>
            </a:r>
            <a:r>
              <a:rPr lang="en-US" sz="2000" dirty="0">
                <a:solidFill>
                  <a:srgbClr val="FFFFFF"/>
                </a:solidFill>
              </a:rPr>
              <a:t> Animations and Gaming</a:t>
            </a:r>
            <a:r>
              <a:rPr lang="en-US" sz="2000" dirty="0">
                <a:solidFill>
                  <a:schemeClr val="accent6"/>
                </a:solidFill>
              </a:rPr>
              <a:t>,</a:t>
            </a:r>
            <a:r>
              <a:rPr lang="en-US" sz="2000" dirty="0">
                <a:solidFill>
                  <a:srgbClr val="FFFFFF"/>
                </a:solidFill>
              </a:rPr>
              <a:t> 3D printing</a:t>
            </a:r>
            <a:r>
              <a:rPr lang="en-US" sz="2000" dirty="0">
                <a:solidFill>
                  <a:schemeClr val="accent6"/>
                </a:solidFill>
              </a:rPr>
              <a:t>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D97602-8B14-BD61-1988-6399B96C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00" y="2050364"/>
            <a:ext cx="11034399" cy="445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9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1CB21D-A3C0-F722-6C35-E18F9F4E8E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3" r="14944"/>
          <a:stretch/>
        </p:blipFill>
        <p:spPr>
          <a:xfrm>
            <a:off x="4693266" y="1825625"/>
            <a:ext cx="6660534" cy="470580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8DF7485-B1BA-7696-A447-5D00D35A6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Requirements</a:t>
            </a:r>
            <a:r>
              <a:rPr lang="en-US" b="1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38D157-B0CC-0E03-711E-63298233B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93329" cy="3317876"/>
          </a:xfrm>
        </p:spPr>
        <p:txBody>
          <a:bodyPr/>
          <a:lstStyle/>
          <a:p>
            <a:r>
              <a:rPr lang="en-US" dirty="0"/>
              <a:t>Create a program that finds the x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dirty="0"/>
              <a:t> and y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dirty="0"/>
              <a:t> position of the effector arm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i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e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the end of Arm #2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Will rely on trigonometry to find the positions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29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Requirements</a:t>
            </a:r>
            <a:r>
              <a:rPr lang="en-US" b="1" dirty="0">
                <a:solidFill>
                  <a:schemeClr val="accent3"/>
                </a:solidFill>
              </a:rPr>
              <a:t>.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321D3-588C-4E20-A891-A2D1B74A4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38663"/>
            <a:ext cx="5816916" cy="3920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6C7E3B-C48A-445D-BF39-AE71C829A535}"/>
              </a:ext>
            </a:extLst>
          </p:cNvPr>
          <p:cNvSpPr txBox="1"/>
          <p:nvPr/>
        </p:nvSpPr>
        <p:spPr>
          <a:xfrm>
            <a:off x="8236695" y="1702350"/>
            <a:ext cx="3512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Where is this point</a:t>
            </a:r>
            <a:r>
              <a:rPr lang="en-US" sz="28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DA9DB7C-A174-4AE6-BA1A-A74298BD2538}"/>
              </a:ext>
            </a:extLst>
          </p:cNvPr>
          <p:cNvSpPr/>
          <p:nvPr/>
        </p:nvSpPr>
        <p:spPr>
          <a:xfrm rot="16200000" flipH="1">
            <a:off x="10734172" y="2644552"/>
            <a:ext cx="1167063" cy="318519"/>
          </a:xfrm>
          <a:prstGeom prst="rightArrow">
            <a:avLst>
              <a:gd name="adj1" fmla="val 34891"/>
              <a:gd name="adj2" fmla="val 1670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E8DC3-1842-4D2E-84E0-31AF51A17E62}"/>
              </a:ext>
            </a:extLst>
          </p:cNvPr>
          <p:cNvSpPr txBox="1"/>
          <p:nvPr/>
        </p:nvSpPr>
        <p:spPr>
          <a:xfrm>
            <a:off x="4640099" y="3961218"/>
            <a:ext cx="28023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chemeClr val="accent6"/>
                </a:solidFill>
              </a:rPr>
              <a:t>Given</a:t>
            </a:r>
          </a:p>
          <a:p>
            <a:pPr algn="r"/>
            <a:r>
              <a:rPr lang="en-US" sz="2400" b="1" dirty="0">
                <a:solidFill>
                  <a:schemeClr val="accent2"/>
                </a:solidFill>
              </a:rPr>
              <a:t>Length1</a:t>
            </a:r>
            <a:r>
              <a:rPr lang="en-US" sz="2400" b="1" dirty="0">
                <a:solidFill>
                  <a:schemeClr val="accent6"/>
                </a:solidFill>
              </a:rPr>
              <a:t>,</a:t>
            </a:r>
            <a:r>
              <a:rPr lang="en-US" sz="2400" b="1" dirty="0">
                <a:solidFill>
                  <a:schemeClr val="accent2"/>
                </a:solidFill>
              </a:rPr>
              <a:t> Length2</a:t>
            </a:r>
            <a:r>
              <a:rPr lang="en-US" sz="2400" b="1" dirty="0">
                <a:solidFill>
                  <a:schemeClr val="accent6"/>
                </a:solidFill>
              </a:rPr>
              <a:t>,</a:t>
            </a:r>
            <a:endParaRPr lang="en-US" sz="2400" b="1" dirty="0">
              <a:solidFill>
                <a:schemeClr val="accent2"/>
              </a:solidFill>
            </a:endParaRPr>
          </a:p>
          <a:p>
            <a:pPr algn="r"/>
            <a:r>
              <a:rPr lang="en-US" sz="2400" b="1" dirty="0">
                <a:solidFill>
                  <a:schemeClr val="accent2"/>
                </a:solidFill>
              </a:rPr>
              <a:t>Angle1</a:t>
            </a:r>
            <a:r>
              <a:rPr lang="en-US" sz="2400" b="1" dirty="0">
                <a:solidFill>
                  <a:schemeClr val="accent6"/>
                </a:solidFill>
              </a:rPr>
              <a:t>,</a:t>
            </a:r>
            <a:r>
              <a:rPr lang="en-US" sz="2400" b="1" dirty="0">
                <a:solidFill>
                  <a:schemeClr val="accent2"/>
                </a:solidFill>
              </a:rPr>
              <a:t> Angle2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65BDFC-B9B8-42B8-A05A-B41BDB3F72A6}"/>
              </a:ext>
            </a:extLst>
          </p:cNvPr>
          <p:cNvCxnSpPr>
            <a:cxnSpLocks/>
          </p:cNvCxnSpPr>
          <p:nvPr/>
        </p:nvCxnSpPr>
        <p:spPr>
          <a:xfrm>
            <a:off x="7442469" y="5041232"/>
            <a:ext cx="474310" cy="202345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F381D3-E4BD-4944-8C44-735D7F2A81E1}"/>
              </a:ext>
            </a:extLst>
          </p:cNvPr>
          <p:cNvCxnSpPr>
            <a:cxnSpLocks/>
          </p:cNvCxnSpPr>
          <p:nvPr/>
        </p:nvCxnSpPr>
        <p:spPr>
          <a:xfrm>
            <a:off x="7442469" y="5041232"/>
            <a:ext cx="0" cy="998621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B83FD9-6457-4B75-B010-314C7036D365}"/>
              </a:ext>
            </a:extLst>
          </p:cNvPr>
          <p:cNvCxnSpPr>
            <a:cxnSpLocks/>
          </p:cNvCxnSpPr>
          <p:nvPr/>
        </p:nvCxnSpPr>
        <p:spPr>
          <a:xfrm flipV="1">
            <a:off x="7442469" y="3758873"/>
            <a:ext cx="2217724" cy="1282359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357E5-30BA-4EFD-B87F-03637E2CA277}"/>
              </a:ext>
            </a:extLst>
          </p:cNvPr>
          <p:cNvCxnSpPr>
            <a:cxnSpLocks/>
          </p:cNvCxnSpPr>
          <p:nvPr/>
        </p:nvCxnSpPr>
        <p:spPr>
          <a:xfrm flipV="1">
            <a:off x="7442469" y="4561382"/>
            <a:ext cx="2904689" cy="47985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5094A6C-4EE8-4F20-B282-652B3E6195DB}"/>
              </a:ext>
            </a:extLst>
          </p:cNvPr>
          <p:cNvSpPr/>
          <p:nvPr/>
        </p:nvSpPr>
        <p:spPr>
          <a:xfrm>
            <a:off x="7382312" y="4969043"/>
            <a:ext cx="120316" cy="1203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BBCCA1-1F61-4452-8651-7707A20537C5}"/>
              </a:ext>
            </a:extLst>
          </p:cNvPr>
          <p:cNvSpPr txBox="1"/>
          <p:nvPr/>
        </p:nvSpPr>
        <p:spPr>
          <a:xfrm>
            <a:off x="303148" y="3028794"/>
            <a:ext cx="7830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8A0083"/>
                </a:solidFill>
                <a:latin typeface="Consolas" panose="020B0609020204030204" pitchFamily="49" charset="0"/>
              </a:rPr>
              <a:t>my_function(Length1, Angle1, Length2, Angle2)</a:t>
            </a:r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5A354DDC-6D62-4783-B6CF-F33C93999990}"/>
              </a:ext>
            </a:extLst>
          </p:cNvPr>
          <p:cNvSpPr/>
          <p:nvPr/>
        </p:nvSpPr>
        <p:spPr>
          <a:xfrm flipH="1">
            <a:off x="2791324" y="3537438"/>
            <a:ext cx="1844197" cy="1122772"/>
          </a:xfrm>
          <a:prstGeom prst="bentUpArrow">
            <a:avLst>
              <a:gd name="adj1" fmla="val 14745"/>
              <a:gd name="adj2" fmla="val 176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D701B6BC-A5EF-4B37-8680-74E73C85F5C4}"/>
              </a:ext>
            </a:extLst>
          </p:cNvPr>
          <p:cNvSpPr/>
          <p:nvPr/>
        </p:nvSpPr>
        <p:spPr>
          <a:xfrm rot="5400000" flipH="1">
            <a:off x="4138606" y="-1098743"/>
            <a:ext cx="1199994" cy="7046830"/>
          </a:xfrm>
          <a:prstGeom prst="bentUpArrow">
            <a:avLst>
              <a:gd name="adj1" fmla="val 13462"/>
              <a:gd name="adj2" fmla="val 12528"/>
              <a:gd name="adj3" fmla="val 165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73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6463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APS111</a:t>
            </a:r>
            <a:r>
              <a:rPr lang="en-US" sz="3200" dirty="0">
                <a:solidFill>
                  <a:schemeClr val="accent6"/>
                </a:solidFill>
              </a:rPr>
              <a:t>/</a:t>
            </a:r>
            <a:r>
              <a:rPr lang="en-US" sz="3200" dirty="0"/>
              <a:t>112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a key part of engineering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is the design of objects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processes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and systems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</a:p>
          <a:p>
            <a:r>
              <a:rPr lang="en-US" sz="3200" b="1" dirty="0">
                <a:solidFill>
                  <a:schemeClr val="accent6"/>
                </a:solidFill>
              </a:rPr>
              <a:t>Programming</a:t>
            </a:r>
            <a:r>
              <a:rPr lang="en-US" sz="3200" dirty="0"/>
              <a:t> is the design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implementation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testing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and documentation of a piece of software that solves a particular problem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</a:p>
          <a:p>
            <a:r>
              <a:rPr lang="en-US" sz="3200" dirty="0"/>
              <a:t>The software might be part of a larger system </a:t>
            </a:r>
            <a:r>
              <a:rPr lang="en-US" sz="3200" dirty="0">
                <a:solidFill>
                  <a:srgbClr val="66FF99"/>
                </a:solidFill>
              </a:rPr>
              <a:t>(</a:t>
            </a:r>
            <a:r>
              <a:rPr lang="en-US" sz="3200" dirty="0"/>
              <a:t>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g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the avionics software of an aircraft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the accounting or human resources software of a business</a:t>
            </a:r>
            <a:r>
              <a:rPr lang="en-US" sz="3200" dirty="0">
                <a:solidFill>
                  <a:srgbClr val="66FF99"/>
                </a:solidFill>
              </a:rPr>
              <a:t>)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but it represents the solution to a design problem </a:t>
            </a:r>
            <a:r>
              <a:rPr lang="en-US" sz="3200" dirty="0">
                <a:solidFill>
                  <a:srgbClr val="66FF99"/>
                </a:solidFill>
              </a:rPr>
              <a:t>(</a:t>
            </a:r>
            <a:r>
              <a:rPr lang="en-US" sz="3200" dirty="0"/>
              <a:t>or part of a design problem</a:t>
            </a:r>
            <a:r>
              <a:rPr lang="en-US" sz="3200" dirty="0">
                <a:solidFill>
                  <a:schemeClr val="accent6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5875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uild, Measure, Learn cycle. One of the key components of the Lean… | by  Dominic Rogers | Medium">
            <a:extLst>
              <a:ext uri="{FF2B5EF4-FFF2-40B4-BE49-F238E27FC236}">
                <a16:creationId xmlns:a16="http://schemas.microsoft.com/office/drawing/2014/main" id="{87417298-090E-4EE5-A5D4-3301DC2D1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383" y="3165765"/>
            <a:ext cx="3385741" cy="3385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46637" cy="1472115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We will approach programing as an engineering design process and adapt the process you have already seen in APS111</a:t>
            </a:r>
            <a:r>
              <a:rPr lang="en-US" sz="3200" dirty="0">
                <a:solidFill>
                  <a:schemeClr val="accent6"/>
                </a:solidFill>
              </a:rPr>
              <a:t>/</a:t>
            </a:r>
            <a:r>
              <a:rPr lang="en-US" sz="3200" dirty="0"/>
              <a:t>112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20D6DF7-D0C8-4F2C-BBCE-205652397438}"/>
              </a:ext>
            </a:extLst>
          </p:cNvPr>
          <p:cNvSpPr/>
          <p:nvPr/>
        </p:nvSpPr>
        <p:spPr>
          <a:xfrm>
            <a:off x="6787036" y="2329203"/>
            <a:ext cx="5208841" cy="38177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1C575DA-253E-4F55-9554-038DAB52C264}"/>
              </a:ext>
            </a:extLst>
          </p:cNvPr>
          <p:cNvSpPr txBox="1"/>
          <p:nvPr/>
        </p:nvSpPr>
        <p:spPr>
          <a:xfrm>
            <a:off x="7040981" y="1969692"/>
            <a:ext cx="470094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1400" b="1" spc="-165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aken</a:t>
            </a:r>
            <a:r>
              <a:rPr sz="1400" b="1" spc="-3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fro</a:t>
            </a:r>
            <a:r>
              <a:rPr sz="1400" b="1" spc="-10" dirty="0">
                <a:solidFill>
                  <a:schemeClr val="accent1"/>
                </a:solidFill>
                <a:latin typeface="Arial"/>
                <a:cs typeface="Arial"/>
              </a:rPr>
              <a:t>m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:</a:t>
            </a:r>
            <a:r>
              <a:rPr sz="1400" b="1" spc="-3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chemeClr val="accent1"/>
                </a:solidFill>
                <a:latin typeface="Arial"/>
                <a:cs typeface="Arial"/>
              </a:rPr>
              <a:t>D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esigning</a:t>
            </a:r>
            <a:r>
              <a:rPr sz="1400" b="1" spc="-2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Engineer</a:t>
            </a:r>
            <a:r>
              <a:rPr sz="1400" b="1" spc="5" dirty="0">
                <a:solidFill>
                  <a:schemeClr val="accent1"/>
                </a:solidFill>
                <a:latin typeface="Arial"/>
                <a:cs typeface="Arial"/>
              </a:rPr>
              <a:t>s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:</a:t>
            </a:r>
            <a:r>
              <a:rPr sz="1400" b="1" spc="-12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An Introduc</a:t>
            </a:r>
            <a:r>
              <a:rPr sz="1400" b="1" spc="-10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ory</a:t>
            </a:r>
            <a:r>
              <a:rPr sz="1400" b="1" spc="-7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b="1" spc="-160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e</a:t>
            </a:r>
            <a:r>
              <a:rPr sz="1400" b="1" spc="-15" dirty="0">
                <a:solidFill>
                  <a:schemeClr val="accent1"/>
                </a:solidFill>
                <a:latin typeface="Arial"/>
                <a:cs typeface="Arial"/>
              </a:rPr>
              <a:t>x</a:t>
            </a:r>
            <a:r>
              <a:rPr sz="1400" b="1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lang="en-CA" sz="1400" b="1" dirty="0">
                <a:solidFill>
                  <a:schemeClr val="accent1"/>
                </a:solidFill>
                <a:latin typeface="Arial"/>
                <a:cs typeface="Arial"/>
              </a:rPr>
              <a:t>.</a:t>
            </a:r>
            <a:endParaRPr sz="1400" b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E3836-63AE-4A5C-8FB8-C311CBC23E8F}"/>
              </a:ext>
            </a:extLst>
          </p:cNvPr>
          <p:cNvSpPr txBox="1"/>
          <p:nvPr/>
        </p:nvSpPr>
        <p:spPr>
          <a:xfrm>
            <a:off x="4176961" y="5957642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2EF016C-39E8-4B85-93FC-C61C531DBC2F}"/>
              </a:ext>
            </a:extLst>
          </p:cNvPr>
          <p:cNvSpPr/>
          <p:nvPr/>
        </p:nvSpPr>
        <p:spPr>
          <a:xfrm flipH="1">
            <a:off x="3282694" y="5957642"/>
            <a:ext cx="896702" cy="348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3CF62-1C87-4AD9-B47F-C777828D2DC3}"/>
              </a:ext>
            </a:extLst>
          </p:cNvPr>
          <p:cNvSpPr txBox="1"/>
          <p:nvPr/>
        </p:nvSpPr>
        <p:spPr>
          <a:xfrm>
            <a:off x="4326635" y="4637880"/>
            <a:ext cx="218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is iterative</a:t>
            </a:r>
            <a:r>
              <a:rPr lang="en-US" b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5291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dirty="0"/>
              <a:t>The steps are as follows</a:t>
            </a:r>
            <a:r>
              <a:rPr lang="en-US" dirty="0">
                <a:solidFill>
                  <a:srgbClr val="66FF99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Define the Problem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Define Test Cases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Generate Multiple Solutions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Select a Solution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Implement the Solution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rgbClr val="66FF99"/>
                </a:solidFill>
              </a:rPr>
              <a:t> 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Perform Final Testing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2"/>
                </a:solidFill>
              </a:rPr>
              <a:t> 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Iterate On Feedback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2"/>
                </a:solidFill>
              </a:rPr>
              <a:t> </a:t>
            </a:r>
          </a:p>
        </p:txBody>
      </p:sp>
      <p:pic>
        <p:nvPicPr>
          <p:cNvPr id="1036" name="Picture 12" descr="Build-Measure-Learn Feedback Loop | Topics in Entrepreneurship Class Notes">
            <a:extLst>
              <a:ext uri="{FF2B5EF4-FFF2-40B4-BE49-F238E27FC236}">
                <a16:creationId xmlns:a16="http://schemas.microsoft.com/office/drawing/2014/main" id="{36072043-3ADD-18A6-289E-C4AB057FC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6" t="1904" r="10334" b="3301"/>
          <a:stretch>
            <a:fillRect/>
          </a:stretch>
        </p:blipFill>
        <p:spPr bwMode="auto">
          <a:xfrm>
            <a:off x="6954100" y="1712269"/>
            <a:ext cx="4713252" cy="4713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36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8807-778C-17AE-264F-8D9369B4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4056D-DEDD-552A-0D4F-A14A81E0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C7F76C-B85C-692E-16BC-C6005B9EA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dirty="0"/>
              <a:t>The steps are as follows</a:t>
            </a:r>
            <a:r>
              <a:rPr lang="en-US" dirty="0">
                <a:solidFill>
                  <a:srgbClr val="66FF99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Define the Problem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pPr lvl="2"/>
            <a:r>
              <a:rPr lang="en-US" dirty="0"/>
              <a:t>Write down what the problem actually is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859DBA-6E0D-CCD0-C87C-D4C42F27994C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Define the Problem</a:t>
            </a:r>
          </a:p>
        </p:txBody>
      </p:sp>
    </p:spTree>
    <p:extLst>
      <p:ext uri="{BB962C8B-B14F-4D97-AF65-F5344CB8AC3E}">
        <p14:creationId xmlns:p14="http://schemas.microsoft.com/office/powerpoint/2010/main" val="262384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815A6-F34E-35A5-17EA-4B2D5FB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06FEEC-0FD5-FCAC-848C-3AEFDAFD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7AE89B-F71F-8547-D269-6BAE8AA64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06189" cy="4912060"/>
          </a:xfrm>
        </p:spPr>
        <p:txBody>
          <a:bodyPr>
            <a:normAutofit/>
          </a:bodyPr>
          <a:lstStyle/>
          <a:p>
            <a:r>
              <a:rPr lang="en-US" dirty="0"/>
              <a:t>The steps are as follows</a:t>
            </a:r>
            <a:r>
              <a:rPr lang="en-US" dirty="0">
                <a:solidFill>
                  <a:srgbClr val="66FF99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Define Test Cases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pPr lvl="2"/>
            <a:r>
              <a:rPr lang="en-US" dirty="0"/>
              <a:t>Create some examples that reflect your code solving the problem</a:t>
            </a:r>
            <a:r>
              <a:rPr lang="en-US" dirty="0">
                <a:solidFill>
                  <a:schemeClr val="accent6"/>
                </a:solidFill>
              </a:rPr>
              <a:t>:</a:t>
            </a:r>
            <a:r>
              <a:rPr lang="en-US" dirty="0"/>
              <a:t> input and output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3FAB2C-4308-F9FA-94E3-8D2551ADD8F2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Define Test Cases</a:t>
            </a:r>
          </a:p>
        </p:txBody>
      </p:sp>
    </p:spTree>
    <p:extLst>
      <p:ext uri="{BB962C8B-B14F-4D97-AF65-F5344CB8AC3E}">
        <p14:creationId xmlns:p14="http://schemas.microsoft.com/office/powerpoint/2010/main" val="423138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9DCA8-7C07-8FE8-D971-9179274F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C3206-7A42-E393-F856-663FA26C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CBF3-78F8-3EC5-6636-8F236B48C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200274" cy="4912060"/>
          </a:xfrm>
        </p:spPr>
        <p:txBody>
          <a:bodyPr>
            <a:normAutofit/>
          </a:bodyPr>
          <a:lstStyle/>
          <a:p>
            <a:r>
              <a:rPr lang="en-US" dirty="0"/>
              <a:t>The steps are as follows</a:t>
            </a:r>
            <a:r>
              <a:rPr lang="en-US" dirty="0">
                <a:solidFill>
                  <a:srgbClr val="66FF99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Generate Multiple Solutions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  <a:p>
            <a:pPr lvl="2"/>
            <a:r>
              <a:rPr lang="en-US" dirty="0"/>
              <a:t>At this point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a 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solution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 consists of an algorithm plan </a:t>
            </a:r>
            <a:r>
              <a:rPr lang="en-US" dirty="0">
                <a:solidFill>
                  <a:srgbClr val="66FF99"/>
                </a:solidFill>
              </a:rPr>
              <a:t>(</a:t>
            </a:r>
            <a:r>
              <a:rPr lang="en-US" dirty="0"/>
              <a:t>the high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dirty="0"/>
              <a:t>level sequence of steps defining what your algorithm will do</a:t>
            </a:r>
            <a:r>
              <a:rPr lang="en-US" dirty="0">
                <a:solidFill>
                  <a:srgbClr val="66FF99"/>
                </a:solidFill>
              </a:rPr>
              <a:t>)</a:t>
            </a:r>
            <a:r>
              <a:rPr lang="en-US" dirty="0"/>
              <a:t> and a programming plan </a:t>
            </a:r>
            <a:r>
              <a:rPr lang="en-US" dirty="0">
                <a:solidFill>
                  <a:srgbClr val="66FF99"/>
                </a:solidFill>
              </a:rPr>
              <a:t>(</a:t>
            </a:r>
            <a:r>
              <a:rPr lang="en-US" dirty="0"/>
              <a:t>the high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dirty="0"/>
              <a:t>level sequence of steps that you will take to code the algorithm</a:t>
            </a:r>
            <a:r>
              <a:rPr lang="en-US" dirty="0">
                <a:solidFill>
                  <a:srgbClr val="66FF99"/>
                </a:solidFill>
              </a:rPr>
              <a:t>)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256A0E-CCD5-8E27-580F-D21A9C926205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Generate Multiple Solutions</a:t>
            </a:r>
          </a:p>
        </p:txBody>
      </p:sp>
    </p:spTree>
    <p:extLst>
      <p:ext uri="{BB962C8B-B14F-4D97-AF65-F5344CB8AC3E}">
        <p14:creationId xmlns:p14="http://schemas.microsoft.com/office/powerpoint/2010/main" val="3330500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4F66-1D5C-7F42-B4E8-1998C3DD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E382BA-5553-4CC4-1988-63342FB0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A0E6D3-18EB-AF77-23E9-AA26E2DEE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284495" cy="4912060"/>
          </a:xfrm>
        </p:spPr>
        <p:txBody>
          <a:bodyPr>
            <a:normAutofit/>
          </a:bodyPr>
          <a:lstStyle/>
          <a:p>
            <a:r>
              <a:rPr lang="en-US" dirty="0"/>
              <a:t>The steps are as follows</a:t>
            </a:r>
            <a:r>
              <a:rPr lang="en-US" dirty="0">
                <a:solidFill>
                  <a:srgbClr val="66FF99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Select a Solution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pPr lvl="2"/>
            <a:r>
              <a:rPr lang="en-US" dirty="0"/>
              <a:t>Based on the different algorithms and programming plans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/>
              <a:t>decide which is the most promising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BA87BE-8AD6-EFB4-6F2C-B09E912A1E2E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Select a Solution</a:t>
            </a:r>
          </a:p>
        </p:txBody>
      </p:sp>
    </p:spTree>
    <p:extLst>
      <p:ext uri="{BB962C8B-B14F-4D97-AF65-F5344CB8AC3E}">
        <p14:creationId xmlns:p14="http://schemas.microsoft.com/office/powerpoint/2010/main" val="2960114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222E3-A1E7-EBE0-A2E5-CDA18FC6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582E3D-1214-A72E-E16A-47060FD9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D7F165-AE64-1F01-0F6A-835F8798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9721" cy="4912060"/>
          </a:xfrm>
        </p:spPr>
        <p:txBody>
          <a:bodyPr>
            <a:normAutofit/>
          </a:bodyPr>
          <a:lstStyle/>
          <a:p>
            <a:r>
              <a:rPr lang="en-US" dirty="0"/>
              <a:t>The steps are as follows</a:t>
            </a:r>
            <a:r>
              <a:rPr lang="en-US" dirty="0">
                <a:solidFill>
                  <a:srgbClr val="66FF99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Implement the Solution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</a:p>
          <a:p>
            <a:pPr lvl="2"/>
            <a:r>
              <a:rPr lang="en-US" dirty="0"/>
              <a:t>Start to execute your programming plan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Test as you go</a:t>
            </a:r>
            <a:r>
              <a:rPr lang="en-US" dirty="0">
                <a:solidFill>
                  <a:schemeClr val="accent6"/>
                </a:solidFill>
              </a:rPr>
              <a:t>!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You may realize that your algorithm plan doesn</a:t>
            </a:r>
            <a:r>
              <a:rPr lang="en-US" dirty="0">
                <a:solidFill>
                  <a:schemeClr val="accent6"/>
                </a:solidFill>
              </a:rPr>
              <a:t>'</a:t>
            </a:r>
            <a:r>
              <a:rPr lang="en-US" dirty="0"/>
              <a:t>t solve the problem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or even that you do not understand the problem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 lvl="2"/>
            <a:r>
              <a:rPr lang="en-US" dirty="0"/>
              <a:t>If so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go back to earlier steps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C54BAD-973F-6B0C-0465-C01CB0ED5B09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Implement the Solution</a:t>
            </a:r>
          </a:p>
        </p:txBody>
      </p:sp>
    </p:spTree>
    <p:extLst>
      <p:ext uri="{BB962C8B-B14F-4D97-AF65-F5344CB8AC3E}">
        <p14:creationId xmlns:p14="http://schemas.microsoft.com/office/powerpoint/2010/main" val="530306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427C7-CB77-8BA6-A656-80EFE42C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D9B10F-EB20-A77A-F553-ADBCC975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DE325E-2D53-B86B-AB17-D6F372CE9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809247" cy="4912060"/>
          </a:xfrm>
        </p:spPr>
        <p:txBody>
          <a:bodyPr>
            <a:normAutofit/>
          </a:bodyPr>
          <a:lstStyle/>
          <a:p>
            <a:r>
              <a:rPr lang="en-US" dirty="0"/>
              <a:t>The steps are as follows</a:t>
            </a:r>
            <a:r>
              <a:rPr lang="en-US" dirty="0">
                <a:solidFill>
                  <a:srgbClr val="66FF99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Perform Final Testing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2"/>
                </a:solidFill>
              </a:rPr>
              <a:t> </a:t>
            </a:r>
          </a:p>
          <a:p>
            <a:pPr lvl="2"/>
            <a:r>
              <a:rPr lang="en-US" dirty="0"/>
              <a:t>Make sure that your original test cases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as well as any others that you have thought up</a:t>
            </a:r>
            <a:r>
              <a:rPr lang="en-US" dirty="0">
                <a:solidFill>
                  <a:schemeClr val="accent6"/>
                </a:solidFill>
              </a:rPr>
              <a:t>,</a:t>
            </a:r>
            <a:r>
              <a:rPr lang="en-US" dirty="0"/>
              <a:t> work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661F3C-C126-BCA0-C74A-454AEFD123FC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7. Perform Final Testing</a:t>
            </a:r>
          </a:p>
        </p:txBody>
      </p:sp>
    </p:spTree>
    <p:extLst>
      <p:ext uri="{BB962C8B-B14F-4D97-AF65-F5344CB8AC3E}">
        <p14:creationId xmlns:p14="http://schemas.microsoft.com/office/powerpoint/2010/main" val="435939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4372-969F-3419-000E-5FF7EEAC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795EA8-703E-0068-4A8F-E1ADBBBE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45B676-0100-A0FA-387E-C4FC2613F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3705" cy="4912060"/>
          </a:xfrm>
        </p:spPr>
        <p:txBody>
          <a:bodyPr>
            <a:normAutofit/>
          </a:bodyPr>
          <a:lstStyle/>
          <a:p>
            <a:r>
              <a:rPr lang="en-US" dirty="0"/>
              <a:t>The steps are as follows</a:t>
            </a:r>
            <a:r>
              <a:rPr lang="en-US" dirty="0">
                <a:solidFill>
                  <a:srgbClr val="66FF99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66FF99"/>
                </a:solidFill>
              </a:rPr>
              <a:t>Iterate On Feedback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2"/>
                </a:solidFill>
              </a:rPr>
              <a:t> </a:t>
            </a:r>
          </a:p>
          <a:p>
            <a:pPr lvl="2"/>
            <a:r>
              <a:rPr lang="en-US" dirty="0"/>
              <a:t>As you or the others use your product, collect feedback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 lvl="2"/>
            <a:r>
              <a:rPr lang="en-US" dirty="0"/>
              <a:t>Use feedback to improve the product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  <a:p>
            <a:pPr lvl="2"/>
            <a:endParaRPr lang="en-US" dirty="0">
              <a:solidFill>
                <a:schemeClr val="accent6"/>
              </a:solidFill>
            </a:endParaRPr>
          </a:p>
          <a:p>
            <a:pPr lvl="2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5101C7-B065-870A-4B68-51164E7867A5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Iterate On Feedback</a:t>
            </a:r>
          </a:p>
        </p:txBody>
      </p:sp>
    </p:spTree>
    <p:extLst>
      <p:ext uri="{BB962C8B-B14F-4D97-AF65-F5344CB8AC3E}">
        <p14:creationId xmlns:p14="http://schemas.microsoft.com/office/powerpoint/2010/main" val="2391451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F710F-FFEC-99FA-B1F8-DD20CAD5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B2B564F-DDDA-EDC6-53AF-C122B1152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756207"/>
            <a:ext cx="11391065" cy="893580"/>
          </a:xfrm>
        </p:spPr>
        <p:txBody>
          <a:bodyPr>
            <a:normAutofit fontScale="90000"/>
          </a:bodyPr>
          <a:lstStyle/>
          <a:p>
            <a:r>
              <a:rPr lang="en-GB" b="1" i="0" u="none" strike="noStrike" dirty="0">
                <a:solidFill>
                  <a:srgbClr val="F7F7F7"/>
                </a:solidFill>
                <a:effectLst/>
                <a:latin typeface="Lato Extended"/>
              </a:rPr>
              <a:t>Fundamentals </a:t>
            </a:r>
            <a:r>
              <a:rPr lang="en-GB" b="1" i="0" u="none" strike="noStrike" dirty="0">
                <a:solidFill>
                  <a:srgbClr val="66FF66"/>
                </a:solidFill>
                <a:effectLst/>
                <a:latin typeface="Lato Extended"/>
              </a:rPr>
              <a:t>of</a:t>
            </a:r>
            <a:r>
              <a:rPr lang="en-GB" b="1" i="0" u="none" strike="noStrike" dirty="0">
                <a:solidFill>
                  <a:srgbClr val="F7F7F7"/>
                </a:solidFill>
                <a:effectLst/>
                <a:latin typeface="Lato Extended"/>
              </a:rPr>
              <a:t> Computer Programming</a:t>
            </a:r>
            <a:br>
              <a:rPr lang="en-GB" i="0" u="none" strike="noStrike" dirty="0">
                <a:solidFill>
                  <a:srgbClr val="F7F7F7"/>
                </a:solidFill>
                <a:effectLst/>
                <a:latin typeface="Lato Extended"/>
              </a:rPr>
            </a:br>
            <a:br>
              <a:rPr lang="en-GB" i="0" u="none" strike="noStrike" dirty="0">
                <a:solidFill>
                  <a:srgbClr val="F7F7F7"/>
                </a:solidFill>
                <a:effectLst/>
                <a:latin typeface="Lato Extended"/>
              </a:rPr>
            </a:br>
            <a:br>
              <a:rPr lang="en-US" dirty="0">
                <a:solidFill>
                  <a:srgbClr val="F7F7F7"/>
                </a:solidFill>
              </a:rPr>
            </a:br>
            <a:r>
              <a:rPr lang="en-US" dirty="0">
                <a:solidFill>
                  <a:srgbClr val="F7F7F7"/>
                </a:solidFill>
              </a:rPr>
              <a:t>Design Problem</a:t>
            </a:r>
            <a:r>
              <a:rPr lang="en-US" dirty="0">
                <a:solidFill>
                  <a:schemeClr val="accent6"/>
                </a:solidFill>
              </a:rPr>
              <a:t>:</a:t>
            </a:r>
            <a:r>
              <a:rPr lang="en-US" dirty="0">
                <a:solidFill>
                  <a:srgbClr val="F7F7F7"/>
                </a:solidFill>
              </a:rPr>
              <a:t> Forward Kinematics</a:t>
            </a:r>
            <a:r>
              <a:rPr lang="en-US" dirty="0">
                <a:solidFill>
                  <a:srgbClr val="66FF66"/>
                </a:solidFill>
              </a:rPr>
              <a:t>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2F0A3BA-87F6-4EF1-B4A2-AEBC34E5B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2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9160680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39176</TotalTime>
  <Words>666</Words>
  <Application>Microsoft Office PowerPoint</Application>
  <PresentationFormat>Widescreen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Consolas</vt:lpstr>
      <vt:lpstr>Lato Extended</vt:lpstr>
      <vt:lpstr>Segoe UI</vt:lpstr>
      <vt:lpstr>Wingdings</vt:lpstr>
      <vt:lpstr>APS106_Theme</vt:lpstr>
      <vt:lpstr>Fundamentals of Computer Programming   Design Problem: Forward Kinematics.</vt:lpstr>
      <vt:lpstr>Agenda.</vt:lpstr>
      <vt:lpstr>PowerPoint Presentation</vt:lpstr>
      <vt:lpstr>Other Cool Examples.</vt:lpstr>
      <vt:lpstr>Requirements.</vt:lpstr>
      <vt:lpstr>Requirements.</vt:lpstr>
      <vt:lpstr>A Design Process for Programming.</vt:lpstr>
      <vt:lpstr>A Design Process for Programming.</vt:lpstr>
      <vt:lpstr>A Design Process for Programming.</vt:lpstr>
      <vt:lpstr>A Design Process for Programming.</vt:lpstr>
      <vt:lpstr>A Design Process for Programming.</vt:lpstr>
      <vt:lpstr>A Design Process for Programming.</vt:lpstr>
      <vt:lpstr>A Design Process for Programming.</vt:lpstr>
      <vt:lpstr>A Design Process for Programming.</vt:lpstr>
      <vt:lpstr>A Design Process for Programming.</vt:lpstr>
      <vt:lpstr>A Design Process for Programming.</vt:lpstr>
      <vt:lpstr>Fundamentals of Computer Programming   Design Problem: Forward Kinematics.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112</cp:revision>
  <dcterms:created xsi:type="dcterms:W3CDTF">2021-11-03T00:49:37Z</dcterms:created>
  <dcterms:modified xsi:type="dcterms:W3CDTF">2026-01-15T03:13:58Z</dcterms:modified>
</cp:coreProperties>
</file>