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</p:sldMasterIdLst>
  <p:sldIdLst>
    <p:sldId id="256" r:id="rId2"/>
    <p:sldId id="259" r:id="rId3"/>
    <p:sldId id="327" r:id="rId4"/>
    <p:sldId id="329" r:id="rId5"/>
    <p:sldId id="330" r:id="rId6"/>
    <p:sldId id="331" r:id="rId7"/>
    <p:sldId id="332" r:id="rId8"/>
    <p:sldId id="333" r:id="rId9"/>
    <p:sldId id="351" r:id="rId10"/>
    <p:sldId id="258" r:id="rId11"/>
    <p:sldId id="347" r:id="rId12"/>
    <p:sldId id="348" r:id="rId13"/>
    <p:sldId id="349" r:id="rId14"/>
    <p:sldId id="350" r:id="rId15"/>
    <p:sldId id="352" r:id="rId16"/>
    <p:sldId id="354" r:id="rId17"/>
    <p:sldId id="353" r:id="rId18"/>
    <p:sldId id="355" r:id="rId19"/>
    <p:sldId id="356" r:id="rId20"/>
    <p:sldId id="357" r:id="rId21"/>
    <p:sldId id="359" r:id="rId22"/>
    <p:sldId id="358" r:id="rId23"/>
    <p:sldId id="386" r:id="rId24"/>
    <p:sldId id="345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2D2D"/>
    <a:srgbClr val="444445"/>
    <a:srgbClr val="FFFFFF"/>
    <a:srgbClr val="ED334E"/>
    <a:srgbClr val="1C8B3C"/>
    <a:srgbClr val="000000"/>
    <a:srgbClr val="FBB132"/>
    <a:srgbClr val="0885C2"/>
    <a:srgbClr val="00FF00"/>
    <a:srgbClr val="FFD6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3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8F638-606D-A22E-8F9F-A4A6D858ED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47" y="3285779"/>
            <a:ext cx="11391065" cy="89358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B4BAB1-A261-2102-CEA9-063F697A42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47" y="4553849"/>
            <a:ext cx="11391065" cy="1655762"/>
          </a:xfrm>
        </p:spPr>
        <p:txBody>
          <a:bodyPr/>
          <a:lstStyle>
            <a:lvl1pPr marL="0" indent="0">
              <a:buNone/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9751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44444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rgbClr val="444445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rgbClr val="444445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rgbClr val="444445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rgbClr val="444445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rgbClr val="44444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34076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6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16894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6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92801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71717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rgbClr val="171717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rgbClr val="171717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rgbClr val="171717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rgbClr val="171717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rgbClr val="17171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05637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73911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58095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0C5A8-72D0-4B08-8FDA-49B8D1F97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14"/>
            <a:ext cx="10515600" cy="656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5D9C3-E281-4B14-8306-28D6CE33E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48421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46948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7EE5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F06F2-AC3E-484E-9926-59D4F59092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more</a:t>
            </a:r>
            <a:r>
              <a:rPr lang="en-US" dirty="0">
                <a:solidFill>
                  <a:schemeClr val="accent6"/>
                </a:solidFill>
              </a:rPr>
              <a:t> for</a:t>
            </a:r>
            <a:r>
              <a:rPr lang="en-US" dirty="0"/>
              <a:t> loops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07687-F068-40FC-84A1-E7860490CA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Week </a:t>
            </a:r>
            <a:r>
              <a:rPr lang="en-US" b="1" dirty="0">
                <a:solidFill>
                  <a:schemeClr val="accent6"/>
                </a:solidFill>
              </a:rPr>
              <a:t>6</a:t>
            </a:r>
            <a:r>
              <a:rPr lang="en-US" b="1" dirty="0"/>
              <a:t> </a:t>
            </a:r>
            <a:r>
              <a:rPr lang="en-US" dirty="0">
                <a:solidFill>
                  <a:schemeClr val="accent2"/>
                </a:solidFill>
              </a:rPr>
              <a:t>|</a:t>
            </a:r>
            <a:r>
              <a:rPr lang="en-US" dirty="0"/>
              <a:t> Lecture </a:t>
            </a:r>
            <a:r>
              <a:rPr lang="en-US" dirty="0">
                <a:solidFill>
                  <a:schemeClr val="accent6"/>
                </a:solidFill>
              </a:rPr>
              <a:t>2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>
                <a:solidFill>
                  <a:schemeClr val="accent6"/>
                </a:solidFill>
              </a:rPr>
              <a:t>6</a:t>
            </a:r>
            <a:r>
              <a:rPr lang="en-US" dirty="0"/>
              <a:t>.</a:t>
            </a:r>
            <a:r>
              <a:rPr lang="en-US" dirty="0">
                <a:solidFill>
                  <a:schemeClr val="accent6"/>
                </a:solidFill>
              </a:rPr>
              <a:t>2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B0E08A-A77F-4184-B6AC-7873046915BC}"/>
              </a:ext>
            </a:extLst>
          </p:cNvPr>
          <p:cNvSpPr txBox="1"/>
          <p:nvPr/>
        </p:nvSpPr>
        <p:spPr>
          <a:xfrm>
            <a:off x="335947" y="5102715"/>
            <a:ext cx="661939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CC99FF"/>
                </a:solidFill>
              </a:rPr>
              <a:t>Upcoming</a:t>
            </a: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Term Test 1, Thursday at 7:00 pm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Online Term Test Review, Recording Posted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  <a:endParaRPr lang="en-US" sz="1600" dirty="0">
              <a:solidFill>
                <a:srgbClr val="66FF99"/>
              </a:solidFill>
            </a:endParaRP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Reflection 6 Released Friday, 6:00 pm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  <a:endParaRPr lang="en-US" sz="1600" dirty="0">
              <a:solidFill>
                <a:srgbClr val="66FF99"/>
              </a:solidFill>
            </a:endParaRP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Tutorial (Online), Office Hour sessions running all week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80643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9A57B-21DC-4557-9D2E-36BBF1E92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This Week</a:t>
            </a:r>
            <a:r>
              <a:rPr lang="en-US" b="1" dirty="0">
                <a:solidFill>
                  <a:schemeClr val="accent1"/>
                </a:solidFill>
              </a:rPr>
              <a:t>’</a:t>
            </a:r>
            <a:r>
              <a:rPr lang="en-US" b="1" dirty="0"/>
              <a:t>s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50049-8F6C-4DF3-BA59-31343B218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6.1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for </a:t>
            </a:r>
            <a:r>
              <a:rPr lang="en-US" dirty="0"/>
              <a:t>loops</a:t>
            </a:r>
          </a:p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6.2</a:t>
            </a:r>
          </a:p>
          <a:p>
            <a:pPr lvl="1"/>
            <a:r>
              <a:rPr lang="en-US" b="1" dirty="0">
                <a:solidFill>
                  <a:schemeClr val="accent6"/>
                </a:solidFill>
              </a:rPr>
              <a:t>for </a:t>
            </a:r>
            <a:r>
              <a:rPr lang="en-US" b="1" dirty="0"/>
              <a:t>loops on indices</a:t>
            </a:r>
            <a:r>
              <a:rPr lang="en-US" b="1" dirty="0">
                <a:solidFill>
                  <a:schemeClr val="accent2"/>
                </a:solidFill>
              </a:rPr>
              <a:t>,</a:t>
            </a:r>
            <a:r>
              <a:rPr lang="en-US" b="1" dirty="0"/>
              <a:t> nested loops</a:t>
            </a:r>
          </a:p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6.3</a:t>
            </a:r>
          </a:p>
          <a:p>
            <a:pPr lvl="1"/>
            <a:r>
              <a:rPr lang="en-US" dirty="0"/>
              <a:t>Design Problem</a:t>
            </a:r>
            <a:r>
              <a:rPr lang="en-US" dirty="0">
                <a:solidFill>
                  <a:schemeClr val="accent1"/>
                </a:solidFill>
              </a:rPr>
              <a:t>:</a:t>
            </a:r>
            <a:r>
              <a:rPr lang="en-US" dirty="0"/>
              <a:t> Cryptography</a:t>
            </a:r>
          </a:p>
        </p:txBody>
      </p:sp>
    </p:spTree>
    <p:extLst>
      <p:ext uri="{BB962C8B-B14F-4D97-AF65-F5344CB8AC3E}">
        <p14:creationId xmlns:p14="http://schemas.microsoft.com/office/powerpoint/2010/main" val="2832463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166D3-5EF4-4EC3-9FC4-19FF50EE2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for</a:t>
            </a:r>
            <a:r>
              <a:rPr lang="en-US" b="1" dirty="0"/>
              <a:t>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72787-D910-4656-91DF-B97AD2F81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4997116" cy="4835479"/>
          </a:xfrm>
        </p:spPr>
        <p:txBody>
          <a:bodyPr>
            <a:normAutofit/>
          </a:bodyPr>
          <a:lstStyle/>
          <a:p>
            <a:r>
              <a:rPr lang="en-US" sz="3200" dirty="0"/>
              <a:t>A </a:t>
            </a:r>
            <a:r>
              <a:rPr lang="en-US" sz="3200" b="1" dirty="0">
                <a:solidFill>
                  <a:schemeClr val="accent6"/>
                </a:solidFill>
                <a:latin typeface="Consolas" panose="020B0609020204030204" pitchFamily="49" charset="0"/>
              </a:rPr>
              <a:t>for</a:t>
            </a:r>
            <a:r>
              <a:rPr lang="en-US" sz="3200" dirty="0"/>
              <a:t> loop starts with the keyword </a:t>
            </a:r>
            <a:r>
              <a:rPr lang="en-US" sz="3200" b="1" dirty="0">
                <a:solidFill>
                  <a:schemeClr val="accent6"/>
                </a:solidFill>
                <a:latin typeface="Consolas" panose="020B0609020204030204" pitchFamily="49" charset="0"/>
              </a:rPr>
              <a:t>for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  <a:p>
            <a:endParaRPr lang="en-US" sz="3200" dirty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017644-047D-4EC2-85CB-E37A1FFA1BF3}"/>
              </a:ext>
            </a:extLst>
          </p:cNvPr>
          <p:cNvSpPr txBox="1"/>
          <p:nvPr/>
        </p:nvSpPr>
        <p:spPr>
          <a:xfrm>
            <a:off x="5955632" y="745165"/>
            <a:ext cx="5933034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34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‘Sebastian’</a:t>
            </a:r>
          </a:p>
          <a:p>
            <a:endParaRPr lang="en-US" sz="3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character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print(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character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3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400" b="1" dirty="0">
              <a:solidFill>
                <a:srgbClr val="2D2D2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Output: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868725-F9E4-467E-97E1-982E7DC7B4D5}"/>
              </a:ext>
            </a:extLst>
          </p:cNvPr>
          <p:cNvSpPr/>
          <p:nvPr/>
        </p:nvSpPr>
        <p:spPr>
          <a:xfrm>
            <a:off x="5955631" y="1816771"/>
            <a:ext cx="998621" cy="553453"/>
          </a:xfrm>
          <a:prstGeom prst="rect">
            <a:avLst/>
          </a:prstGeom>
          <a:noFill/>
          <a:ln w="38100">
            <a:solidFill>
              <a:srgbClr val="E00B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58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166D3-5EF4-4EC3-9FC4-19FF50EE2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for</a:t>
            </a:r>
            <a:r>
              <a:rPr lang="en-US" b="1" dirty="0"/>
              <a:t>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72787-D910-4656-91DF-B97AD2F81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4997116" cy="4835479"/>
          </a:xfrm>
        </p:spPr>
        <p:txBody>
          <a:bodyPr>
            <a:normAutofit/>
          </a:bodyPr>
          <a:lstStyle/>
          <a:p>
            <a:r>
              <a:rPr lang="en-US" sz="3200" dirty="0"/>
              <a:t>Next</a:t>
            </a:r>
            <a:r>
              <a:rPr lang="en-US" sz="3200" dirty="0">
                <a:solidFill>
                  <a:schemeClr val="accent2"/>
                </a:solidFill>
              </a:rPr>
              <a:t>,</a:t>
            </a:r>
            <a:r>
              <a:rPr lang="en-US" sz="3200" dirty="0"/>
              <a:t> we provide the name of one of more variables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  <a:p>
            <a:r>
              <a:rPr lang="en-US" sz="3200" dirty="0"/>
              <a:t>We have called the variable </a:t>
            </a:r>
            <a:r>
              <a:rPr lang="en-US" sz="3200" dirty="0">
                <a:solidFill>
                  <a:srgbClr val="FFD6AD"/>
                </a:solidFill>
                <a:latin typeface="Consolas" panose="020B0609020204030204" pitchFamily="49" charset="0"/>
              </a:rPr>
              <a:t>character</a:t>
            </a:r>
            <a:r>
              <a:rPr lang="en-US" sz="3200" dirty="0">
                <a:solidFill>
                  <a:schemeClr val="accent2"/>
                </a:solidFill>
              </a:rPr>
              <a:t>,</a:t>
            </a:r>
            <a:r>
              <a:rPr lang="en-US" sz="3200" dirty="0"/>
              <a:t> but you can call it whatever you like as long as it follows rules for naming a variable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  <a:r>
              <a:rPr lang="en-US" sz="3200" dirty="0"/>
              <a:t> </a:t>
            </a:r>
            <a:endParaRPr lang="en-US" sz="3200" dirty="0">
              <a:solidFill>
                <a:schemeClr val="accent2"/>
              </a:solidFill>
            </a:endParaRPr>
          </a:p>
          <a:p>
            <a:endParaRPr lang="en-US" sz="3200" dirty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017644-047D-4EC2-85CB-E37A1FFA1BF3}"/>
              </a:ext>
            </a:extLst>
          </p:cNvPr>
          <p:cNvSpPr txBox="1"/>
          <p:nvPr/>
        </p:nvSpPr>
        <p:spPr>
          <a:xfrm>
            <a:off x="5955632" y="745165"/>
            <a:ext cx="5933034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34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‘Sebastian’</a:t>
            </a:r>
          </a:p>
          <a:p>
            <a:endParaRPr lang="en-US" sz="3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character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print(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character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3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5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5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item1, item2</a:t>
            </a:r>
            <a:r>
              <a:rPr lang="en-US" sz="25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sz="25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iterable</a:t>
            </a:r>
            <a:r>
              <a:rPr lang="en-US" sz="25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5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5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 something.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868725-F9E4-467E-97E1-982E7DC7B4D5}"/>
              </a:ext>
            </a:extLst>
          </p:cNvPr>
          <p:cNvSpPr/>
          <p:nvPr/>
        </p:nvSpPr>
        <p:spPr>
          <a:xfrm>
            <a:off x="6978316" y="1816771"/>
            <a:ext cx="2586789" cy="553453"/>
          </a:xfrm>
          <a:prstGeom prst="rect">
            <a:avLst/>
          </a:prstGeom>
          <a:noFill/>
          <a:ln w="38100">
            <a:solidFill>
              <a:srgbClr val="E00B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0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166D3-5EF4-4EC3-9FC4-19FF50EE2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for</a:t>
            </a:r>
            <a:r>
              <a:rPr lang="en-US" b="1" dirty="0"/>
              <a:t>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72787-D910-4656-91DF-B97AD2F81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4997116" cy="4835479"/>
          </a:xfrm>
        </p:spPr>
        <p:txBody>
          <a:bodyPr>
            <a:normAutofit/>
          </a:bodyPr>
          <a:lstStyle/>
          <a:p>
            <a:r>
              <a:rPr lang="en-US" sz="3200" dirty="0"/>
              <a:t>Our variable </a:t>
            </a:r>
            <a:r>
              <a:rPr lang="en-US" sz="3200" dirty="0">
                <a:solidFill>
                  <a:srgbClr val="FFD6AD"/>
                </a:solidFill>
                <a:latin typeface="Consolas" panose="020B0609020204030204" pitchFamily="49" charset="0"/>
              </a:rPr>
              <a:t>character</a:t>
            </a:r>
            <a:r>
              <a:rPr lang="en-US" sz="3200" dirty="0"/>
              <a:t> will be bound to each of the items in the sequence in turn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  <a:p>
            <a:endParaRPr lang="en-US" sz="3200" dirty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017644-047D-4EC2-85CB-E37A1FFA1BF3}"/>
              </a:ext>
            </a:extLst>
          </p:cNvPr>
          <p:cNvSpPr txBox="1"/>
          <p:nvPr/>
        </p:nvSpPr>
        <p:spPr>
          <a:xfrm>
            <a:off x="5955632" y="745165"/>
            <a:ext cx="5933034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34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‘Sebastian’</a:t>
            </a:r>
          </a:p>
          <a:p>
            <a:endParaRPr lang="en-US" sz="3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character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print(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character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3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4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Output: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868725-F9E4-467E-97E1-982E7DC7B4D5}"/>
              </a:ext>
            </a:extLst>
          </p:cNvPr>
          <p:cNvSpPr/>
          <p:nvPr/>
        </p:nvSpPr>
        <p:spPr>
          <a:xfrm flipH="1">
            <a:off x="9565105" y="1816771"/>
            <a:ext cx="770021" cy="553453"/>
          </a:xfrm>
          <a:prstGeom prst="rect">
            <a:avLst/>
          </a:prstGeom>
          <a:noFill/>
          <a:ln w="38100">
            <a:solidFill>
              <a:srgbClr val="E00B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81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166D3-5EF4-4EC3-9FC4-19FF50EE2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for</a:t>
            </a:r>
            <a:r>
              <a:rPr lang="en-US" b="1" dirty="0"/>
              <a:t>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72787-D910-4656-91DF-B97AD2F81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4997116" cy="4835479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Specify what the values are in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  <a:p>
            <a:r>
              <a:rPr lang="en-US" sz="3200" dirty="0"/>
              <a:t>What is the iterable</a:t>
            </a:r>
            <a:r>
              <a:rPr lang="en-US" sz="3200" dirty="0">
                <a:solidFill>
                  <a:schemeClr val="accent2"/>
                </a:solidFill>
              </a:rPr>
              <a:t>?</a:t>
            </a:r>
          </a:p>
          <a:p>
            <a:r>
              <a:rPr lang="en-US" sz="3200" dirty="0"/>
              <a:t>An iterable is an object that can be iterated over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  <a:p>
            <a:r>
              <a:rPr lang="en-US" sz="3200" dirty="0"/>
              <a:t>Strings are iterable </a:t>
            </a:r>
            <a:r>
              <a:rPr lang="en-US" sz="3200" dirty="0">
                <a:solidFill>
                  <a:schemeClr val="accent6"/>
                </a:solidFill>
              </a:rPr>
              <a:t>(</a:t>
            </a:r>
            <a:r>
              <a:rPr lang="en-US" sz="3200" dirty="0"/>
              <a:t>we know these from last week</a:t>
            </a:r>
            <a:r>
              <a:rPr lang="en-US" sz="3200" dirty="0">
                <a:solidFill>
                  <a:schemeClr val="accent6"/>
                </a:solidFill>
              </a:rPr>
              <a:t>)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  <a:p>
            <a:r>
              <a:rPr lang="en-US" sz="3200" dirty="0"/>
              <a:t>Lists</a:t>
            </a:r>
            <a:r>
              <a:rPr lang="en-US" sz="3200" dirty="0">
                <a:solidFill>
                  <a:schemeClr val="accent2"/>
                </a:solidFill>
              </a:rPr>
              <a:t> </a:t>
            </a:r>
            <a:r>
              <a:rPr lang="en-US" sz="3200" dirty="0">
                <a:solidFill>
                  <a:schemeClr val="accent6"/>
                </a:solidFill>
              </a:rPr>
              <a:t>(</a:t>
            </a:r>
            <a:r>
              <a:rPr lang="en-US" sz="3200" b="1" dirty="0">
                <a:solidFill>
                  <a:schemeClr val="accent2"/>
                </a:solidFill>
              </a:rPr>
              <a:t>next week</a:t>
            </a:r>
            <a:r>
              <a:rPr lang="en-US" sz="3200" dirty="0">
                <a:solidFill>
                  <a:schemeClr val="accent6"/>
                </a:solidFill>
              </a:rPr>
              <a:t>)</a:t>
            </a:r>
            <a:r>
              <a:rPr lang="en-US" sz="3200" dirty="0">
                <a:solidFill>
                  <a:schemeClr val="accent2"/>
                </a:solidFill>
              </a:rPr>
              <a:t> </a:t>
            </a:r>
            <a:r>
              <a:rPr lang="en-US" sz="3200" dirty="0"/>
              <a:t>are iterable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017644-047D-4EC2-85CB-E37A1FFA1BF3}"/>
              </a:ext>
            </a:extLst>
          </p:cNvPr>
          <p:cNvSpPr txBox="1"/>
          <p:nvPr/>
        </p:nvSpPr>
        <p:spPr>
          <a:xfrm>
            <a:off x="5955632" y="745165"/>
            <a:ext cx="5933034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34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‘Sebastian’</a:t>
            </a:r>
          </a:p>
          <a:p>
            <a:endParaRPr lang="en-US" sz="3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character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print(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character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3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4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Output: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868725-F9E4-467E-97E1-982E7DC7B4D5}"/>
              </a:ext>
            </a:extLst>
          </p:cNvPr>
          <p:cNvSpPr/>
          <p:nvPr/>
        </p:nvSpPr>
        <p:spPr>
          <a:xfrm>
            <a:off x="10335125" y="1816771"/>
            <a:ext cx="1191127" cy="553453"/>
          </a:xfrm>
          <a:prstGeom prst="rect">
            <a:avLst/>
          </a:prstGeom>
          <a:noFill/>
          <a:ln w="38100">
            <a:solidFill>
              <a:srgbClr val="E00B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723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166D3-5EF4-4EC3-9FC4-19FF50EE2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for</a:t>
            </a:r>
            <a:r>
              <a:rPr lang="en-US" b="1" dirty="0"/>
              <a:t>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72787-D910-4656-91DF-B97AD2F81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4997116" cy="4835479"/>
          </a:xfrm>
        </p:spPr>
        <p:txBody>
          <a:bodyPr>
            <a:normAutofit/>
          </a:bodyPr>
          <a:lstStyle/>
          <a:p>
            <a:r>
              <a:rPr lang="en-US" sz="3200" dirty="0"/>
              <a:t>As with the </a:t>
            </a:r>
            <a:r>
              <a:rPr lang="en-US" sz="3200" dirty="0">
                <a:solidFill>
                  <a:schemeClr val="accent6"/>
                </a:solidFill>
                <a:latin typeface="Consolas" panose="020B0609020204030204" pitchFamily="49" charset="0"/>
              </a:rPr>
              <a:t>while</a:t>
            </a:r>
            <a:r>
              <a:rPr lang="en-US" sz="3200" dirty="0"/>
              <a:t> loop</a:t>
            </a:r>
            <a:r>
              <a:rPr lang="en-US" sz="3200" dirty="0">
                <a:solidFill>
                  <a:schemeClr val="accent2"/>
                </a:solidFill>
              </a:rPr>
              <a:t>,</a:t>
            </a:r>
            <a:r>
              <a:rPr lang="en-US" sz="3200" dirty="0"/>
              <a:t> the </a:t>
            </a:r>
            <a:r>
              <a:rPr lang="en-US" sz="3200" dirty="0">
                <a:solidFill>
                  <a:schemeClr val="accent6"/>
                </a:solidFill>
                <a:latin typeface="Consolas" panose="020B0609020204030204" pitchFamily="49" charset="0"/>
              </a:rPr>
              <a:t>for</a:t>
            </a:r>
            <a:r>
              <a:rPr lang="en-US" sz="3200" dirty="0"/>
              <a:t> loop statement ends with a colon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  <a:p>
            <a:r>
              <a:rPr lang="en-US" sz="3200" dirty="0"/>
              <a:t>This is how Python knows you are going to create a new block of code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  <a:p>
            <a:endParaRPr lang="en-US" sz="3200" dirty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017644-047D-4EC2-85CB-E37A1FFA1BF3}"/>
              </a:ext>
            </a:extLst>
          </p:cNvPr>
          <p:cNvSpPr txBox="1"/>
          <p:nvPr/>
        </p:nvSpPr>
        <p:spPr>
          <a:xfrm>
            <a:off x="5955632" y="745165"/>
            <a:ext cx="5933034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34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‘Sebastian’</a:t>
            </a:r>
          </a:p>
          <a:p>
            <a:endParaRPr lang="en-US" sz="3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character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print(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character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3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4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Output: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868725-F9E4-467E-97E1-982E7DC7B4D5}"/>
              </a:ext>
            </a:extLst>
          </p:cNvPr>
          <p:cNvSpPr/>
          <p:nvPr/>
        </p:nvSpPr>
        <p:spPr>
          <a:xfrm flipH="1">
            <a:off x="11526252" y="1816771"/>
            <a:ext cx="180474" cy="553453"/>
          </a:xfrm>
          <a:prstGeom prst="rect">
            <a:avLst/>
          </a:prstGeom>
          <a:noFill/>
          <a:ln w="38100">
            <a:solidFill>
              <a:srgbClr val="E00B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054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166D3-5EF4-4EC3-9FC4-19FF50EE2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for</a:t>
            </a:r>
            <a:r>
              <a:rPr lang="en-US" b="1" dirty="0"/>
              <a:t>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72787-D910-4656-91DF-B97AD2F81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4997116" cy="4835479"/>
          </a:xfrm>
        </p:spPr>
        <p:txBody>
          <a:bodyPr>
            <a:normAutofit/>
          </a:bodyPr>
          <a:lstStyle/>
          <a:p>
            <a:r>
              <a:rPr lang="en-US" sz="3200" dirty="0"/>
              <a:t>Indenting four spaces tells Python what lines of code are in that block you want to repeated</a:t>
            </a:r>
            <a:r>
              <a:rPr lang="en-US" sz="3200" dirty="0">
                <a:solidFill>
                  <a:schemeClr val="accent1"/>
                </a:solidFill>
              </a:rPr>
              <a:t>.</a:t>
            </a:r>
          </a:p>
          <a:p>
            <a:endParaRPr lang="en-US" sz="3200" dirty="0">
              <a:solidFill>
                <a:schemeClr val="accent2"/>
              </a:solidFill>
            </a:endParaRPr>
          </a:p>
          <a:p>
            <a:endParaRPr lang="en-US" sz="3200" dirty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017644-047D-4EC2-85CB-E37A1FFA1BF3}"/>
              </a:ext>
            </a:extLst>
          </p:cNvPr>
          <p:cNvSpPr txBox="1"/>
          <p:nvPr/>
        </p:nvSpPr>
        <p:spPr>
          <a:xfrm>
            <a:off x="5955632" y="745165"/>
            <a:ext cx="5933034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34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‘Sebastian’</a:t>
            </a:r>
          </a:p>
          <a:p>
            <a:endParaRPr lang="en-US" sz="3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character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print(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character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3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4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Output: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868725-F9E4-467E-97E1-982E7DC7B4D5}"/>
              </a:ext>
            </a:extLst>
          </p:cNvPr>
          <p:cNvSpPr/>
          <p:nvPr/>
        </p:nvSpPr>
        <p:spPr>
          <a:xfrm flipH="1">
            <a:off x="6773778" y="2346157"/>
            <a:ext cx="4367464" cy="3392905"/>
          </a:xfrm>
          <a:prstGeom prst="rect">
            <a:avLst/>
          </a:prstGeom>
          <a:noFill/>
          <a:ln w="38100">
            <a:solidFill>
              <a:srgbClr val="E00B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656D8AD5-2DFF-4424-8C20-8AA9AEA38A48}"/>
              </a:ext>
            </a:extLst>
          </p:cNvPr>
          <p:cNvSpPr/>
          <p:nvPr/>
        </p:nvSpPr>
        <p:spPr>
          <a:xfrm>
            <a:off x="6095996" y="5358617"/>
            <a:ext cx="617620" cy="553453"/>
          </a:xfrm>
          <a:prstGeom prst="rightArrow">
            <a:avLst/>
          </a:prstGeom>
          <a:solidFill>
            <a:srgbClr val="E00B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40C392-B8C4-4120-AC91-EE5EC969077B}"/>
              </a:ext>
            </a:extLst>
          </p:cNvPr>
          <p:cNvSpPr txBox="1"/>
          <p:nvPr/>
        </p:nvSpPr>
        <p:spPr>
          <a:xfrm>
            <a:off x="5979692" y="5854465"/>
            <a:ext cx="12089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E00BE5"/>
                </a:solidFill>
              </a:rPr>
              <a:t>Indent</a:t>
            </a:r>
          </a:p>
        </p:txBody>
      </p:sp>
    </p:spTree>
    <p:extLst>
      <p:ext uri="{BB962C8B-B14F-4D97-AF65-F5344CB8AC3E}">
        <p14:creationId xmlns:p14="http://schemas.microsoft.com/office/powerpoint/2010/main" val="3300181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FA3E4-D06F-4F67-959E-5EB384385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Breakout Session </a:t>
            </a:r>
            <a:r>
              <a:rPr lang="en-US" b="1" dirty="0"/>
              <a:t>1</a:t>
            </a:r>
            <a:endParaRPr lang="en-US" dirty="0">
              <a:solidFill>
                <a:schemeClr val="accent6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3F64D9-1EBE-4498-9407-D1C67AB3C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607629" cy="3061180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We want to do some analysis of Dean Yip</a:t>
            </a:r>
            <a:r>
              <a:rPr lang="en-US" sz="3200" dirty="0">
                <a:solidFill>
                  <a:schemeClr val="accent6"/>
                </a:solidFill>
              </a:rPr>
              <a:t>’</a:t>
            </a:r>
            <a:r>
              <a:rPr lang="en-US" sz="3200" dirty="0"/>
              <a:t>s Tweets</a:t>
            </a:r>
            <a:r>
              <a:rPr lang="en-US" sz="3200" dirty="0">
                <a:solidFill>
                  <a:schemeClr val="accent6"/>
                </a:solidFill>
              </a:rPr>
              <a:t>.</a:t>
            </a:r>
          </a:p>
          <a:p>
            <a:r>
              <a:rPr lang="en-US" sz="3200" dirty="0"/>
              <a:t>Before we can do this</a:t>
            </a:r>
            <a:r>
              <a:rPr lang="en-US" sz="3200" dirty="0">
                <a:solidFill>
                  <a:schemeClr val="accent6"/>
                </a:solidFill>
              </a:rPr>
              <a:t>,</a:t>
            </a:r>
            <a:r>
              <a:rPr lang="en-US" sz="3200" dirty="0"/>
              <a:t> we</a:t>
            </a:r>
            <a:r>
              <a:rPr lang="en-US" sz="3200" dirty="0">
                <a:solidFill>
                  <a:schemeClr val="accent6"/>
                </a:solidFill>
              </a:rPr>
              <a:t>’</a:t>
            </a:r>
            <a:r>
              <a:rPr lang="en-US" sz="3200" dirty="0"/>
              <a:t>ll need to make the tweet all lower case and replace all the punctuations </a:t>
            </a:r>
            <a:r>
              <a:rPr lang="en-US" sz="3200"/>
              <a:t>with an empty string</a:t>
            </a:r>
            <a:r>
              <a:rPr lang="en-US" sz="3200">
                <a:solidFill>
                  <a:schemeClr val="accent6"/>
                </a:solidFill>
              </a:rPr>
              <a:t>.</a:t>
            </a:r>
            <a:endParaRPr lang="en-US" sz="3200" dirty="0">
              <a:solidFill>
                <a:schemeClr val="accent6"/>
              </a:solidFill>
            </a:endParaRPr>
          </a:p>
          <a:p>
            <a:r>
              <a:rPr lang="en-US" dirty="0">
                <a:solidFill>
                  <a:schemeClr val="accent6"/>
                </a:solidFill>
              </a:rPr>
              <a:t>‘impact... Exciting’ </a:t>
            </a:r>
            <a:r>
              <a:rPr lang="en-US" dirty="0">
                <a:solidFill>
                  <a:schemeClr val="accent6"/>
                </a:solidFill>
                <a:sym typeface="Wingdings" panose="05000000000000000000" pitchFamily="2" charset="2"/>
              </a:rPr>
              <a:t> ‘</a:t>
            </a:r>
            <a:r>
              <a:rPr lang="en-US" dirty="0">
                <a:solidFill>
                  <a:schemeClr val="accent6"/>
                </a:solidFill>
              </a:rPr>
              <a:t>impact   exciting‘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26C0B66-D21E-4DAE-871C-5EC33E4FD3BD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1. </a:t>
            </a:r>
            <a:r>
              <a:rPr lang="en-US" sz="2600" b="1" dirty="0">
                <a:solidFill>
                  <a:schemeClr val="accent6"/>
                </a:solidFill>
              </a:rPr>
              <a:t>Breakout Session 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1C93AE-995C-4ADF-8B7C-CC7036845B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5548" t="16258" r="1189" b="68106"/>
          <a:stretch/>
        </p:blipFill>
        <p:spPr>
          <a:xfrm>
            <a:off x="282146" y="5017429"/>
            <a:ext cx="6854927" cy="1480967"/>
          </a:xfrm>
          <a:prstGeom prst="rect">
            <a:avLst/>
          </a:prstGeom>
          <a:ln>
            <a:solidFill>
              <a:schemeClr val="accent3"/>
            </a:solidFill>
          </a:ln>
        </p:spPr>
      </p:pic>
    </p:spTree>
    <p:extLst>
      <p:ext uri="{BB962C8B-B14F-4D97-AF65-F5344CB8AC3E}">
        <p14:creationId xmlns:p14="http://schemas.microsoft.com/office/powerpoint/2010/main" val="4258354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9A57B-21DC-4557-9D2E-36BBF1E92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Today</a:t>
            </a:r>
            <a:r>
              <a:rPr lang="en-US" b="1" dirty="0">
                <a:solidFill>
                  <a:schemeClr val="accent1"/>
                </a:solidFill>
              </a:rPr>
              <a:t>’</a:t>
            </a:r>
            <a:r>
              <a:rPr lang="en-US" b="1" dirty="0"/>
              <a:t>s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50049-8F6C-4DF3-BA59-31343B218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Looping through indices with a </a:t>
            </a:r>
            <a:r>
              <a:rPr lang="en-US" sz="3600" dirty="0">
                <a:solidFill>
                  <a:schemeClr val="accent6"/>
                </a:solidFill>
                <a:latin typeface="Consolas" panose="020B0609020204030204" pitchFamily="49" charset="0"/>
              </a:rPr>
              <a:t>for</a:t>
            </a:r>
            <a:r>
              <a:rPr lang="en-US" sz="3600" dirty="0"/>
              <a:t> loop</a:t>
            </a:r>
            <a:r>
              <a:rPr lang="en-US" sz="3600" dirty="0">
                <a:solidFill>
                  <a:schemeClr val="accent2"/>
                </a:solidFill>
              </a:rPr>
              <a:t>.</a:t>
            </a:r>
          </a:p>
          <a:p>
            <a:r>
              <a:rPr lang="en-US" sz="3600" dirty="0"/>
              <a:t>Nested </a:t>
            </a:r>
            <a:r>
              <a:rPr lang="en-US" sz="3600" dirty="0">
                <a:solidFill>
                  <a:schemeClr val="accent6"/>
                </a:solidFill>
                <a:latin typeface="Consolas" panose="020B0609020204030204" pitchFamily="49" charset="0"/>
              </a:rPr>
              <a:t>for</a:t>
            </a:r>
            <a:r>
              <a:rPr lang="en-US" sz="3600" dirty="0"/>
              <a:t> loops</a:t>
            </a:r>
            <a:r>
              <a:rPr lang="en-US" sz="3600" dirty="0">
                <a:solidFill>
                  <a:schemeClr val="accent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2437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FA3E4-D06F-4F67-959E-5EB384385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Looping Through Indices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AA918-11BD-413E-B45E-3A3673CB5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078218" cy="4835479"/>
          </a:xfrm>
        </p:spPr>
        <p:txBody>
          <a:bodyPr>
            <a:normAutofit/>
          </a:bodyPr>
          <a:lstStyle/>
          <a:p>
            <a:r>
              <a:rPr lang="en-US" sz="3200" dirty="0"/>
              <a:t>Last lecture we saw that we can use while loops to loop over the indices of a string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  <a:p>
            <a:r>
              <a:rPr lang="en-US" sz="3200" dirty="0"/>
              <a:t>Then we saw that a for</a:t>
            </a:r>
            <a:r>
              <a:rPr lang="en-US" sz="3200" dirty="0">
                <a:solidFill>
                  <a:schemeClr val="accent2"/>
                </a:solidFill>
              </a:rPr>
              <a:t>-</a:t>
            </a:r>
            <a:r>
              <a:rPr lang="en-US" sz="3200" dirty="0"/>
              <a:t>loop requires less code but it iterates over the values</a:t>
            </a:r>
            <a:r>
              <a:rPr lang="en-US" sz="3200" dirty="0">
                <a:solidFill>
                  <a:schemeClr val="accent2"/>
                </a:solidFill>
              </a:rPr>
              <a:t>,</a:t>
            </a:r>
            <a:r>
              <a:rPr lang="en-US" sz="3200" dirty="0"/>
              <a:t> not the indices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83A639-9D7F-4592-B422-D8AEECD8101E}"/>
              </a:ext>
            </a:extLst>
          </p:cNvPr>
          <p:cNvSpPr txBox="1"/>
          <p:nvPr/>
        </p:nvSpPr>
        <p:spPr>
          <a:xfrm>
            <a:off x="275582" y="4702832"/>
            <a:ext cx="5554726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 = 0</a:t>
            </a:r>
          </a:p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i &lt; len(chrome_4):</a:t>
            </a:r>
          </a:p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print(i, chrome_4[i])</a:t>
            </a:r>
          </a:p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 +=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05BEE-F882-41B1-97CA-85F6652734B4}"/>
              </a:ext>
            </a:extLst>
          </p:cNvPr>
          <p:cNvSpPr txBox="1"/>
          <p:nvPr/>
        </p:nvSpPr>
        <p:spPr>
          <a:xfrm>
            <a:off x="6124598" y="4702832"/>
            <a:ext cx="576952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character in chrome_4:</a:t>
            </a:r>
          </a:p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print(character)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9E84FB-99AF-424E-A64C-6050A6B0B58F}"/>
              </a:ext>
            </a:extLst>
          </p:cNvPr>
          <p:cNvSpPr txBox="1"/>
          <p:nvPr/>
        </p:nvSpPr>
        <p:spPr>
          <a:xfrm>
            <a:off x="6124598" y="4212998"/>
            <a:ext cx="8627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/>
                </a:solidFill>
                <a:latin typeface="Consolas" panose="020B0609020204030204" pitchFamily="49" charset="0"/>
              </a:rPr>
              <a:t>for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DCE24D-71F5-401E-A2F9-D69C16495EBA}"/>
              </a:ext>
            </a:extLst>
          </p:cNvPr>
          <p:cNvSpPr txBox="1"/>
          <p:nvPr/>
        </p:nvSpPr>
        <p:spPr>
          <a:xfrm>
            <a:off x="275582" y="4212998"/>
            <a:ext cx="13147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/>
                </a:solidFill>
                <a:latin typeface="Consolas" panose="020B0609020204030204" pitchFamily="49" charset="0"/>
              </a:rPr>
              <a:t>while</a:t>
            </a:r>
          </a:p>
        </p:txBody>
      </p:sp>
    </p:spTree>
    <p:extLst>
      <p:ext uri="{BB962C8B-B14F-4D97-AF65-F5344CB8AC3E}">
        <p14:creationId xmlns:p14="http://schemas.microsoft.com/office/powerpoint/2010/main" val="13931862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FA3E4-D06F-4F67-959E-5EB384385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Looping Through Indices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AA918-11BD-413E-B45E-3A3673CB5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245512" cy="4835479"/>
          </a:xfrm>
        </p:spPr>
        <p:txBody>
          <a:bodyPr>
            <a:normAutofit/>
          </a:bodyPr>
          <a:lstStyle/>
          <a:p>
            <a:r>
              <a:rPr lang="en-US" sz="3600" dirty="0"/>
              <a:t>Can we use a for loop to loop over indices</a:t>
            </a:r>
            <a:r>
              <a:rPr lang="en-US" sz="3600" dirty="0">
                <a:solidFill>
                  <a:schemeClr val="accent2"/>
                </a:solidFill>
              </a:rPr>
              <a:t>?</a:t>
            </a:r>
            <a:r>
              <a:rPr lang="en-US" sz="3600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83A639-9D7F-4592-B422-D8AEECD8101E}"/>
              </a:ext>
            </a:extLst>
          </p:cNvPr>
          <p:cNvSpPr txBox="1"/>
          <p:nvPr/>
        </p:nvSpPr>
        <p:spPr>
          <a:xfrm>
            <a:off x="275582" y="4702832"/>
            <a:ext cx="5554726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 = 0</a:t>
            </a:r>
          </a:p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i &lt; len(chrome_4):</a:t>
            </a:r>
          </a:p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print(i, chrome_4[i])</a:t>
            </a:r>
          </a:p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 +=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05BEE-F882-41B1-97CA-85F6652734B4}"/>
              </a:ext>
            </a:extLst>
          </p:cNvPr>
          <p:cNvSpPr txBox="1"/>
          <p:nvPr/>
        </p:nvSpPr>
        <p:spPr>
          <a:xfrm>
            <a:off x="6124598" y="4702832"/>
            <a:ext cx="576952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character in chrome_4:</a:t>
            </a:r>
          </a:p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print(character)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9E84FB-99AF-424E-A64C-6050A6B0B58F}"/>
              </a:ext>
            </a:extLst>
          </p:cNvPr>
          <p:cNvSpPr txBox="1"/>
          <p:nvPr/>
        </p:nvSpPr>
        <p:spPr>
          <a:xfrm>
            <a:off x="6124598" y="4212998"/>
            <a:ext cx="8627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/>
                </a:solidFill>
                <a:latin typeface="Consolas" panose="020B0609020204030204" pitchFamily="49" charset="0"/>
              </a:rPr>
              <a:t>for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DCE24D-71F5-401E-A2F9-D69C16495EBA}"/>
              </a:ext>
            </a:extLst>
          </p:cNvPr>
          <p:cNvSpPr txBox="1"/>
          <p:nvPr/>
        </p:nvSpPr>
        <p:spPr>
          <a:xfrm>
            <a:off x="275582" y="4212998"/>
            <a:ext cx="13147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/>
                </a:solidFill>
                <a:latin typeface="Consolas" panose="020B0609020204030204" pitchFamily="49" charset="0"/>
              </a:rPr>
              <a:t>while</a:t>
            </a:r>
          </a:p>
        </p:txBody>
      </p:sp>
    </p:spTree>
    <p:extLst>
      <p:ext uri="{BB962C8B-B14F-4D97-AF65-F5344CB8AC3E}">
        <p14:creationId xmlns:p14="http://schemas.microsoft.com/office/powerpoint/2010/main" val="2785700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FA3E4-D06F-4F67-959E-5EB384385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Looping on a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range()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AA918-11BD-413E-B45E-3A3673CB5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245512" cy="4835479"/>
          </a:xfrm>
        </p:spPr>
        <p:txBody>
          <a:bodyPr>
            <a:normAutofit lnSpcReduction="10000"/>
          </a:bodyPr>
          <a:lstStyle/>
          <a:p>
            <a:r>
              <a:rPr lang="en-US" sz="3600" dirty="0"/>
              <a:t>Python has a built</a:t>
            </a:r>
            <a:r>
              <a:rPr lang="en-US" sz="3600" dirty="0">
                <a:solidFill>
                  <a:schemeClr val="accent2"/>
                </a:solidFill>
              </a:rPr>
              <a:t>-</a:t>
            </a:r>
            <a:r>
              <a:rPr lang="en-US" sz="3600" dirty="0"/>
              <a:t>in function called </a:t>
            </a:r>
            <a:r>
              <a:rPr lang="en-US" sz="3600" dirty="0">
                <a:solidFill>
                  <a:schemeClr val="accent6"/>
                </a:solidFill>
                <a:latin typeface="Consolas" panose="020B0609020204030204" pitchFamily="49" charset="0"/>
              </a:rPr>
              <a:t>range()</a:t>
            </a:r>
            <a:r>
              <a:rPr lang="en-US" sz="3600" dirty="0"/>
              <a:t> that can be used to generate a sequence of numbers</a:t>
            </a:r>
            <a:r>
              <a:rPr lang="en-US" sz="3600" dirty="0">
                <a:solidFill>
                  <a:schemeClr val="accent2"/>
                </a:solidFill>
              </a:rPr>
              <a:t>.</a:t>
            </a:r>
            <a:r>
              <a:rPr lang="en-US" sz="3600" dirty="0"/>
              <a:t> The general syntax of range is as follows</a:t>
            </a:r>
            <a:r>
              <a:rPr lang="en-US" sz="3600" dirty="0">
                <a:solidFill>
                  <a:schemeClr val="accent2"/>
                </a:solidFill>
              </a:rPr>
              <a:t>:</a:t>
            </a:r>
            <a:endParaRPr lang="en-US" sz="3200" dirty="0">
              <a:solidFill>
                <a:schemeClr val="accent2"/>
              </a:solidFill>
            </a:endParaRPr>
          </a:p>
          <a:p>
            <a:endParaRPr lang="en-US" sz="3200" dirty="0"/>
          </a:p>
          <a:p>
            <a:endParaRPr lang="en-US" sz="3200" dirty="0"/>
          </a:p>
          <a:p>
            <a:r>
              <a:rPr lang="en-US" sz="3200" dirty="0"/>
              <a:t>Similar to the string slicing syntax</a:t>
            </a:r>
            <a:r>
              <a:rPr lang="en-US" sz="3200" dirty="0">
                <a:solidFill>
                  <a:schemeClr val="accent2"/>
                </a:solidFill>
              </a:rPr>
              <a:t>:</a:t>
            </a:r>
          </a:p>
          <a:p>
            <a:pPr lvl="1"/>
            <a:r>
              <a:rPr lang="en-US" sz="2800" dirty="0"/>
              <a:t>The stop value is not included in the sequence of </a:t>
            </a:r>
            <a:r>
              <a:rPr lang="en-US" sz="3200" dirty="0"/>
              <a:t>numbers generated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  <a:p>
            <a:pPr lvl="1"/>
            <a:r>
              <a:rPr lang="en-US" sz="2800" dirty="0"/>
              <a:t>Can omit start and step which will result in default values being used</a:t>
            </a:r>
            <a:r>
              <a:rPr lang="en-US" sz="2800" dirty="0">
                <a:solidFill>
                  <a:schemeClr val="accent2"/>
                </a:solidFill>
              </a:rPr>
              <a:t>.</a:t>
            </a:r>
            <a:r>
              <a:rPr lang="en-US" sz="2800" dirty="0"/>
              <a:t> </a:t>
            </a:r>
            <a:r>
              <a:rPr lang="en-US" sz="3200" dirty="0">
                <a:solidFill>
                  <a:schemeClr val="accent6"/>
                </a:solidFill>
                <a:latin typeface="Consolas" panose="020B0609020204030204" pitchFamily="49" charset="0"/>
              </a:rPr>
              <a:t>range(n) </a:t>
            </a:r>
            <a:r>
              <a:rPr lang="en-US" sz="3200" dirty="0">
                <a:solidFill>
                  <a:schemeClr val="accent6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 range(0, n, 1)</a:t>
            </a:r>
            <a:endParaRPr lang="en-US" sz="3200" dirty="0">
              <a:solidFill>
                <a:schemeClr val="accent6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2E9557-9CB1-45E7-85A2-2D1F0C09F32C}"/>
              </a:ext>
            </a:extLst>
          </p:cNvPr>
          <p:cNvSpPr txBox="1"/>
          <p:nvPr/>
        </p:nvSpPr>
        <p:spPr>
          <a:xfrm>
            <a:off x="1002279" y="3406677"/>
            <a:ext cx="68403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range(start, stop, step)</a:t>
            </a:r>
          </a:p>
        </p:txBody>
      </p:sp>
    </p:spTree>
    <p:extLst>
      <p:ext uri="{BB962C8B-B14F-4D97-AF65-F5344CB8AC3E}">
        <p14:creationId xmlns:p14="http://schemas.microsoft.com/office/powerpoint/2010/main" val="3407145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FA3E4-D06F-4F67-959E-5EB384385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Looping on a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range()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3F64D9-1EBE-4498-9407-D1C67AB3C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607629" cy="2306989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accent6"/>
                </a:solidFill>
                <a:latin typeface="Consolas" panose="020B0609020204030204" pitchFamily="49" charset="0"/>
              </a:rPr>
              <a:t>range() </a:t>
            </a:r>
            <a:r>
              <a:rPr lang="en-US" sz="3200" dirty="0"/>
              <a:t>is typically used in a for loop to iterate over a sequence of numbers</a:t>
            </a:r>
            <a:r>
              <a:rPr lang="en-US" sz="3200" dirty="0">
                <a:solidFill>
                  <a:schemeClr val="accent1"/>
                </a:solidFill>
              </a:rPr>
              <a:t>.</a:t>
            </a:r>
          </a:p>
          <a:p>
            <a:r>
              <a:rPr lang="en-US" sz="3200" dirty="0">
                <a:solidFill>
                  <a:schemeClr val="accent6"/>
                </a:solidFill>
                <a:latin typeface="Consolas" panose="020B0609020204030204" pitchFamily="49" charset="0"/>
              </a:rPr>
              <a:t>range() </a:t>
            </a:r>
            <a:r>
              <a:rPr lang="en-US" sz="3200" dirty="0"/>
              <a:t>is an iterable</a:t>
            </a:r>
            <a:r>
              <a:rPr lang="en-US" sz="3200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F3AEE27-48F2-4968-8C6C-389EF326C748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2. </a:t>
            </a:r>
            <a:r>
              <a:rPr lang="en-US" sz="2600" b="1" dirty="0">
                <a:solidFill>
                  <a:schemeClr val="accent6"/>
                </a:solidFill>
              </a:rPr>
              <a:t>Using range()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730FA7-BE6B-4A0F-BA58-7D7CAB323535}"/>
              </a:ext>
            </a:extLst>
          </p:cNvPr>
          <p:cNvSpPr txBox="1"/>
          <p:nvPr/>
        </p:nvSpPr>
        <p:spPr>
          <a:xfrm>
            <a:off x="1003623" y="5236955"/>
            <a:ext cx="4887877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range(5)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print(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D350BB-F114-445C-A244-7B04064948E4}"/>
              </a:ext>
            </a:extLst>
          </p:cNvPr>
          <p:cNvSpPr/>
          <p:nvPr/>
        </p:nvSpPr>
        <p:spPr>
          <a:xfrm>
            <a:off x="3304933" y="5260705"/>
            <a:ext cx="2181467" cy="569387"/>
          </a:xfrm>
          <a:prstGeom prst="rect">
            <a:avLst/>
          </a:prstGeom>
          <a:noFill/>
          <a:ln w="38100">
            <a:solidFill>
              <a:srgbClr val="E00B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C75AB1-1108-4398-BC89-969EFEFD13DA}"/>
              </a:ext>
            </a:extLst>
          </p:cNvPr>
          <p:cNvSpPr txBox="1"/>
          <p:nvPr/>
        </p:nvSpPr>
        <p:spPr>
          <a:xfrm>
            <a:off x="183138" y="4267854"/>
            <a:ext cx="44566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</a:rPr>
              <a:t>This thing has to be an iterable.</a:t>
            </a:r>
          </a:p>
        </p:txBody>
      </p:sp>
      <p:sp>
        <p:nvSpPr>
          <p:cNvPr id="11" name="Arrow: Bent-Up 10">
            <a:extLst>
              <a:ext uri="{FF2B5EF4-FFF2-40B4-BE49-F238E27FC236}">
                <a16:creationId xmlns:a16="http://schemas.microsoft.com/office/drawing/2014/main" id="{EC312CC2-07A5-4C75-82B2-001BC7CAA9FB}"/>
              </a:ext>
            </a:extLst>
          </p:cNvPr>
          <p:cNvSpPr/>
          <p:nvPr/>
        </p:nvSpPr>
        <p:spPr>
          <a:xfrm flipV="1">
            <a:off x="4595749" y="4438572"/>
            <a:ext cx="748146" cy="676894"/>
          </a:xfrm>
          <a:prstGeom prst="bentUp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9735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FA3E4-D06F-4F67-959E-5EB384385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Example </a:t>
            </a:r>
            <a:r>
              <a:rPr lang="en-US" b="1" dirty="0"/>
              <a:t>1</a:t>
            </a:r>
            <a:endParaRPr lang="en-US" dirty="0">
              <a:solidFill>
                <a:schemeClr val="accent6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3F64D9-1EBE-4498-9407-D1C67AB3C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821384" cy="3061180"/>
          </a:xfrm>
        </p:spPr>
        <p:txBody>
          <a:bodyPr>
            <a:normAutofit fontScale="92500"/>
          </a:bodyPr>
          <a:lstStyle/>
          <a:p>
            <a:r>
              <a:rPr lang="en-US" sz="4000" dirty="0"/>
              <a:t>Add up all the even numbers between </a:t>
            </a:r>
            <a:r>
              <a:rPr lang="en-US" sz="4000" dirty="0">
                <a:solidFill>
                  <a:schemeClr val="accent1"/>
                </a:solidFill>
              </a:rPr>
              <a:t>1</a:t>
            </a:r>
            <a:r>
              <a:rPr lang="en-US" sz="4000" dirty="0"/>
              <a:t> and </a:t>
            </a:r>
            <a:r>
              <a:rPr lang="en-US" sz="4000" dirty="0">
                <a:solidFill>
                  <a:schemeClr val="accent1"/>
                </a:solidFill>
              </a:rPr>
              <a:t>100</a:t>
            </a:r>
            <a:r>
              <a:rPr lang="en-US" sz="4000" dirty="0"/>
              <a:t> using a </a:t>
            </a:r>
            <a:r>
              <a:rPr lang="en-US" sz="4000" dirty="0">
                <a:solidFill>
                  <a:schemeClr val="accent6"/>
                </a:solidFill>
                <a:latin typeface="Consolas" panose="020B0609020204030204" pitchFamily="49" charset="0"/>
              </a:rPr>
              <a:t>for</a:t>
            </a:r>
            <a:r>
              <a:rPr lang="en-US" sz="4000" dirty="0"/>
              <a:t> loop and </a:t>
            </a:r>
            <a:r>
              <a:rPr lang="en-US" sz="4000" dirty="0">
                <a:solidFill>
                  <a:schemeClr val="accent6"/>
                </a:solidFill>
                <a:latin typeface="Consolas" panose="020B0609020204030204" pitchFamily="49" charset="0"/>
              </a:rPr>
              <a:t>range()</a:t>
            </a:r>
            <a:r>
              <a:rPr lang="en-US" sz="4000" dirty="0">
                <a:solidFill>
                  <a:schemeClr val="accent2"/>
                </a:solidFill>
              </a:rPr>
              <a:t>.</a:t>
            </a:r>
          </a:p>
          <a:p>
            <a:endParaRPr lang="en-US" sz="4000" dirty="0"/>
          </a:p>
          <a:p>
            <a:r>
              <a:rPr lang="en-US" sz="4400" dirty="0"/>
              <a:t>2</a:t>
            </a:r>
            <a:r>
              <a:rPr lang="en-US" sz="4400" dirty="0">
                <a:solidFill>
                  <a:schemeClr val="accent2"/>
                </a:solidFill>
              </a:rPr>
              <a:t>+</a:t>
            </a:r>
            <a:r>
              <a:rPr lang="en-US" sz="4400" dirty="0"/>
              <a:t>4</a:t>
            </a:r>
            <a:r>
              <a:rPr lang="en-US" sz="4400" dirty="0">
                <a:solidFill>
                  <a:schemeClr val="accent2"/>
                </a:solidFill>
              </a:rPr>
              <a:t>+</a:t>
            </a:r>
            <a:r>
              <a:rPr lang="en-US" sz="4400" dirty="0">
                <a:solidFill>
                  <a:schemeClr val="accent6"/>
                </a:solidFill>
              </a:rPr>
              <a:t>…..</a:t>
            </a:r>
            <a:r>
              <a:rPr lang="en-US" sz="4400" dirty="0">
                <a:solidFill>
                  <a:schemeClr val="accent2"/>
                </a:solidFill>
              </a:rPr>
              <a:t>+</a:t>
            </a:r>
            <a:r>
              <a:rPr lang="en-US" sz="4400" dirty="0"/>
              <a:t>96</a:t>
            </a:r>
            <a:r>
              <a:rPr lang="en-US" sz="4400" dirty="0">
                <a:solidFill>
                  <a:schemeClr val="accent2"/>
                </a:solidFill>
              </a:rPr>
              <a:t>+</a:t>
            </a:r>
            <a:r>
              <a:rPr lang="en-US" sz="4400" dirty="0"/>
              <a:t>98</a:t>
            </a:r>
            <a:r>
              <a:rPr lang="en-US" sz="4400" dirty="0">
                <a:solidFill>
                  <a:schemeClr val="accent2"/>
                </a:solidFill>
              </a:rPr>
              <a:t>+</a:t>
            </a:r>
            <a:r>
              <a:rPr lang="en-US" sz="4400" dirty="0"/>
              <a:t>100</a:t>
            </a:r>
            <a:endParaRPr lang="en-US" sz="40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26C0B66-D21E-4DAE-871C-5EC33E4FD3BD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3. </a:t>
            </a:r>
            <a:r>
              <a:rPr lang="en-US" sz="2600" b="1" dirty="0">
                <a:solidFill>
                  <a:schemeClr val="accent6"/>
                </a:solidFill>
              </a:rPr>
              <a:t>Example 1</a:t>
            </a:r>
          </a:p>
        </p:txBody>
      </p:sp>
    </p:spTree>
    <p:extLst>
      <p:ext uri="{BB962C8B-B14F-4D97-AF65-F5344CB8AC3E}">
        <p14:creationId xmlns:p14="http://schemas.microsoft.com/office/powerpoint/2010/main" val="40285621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21FC2-042A-4FE1-91CE-570B465C1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Breakout Session </a:t>
            </a:r>
            <a:r>
              <a:rPr lang="en-US" b="1" dirty="0"/>
              <a:t>2</a:t>
            </a:r>
            <a:endParaRPr lang="en-US" b="1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D4B6F-75A6-4652-A2E2-CC3ECDF7A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556265" cy="3375768"/>
          </a:xfrm>
        </p:spPr>
        <p:txBody>
          <a:bodyPr>
            <a:normAutofit/>
          </a:bodyPr>
          <a:lstStyle/>
          <a:p>
            <a:r>
              <a:rPr lang="en-US" sz="3200" dirty="0"/>
              <a:t>Write a function that returns the number of times that a character and the next character are the same</a:t>
            </a:r>
            <a:r>
              <a:rPr lang="en-US" sz="3200" dirty="0">
                <a:solidFill>
                  <a:schemeClr val="accent2"/>
                </a:solidFill>
              </a:rPr>
              <a:t>. </a:t>
            </a:r>
          </a:p>
          <a:p>
            <a:r>
              <a:rPr lang="en-US" sz="3200" dirty="0"/>
              <a:t>If you have a bug in a loop</a:t>
            </a:r>
            <a:r>
              <a:rPr lang="en-US" sz="3200" dirty="0">
                <a:solidFill>
                  <a:schemeClr val="accent2"/>
                </a:solidFill>
              </a:rPr>
              <a:t>,</a:t>
            </a:r>
            <a:r>
              <a:rPr lang="en-US" sz="3200" dirty="0"/>
              <a:t> with probability </a:t>
            </a:r>
            <a:r>
              <a:rPr lang="en-US" sz="3200" dirty="0">
                <a:solidFill>
                  <a:schemeClr val="accent2"/>
                </a:solidFill>
              </a:rPr>
              <a:t>~</a:t>
            </a:r>
            <a:r>
              <a:rPr lang="en-US" sz="3200" dirty="0"/>
              <a:t>1 its an off</a:t>
            </a:r>
            <a:r>
              <a:rPr lang="en-US" sz="3200" dirty="0">
                <a:solidFill>
                  <a:schemeClr val="accent2"/>
                </a:solidFill>
              </a:rPr>
              <a:t>-</a:t>
            </a:r>
            <a:r>
              <a:rPr lang="en-US" sz="3200" dirty="0"/>
              <a:t>by</a:t>
            </a:r>
            <a:r>
              <a:rPr lang="en-US" sz="3200" dirty="0">
                <a:solidFill>
                  <a:schemeClr val="accent2"/>
                </a:solidFill>
              </a:rPr>
              <a:t>-</a:t>
            </a:r>
            <a:r>
              <a:rPr lang="en-US" sz="3200" dirty="0"/>
              <a:t>one index error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  <a:r>
              <a:rPr lang="en-US" sz="3200" dirty="0"/>
              <a:t>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A4A2D17-1D2A-4454-A1F5-243F3E9B5D39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4. </a:t>
            </a:r>
            <a:r>
              <a:rPr lang="en-US" sz="2600" b="1" dirty="0">
                <a:solidFill>
                  <a:schemeClr val="accent6"/>
                </a:solidFill>
              </a:rPr>
              <a:t>Breakout Session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21772D-454E-443B-BC52-152732F9F12E}"/>
              </a:ext>
            </a:extLst>
          </p:cNvPr>
          <p:cNvSpPr txBox="1"/>
          <p:nvPr/>
        </p:nvSpPr>
        <p:spPr>
          <a:xfrm>
            <a:off x="389020" y="5347768"/>
            <a:ext cx="70054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count_adjacent_repeats('</a:t>
            </a:r>
            <a:r>
              <a:rPr lang="en-US" sz="24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abccdeffggh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’)</a:t>
            </a: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3</a:t>
            </a:r>
          </a:p>
        </p:txBody>
      </p:sp>
    </p:spTree>
    <p:extLst>
      <p:ext uri="{BB962C8B-B14F-4D97-AF65-F5344CB8AC3E}">
        <p14:creationId xmlns:p14="http://schemas.microsoft.com/office/powerpoint/2010/main" val="1265240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9239A-D924-4AF9-8E2E-1F4D376A6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Nested </a:t>
            </a:r>
            <a:r>
              <a:rPr lang="en-US" b="1" dirty="0">
                <a:solidFill>
                  <a:schemeClr val="accent6"/>
                </a:solidFill>
                <a:latin typeface="Consolas" panose="020B0609020204030204" pitchFamily="49" charset="0"/>
              </a:rPr>
              <a:t>for</a:t>
            </a:r>
            <a:r>
              <a:rPr lang="en-US" b="1" dirty="0"/>
              <a:t>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A7163-E557-4860-84DC-948ABC43A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502405" cy="4835479"/>
          </a:xfrm>
        </p:spPr>
        <p:txBody>
          <a:bodyPr>
            <a:normAutofit/>
          </a:bodyPr>
          <a:lstStyle/>
          <a:p>
            <a:r>
              <a:rPr lang="en-US" sz="3600" dirty="0"/>
              <a:t>The bodies of loops can contain any statement</a:t>
            </a:r>
            <a:r>
              <a:rPr lang="en-US" sz="3600" dirty="0">
                <a:solidFill>
                  <a:schemeClr val="accent1"/>
                </a:solidFill>
              </a:rPr>
              <a:t>,</a:t>
            </a:r>
            <a:r>
              <a:rPr lang="en-US" sz="3600" dirty="0"/>
              <a:t> including other loops</a:t>
            </a:r>
            <a:r>
              <a:rPr lang="en-US" sz="3600" dirty="0">
                <a:solidFill>
                  <a:schemeClr val="accent1"/>
                </a:solidFill>
              </a:rPr>
              <a:t>! </a:t>
            </a:r>
          </a:p>
          <a:p>
            <a:r>
              <a:rPr lang="en-US" sz="3600" dirty="0"/>
              <a:t>When this occurs</a:t>
            </a:r>
            <a:r>
              <a:rPr lang="en-US" sz="3600" dirty="0">
                <a:solidFill>
                  <a:schemeClr val="accent1"/>
                </a:solidFill>
              </a:rPr>
              <a:t>,</a:t>
            </a:r>
            <a:r>
              <a:rPr lang="en-US" sz="3600" dirty="0"/>
              <a:t> it is known as a nested loop</a:t>
            </a:r>
            <a:r>
              <a:rPr lang="en-US" sz="3600" dirty="0">
                <a:solidFill>
                  <a:schemeClr val="accent1"/>
                </a:solidFill>
              </a:rPr>
              <a:t>.</a:t>
            </a:r>
          </a:p>
          <a:p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4D4C09-3BE5-48F4-89CC-20CDA38C9B6D}"/>
              </a:ext>
            </a:extLst>
          </p:cNvPr>
          <p:cNvSpPr txBox="1"/>
          <p:nvPr/>
        </p:nvSpPr>
        <p:spPr>
          <a:xfrm>
            <a:off x="5511330" y="686851"/>
            <a:ext cx="5671745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item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iterable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 something.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FE6644-210B-4700-A8EA-4CD9A86FFF4B}"/>
              </a:ext>
            </a:extLst>
          </p:cNvPr>
          <p:cNvSpPr txBox="1"/>
          <p:nvPr/>
        </p:nvSpPr>
        <p:spPr>
          <a:xfrm>
            <a:off x="5511330" y="2830250"/>
            <a:ext cx="6595075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range(10, 13)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for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range(1, 5)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print(i, j)</a:t>
            </a:r>
          </a:p>
          <a:p>
            <a:endParaRPr lang="en-US" sz="2400" b="1" dirty="0">
              <a:solidFill>
                <a:schemeClr val="accent6">
                  <a:lumMod val="40000"/>
                  <a:lumOff val="6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</a:p>
          <a:p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10, 1</a:t>
            </a:r>
          </a:p>
          <a:p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10, 2</a:t>
            </a:r>
          </a:p>
          <a:p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10, 3</a:t>
            </a:r>
          </a:p>
          <a:p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1571219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9239A-D924-4AF9-8E2E-1F4D376A6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Nested </a:t>
            </a:r>
            <a:r>
              <a:rPr lang="en-US" b="1" dirty="0">
                <a:solidFill>
                  <a:schemeClr val="accent6"/>
                </a:solidFill>
                <a:latin typeface="Consolas" panose="020B0609020204030204" pitchFamily="49" charset="0"/>
              </a:rPr>
              <a:t>for</a:t>
            </a:r>
            <a:r>
              <a:rPr lang="en-US" b="1" dirty="0"/>
              <a:t>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A7163-E557-4860-84DC-948ABC43A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502405" cy="4835479"/>
          </a:xfrm>
        </p:spPr>
        <p:txBody>
          <a:bodyPr>
            <a:normAutofit/>
          </a:bodyPr>
          <a:lstStyle/>
          <a:p>
            <a:r>
              <a:rPr lang="en-US" sz="3600" dirty="0"/>
              <a:t>The bodies of loops can contain any statement</a:t>
            </a:r>
            <a:r>
              <a:rPr lang="en-US" sz="3600" dirty="0">
                <a:solidFill>
                  <a:schemeClr val="accent1"/>
                </a:solidFill>
              </a:rPr>
              <a:t>,</a:t>
            </a:r>
            <a:r>
              <a:rPr lang="en-US" sz="3600" dirty="0"/>
              <a:t> including other loops</a:t>
            </a:r>
            <a:r>
              <a:rPr lang="en-US" sz="3600" dirty="0">
                <a:solidFill>
                  <a:schemeClr val="accent1"/>
                </a:solidFill>
              </a:rPr>
              <a:t>! </a:t>
            </a:r>
          </a:p>
          <a:p>
            <a:r>
              <a:rPr lang="en-US" sz="3600" dirty="0"/>
              <a:t>When this occurs</a:t>
            </a:r>
            <a:r>
              <a:rPr lang="en-US" sz="3600" dirty="0">
                <a:solidFill>
                  <a:schemeClr val="accent1"/>
                </a:solidFill>
              </a:rPr>
              <a:t>,</a:t>
            </a:r>
            <a:r>
              <a:rPr lang="en-US" sz="3600" dirty="0"/>
              <a:t> it is known as a nested loop</a:t>
            </a:r>
            <a:r>
              <a:rPr lang="en-US" sz="3600" dirty="0">
                <a:solidFill>
                  <a:schemeClr val="accent1"/>
                </a:solidFill>
              </a:rPr>
              <a:t>.</a:t>
            </a:r>
          </a:p>
          <a:p>
            <a:endParaRPr lang="en-US" sz="36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DC1DE76-444E-4AC4-B3C7-C95CFC7B07A4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5. </a:t>
            </a:r>
            <a:r>
              <a:rPr lang="en-US" sz="2600" b="1" dirty="0">
                <a:solidFill>
                  <a:schemeClr val="accent6"/>
                </a:solidFill>
              </a:rPr>
              <a:t>Nested for Loops</a:t>
            </a:r>
          </a:p>
        </p:txBody>
      </p:sp>
    </p:spTree>
    <p:extLst>
      <p:ext uri="{BB962C8B-B14F-4D97-AF65-F5344CB8AC3E}">
        <p14:creationId xmlns:p14="http://schemas.microsoft.com/office/powerpoint/2010/main" val="11772861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3BBCA-3263-4696-8B54-17ADE1556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Turtles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90442-12FD-4F5A-9F7D-49D9C0C3F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762008" cy="4835479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B050"/>
                </a:solidFill>
              </a:rPr>
              <a:t>Turtle</a:t>
            </a:r>
            <a:r>
              <a:rPr lang="en-US" sz="3600" dirty="0"/>
              <a:t> is a pre</a:t>
            </a:r>
            <a:r>
              <a:rPr lang="en-US" sz="3600" dirty="0">
                <a:solidFill>
                  <a:srgbClr val="00B050"/>
                </a:solidFill>
              </a:rPr>
              <a:t>-</a:t>
            </a:r>
            <a:r>
              <a:rPr lang="en-US" sz="3600" dirty="0"/>
              <a:t>installed Python library that enables users to create pictures and shapes by providing them with a virtual canvas</a:t>
            </a:r>
            <a:r>
              <a:rPr lang="en-US" sz="3600" dirty="0">
                <a:solidFill>
                  <a:srgbClr val="00B050"/>
                </a:solidFill>
              </a:rPr>
              <a:t>.</a:t>
            </a:r>
            <a:r>
              <a:rPr lang="en-US" sz="3600" dirty="0"/>
              <a:t> 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46CA10A-5473-4A2A-9247-ED4105A9A101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6. </a:t>
            </a:r>
            <a:r>
              <a:rPr lang="en-US" sz="2600" b="1" dirty="0">
                <a:solidFill>
                  <a:schemeClr val="accent6"/>
                </a:solidFill>
              </a:rPr>
              <a:t>Turtles</a:t>
            </a:r>
          </a:p>
        </p:txBody>
      </p:sp>
      <p:pic>
        <p:nvPicPr>
          <p:cNvPr id="1028" name="Picture 4" descr="Turtle Icon | Flat Animal Iconset | Martin Berube">
            <a:extLst>
              <a:ext uri="{FF2B5EF4-FFF2-40B4-BE49-F238E27FC236}">
                <a16:creationId xmlns:a16="http://schemas.microsoft.com/office/drawing/2014/main" id="{9EBFEEEB-3721-491D-93DE-F87019718F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1724" y="3714401"/>
            <a:ext cx="2851699" cy="2851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28229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3BBCA-3263-4696-8B54-17ADE1556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Draw A Grid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90442-12FD-4F5A-9F7D-49D9C0C3F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488875" cy="1378138"/>
          </a:xfrm>
        </p:spPr>
        <p:txBody>
          <a:bodyPr>
            <a:normAutofit/>
          </a:bodyPr>
          <a:lstStyle/>
          <a:p>
            <a:r>
              <a:rPr lang="en-US" sz="3600" dirty="0"/>
              <a:t>Use Turtle and nested for loops to draw a grid</a:t>
            </a:r>
            <a:r>
              <a:rPr lang="en-US" sz="3600" dirty="0">
                <a:solidFill>
                  <a:schemeClr val="accent2"/>
                </a:solidFill>
              </a:rPr>
              <a:t>.</a:t>
            </a:r>
            <a:r>
              <a:rPr lang="en-US" sz="36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46CA10A-5473-4A2A-9247-ED4105A9A101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7. </a:t>
            </a:r>
            <a:r>
              <a:rPr lang="en-US" sz="2600" b="1" dirty="0">
                <a:solidFill>
                  <a:schemeClr val="accent6"/>
                </a:solidFill>
              </a:rPr>
              <a:t>Grid</a:t>
            </a:r>
          </a:p>
        </p:txBody>
      </p:sp>
      <p:pic>
        <p:nvPicPr>
          <p:cNvPr id="8" name="Picture 7" descr="A grid of squares with black lines&#10;&#10;AI-generated content may be incorrect.">
            <a:extLst>
              <a:ext uri="{FF2B5EF4-FFF2-40B4-BE49-F238E27FC236}">
                <a16:creationId xmlns:a16="http://schemas.microsoft.com/office/drawing/2014/main" id="{DD0BA59F-EB35-9B0E-8CDA-204B6E0629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82" y="3221691"/>
            <a:ext cx="6488887" cy="3215262"/>
          </a:xfrm>
          <a:prstGeom prst="rect">
            <a:avLst/>
          </a:prstGeom>
          <a:ln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15093190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21FC2-042A-4FE1-91CE-570B465C1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Breakout Session </a:t>
            </a:r>
            <a:r>
              <a:rPr lang="en-US" b="1" dirty="0"/>
              <a:t>3</a:t>
            </a:r>
            <a:endParaRPr lang="en-US" b="1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D4B6F-75A6-4652-A2E2-CC3ECDF7A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556265" cy="3375768"/>
          </a:xfrm>
        </p:spPr>
        <p:txBody>
          <a:bodyPr>
            <a:normAutofit/>
          </a:bodyPr>
          <a:lstStyle/>
          <a:p>
            <a:r>
              <a:rPr lang="en-US" sz="3200" dirty="0"/>
              <a:t>Use Turtle and nested for loops to draw the pattern below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A4A2D17-1D2A-4454-A1F5-243F3E9B5D39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8. </a:t>
            </a:r>
            <a:r>
              <a:rPr lang="en-US" sz="2600" b="1" dirty="0">
                <a:solidFill>
                  <a:schemeClr val="accent6"/>
                </a:solidFill>
              </a:rPr>
              <a:t>Breakout Session 3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DA3A41C-6668-29E8-D72B-B02A6F8F5E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81" y="3236901"/>
            <a:ext cx="6488887" cy="3215262"/>
          </a:xfrm>
          <a:prstGeom prst="rect">
            <a:avLst/>
          </a:prstGeom>
          <a:ln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10262707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3BBCA-3263-4696-8B54-17ADE1556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Breakout Session </a:t>
            </a:r>
            <a:r>
              <a:rPr lang="en-US" b="1" dirty="0"/>
              <a:t>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90442-12FD-4F5A-9F7D-49D9C0C3F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847542" cy="4542146"/>
          </a:xfrm>
        </p:spPr>
        <p:txBody>
          <a:bodyPr>
            <a:normAutofit/>
          </a:bodyPr>
          <a:lstStyle/>
          <a:p>
            <a:r>
              <a:rPr lang="en-US" sz="3600" dirty="0"/>
              <a:t>Use Turtle and nested for loops to draw the pattern below</a:t>
            </a:r>
            <a:r>
              <a:rPr lang="en-US" sz="3600" dirty="0">
                <a:solidFill>
                  <a:schemeClr val="accent2"/>
                </a:solidFill>
              </a:rPr>
              <a:t>.</a:t>
            </a:r>
            <a:r>
              <a:rPr lang="en-US" sz="36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46CA10A-5473-4A2A-9247-ED4105A9A101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9. </a:t>
            </a:r>
            <a:r>
              <a:rPr lang="en-US" sz="2600" b="1" dirty="0">
                <a:solidFill>
                  <a:schemeClr val="accent6"/>
                </a:solidFill>
              </a:rPr>
              <a:t>Breakout Session 4</a:t>
            </a:r>
          </a:p>
        </p:txBody>
      </p:sp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CE76FC5-CAEC-748C-5EE1-B9C5D31615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81" y="3236901"/>
            <a:ext cx="6488887" cy="3215262"/>
          </a:xfrm>
          <a:prstGeom prst="rect">
            <a:avLst/>
          </a:prstGeom>
          <a:ln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26990434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118C3C-13F5-4EA8-9EA9-3448AC353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9869" y="2586087"/>
            <a:ext cx="8032262" cy="1685825"/>
          </a:xfrm>
        </p:spPr>
        <p:txBody>
          <a:bodyPr>
            <a:noAutofit/>
          </a:bodyPr>
          <a:lstStyle/>
          <a:p>
            <a:pPr algn="ctr"/>
            <a:r>
              <a:rPr lang="en-US" sz="12000" b="1" dirty="0"/>
              <a:t>PRACTICE</a:t>
            </a:r>
            <a:r>
              <a:rPr lang="en-US" sz="12000" b="1" dirty="0">
                <a:solidFill>
                  <a:srgbClr val="CC99FF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3199375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F06F2-AC3E-484E-9926-59D4F59092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more</a:t>
            </a:r>
            <a:r>
              <a:rPr lang="en-US" dirty="0">
                <a:solidFill>
                  <a:schemeClr val="accent6"/>
                </a:solidFill>
              </a:rPr>
              <a:t> for</a:t>
            </a:r>
            <a:r>
              <a:rPr lang="en-US" dirty="0"/>
              <a:t> loops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07687-F068-40FC-84A1-E7860490CA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Week </a:t>
            </a:r>
            <a:r>
              <a:rPr lang="en-US" b="1" dirty="0">
                <a:solidFill>
                  <a:schemeClr val="accent6"/>
                </a:solidFill>
              </a:rPr>
              <a:t>6</a:t>
            </a:r>
            <a:r>
              <a:rPr lang="en-US" b="1" dirty="0"/>
              <a:t> </a:t>
            </a:r>
            <a:r>
              <a:rPr lang="en-US" dirty="0">
                <a:solidFill>
                  <a:schemeClr val="accent2"/>
                </a:solidFill>
              </a:rPr>
              <a:t>|</a:t>
            </a:r>
            <a:r>
              <a:rPr lang="en-US" dirty="0"/>
              <a:t> Lecture </a:t>
            </a:r>
            <a:r>
              <a:rPr lang="en-US" dirty="0">
                <a:solidFill>
                  <a:schemeClr val="accent6"/>
                </a:solidFill>
              </a:rPr>
              <a:t>2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>
                <a:solidFill>
                  <a:schemeClr val="accent6"/>
                </a:solidFill>
              </a:rPr>
              <a:t>6</a:t>
            </a:r>
            <a:r>
              <a:rPr lang="en-US" dirty="0"/>
              <a:t>.</a:t>
            </a:r>
            <a:r>
              <a:rPr lang="en-US" dirty="0">
                <a:solidFill>
                  <a:schemeClr val="accent6"/>
                </a:solidFill>
              </a:rPr>
              <a:t>2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BD9368-0597-1CDC-4DF7-968D10425384}"/>
              </a:ext>
            </a:extLst>
          </p:cNvPr>
          <p:cNvSpPr txBox="1"/>
          <p:nvPr/>
        </p:nvSpPr>
        <p:spPr>
          <a:xfrm>
            <a:off x="335947" y="5102715"/>
            <a:ext cx="661939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CC99FF"/>
                </a:solidFill>
              </a:rPr>
              <a:t>Upcoming</a:t>
            </a: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Term Test 1, Thursday at 7:00 pm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Online Term Test Review, Recording Posted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  <a:endParaRPr lang="en-US" sz="1600" dirty="0">
              <a:solidFill>
                <a:srgbClr val="66FF99"/>
              </a:solidFill>
            </a:endParaRP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Reflection 6 Released Friday, 6:00 pm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  <a:endParaRPr lang="en-US" sz="1600" dirty="0">
              <a:solidFill>
                <a:srgbClr val="66FF99"/>
              </a:solidFill>
            </a:endParaRP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Tutorial (Online), Office Hour sessions running all week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65223416"/>
      </p:ext>
    </p:extLst>
  </p:cSld>
  <p:clrMapOvr>
    <a:masterClrMapping/>
  </p:clrMapOvr>
</p:sld>
</file>

<file path=ppt/theme/theme1.xml><?xml version="1.0" encoding="utf-8"?>
<a:theme xmlns:a="http://schemas.openxmlformats.org/drawingml/2006/main" name="APS106_Theme">
  <a:themeElements>
    <a:clrScheme name="Custom 2">
      <a:dk1>
        <a:srgbClr val="444445"/>
      </a:dk1>
      <a:lt1>
        <a:srgbClr val="000000"/>
      </a:lt1>
      <a:dk2>
        <a:srgbClr val="7B8994"/>
      </a:dk2>
      <a:lt2>
        <a:srgbClr val="3D464D"/>
      </a:lt2>
      <a:accent1>
        <a:srgbClr val="0061FF"/>
      </a:accent1>
      <a:accent2>
        <a:srgbClr val="0061FF"/>
      </a:accent2>
      <a:accent3>
        <a:srgbClr val="0061FF"/>
      </a:accent3>
      <a:accent4>
        <a:srgbClr val="7B8994"/>
      </a:accent4>
      <a:accent5>
        <a:srgbClr val="7B8994"/>
      </a:accent5>
      <a:accent6>
        <a:srgbClr val="F7B41A"/>
      </a:accent6>
      <a:hlink>
        <a:srgbClr val="3D464D"/>
      </a:hlink>
      <a:folHlink>
        <a:srgbClr val="3D464D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PS106_Theme" id="{3BEEB87C-8A6C-443F-995D-4A4893CCEBD8}" vid="{9B7A7CDB-8752-4A8C-8C1A-92E8A921146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APS106_Theme</Template>
  <TotalTime>31282</TotalTime>
  <Words>1121</Words>
  <Application>Microsoft Office PowerPoint</Application>
  <PresentationFormat>Widescreen</PresentationFormat>
  <Paragraphs>244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Consolas</vt:lpstr>
      <vt:lpstr>Courier New</vt:lpstr>
      <vt:lpstr>Segoe UI</vt:lpstr>
      <vt:lpstr>Wingdings</vt:lpstr>
      <vt:lpstr>APS106_Theme</vt:lpstr>
      <vt:lpstr>more for loops.</vt:lpstr>
      <vt:lpstr>This Week’s Content</vt:lpstr>
      <vt:lpstr>for loops</vt:lpstr>
      <vt:lpstr>for loops</vt:lpstr>
      <vt:lpstr>for loops</vt:lpstr>
      <vt:lpstr>for loops</vt:lpstr>
      <vt:lpstr>for loops</vt:lpstr>
      <vt:lpstr>for loops</vt:lpstr>
      <vt:lpstr>Breakout Session 1</vt:lpstr>
      <vt:lpstr>Today’s Content</vt:lpstr>
      <vt:lpstr>Looping Through Indices</vt:lpstr>
      <vt:lpstr>Looping Through Indices</vt:lpstr>
      <vt:lpstr>Looping on a range()</vt:lpstr>
      <vt:lpstr>Looping on a range()</vt:lpstr>
      <vt:lpstr>Example 1</vt:lpstr>
      <vt:lpstr>Breakout Session 2</vt:lpstr>
      <vt:lpstr>Nested for Loops</vt:lpstr>
      <vt:lpstr>Nested for Loops</vt:lpstr>
      <vt:lpstr>Turtles</vt:lpstr>
      <vt:lpstr>Draw A Grid</vt:lpstr>
      <vt:lpstr>Breakout Session 3</vt:lpstr>
      <vt:lpstr>Breakout Session 4</vt:lpstr>
      <vt:lpstr>PRACTICE!</vt:lpstr>
      <vt:lpstr>more for loops.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Sebastian Goodfellow</dc:creator>
  <cp:lastModifiedBy>Sebastian Goodfellow</cp:lastModifiedBy>
  <cp:revision>152</cp:revision>
  <dcterms:created xsi:type="dcterms:W3CDTF">2021-11-03T00:49:37Z</dcterms:created>
  <dcterms:modified xsi:type="dcterms:W3CDTF">2026-02-11T14:34:40Z</dcterms:modified>
</cp:coreProperties>
</file>