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0" r:id="rId1"/>
  </p:sldMasterIdLst>
  <p:sldIdLst>
    <p:sldId id="256" r:id="rId2"/>
    <p:sldId id="259" r:id="rId3"/>
    <p:sldId id="326" r:id="rId4"/>
    <p:sldId id="335" r:id="rId5"/>
    <p:sldId id="338" r:id="rId6"/>
    <p:sldId id="340" r:id="rId7"/>
    <p:sldId id="350" r:id="rId8"/>
    <p:sldId id="356" r:id="rId9"/>
    <p:sldId id="372" r:id="rId10"/>
    <p:sldId id="371" r:id="rId11"/>
    <p:sldId id="373" r:id="rId12"/>
    <p:sldId id="375" r:id="rId13"/>
    <p:sldId id="377" r:id="rId14"/>
    <p:sldId id="376" r:id="rId15"/>
    <p:sldId id="378" r:id="rId16"/>
    <p:sldId id="382" r:id="rId17"/>
    <p:sldId id="383" r:id="rId18"/>
    <p:sldId id="379" r:id="rId19"/>
    <p:sldId id="384" r:id="rId20"/>
    <p:sldId id="344" r:id="rId21"/>
    <p:sldId id="362" r:id="rId22"/>
    <p:sldId id="351" r:id="rId23"/>
    <p:sldId id="357" r:id="rId24"/>
    <p:sldId id="381" r:id="rId25"/>
    <p:sldId id="358" r:id="rId26"/>
    <p:sldId id="359" r:id="rId27"/>
    <p:sldId id="380" r:id="rId28"/>
    <p:sldId id="360" r:id="rId29"/>
    <p:sldId id="361" r:id="rId30"/>
    <p:sldId id="364" r:id="rId31"/>
    <p:sldId id="363" r:id="rId32"/>
    <p:sldId id="365" r:id="rId33"/>
    <p:sldId id="366" r:id="rId34"/>
    <p:sldId id="367" r:id="rId35"/>
    <p:sldId id="368" r:id="rId36"/>
    <p:sldId id="369" r:id="rId37"/>
    <p:sldId id="385" r:id="rId38"/>
    <p:sldId id="370" r:id="rId39"/>
    <p:sldId id="325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22D9F3D-F7CA-43FE-9E2E-5C007936740A}">
          <p14:sldIdLst>
            <p14:sldId id="256"/>
            <p14:sldId id="259"/>
            <p14:sldId id="326"/>
            <p14:sldId id="335"/>
            <p14:sldId id="338"/>
            <p14:sldId id="340"/>
            <p14:sldId id="350"/>
            <p14:sldId id="356"/>
            <p14:sldId id="372"/>
            <p14:sldId id="371"/>
            <p14:sldId id="373"/>
            <p14:sldId id="375"/>
            <p14:sldId id="377"/>
            <p14:sldId id="376"/>
            <p14:sldId id="378"/>
            <p14:sldId id="382"/>
            <p14:sldId id="383"/>
            <p14:sldId id="379"/>
            <p14:sldId id="384"/>
            <p14:sldId id="344"/>
            <p14:sldId id="362"/>
            <p14:sldId id="351"/>
            <p14:sldId id="357"/>
            <p14:sldId id="381"/>
            <p14:sldId id="358"/>
            <p14:sldId id="359"/>
            <p14:sldId id="380"/>
            <p14:sldId id="360"/>
            <p14:sldId id="361"/>
            <p14:sldId id="364"/>
            <p14:sldId id="363"/>
            <p14:sldId id="365"/>
            <p14:sldId id="366"/>
            <p14:sldId id="367"/>
            <p14:sldId id="368"/>
            <p14:sldId id="369"/>
            <p14:sldId id="385"/>
            <p14:sldId id="370"/>
            <p14:sldId id="32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99FF"/>
    <a:srgbClr val="2D2D2D"/>
    <a:srgbClr val="262626"/>
    <a:srgbClr val="00FF00"/>
    <a:srgbClr val="FFFFFF"/>
    <a:srgbClr val="E00BE5"/>
    <a:srgbClr val="FFD6AD"/>
    <a:srgbClr val="FF5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3" autoAdjust="0"/>
    <p:restoredTop sz="94660"/>
  </p:normalViewPr>
  <p:slideViewPr>
    <p:cSldViewPr snapToGrid="0">
      <p:cViewPr varScale="1">
        <p:scale>
          <a:sx n="159" d="100"/>
          <a:sy n="159" d="100"/>
        </p:scale>
        <p:origin x="38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8F638-606D-A22E-8F9F-A4A6D858ED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47" y="3285779"/>
            <a:ext cx="11391065" cy="89358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B4BAB1-A261-2102-CEA9-063F697A42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47" y="4553849"/>
            <a:ext cx="11391065" cy="1655762"/>
          </a:xfrm>
        </p:spPr>
        <p:txBody>
          <a:bodyPr/>
          <a:lstStyle>
            <a:lvl1pPr marL="0" indent="0">
              <a:buNone/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33613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444445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444445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444445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444445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444445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444445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9971245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6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6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6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6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6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480350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6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6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6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6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6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432714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71717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171717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171717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171717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171717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171717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116332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3065534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6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918879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40C5A8-72D0-4B08-8FDA-49B8D1F97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7514"/>
            <a:ext cx="10515600" cy="656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E5D9C3-E281-4B14-8306-28D6CE33EC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4"/>
            <a:ext cx="10515600" cy="4842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92742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007EE5"/>
        </a:buClr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F06F2-AC3E-484E-9926-59D4F59092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classes in classes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functions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and collections</a:t>
            </a:r>
            <a:r>
              <a:rPr lang="en-US" dirty="0">
                <a:solidFill>
                  <a:schemeClr val="accent1"/>
                </a:solidFill>
              </a:rPr>
              <a:t>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07687-F068-40FC-84A1-E7860490CA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10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2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10</a:t>
            </a:r>
            <a:r>
              <a:rPr lang="en-US" dirty="0"/>
              <a:t>.</a:t>
            </a:r>
            <a:r>
              <a:rPr lang="en-US" dirty="0">
                <a:solidFill>
                  <a:schemeClr val="accent6"/>
                </a:solidFill>
              </a:rPr>
              <a:t>2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80643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9A57B-21DC-4557-9D2E-36BBF1E92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This Week</a:t>
            </a:r>
            <a:r>
              <a:rPr lang="en-US" b="1" dirty="0">
                <a:solidFill>
                  <a:schemeClr val="accent1"/>
                </a:solidFill>
              </a:rPr>
              <a:t>’</a:t>
            </a:r>
            <a:r>
              <a:rPr lang="en-US" b="1" dirty="0"/>
              <a:t>s Content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8A44ACF-9048-B34C-4C33-5445ECA7F0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</p:spPr>
        <p:txBody>
          <a:bodyPr/>
          <a:lstStyle/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9.1</a:t>
            </a:r>
          </a:p>
          <a:p>
            <a:pPr lvl="1"/>
            <a:r>
              <a:rPr lang="en-US" dirty="0"/>
              <a:t>Cancelled</a:t>
            </a:r>
          </a:p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9.2</a:t>
            </a:r>
          </a:p>
          <a:p>
            <a:pPr lvl="1"/>
            <a:r>
              <a:rPr lang="en-US" dirty="0"/>
              <a:t>objects</a:t>
            </a:r>
            <a:r>
              <a:rPr lang="en-US" dirty="0">
                <a:solidFill>
                  <a:schemeClr val="accent2"/>
                </a:solidFill>
              </a:rPr>
              <a:t>,</a:t>
            </a:r>
            <a:r>
              <a:rPr lang="en-US" dirty="0"/>
              <a:t> classes</a:t>
            </a:r>
            <a:r>
              <a:rPr lang="en-US" dirty="0">
                <a:solidFill>
                  <a:schemeClr val="accent2"/>
                </a:solidFill>
              </a:rPr>
              <a:t>,</a:t>
            </a:r>
            <a:r>
              <a:rPr lang="en-US" dirty="0"/>
              <a:t> and methods</a:t>
            </a:r>
          </a:p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9.3</a:t>
            </a:r>
          </a:p>
          <a:p>
            <a:pPr lvl="1"/>
            <a:r>
              <a:rPr lang="en-US" b="1" dirty="0"/>
              <a:t>Classes in Classes</a:t>
            </a:r>
            <a:r>
              <a:rPr lang="en-US" b="1" dirty="0">
                <a:solidFill>
                  <a:schemeClr val="accent2"/>
                </a:solidFill>
              </a:rPr>
              <a:t>,</a:t>
            </a:r>
            <a:r>
              <a:rPr lang="en-US" b="1" dirty="0"/>
              <a:t> Functions</a:t>
            </a:r>
            <a:r>
              <a:rPr lang="en-US" b="1" dirty="0">
                <a:solidFill>
                  <a:schemeClr val="accent2"/>
                </a:solidFill>
              </a:rPr>
              <a:t>,</a:t>
            </a:r>
            <a:r>
              <a:rPr lang="en-US" b="1" dirty="0"/>
              <a:t> and Collections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2463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8BB12-5D14-4697-BE94-D9F7A3D0B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OOP</a:t>
            </a:r>
            <a:r>
              <a:rPr lang="en-US" b="1" dirty="0"/>
              <a:t> 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C1E575-E384-42BD-9506-A4CA1A1F0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3662548" cy="4835479"/>
          </a:xfrm>
        </p:spPr>
        <p:txBody>
          <a:bodyPr/>
          <a:lstStyle/>
          <a:p>
            <a:r>
              <a:rPr lang="en-US" dirty="0"/>
              <a:t>Everything in Python is an object</a:t>
            </a:r>
            <a:r>
              <a:rPr lang="en-US" dirty="0">
                <a:solidFill>
                  <a:schemeClr val="accent2"/>
                </a:solidFill>
              </a:rPr>
              <a:t>.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C310BB-787E-4561-9690-719A7A5D84A8}"/>
              </a:ext>
            </a:extLst>
          </p:cNvPr>
          <p:cNvSpPr txBox="1"/>
          <p:nvPr/>
        </p:nvSpPr>
        <p:spPr>
          <a:xfrm>
            <a:off x="4735773" y="1825624"/>
            <a:ext cx="7419837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</a:t>
            </a:r>
            <a:r>
              <a:rPr lang="en-US" sz="3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isinstance(</a:t>
            </a:r>
            <a:r>
              <a:rPr lang="en-US" sz="3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sz="3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object)</a:t>
            </a:r>
          </a:p>
          <a:p>
            <a:r>
              <a:rPr lang="en-US" sz="3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  <a:p>
            <a:endParaRPr lang="en-US" sz="3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3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</a:t>
            </a:r>
            <a:r>
              <a:rPr lang="en-US" sz="3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isinstance(</a:t>
            </a:r>
            <a:r>
              <a:rPr lang="en-US" sz="3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n-US" sz="3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object)</a:t>
            </a:r>
          </a:p>
          <a:p>
            <a:r>
              <a:rPr lang="en-US" sz="3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  <a:p>
            <a:endParaRPr lang="en-US" sz="3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3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</a:t>
            </a:r>
            <a:r>
              <a:rPr lang="en-US" sz="3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isinstance(</a:t>
            </a:r>
            <a:r>
              <a:rPr lang="en-US" sz="3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“Hello”</a:t>
            </a:r>
            <a:r>
              <a:rPr lang="en-US" sz="3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object)</a:t>
            </a:r>
          </a:p>
          <a:p>
            <a:r>
              <a:rPr lang="en-US" sz="3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058D2A-C49D-4615-92A3-D17084EEAB2C}"/>
              </a:ext>
            </a:extLst>
          </p:cNvPr>
          <p:cNvSpPr txBox="1"/>
          <p:nvPr/>
        </p:nvSpPr>
        <p:spPr>
          <a:xfrm>
            <a:off x="7560583" y="472833"/>
            <a:ext cx="387215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FFFF"/>
                </a:solidFill>
              </a:rPr>
              <a:t>Is </a:t>
            </a:r>
            <a:r>
              <a:rPr lang="en-US" sz="3200" b="1" dirty="0">
                <a:solidFill>
                  <a:schemeClr val="accent2"/>
                </a:solidFill>
              </a:rPr>
              <a:t>this</a:t>
            </a:r>
            <a:r>
              <a:rPr lang="en-US" sz="3200" dirty="0">
                <a:solidFill>
                  <a:srgbClr val="FFFFFF"/>
                </a:solidFill>
              </a:rPr>
              <a:t> an instance </a:t>
            </a:r>
          </a:p>
          <a:p>
            <a:r>
              <a:rPr lang="en-US" sz="3200" dirty="0">
                <a:solidFill>
                  <a:srgbClr val="FFFFFF"/>
                </a:solidFill>
              </a:rPr>
              <a:t>             of </a:t>
            </a:r>
            <a:r>
              <a:rPr lang="en-US" sz="3200" b="1" dirty="0">
                <a:solidFill>
                  <a:schemeClr val="accent6"/>
                </a:solidFill>
              </a:rPr>
              <a:t>this </a:t>
            </a:r>
            <a:r>
              <a:rPr lang="en-US" sz="3200" dirty="0">
                <a:solidFill>
                  <a:srgbClr val="FFFFFF"/>
                </a:solidFill>
              </a:rPr>
              <a:t>class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341A8AF3-75D1-4540-B18F-994C01DE6CAA}"/>
              </a:ext>
            </a:extLst>
          </p:cNvPr>
          <p:cNvSpPr/>
          <p:nvPr/>
        </p:nvSpPr>
        <p:spPr>
          <a:xfrm>
            <a:off x="8216528" y="1050878"/>
            <a:ext cx="354842" cy="877928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DC95F7E3-CCC0-4B9D-AD55-267D59AA6F7E}"/>
              </a:ext>
            </a:extLst>
          </p:cNvPr>
          <p:cNvSpPr/>
          <p:nvPr/>
        </p:nvSpPr>
        <p:spPr>
          <a:xfrm>
            <a:off x="9761180" y="1548199"/>
            <a:ext cx="354842" cy="380608"/>
          </a:xfrm>
          <a:prstGeom prst="down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25400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8CAC0-75B6-4840-A8D8-E290AD6D0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OOP</a:t>
            </a:r>
            <a:r>
              <a:rPr lang="en-US" b="1" dirty="0"/>
              <a:t> 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B72230-213B-4739-9CB7-F95D1CD18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853152" cy="4835479"/>
          </a:xfrm>
        </p:spPr>
        <p:txBody>
          <a:bodyPr>
            <a:normAutofit/>
          </a:bodyPr>
          <a:lstStyle/>
          <a:p>
            <a:r>
              <a:rPr lang="en-US" sz="3200" dirty="0"/>
              <a:t>A class can be thought of as a template for the objects that are instances of it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  <a:r>
              <a:rPr lang="en-US" sz="3200" dirty="0"/>
              <a:t> </a:t>
            </a:r>
          </a:p>
          <a:p>
            <a:pPr marL="0" indent="0">
              <a:buNone/>
            </a:pPr>
            <a:endParaRPr lang="en-US" sz="3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45ADAEC-08FE-4F9D-8441-6CFD19CCCBA8}"/>
              </a:ext>
            </a:extLst>
          </p:cNvPr>
          <p:cNvSpPr/>
          <p:nvPr/>
        </p:nvSpPr>
        <p:spPr>
          <a:xfrm>
            <a:off x="8568559" y="803077"/>
            <a:ext cx="3153103" cy="770036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Class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37995B0-58AE-4142-8AEC-6C75C6E1E57E}"/>
              </a:ext>
            </a:extLst>
          </p:cNvPr>
          <p:cNvSpPr/>
          <p:nvPr/>
        </p:nvSpPr>
        <p:spPr>
          <a:xfrm>
            <a:off x="8568558" y="1861993"/>
            <a:ext cx="3153103" cy="2039971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Attributes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8014D6F-7960-4D7F-B0FF-48AF8C3DF70A}"/>
              </a:ext>
            </a:extLst>
          </p:cNvPr>
          <p:cNvSpPr/>
          <p:nvPr/>
        </p:nvSpPr>
        <p:spPr>
          <a:xfrm>
            <a:off x="8568558" y="4190844"/>
            <a:ext cx="3153103" cy="2260255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Methods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24DF9-86FB-4920-B349-335058981718}"/>
              </a:ext>
            </a:extLst>
          </p:cNvPr>
          <p:cNvSpPr txBox="1"/>
          <p:nvPr/>
        </p:nvSpPr>
        <p:spPr>
          <a:xfrm>
            <a:off x="5701108" y="4997669"/>
            <a:ext cx="18181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800" b="1" dirty="0">
                <a:solidFill>
                  <a:srgbClr val="FFFFFF"/>
                </a:solidFill>
              </a:rPr>
              <a:t>Functions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F3AD253-F30E-41A5-90B8-1F2E58E9169A}"/>
              </a:ext>
            </a:extLst>
          </p:cNvPr>
          <p:cNvCxnSpPr/>
          <p:nvPr/>
        </p:nvCxnSpPr>
        <p:spPr>
          <a:xfrm>
            <a:off x="7630506" y="5352392"/>
            <a:ext cx="717331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37597EA-4B96-4938-8BC8-B2AB2986B68A}"/>
              </a:ext>
            </a:extLst>
          </p:cNvPr>
          <p:cNvCxnSpPr/>
          <p:nvPr/>
        </p:nvCxnSpPr>
        <p:spPr>
          <a:xfrm>
            <a:off x="7630505" y="2927119"/>
            <a:ext cx="717331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6C0CD4A-A4AE-405E-9A81-932093C55D33}"/>
              </a:ext>
            </a:extLst>
          </p:cNvPr>
          <p:cNvSpPr txBox="1"/>
          <p:nvPr/>
        </p:nvSpPr>
        <p:spPr>
          <a:xfrm>
            <a:off x="6539651" y="2579798"/>
            <a:ext cx="9765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800" b="1" dirty="0">
                <a:solidFill>
                  <a:srgbClr val="FFFFFF"/>
                </a:solidFill>
              </a:rPr>
              <a:t>Data</a:t>
            </a:r>
          </a:p>
        </p:txBody>
      </p:sp>
    </p:spTree>
    <p:extLst>
      <p:ext uri="{BB962C8B-B14F-4D97-AF65-F5344CB8AC3E}">
        <p14:creationId xmlns:p14="http://schemas.microsoft.com/office/powerpoint/2010/main" val="3396876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8CAC0-75B6-4840-A8D8-E290AD6D0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OOP</a:t>
            </a:r>
            <a:r>
              <a:rPr lang="en-US" b="1" dirty="0"/>
              <a:t> Recap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45ADAEC-08FE-4F9D-8441-6CFD19CCCBA8}"/>
              </a:ext>
            </a:extLst>
          </p:cNvPr>
          <p:cNvSpPr/>
          <p:nvPr/>
        </p:nvSpPr>
        <p:spPr>
          <a:xfrm>
            <a:off x="8568559" y="803077"/>
            <a:ext cx="3153103" cy="770036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Turtle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37995B0-58AE-4142-8AEC-6C75C6E1E57E}"/>
              </a:ext>
            </a:extLst>
          </p:cNvPr>
          <p:cNvSpPr/>
          <p:nvPr/>
        </p:nvSpPr>
        <p:spPr>
          <a:xfrm>
            <a:off x="8568558" y="1861993"/>
            <a:ext cx="3153103" cy="2039971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name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x location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y location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8014D6F-7960-4D7F-B0FF-48AF8C3DF70A}"/>
              </a:ext>
            </a:extLst>
          </p:cNvPr>
          <p:cNvSpPr/>
          <p:nvPr/>
        </p:nvSpPr>
        <p:spPr>
          <a:xfrm>
            <a:off x="8568558" y="4190844"/>
            <a:ext cx="3153103" cy="2260255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move up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move down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move left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move right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go to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E61A21-D2D9-4066-BEFB-21DACD72A1C4}"/>
              </a:ext>
            </a:extLst>
          </p:cNvPr>
          <p:cNvSpPr txBox="1"/>
          <p:nvPr/>
        </p:nvSpPr>
        <p:spPr>
          <a:xfrm>
            <a:off x="277546" y="3900731"/>
            <a:ext cx="213071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name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Lucy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x location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24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y location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35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DA4471-B59D-4322-8953-2C60CC083C7A}"/>
              </a:ext>
            </a:extLst>
          </p:cNvPr>
          <p:cNvSpPr txBox="1"/>
          <p:nvPr/>
        </p:nvSpPr>
        <p:spPr>
          <a:xfrm>
            <a:off x="2902628" y="1339755"/>
            <a:ext cx="195492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Instances </a:t>
            </a:r>
            <a:r>
              <a:rPr lang="en-US" sz="2000" dirty="0">
                <a:solidFill>
                  <a:schemeClr val="accent1"/>
                </a:solidFill>
              </a:rPr>
              <a:t>(</a:t>
            </a:r>
            <a:r>
              <a:rPr lang="en-US" sz="2000" dirty="0">
                <a:solidFill>
                  <a:schemeClr val="accent6"/>
                </a:solidFill>
              </a:rPr>
              <a:t>objects</a:t>
            </a:r>
            <a:r>
              <a:rPr lang="en-US" sz="2000" dirty="0">
                <a:solidFill>
                  <a:schemeClr val="accent1"/>
                </a:solidFill>
              </a:rPr>
              <a:t>)</a:t>
            </a:r>
            <a:r>
              <a:rPr lang="en-US" sz="2000" dirty="0">
                <a:solidFill>
                  <a:schemeClr val="accent6"/>
                </a:solidFill>
              </a:rPr>
              <a:t> of the </a:t>
            </a:r>
            <a:r>
              <a:rPr lang="en-US" sz="2000" b="1" dirty="0">
                <a:solidFill>
                  <a:srgbClr val="FFFFFF"/>
                </a:solidFill>
              </a:rPr>
              <a:t>Turtle</a:t>
            </a:r>
            <a:r>
              <a:rPr lang="en-US" sz="2000" dirty="0">
                <a:solidFill>
                  <a:schemeClr val="accent6"/>
                </a:solidFill>
              </a:rPr>
              <a:t> class</a:t>
            </a:r>
            <a:r>
              <a:rPr lang="en-US" sz="2000" dirty="0">
                <a:solidFill>
                  <a:schemeClr val="accent1"/>
                </a:solidFill>
              </a:rPr>
              <a:t>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22C33B0-6BFF-4306-AA90-544792DE922D}"/>
              </a:ext>
            </a:extLst>
          </p:cNvPr>
          <p:cNvCxnSpPr>
            <a:cxnSpLocks/>
          </p:cNvCxnSpPr>
          <p:nvPr/>
        </p:nvCxnSpPr>
        <p:spPr>
          <a:xfrm flipH="1">
            <a:off x="1907628" y="2246586"/>
            <a:ext cx="995000" cy="433233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0CF4741-13AD-4477-B006-AEBEED073583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3880090" y="2355418"/>
            <a:ext cx="357991" cy="1286416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F690D3D-29E8-4CD6-B67D-69AF5F895BEE}"/>
              </a:ext>
            </a:extLst>
          </p:cNvPr>
          <p:cNvCxnSpPr>
            <a:cxnSpLocks/>
          </p:cNvCxnSpPr>
          <p:nvPr/>
        </p:nvCxnSpPr>
        <p:spPr>
          <a:xfrm>
            <a:off x="4784836" y="1900400"/>
            <a:ext cx="567896" cy="93938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4" descr="Turtle Icon | Flat Animal Iconset | Martin Berube">
            <a:extLst>
              <a:ext uri="{FF2B5EF4-FFF2-40B4-BE49-F238E27FC236}">
                <a16:creationId xmlns:a16="http://schemas.microsoft.com/office/drawing/2014/main" id="{19A45DBA-CA07-4587-A544-44A07E2507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433" y="2139683"/>
            <a:ext cx="2109796" cy="2109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717F4A0-7A32-4E9C-BB4C-B5B66B5A7CDC}"/>
              </a:ext>
            </a:extLst>
          </p:cNvPr>
          <p:cNvSpPr txBox="1"/>
          <p:nvPr/>
        </p:nvSpPr>
        <p:spPr>
          <a:xfrm>
            <a:off x="3493860" y="5083237"/>
            <a:ext cx="213071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name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Brian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x location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92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y location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62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C635ABC-9113-455C-8FEC-668263C58E33}"/>
              </a:ext>
            </a:extLst>
          </p:cNvPr>
          <p:cNvSpPr txBox="1"/>
          <p:nvPr/>
        </p:nvSpPr>
        <p:spPr>
          <a:xfrm>
            <a:off x="5352732" y="2476743"/>
            <a:ext cx="23070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name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Susmit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x location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134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y location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45</a:t>
            </a:r>
          </a:p>
        </p:txBody>
      </p:sp>
      <p:pic>
        <p:nvPicPr>
          <p:cNvPr id="24" name="Picture 4" descr="Turtle Icon | Flat Animal Iconset | Martin Berube">
            <a:extLst>
              <a:ext uri="{FF2B5EF4-FFF2-40B4-BE49-F238E27FC236}">
                <a16:creationId xmlns:a16="http://schemas.microsoft.com/office/drawing/2014/main" id="{7423E3E2-12CB-4F83-8A4E-FE9A5CAC66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0258" y="3327174"/>
            <a:ext cx="2109796" cy="2109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4" descr="Turtle Icon | Flat Animal Iconset | Martin Berube">
            <a:extLst>
              <a:ext uri="{FF2B5EF4-FFF2-40B4-BE49-F238E27FC236}">
                <a16:creationId xmlns:a16="http://schemas.microsoft.com/office/drawing/2014/main" id="{46407452-9151-421B-9150-A5013E4B5E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0997" y="719865"/>
            <a:ext cx="2109796" cy="2109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38566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118C3C-13F5-4EA8-9EA9-3448AC353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OOP</a:t>
            </a:r>
            <a:r>
              <a:rPr lang="en-US" b="1" dirty="0"/>
              <a:t> Recap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EF1E632-EB44-4712-B35B-CF93D4F2C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853152" cy="4835479"/>
          </a:xfrm>
        </p:spPr>
        <p:txBody>
          <a:bodyPr>
            <a:normAutofit/>
          </a:bodyPr>
          <a:lstStyle/>
          <a:p>
            <a:r>
              <a:rPr lang="en-US" sz="3200" dirty="0"/>
              <a:t>General form of a Class</a:t>
            </a:r>
            <a:r>
              <a:rPr lang="en-US" sz="3200" dirty="0">
                <a:solidFill>
                  <a:schemeClr val="accent6"/>
                </a:solidFill>
              </a:rPr>
              <a:t>:</a:t>
            </a:r>
            <a:endParaRPr lang="en-US" sz="2400" dirty="0">
              <a:solidFill>
                <a:schemeClr val="accent6"/>
              </a:solidFill>
            </a:endParaRPr>
          </a:p>
          <a:p>
            <a:pPr lvl="1"/>
            <a:r>
              <a:rPr lang="en-US" sz="2800" dirty="0">
                <a:solidFill>
                  <a:srgbClr val="00FF00"/>
                </a:solidFill>
              </a:rPr>
              <a:t>Class Name</a:t>
            </a:r>
          </a:p>
          <a:p>
            <a:pPr lvl="2"/>
            <a:r>
              <a:rPr lang="en-US" sz="2400" b="1" dirty="0">
                <a:solidFill>
                  <a:srgbClr val="00FF00"/>
                </a:solidFill>
              </a:rPr>
              <a:t>CamelCase</a:t>
            </a:r>
          </a:p>
          <a:p>
            <a:pPr lvl="2"/>
            <a:r>
              <a:rPr lang="en-US" sz="2400" dirty="0">
                <a:solidFill>
                  <a:srgbClr val="00FF00"/>
                </a:solidFill>
              </a:rPr>
              <a:t>CourseGrades</a:t>
            </a:r>
          </a:p>
          <a:p>
            <a:pPr lvl="2"/>
            <a:r>
              <a:rPr lang="en-US" sz="2400" dirty="0">
                <a:solidFill>
                  <a:srgbClr val="00FF00"/>
                </a:solidFill>
              </a:rPr>
              <a:t>BankAccount</a:t>
            </a:r>
          </a:p>
          <a:p>
            <a:pPr lvl="2"/>
            <a:r>
              <a:rPr lang="en-US" sz="2400" dirty="0">
                <a:solidFill>
                  <a:srgbClr val="00FF00"/>
                </a:solidFill>
              </a:rPr>
              <a:t>FlightStatus</a:t>
            </a:r>
          </a:p>
          <a:p>
            <a:pPr lvl="2"/>
            <a:r>
              <a:rPr lang="en-US" sz="2400" dirty="0">
                <a:solidFill>
                  <a:srgbClr val="00FF00"/>
                </a:solidFill>
              </a:rPr>
              <a:t>XRayImage</a:t>
            </a:r>
          </a:p>
          <a:p>
            <a:pPr lvl="1"/>
            <a:r>
              <a:rPr lang="en-US" sz="2800" dirty="0">
                <a:solidFill>
                  <a:srgbClr val="FFD6AD"/>
                </a:solidFill>
              </a:rPr>
              <a:t>Constructor</a:t>
            </a:r>
          </a:p>
          <a:p>
            <a:pPr lvl="1"/>
            <a:r>
              <a:rPr lang="en-US" sz="2800" dirty="0">
                <a:solidFill>
                  <a:srgbClr val="FF5050"/>
                </a:solidFill>
              </a:rPr>
              <a:t>Methods</a:t>
            </a:r>
          </a:p>
          <a:p>
            <a:pPr lvl="1"/>
            <a:endParaRPr lang="en-US" sz="2800" dirty="0">
              <a:solidFill>
                <a:schemeClr val="accent2"/>
              </a:solidFill>
            </a:endParaRPr>
          </a:p>
          <a:p>
            <a:pPr lvl="1"/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366C13-2079-4185-B51B-0879CA12EDCA}"/>
              </a:ext>
            </a:extLst>
          </p:cNvPr>
          <p:cNvSpPr txBox="1"/>
          <p:nvPr/>
        </p:nvSpPr>
        <p:spPr>
          <a:xfrm>
            <a:off x="5439206" y="727514"/>
            <a:ext cx="6453894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Name: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__init__(self, param1, param2, …):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self.param1 = param1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self.param2 = param2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…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method1(self, parameters):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method2(self, parameters):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method3(self, parameters):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</p:txBody>
      </p:sp>
    </p:spTree>
    <p:extLst>
      <p:ext uri="{BB962C8B-B14F-4D97-AF65-F5344CB8AC3E}">
        <p14:creationId xmlns:p14="http://schemas.microsoft.com/office/powerpoint/2010/main" val="14959932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77582-2C41-4F4F-B3C6-29B46A02A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OOP</a:t>
            </a:r>
            <a:r>
              <a:rPr lang="en-US" b="1" dirty="0"/>
              <a:t> 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45F59-D3F1-4C5E-9BB2-14E933A18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645239" cy="4835479"/>
          </a:xfrm>
        </p:spPr>
        <p:txBody>
          <a:bodyPr/>
          <a:lstStyle/>
          <a:p>
            <a:r>
              <a:rPr lang="en-US" b="1" dirty="0">
                <a:solidFill>
                  <a:schemeClr val="accent6"/>
                </a:solidFill>
              </a:rPr>
              <a:t>Instantiate</a:t>
            </a:r>
            <a:r>
              <a:rPr lang="en-US" b="1" dirty="0">
                <a:solidFill>
                  <a:schemeClr val="accent2"/>
                </a:solidFill>
              </a:rPr>
              <a:t>:</a:t>
            </a:r>
            <a:r>
              <a:rPr lang="en-US" b="1" dirty="0"/>
              <a:t> </a:t>
            </a:r>
            <a:r>
              <a:rPr lang="en-US" dirty="0"/>
              <a:t>Creating </a:t>
            </a:r>
            <a:r>
              <a:rPr lang="en-US" dirty="0">
                <a:solidFill>
                  <a:schemeClr val="accent6"/>
                </a:solidFill>
              </a:rPr>
              <a:t>(</a:t>
            </a:r>
            <a:r>
              <a:rPr lang="en-US" dirty="0"/>
              <a:t>constructing</a:t>
            </a:r>
            <a:r>
              <a:rPr lang="en-US" dirty="0">
                <a:solidFill>
                  <a:schemeClr val="accent6"/>
                </a:solidFill>
              </a:rPr>
              <a:t>)</a:t>
            </a:r>
            <a:r>
              <a:rPr lang="en-US" dirty="0"/>
              <a:t> an instance of a class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7" name="Arrow: Bent-Up 6">
            <a:extLst>
              <a:ext uri="{FF2B5EF4-FFF2-40B4-BE49-F238E27FC236}">
                <a16:creationId xmlns:a16="http://schemas.microsoft.com/office/drawing/2014/main" id="{34B24F35-F97A-49C2-ACCA-283EED1A8534}"/>
              </a:ext>
            </a:extLst>
          </p:cNvPr>
          <p:cNvSpPr/>
          <p:nvPr/>
        </p:nvSpPr>
        <p:spPr>
          <a:xfrm flipH="1">
            <a:off x="1239252" y="4740442"/>
            <a:ext cx="1130969" cy="1618644"/>
          </a:xfrm>
          <a:prstGeom prst="bent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77F5BA-32F4-420B-BB78-40A9CA225ADD}"/>
              </a:ext>
            </a:extLst>
          </p:cNvPr>
          <p:cNvSpPr txBox="1"/>
          <p:nvPr/>
        </p:nvSpPr>
        <p:spPr>
          <a:xfrm>
            <a:off x="2478504" y="5981183"/>
            <a:ext cx="56140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FFFF"/>
                </a:solidFill>
              </a:rPr>
              <a:t>This is the process of instantiating</a:t>
            </a:r>
            <a:r>
              <a:rPr lang="en-US" sz="2800" dirty="0">
                <a:solidFill>
                  <a:schemeClr val="accent3"/>
                </a:solidFill>
              </a:rPr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80D512-64A1-4793-B775-1E3CC27653B1}"/>
              </a:ext>
            </a:extLst>
          </p:cNvPr>
          <p:cNvSpPr txBox="1"/>
          <p:nvPr/>
        </p:nvSpPr>
        <p:spPr>
          <a:xfrm>
            <a:off x="263887" y="4149178"/>
            <a:ext cx="42659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 = Turtle(</a:t>
            </a:r>
            <a:r>
              <a:rPr lang="en-US" sz="28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8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pic>
        <p:nvPicPr>
          <p:cNvPr id="10" name="Picture 4" descr="Turtle Icon | Flat Animal Iconset | Martin Berube">
            <a:extLst>
              <a:ext uri="{FF2B5EF4-FFF2-40B4-BE49-F238E27FC236}">
                <a16:creationId xmlns:a16="http://schemas.microsoft.com/office/drawing/2014/main" id="{DDF77CF9-24ED-4F01-8D42-B9966DED48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435" y="2307854"/>
            <a:ext cx="2109796" cy="2109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22116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A742D-1B93-4351-9522-5F2B39F3D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OOP</a:t>
            </a:r>
            <a:r>
              <a:rPr lang="en-US" b="1" dirty="0"/>
              <a:t> 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0BCDD1-56E6-4389-AFFE-26A42FD638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789821" cy="4835479"/>
          </a:xfrm>
        </p:spPr>
        <p:txBody>
          <a:bodyPr>
            <a:normAutofit/>
          </a:bodyPr>
          <a:lstStyle/>
          <a:p>
            <a:r>
              <a:rPr lang="en-US" dirty="0"/>
              <a:t>The core of object</a:t>
            </a:r>
            <a:r>
              <a:rPr lang="en-US" dirty="0">
                <a:solidFill>
                  <a:schemeClr val="accent1"/>
                </a:solidFill>
              </a:rPr>
              <a:t>-</a:t>
            </a:r>
            <a:r>
              <a:rPr lang="en-US" dirty="0"/>
              <a:t>oriented programming is the organization of the program by </a:t>
            </a:r>
            <a:r>
              <a:rPr lang="en-US" b="1" dirty="0">
                <a:solidFill>
                  <a:schemeClr val="accent6"/>
                </a:solidFill>
              </a:rPr>
              <a:t>encapsulating</a:t>
            </a:r>
            <a:r>
              <a:rPr lang="en-US" dirty="0"/>
              <a:t> related </a:t>
            </a:r>
            <a:r>
              <a:rPr lang="en-US" dirty="0">
                <a:solidFill>
                  <a:schemeClr val="accent6"/>
                </a:solidFill>
              </a:rPr>
              <a:t>data</a:t>
            </a:r>
            <a:r>
              <a:rPr lang="en-US" dirty="0"/>
              <a:t> and </a:t>
            </a:r>
            <a:r>
              <a:rPr lang="en-US" dirty="0">
                <a:solidFill>
                  <a:schemeClr val="accent6"/>
                </a:solidFill>
              </a:rPr>
              <a:t>functions</a:t>
            </a:r>
            <a:r>
              <a:rPr lang="en-US" dirty="0"/>
              <a:t> together in an object</a:t>
            </a:r>
            <a:r>
              <a:rPr lang="en-US" dirty="0">
                <a:solidFill>
                  <a:schemeClr val="accent1"/>
                </a:solidFill>
              </a:rPr>
              <a:t>.</a:t>
            </a:r>
          </a:p>
          <a:p>
            <a:r>
              <a:rPr lang="en-US" dirty="0"/>
              <a:t>Encapsulation permits objects to operate completely independently of each other as discrete and self</a:t>
            </a:r>
            <a:r>
              <a:rPr lang="en-US" dirty="0">
                <a:solidFill>
                  <a:schemeClr val="accent2"/>
                </a:solidFill>
              </a:rPr>
              <a:t>-</a:t>
            </a:r>
            <a:r>
              <a:rPr lang="en-US" dirty="0"/>
              <a:t>contained bunch of data and code</a:t>
            </a:r>
            <a:r>
              <a:rPr lang="en-US" dirty="0">
                <a:solidFill>
                  <a:schemeClr val="accent1"/>
                </a:solidFill>
              </a:rPr>
              <a:t>.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6E815B5-A0F6-4AB7-A3AC-6D77EC275801}"/>
              </a:ext>
            </a:extLst>
          </p:cNvPr>
          <p:cNvSpPr/>
          <p:nvPr/>
        </p:nvSpPr>
        <p:spPr>
          <a:xfrm>
            <a:off x="8688874" y="1801561"/>
            <a:ext cx="2283924" cy="557769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Class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D7D26D2-32C8-4EC8-B895-03F10F8D9AE4}"/>
              </a:ext>
            </a:extLst>
          </p:cNvPr>
          <p:cNvSpPr/>
          <p:nvPr/>
        </p:nvSpPr>
        <p:spPr>
          <a:xfrm>
            <a:off x="8688874" y="2600779"/>
            <a:ext cx="2283924" cy="1477636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Attributes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10962CE-A6B5-4B3C-85DE-1B9CA7B379B6}"/>
              </a:ext>
            </a:extLst>
          </p:cNvPr>
          <p:cNvSpPr/>
          <p:nvPr/>
        </p:nvSpPr>
        <p:spPr>
          <a:xfrm>
            <a:off x="8688874" y="4319864"/>
            <a:ext cx="2283924" cy="1637197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Methods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EBBE01C-C44B-4EE8-9F05-595BAC0B7A7F}"/>
              </a:ext>
            </a:extLst>
          </p:cNvPr>
          <p:cNvSpPr/>
          <p:nvPr/>
        </p:nvSpPr>
        <p:spPr>
          <a:xfrm>
            <a:off x="7598978" y="1191126"/>
            <a:ext cx="4463716" cy="5378116"/>
          </a:xfrm>
          <a:prstGeom prst="ellipse">
            <a:avLst/>
          </a:prstGeom>
          <a:noFill/>
          <a:ln w="38100">
            <a:solidFill>
              <a:srgbClr val="E00BE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EDF094-E06A-4842-8081-7F4CC8DF2303}"/>
              </a:ext>
            </a:extLst>
          </p:cNvPr>
          <p:cNvSpPr txBox="1"/>
          <p:nvPr/>
        </p:nvSpPr>
        <p:spPr>
          <a:xfrm>
            <a:off x="8562700" y="578945"/>
            <a:ext cx="25362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E00BE5"/>
                </a:solidFill>
              </a:rPr>
              <a:t>Encapsulation</a:t>
            </a:r>
          </a:p>
        </p:txBody>
      </p:sp>
    </p:spTree>
    <p:extLst>
      <p:ext uri="{BB962C8B-B14F-4D97-AF65-F5344CB8AC3E}">
        <p14:creationId xmlns:p14="http://schemas.microsoft.com/office/powerpoint/2010/main" val="43285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A742D-1B93-4351-9522-5F2B39F3D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OOP</a:t>
            </a:r>
            <a:r>
              <a:rPr lang="en-US" b="1" dirty="0"/>
              <a:t> Recap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4E1B242-74FE-4433-A023-0912F16D8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819281" cy="4835479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E00BE5"/>
                </a:solidFill>
              </a:rPr>
              <a:t>self</a:t>
            </a:r>
          </a:p>
          <a:p>
            <a:r>
              <a:rPr lang="en-US" dirty="0"/>
              <a:t>Reference to the instance of the class inside of the class definition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1FB463-5948-4286-B3BB-04181A132748}"/>
              </a:ext>
            </a:extLst>
          </p:cNvPr>
          <p:cNvSpPr txBox="1"/>
          <p:nvPr/>
        </p:nvSpPr>
        <p:spPr>
          <a:xfrm>
            <a:off x="6610145" y="1966369"/>
            <a:ext cx="474611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Turtle: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__init__(self, x, y):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self.x = x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self.y = y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up(self):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self.y += 1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goto(self, x, y):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self.x = x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self.y = y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get_position(self):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self.x, self.y</a:t>
            </a:r>
          </a:p>
        </p:txBody>
      </p:sp>
    </p:spTree>
    <p:extLst>
      <p:ext uri="{BB962C8B-B14F-4D97-AF65-F5344CB8AC3E}">
        <p14:creationId xmlns:p14="http://schemas.microsoft.com/office/powerpoint/2010/main" val="20255080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A742D-1B93-4351-9522-5F2B39F3D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OOP</a:t>
            </a:r>
            <a:r>
              <a:rPr lang="en-US" b="1" dirty="0"/>
              <a:t> Recap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1FB463-5948-4286-B3BB-04181A132748}"/>
              </a:ext>
            </a:extLst>
          </p:cNvPr>
          <p:cNvSpPr txBox="1"/>
          <p:nvPr/>
        </p:nvSpPr>
        <p:spPr>
          <a:xfrm>
            <a:off x="6610145" y="1966369"/>
            <a:ext cx="474611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Turtle: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__init__(katia, x, y):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katia.x = x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katia.y = y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up(katia):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katia.y += 1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goto(katia, x, y):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katia.x = x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katia.y = y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get_position(katia):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katia.x, katia.y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384EE5-7043-4D87-A5F3-1BB1C8ECE8EB}"/>
              </a:ext>
            </a:extLst>
          </p:cNvPr>
          <p:cNvSpPr txBox="1"/>
          <p:nvPr/>
        </p:nvSpPr>
        <p:spPr>
          <a:xfrm>
            <a:off x="1071430" y="1966369"/>
            <a:ext cx="44326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 = Turtle(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713245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A742D-1B93-4351-9522-5F2B39F3D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OOP</a:t>
            </a:r>
            <a:r>
              <a:rPr lang="en-US" b="1" dirty="0"/>
              <a:t> Recap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1FB463-5948-4286-B3BB-04181A132748}"/>
              </a:ext>
            </a:extLst>
          </p:cNvPr>
          <p:cNvSpPr txBox="1"/>
          <p:nvPr/>
        </p:nvSpPr>
        <p:spPr>
          <a:xfrm>
            <a:off x="6610145" y="1966369"/>
            <a:ext cx="474611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Turtle: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__init__(ben, x, y):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ben.x = x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ben.y = y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up(ben):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ben.y += 1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goto(ben, x, y):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ben.x = x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ben.y = y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get_position(ben):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ben.x, ben.y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384EE5-7043-4D87-A5F3-1BB1C8ECE8EB}"/>
              </a:ext>
            </a:extLst>
          </p:cNvPr>
          <p:cNvSpPr txBox="1"/>
          <p:nvPr/>
        </p:nvSpPr>
        <p:spPr>
          <a:xfrm>
            <a:off x="1071430" y="1966369"/>
            <a:ext cx="44326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ben = Turtle(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850001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A742D-1B93-4351-9522-5F2B39F3D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OOP</a:t>
            </a:r>
            <a:r>
              <a:rPr lang="en-US" b="1" dirty="0"/>
              <a:t> Recap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1FB463-5948-4286-B3BB-04181A132748}"/>
              </a:ext>
            </a:extLst>
          </p:cNvPr>
          <p:cNvSpPr txBox="1"/>
          <p:nvPr/>
        </p:nvSpPr>
        <p:spPr>
          <a:xfrm>
            <a:off x="6610145" y="1966369"/>
            <a:ext cx="474611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Turtle: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__init__(seb, x, y):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seb.x = x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seb.y = y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up(seb):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seb.y += 1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goto(seb, x, y):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seb.x = x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seb.y = y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get_position(seb):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seb.x, seb.y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384EE5-7043-4D87-A5F3-1BB1C8ECE8EB}"/>
              </a:ext>
            </a:extLst>
          </p:cNvPr>
          <p:cNvSpPr txBox="1"/>
          <p:nvPr/>
        </p:nvSpPr>
        <p:spPr>
          <a:xfrm>
            <a:off x="1071430" y="1966369"/>
            <a:ext cx="44326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seb = Turtle(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101263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A742D-1B93-4351-9522-5F2B39F3D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OOP</a:t>
            </a:r>
            <a:r>
              <a:rPr lang="en-US" b="1" dirty="0"/>
              <a:t> Recap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4E1B242-74FE-4433-A023-0912F16D8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819281" cy="4835479"/>
          </a:xfrm>
        </p:spPr>
        <p:txBody>
          <a:bodyPr>
            <a:normAutofit/>
          </a:bodyPr>
          <a:lstStyle/>
          <a:p>
            <a:r>
              <a:rPr lang="en-US" dirty="0"/>
              <a:t>Because at the time of designing the class we don</a:t>
            </a:r>
            <a:r>
              <a:rPr lang="en-US" dirty="0">
                <a:solidFill>
                  <a:schemeClr val="accent2"/>
                </a:solidFill>
              </a:rPr>
              <a:t>’</a:t>
            </a:r>
            <a:r>
              <a:rPr lang="en-US" dirty="0"/>
              <a:t>t know what these instance names will be</a:t>
            </a:r>
            <a:r>
              <a:rPr lang="en-US" dirty="0">
                <a:solidFill>
                  <a:schemeClr val="accent2"/>
                </a:solidFill>
              </a:rPr>
              <a:t>,</a:t>
            </a:r>
            <a:r>
              <a:rPr lang="en-US" dirty="0"/>
              <a:t> we just chose one</a:t>
            </a:r>
            <a:r>
              <a:rPr lang="en-US" dirty="0">
                <a:solidFill>
                  <a:schemeClr val="accent2"/>
                </a:solidFill>
              </a:rPr>
              <a:t>. </a:t>
            </a:r>
          </a:p>
          <a:p>
            <a:pPr lvl="1"/>
            <a:r>
              <a:rPr lang="en-US" b="1" dirty="0">
                <a:solidFill>
                  <a:srgbClr val="E00BE5"/>
                </a:solidFill>
              </a:rPr>
              <a:t>self</a:t>
            </a:r>
          </a:p>
          <a:p>
            <a:pPr lvl="1"/>
            <a:endParaRPr lang="en-US" b="1" dirty="0">
              <a:solidFill>
                <a:schemeClr val="accent2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1FB463-5948-4286-B3BB-04181A132748}"/>
              </a:ext>
            </a:extLst>
          </p:cNvPr>
          <p:cNvSpPr txBox="1"/>
          <p:nvPr/>
        </p:nvSpPr>
        <p:spPr>
          <a:xfrm>
            <a:off x="6610145" y="1966369"/>
            <a:ext cx="474611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Turtle: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__init__(self, x, y):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self.x = x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self.y = y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up(self):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self.y += 1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goto(self, x, y):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self.x = x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self.y = y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get_position(self):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self.x, self.y</a:t>
            </a:r>
          </a:p>
        </p:txBody>
      </p:sp>
    </p:spTree>
    <p:extLst>
      <p:ext uri="{BB962C8B-B14F-4D97-AF65-F5344CB8AC3E}">
        <p14:creationId xmlns:p14="http://schemas.microsoft.com/office/powerpoint/2010/main" val="5297033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A742D-1B93-4351-9522-5F2B39F3D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OOP</a:t>
            </a:r>
            <a:r>
              <a:rPr lang="en-US" b="1" dirty="0"/>
              <a:t> Recap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4E1B242-74FE-4433-A023-0912F16D8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819281" cy="4835479"/>
          </a:xfrm>
        </p:spPr>
        <p:txBody>
          <a:bodyPr>
            <a:normAutofit/>
          </a:bodyPr>
          <a:lstStyle/>
          <a:p>
            <a:r>
              <a:rPr lang="en-US" dirty="0"/>
              <a:t>Although you do not technically need to use the word </a:t>
            </a:r>
            <a:r>
              <a:rPr lang="en-US" dirty="0">
                <a:solidFill>
                  <a:schemeClr val="accent6"/>
                </a:solidFill>
              </a:rPr>
              <a:t>self</a:t>
            </a:r>
            <a:r>
              <a:rPr lang="en-US" dirty="0">
                <a:solidFill>
                  <a:schemeClr val="accent2"/>
                </a:solidFill>
              </a:rPr>
              <a:t>,</a:t>
            </a:r>
            <a:r>
              <a:rPr lang="en-US" dirty="0"/>
              <a:t> it is widely adopted and is recommended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pPr lvl="1"/>
            <a:r>
              <a:rPr lang="en-US" dirty="0">
                <a:solidFill>
                  <a:schemeClr val="accent2"/>
                </a:solidFill>
              </a:rPr>
              <a:t>this </a:t>
            </a:r>
            <a:r>
              <a:rPr lang="en-US" dirty="0">
                <a:solidFill>
                  <a:schemeClr val="accent6"/>
                </a:solidFill>
              </a:rPr>
              <a:t>(</a:t>
            </a:r>
            <a:r>
              <a:rPr lang="en-US" dirty="0"/>
              <a:t>JavaScript</a:t>
            </a:r>
            <a:r>
              <a:rPr lang="en-US" dirty="0">
                <a:solidFill>
                  <a:schemeClr val="accent6"/>
                </a:solidFill>
              </a:rPr>
              <a:t>, </a:t>
            </a:r>
            <a:r>
              <a:rPr lang="en-US" dirty="0"/>
              <a:t>Java</a:t>
            </a:r>
            <a:r>
              <a:rPr lang="en-US" dirty="0">
                <a:solidFill>
                  <a:schemeClr val="accent6"/>
                </a:solidFill>
              </a:rPr>
              <a:t>)</a:t>
            </a:r>
          </a:p>
          <a:p>
            <a:pPr lvl="1"/>
            <a:r>
              <a:rPr lang="en-US" dirty="0">
                <a:solidFill>
                  <a:schemeClr val="accent2"/>
                </a:solidFill>
              </a:rPr>
              <a:t>instance</a:t>
            </a:r>
          </a:p>
          <a:p>
            <a:pPr lvl="1"/>
            <a:r>
              <a:rPr lang="en-US" dirty="0">
                <a:solidFill>
                  <a:schemeClr val="accent2"/>
                </a:solidFill>
              </a:rPr>
              <a:t>thing</a:t>
            </a:r>
          </a:p>
          <a:p>
            <a:pPr lvl="1"/>
            <a:r>
              <a:rPr lang="en-US" b="1" dirty="0">
                <a:solidFill>
                  <a:srgbClr val="E00BE5"/>
                </a:solidFill>
              </a:rPr>
              <a:t>self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1FB463-5948-4286-B3BB-04181A132748}"/>
              </a:ext>
            </a:extLst>
          </p:cNvPr>
          <p:cNvSpPr txBox="1"/>
          <p:nvPr/>
        </p:nvSpPr>
        <p:spPr>
          <a:xfrm>
            <a:off x="6610145" y="1966369"/>
            <a:ext cx="474611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Turtle: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__init__(self, x, y):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self.x = x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self.y = y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up(self):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self.y += 1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goto(self, x, y):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self.x = x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self.y = y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get_position(self):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self.x, self.y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F2F10F-D856-4ED5-B3E5-8B4E137C785D}"/>
              </a:ext>
            </a:extLst>
          </p:cNvPr>
          <p:cNvSpPr txBox="1"/>
          <p:nvPr/>
        </p:nvSpPr>
        <p:spPr>
          <a:xfrm>
            <a:off x="3563439" y="4984227"/>
            <a:ext cx="267733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Python Standard</a:t>
            </a:r>
          </a:p>
          <a:p>
            <a:endParaRPr lang="en-US" dirty="0">
              <a:solidFill>
                <a:schemeClr val="accent6"/>
              </a:solidFill>
            </a:endParaRPr>
          </a:p>
          <a:p>
            <a:r>
              <a:rPr lang="en-US" sz="3600" b="1" dirty="0">
                <a:solidFill>
                  <a:schemeClr val="accent1"/>
                </a:solidFill>
              </a:rPr>
              <a:t>(</a:t>
            </a:r>
            <a:r>
              <a:rPr lang="en-US" sz="3600" b="1" dirty="0">
                <a:solidFill>
                  <a:srgbClr val="FFFFFF"/>
                </a:solidFill>
              </a:rPr>
              <a:t>IDE Demo</a:t>
            </a:r>
            <a:r>
              <a:rPr lang="en-US" sz="3600" b="1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42E5CD61-0DB2-4192-80DB-36A7B55A6928}"/>
              </a:ext>
            </a:extLst>
          </p:cNvPr>
          <p:cNvSpPr/>
          <p:nvPr/>
        </p:nvSpPr>
        <p:spPr>
          <a:xfrm rot="10800000">
            <a:off x="2306645" y="5092728"/>
            <a:ext cx="1250666" cy="2113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8726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A742D-1B93-4351-9522-5F2B39F3D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OOP</a:t>
            </a:r>
            <a:r>
              <a:rPr lang="en-US" b="1" dirty="0"/>
              <a:t> Recap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4E1B242-74FE-4433-A023-0912F16D8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819281" cy="4835479"/>
          </a:xfrm>
        </p:spPr>
        <p:txBody>
          <a:bodyPr>
            <a:normAutofit/>
          </a:bodyPr>
          <a:lstStyle/>
          <a:p>
            <a:r>
              <a:rPr lang="en-US" dirty="0"/>
              <a:t>Accessing attributes </a:t>
            </a:r>
            <a:r>
              <a:rPr lang="en-US" dirty="0">
                <a:solidFill>
                  <a:schemeClr val="accent2"/>
                </a:solidFill>
              </a:rPr>
              <a:t>(</a:t>
            </a:r>
            <a:r>
              <a:rPr lang="en-US" dirty="0"/>
              <a:t>Data</a:t>
            </a:r>
            <a:r>
              <a:rPr lang="en-US" dirty="0">
                <a:solidFill>
                  <a:schemeClr val="accent2"/>
                </a:solidFill>
              </a:rPr>
              <a:t>)</a:t>
            </a:r>
            <a:r>
              <a:rPr lang="en-US" dirty="0"/>
              <a:t> and methods </a:t>
            </a:r>
            <a:r>
              <a:rPr lang="en-US" dirty="0">
                <a:solidFill>
                  <a:schemeClr val="accent2"/>
                </a:solidFill>
              </a:rPr>
              <a:t>(</a:t>
            </a:r>
            <a:r>
              <a:rPr lang="en-US" dirty="0"/>
              <a:t>Functions</a:t>
            </a:r>
            <a:r>
              <a:rPr lang="en-US" dirty="0">
                <a:solidFill>
                  <a:schemeClr val="accent2"/>
                </a:solidFill>
              </a:rPr>
              <a:t>)</a:t>
            </a:r>
            <a:r>
              <a:rPr lang="en-US" dirty="0"/>
              <a:t> is different</a:t>
            </a:r>
            <a:r>
              <a:rPr lang="en-US" dirty="0">
                <a:solidFill>
                  <a:schemeClr val="accent2"/>
                </a:solidFill>
              </a:rPr>
              <a:t>.</a:t>
            </a:r>
            <a:endParaRPr lang="en-US" b="1" dirty="0">
              <a:solidFill>
                <a:schemeClr val="accent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CB9E2E-63E2-4DE9-BA90-E907CF05A1A5}"/>
              </a:ext>
            </a:extLst>
          </p:cNvPr>
          <p:cNvSpPr txBox="1"/>
          <p:nvPr/>
        </p:nvSpPr>
        <p:spPr>
          <a:xfrm>
            <a:off x="1053764" y="3653591"/>
            <a:ext cx="451523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ben = Turtle(</a:t>
            </a:r>
            <a:r>
              <a:rPr lang="en-US" sz="28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8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ben.x</a:t>
            </a:r>
          </a:p>
          <a:p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ben.up()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2B2B56-232A-48B2-BE36-F968E123354B}"/>
              </a:ext>
            </a:extLst>
          </p:cNvPr>
          <p:cNvSpPr txBox="1"/>
          <p:nvPr/>
        </p:nvSpPr>
        <p:spPr>
          <a:xfrm>
            <a:off x="4271133" y="5431006"/>
            <a:ext cx="32092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A </a:t>
            </a:r>
            <a:r>
              <a:rPr lang="en-US" b="1" dirty="0">
                <a:solidFill>
                  <a:srgbClr val="E00BE5"/>
                </a:solidFill>
              </a:rPr>
              <a:t>Method</a:t>
            </a:r>
            <a:r>
              <a:rPr lang="en-US" dirty="0">
                <a:solidFill>
                  <a:srgbClr val="FFFFFF"/>
                </a:solidFill>
              </a:rPr>
              <a:t> is a function</a:t>
            </a:r>
            <a:r>
              <a:rPr lang="en-US" dirty="0">
                <a:solidFill>
                  <a:schemeClr val="accent3"/>
                </a:solidFill>
              </a:rPr>
              <a:t>,</a:t>
            </a:r>
            <a:r>
              <a:rPr lang="en-US" dirty="0">
                <a:solidFill>
                  <a:srgbClr val="FFFFFF"/>
                </a:solidFill>
              </a:rPr>
              <a:t> and we call functions using parentheses</a:t>
            </a:r>
            <a:r>
              <a:rPr lang="en-US" dirty="0">
                <a:solidFill>
                  <a:schemeClr val="accent3"/>
                </a:solidFill>
              </a:rPr>
              <a:t>.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C0C68379-91D2-4B91-8268-25D2E6CBAD41}"/>
              </a:ext>
            </a:extLst>
          </p:cNvPr>
          <p:cNvSpPr/>
          <p:nvPr/>
        </p:nvSpPr>
        <p:spPr>
          <a:xfrm rot="10800000">
            <a:off x="2937879" y="5535179"/>
            <a:ext cx="1250666" cy="2113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B5957E-CF86-4868-8C29-D795F58AF666}"/>
              </a:ext>
            </a:extLst>
          </p:cNvPr>
          <p:cNvSpPr txBox="1"/>
          <p:nvPr/>
        </p:nvSpPr>
        <p:spPr>
          <a:xfrm>
            <a:off x="3681195" y="4582881"/>
            <a:ext cx="3209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An </a:t>
            </a:r>
            <a:r>
              <a:rPr lang="en-US" b="1" dirty="0">
                <a:solidFill>
                  <a:srgbClr val="E00BE5"/>
                </a:solidFill>
              </a:rPr>
              <a:t>Attribute </a:t>
            </a:r>
            <a:r>
              <a:rPr lang="en-US" dirty="0">
                <a:solidFill>
                  <a:srgbClr val="FFFFFF"/>
                </a:solidFill>
              </a:rPr>
              <a:t>is like a variable</a:t>
            </a:r>
            <a:r>
              <a:rPr lang="en-US" b="1" dirty="0">
                <a:solidFill>
                  <a:schemeClr val="accent3"/>
                </a:solidFill>
              </a:rPr>
              <a:t>.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C00D0ED7-378B-425E-8E8B-52D9E7B081DD}"/>
              </a:ext>
            </a:extLst>
          </p:cNvPr>
          <p:cNvSpPr/>
          <p:nvPr/>
        </p:nvSpPr>
        <p:spPr>
          <a:xfrm rot="10800000">
            <a:off x="2347941" y="4687054"/>
            <a:ext cx="1250666" cy="2113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1365FB-6C83-42EE-87E6-7C1315CD46FC}"/>
              </a:ext>
            </a:extLst>
          </p:cNvPr>
          <p:cNvSpPr txBox="1"/>
          <p:nvPr/>
        </p:nvSpPr>
        <p:spPr>
          <a:xfrm>
            <a:off x="7455053" y="1055588"/>
            <a:ext cx="451523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my_func():</a:t>
            </a: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print(“Hello”)</a:t>
            </a:r>
          </a:p>
          <a:p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my_func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CA7211-353D-4365-B667-4931AA2EAFDA}"/>
              </a:ext>
            </a:extLst>
          </p:cNvPr>
          <p:cNvSpPr txBox="1"/>
          <p:nvPr/>
        </p:nvSpPr>
        <p:spPr>
          <a:xfrm>
            <a:off x="9178162" y="2437837"/>
            <a:ext cx="22787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This function has not been called</a:t>
            </a:r>
            <a:r>
              <a:rPr lang="en-US" dirty="0">
                <a:solidFill>
                  <a:schemeClr val="accent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176051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A742D-1B93-4351-9522-5F2B39F3D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OOP</a:t>
            </a:r>
            <a:r>
              <a:rPr lang="en-US" b="1" dirty="0"/>
              <a:t> Recap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4E1B242-74FE-4433-A023-0912F16D8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819281" cy="4835479"/>
          </a:xfrm>
        </p:spPr>
        <p:txBody>
          <a:bodyPr>
            <a:normAutofit/>
          </a:bodyPr>
          <a:lstStyle/>
          <a:p>
            <a:r>
              <a:rPr lang="en-US" dirty="0"/>
              <a:t>Accessing attributes </a:t>
            </a:r>
            <a:r>
              <a:rPr lang="en-US" dirty="0">
                <a:solidFill>
                  <a:schemeClr val="accent2"/>
                </a:solidFill>
              </a:rPr>
              <a:t>(</a:t>
            </a:r>
            <a:r>
              <a:rPr lang="en-US" dirty="0"/>
              <a:t>Data</a:t>
            </a:r>
            <a:r>
              <a:rPr lang="en-US" dirty="0">
                <a:solidFill>
                  <a:schemeClr val="accent2"/>
                </a:solidFill>
              </a:rPr>
              <a:t>)</a:t>
            </a:r>
            <a:r>
              <a:rPr lang="en-US" dirty="0"/>
              <a:t> and methods </a:t>
            </a:r>
            <a:r>
              <a:rPr lang="en-US" dirty="0">
                <a:solidFill>
                  <a:schemeClr val="accent2"/>
                </a:solidFill>
              </a:rPr>
              <a:t>(</a:t>
            </a:r>
            <a:r>
              <a:rPr lang="en-US" dirty="0"/>
              <a:t>Functions</a:t>
            </a:r>
            <a:r>
              <a:rPr lang="en-US" dirty="0">
                <a:solidFill>
                  <a:schemeClr val="accent2"/>
                </a:solidFill>
              </a:rPr>
              <a:t>)</a:t>
            </a:r>
            <a:r>
              <a:rPr lang="en-US" dirty="0"/>
              <a:t> is different</a:t>
            </a:r>
            <a:r>
              <a:rPr lang="en-US" dirty="0">
                <a:solidFill>
                  <a:schemeClr val="accent2"/>
                </a:solidFill>
              </a:rPr>
              <a:t>.</a:t>
            </a:r>
            <a:endParaRPr lang="en-US" b="1" dirty="0">
              <a:solidFill>
                <a:schemeClr val="accent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CB9E2E-63E2-4DE9-BA90-E907CF05A1A5}"/>
              </a:ext>
            </a:extLst>
          </p:cNvPr>
          <p:cNvSpPr txBox="1"/>
          <p:nvPr/>
        </p:nvSpPr>
        <p:spPr>
          <a:xfrm>
            <a:off x="1053764" y="3653591"/>
            <a:ext cx="451523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ben = Turtle(</a:t>
            </a:r>
            <a:r>
              <a:rPr lang="en-US" sz="28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8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ben.x</a:t>
            </a:r>
          </a:p>
          <a:p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ben.up()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2B2B56-232A-48B2-BE36-F968E123354B}"/>
              </a:ext>
            </a:extLst>
          </p:cNvPr>
          <p:cNvSpPr txBox="1"/>
          <p:nvPr/>
        </p:nvSpPr>
        <p:spPr>
          <a:xfrm>
            <a:off x="4271133" y="5431006"/>
            <a:ext cx="3209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Non-OOP</a:t>
            </a:r>
            <a:endParaRPr lang="en-US" b="1" dirty="0">
              <a:solidFill>
                <a:schemeClr val="accent3"/>
              </a:solidFill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C0C68379-91D2-4B91-8268-25D2E6CBAD41}"/>
              </a:ext>
            </a:extLst>
          </p:cNvPr>
          <p:cNvSpPr/>
          <p:nvPr/>
        </p:nvSpPr>
        <p:spPr>
          <a:xfrm rot="10800000">
            <a:off x="2937879" y="5535179"/>
            <a:ext cx="1250666" cy="2113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B5957E-CF86-4868-8C29-D795F58AF666}"/>
              </a:ext>
            </a:extLst>
          </p:cNvPr>
          <p:cNvSpPr txBox="1"/>
          <p:nvPr/>
        </p:nvSpPr>
        <p:spPr>
          <a:xfrm>
            <a:off x="3681195" y="4582881"/>
            <a:ext cx="3209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Non-OOP</a:t>
            </a:r>
            <a:endParaRPr lang="en-US" b="1" dirty="0">
              <a:solidFill>
                <a:schemeClr val="accent3"/>
              </a:solidFill>
            </a:endParaRP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C00D0ED7-378B-425E-8E8B-52D9E7B081DD}"/>
              </a:ext>
            </a:extLst>
          </p:cNvPr>
          <p:cNvSpPr/>
          <p:nvPr/>
        </p:nvSpPr>
        <p:spPr>
          <a:xfrm rot="10800000">
            <a:off x="2347941" y="4687054"/>
            <a:ext cx="1250666" cy="2113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1365FB-6C83-42EE-87E6-7C1315CD46FC}"/>
              </a:ext>
            </a:extLst>
          </p:cNvPr>
          <p:cNvSpPr txBox="1"/>
          <p:nvPr/>
        </p:nvSpPr>
        <p:spPr>
          <a:xfrm>
            <a:off x="7455053" y="1055588"/>
            <a:ext cx="451523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my_func():</a:t>
            </a: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print(“Hello”)</a:t>
            </a:r>
          </a:p>
          <a:p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my_func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CA7211-353D-4365-B667-4931AA2EAFDA}"/>
              </a:ext>
            </a:extLst>
          </p:cNvPr>
          <p:cNvSpPr txBox="1"/>
          <p:nvPr/>
        </p:nvSpPr>
        <p:spPr>
          <a:xfrm>
            <a:off x="9178162" y="2437837"/>
            <a:ext cx="22787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This function has not been called</a:t>
            </a:r>
            <a:r>
              <a:rPr lang="en-US" dirty="0">
                <a:solidFill>
                  <a:schemeClr val="accent1"/>
                </a:solidFill>
              </a:rPr>
              <a:t>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07BCF2E-63B0-3E5D-BCC8-9964682502DD}"/>
              </a:ext>
            </a:extLst>
          </p:cNvPr>
          <p:cNvSpPr/>
          <p:nvPr/>
        </p:nvSpPr>
        <p:spPr>
          <a:xfrm>
            <a:off x="619432" y="4312428"/>
            <a:ext cx="1333254" cy="1818058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3321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A742D-1B93-4351-9522-5F2B39F3D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OOP</a:t>
            </a:r>
            <a:r>
              <a:rPr lang="en-US" b="1" dirty="0"/>
              <a:t> Recap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4E1B242-74FE-4433-A023-0912F16D8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819281" cy="4835479"/>
          </a:xfrm>
        </p:spPr>
        <p:txBody>
          <a:bodyPr>
            <a:normAutofit/>
          </a:bodyPr>
          <a:lstStyle/>
          <a:p>
            <a:r>
              <a:rPr lang="en-US" dirty="0"/>
              <a:t>Accessing attributes </a:t>
            </a:r>
            <a:r>
              <a:rPr lang="en-US" dirty="0">
                <a:solidFill>
                  <a:schemeClr val="accent2"/>
                </a:solidFill>
              </a:rPr>
              <a:t>(</a:t>
            </a:r>
            <a:r>
              <a:rPr lang="en-US" dirty="0"/>
              <a:t>Data</a:t>
            </a:r>
            <a:r>
              <a:rPr lang="en-US" dirty="0">
                <a:solidFill>
                  <a:schemeClr val="accent2"/>
                </a:solidFill>
              </a:rPr>
              <a:t>)</a:t>
            </a:r>
            <a:r>
              <a:rPr lang="en-US" dirty="0"/>
              <a:t> and methods </a:t>
            </a:r>
            <a:r>
              <a:rPr lang="en-US" dirty="0">
                <a:solidFill>
                  <a:schemeClr val="accent2"/>
                </a:solidFill>
              </a:rPr>
              <a:t>(</a:t>
            </a:r>
            <a:r>
              <a:rPr lang="en-US" dirty="0"/>
              <a:t>Functions</a:t>
            </a:r>
            <a:r>
              <a:rPr lang="en-US" dirty="0">
                <a:solidFill>
                  <a:schemeClr val="accent2"/>
                </a:solidFill>
              </a:rPr>
              <a:t>)</a:t>
            </a:r>
            <a:r>
              <a:rPr lang="en-US" dirty="0"/>
              <a:t> is different</a:t>
            </a:r>
            <a:r>
              <a:rPr lang="en-US" dirty="0">
                <a:solidFill>
                  <a:schemeClr val="accent2"/>
                </a:solidFill>
              </a:rPr>
              <a:t>.</a:t>
            </a:r>
            <a:endParaRPr lang="en-US" b="1" dirty="0">
              <a:solidFill>
                <a:schemeClr val="accent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CB9E2E-63E2-4DE9-BA90-E907CF05A1A5}"/>
              </a:ext>
            </a:extLst>
          </p:cNvPr>
          <p:cNvSpPr txBox="1"/>
          <p:nvPr/>
        </p:nvSpPr>
        <p:spPr>
          <a:xfrm>
            <a:off x="1053764" y="3653591"/>
            <a:ext cx="451523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ben = Turtle(</a:t>
            </a:r>
            <a:r>
              <a:rPr lang="en-US" sz="28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8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ben.x</a:t>
            </a:r>
          </a:p>
          <a:p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ben.up()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2B2B56-232A-48B2-BE36-F968E123354B}"/>
              </a:ext>
            </a:extLst>
          </p:cNvPr>
          <p:cNvSpPr txBox="1"/>
          <p:nvPr/>
        </p:nvSpPr>
        <p:spPr>
          <a:xfrm>
            <a:off x="4271133" y="5431006"/>
            <a:ext cx="3209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OOP</a:t>
            </a:r>
            <a:endParaRPr lang="en-US" b="1" dirty="0">
              <a:solidFill>
                <a:schemeClr val="accent3"/>
              </a:solidFill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C0C68379-91D2-4B91-8268-25D2E6CBAD41}"/>
              </a:ext>
            </a:extLst>
          </p:cNvPr>
          <p:cNvSpPr/>
          <p:nvPr/>
        </p:nvSpPr>
        <p:spPr>
          <a:xfrm rot="10800000">
            <a:off x="2937879" y="5535179"/>
            <a:ext cx="1250666" cy="2113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B5957E-CF86-4868-8C29-D795F58AF666}"/>
              </a:ext>
            </a:extLst>
          </p:cNvPr>
          <p:cNvSpPr txBox="1"/>
          <p:nvPr/>
        </p:nvSpPr>
        <p:spPr>
          <a:xfrm>
            <a:off x="3681195" y="4582881"/>
            <a:ext cx="3209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OOP</a:t>
            </a:r>
            <a:endParaRPr lang="en-US" b="1" dirty="0">
              <a:solidFill>
                <a:schemeClr val="accent3"/>
              </a:solidFill>
            </a:endParaRP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C00D0ED7-378B-425E-8E8B-52D9E7B081DD}"/>
              </a:ext>
            </a:extLst>
          </p:cNvPr>
          <p:cNvSpPr/>
          <p:nvPr/>
        </p:nvSpPr>
        <p:spPr>
          <a:xfrm rot="10800000">
            <a:off x="2347941" y="4687054"/>
            <a:ext cx="1250666" cy="2113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1365FB-6C83-42EE-87E6-7C1315CD46FC}"/>
              </a:ext>
            </a:extLst>
          </p:cNvPr>
          <p:cNvSpPr txBox="1"/>
          <p:nvPr/>
        </p:nvSpPr>
        <p:spPr>
          <a:xfrm>
            <a:off x="7455053" y="1055588"/>
            <a:ext cx="451523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my_func():</a:t>
            </a: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print(“Hello”)</a:t>
            </a:r>
          </a:p>
          <a:p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my_func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CA7211-353D-4365-B667-4931AA2EAFDA}"/>
              </a:ext>
            </a:extLst>
          </p:cNvPr>
          <p:cNvSpPr txBox="1"/>
          <p:nvPr/>
        </p:nvSpPr>
        <p:spPr>
          <a:xfrm>
            <a:off x="9178162" y="2437837"/>
            <a:ext cx="22787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This function has not been called</a:t>
            </a:r>
            <a:r>
              <a:rPr lang="en-US" dirty="0">
                <a:solidFill>
                  <a:schemeClr val="accent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146602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A742D-1B93-4351-9522-5F2B39F3D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OOP</a:t>
            </a:r>
            <a:r>
              <a:rPr lang="en-US" b="1" dirty="0"/>
              <a:t> Recap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D260FB-378E-4CB6-A747-2BE22D45EF92}"/>
              </a:ext>
            </a:extLst>
          </p:cNvPr>
          <p:cNvSpPr txBox="1"/>
          <p:nvPr/>
        </p:nvSpPr>
        <p:spPr>
          <a:xfrm>
            <a:off x="1071430" y="1966369"/>
            <a:ext cx="44326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seb = Turtle</a:t>
            </a:r>
            <a:r>
              <a:rPr lang="en-US" sz="2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(0, 0)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9EC711-40AD-4D3F-A730-9F08C181D70F}"/>
              </a:ext>
            </a:extLst>
          </p:cNvPr>
          <p:cNvSpPr txBox="1"/>
          <p:nvPr/>
        </p:nvSpPr>
        <p:spPr>
          <a:xfrm>
            <a:off x="6610145" y="1966369"/>
            <a:ext cx="474611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Turtle: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__init__</a:t>
            </a:r>
            <a:r>
              <a:rPr lang="en-US" sz="2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self, </a:t>
            </a:r>
            <a:r>
              <a:rPr lang="en-US" sz="2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 y)</a:t>
            </a:r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self.x = x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self.y = y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up(self):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self.y += 1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goto(self, x, y):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self.x = x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self.y = y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get_position(self):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self.x, self.y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052B14-23FA-48AC-891F-115D07488F44}"/>
              </a:ext>
            </a:extLst>
          </p:cNvPr>
          <p:cNvSpPr txBox="1"/>
          <p:nvPr/>
        </p:nvSpPr>
        <p:spPr>
          <a:xfrm>
            <a:off x="2397105" y="3586808"/>
            <a:ext cx="369889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FFFF"/>
                </a:solidFill>
              </a:rPr>
              <a:t>These parameters are passed to the constructor </a:t>
            </a:r>
            <a:r>
              <a:rPr lang="en-US" sz="2800" dirty="0">
                <a:solidFill>
                  <a:schemeClr val="accent6"/>
                </a:solidFill>
              </a:rPr>
              <a:t>(</a:t>
            </a:r>
            <a:r>
              <a:rPr lang="en-US" sz="2800" dirty="0">
                <a:solidFill>
                  <a:srgbClr val="FFFFFF"/>
                </a:solidFill>
              </a:rPr>
              <a:t>the 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__init__ </a:t>
            </a:r>
            <a:r>
              <a:rPr lang="en-US" sz="2800" dirty="0">
                <a:solidFill>
                  <a:srgbClr val="FFFFFF"/>
                </a:solidFill>
              </a:rPr>
              <a:t>method</a:t>
            </a:r>
            <a:r>
              <a:rPr lang="en-US" sz="2800" dirty="0">
                <a:solidFill>
                  <a:schemeClr val="accent6"/>
                </a:solidFill>
              </a:rPr>
              <a:t>)</a:t>
            </a:r>
            <a:r>
              <a:rPr lang="en-US" sz="2800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A5D5C628-DF69-4564-8829-7B2B5FFB4186}"/>
              </a:ext>
            </a:extLst>
          </p:cNvPr>
          <p:cNvSpPr/>
          <p:nvPr/>
        </p:nvSpPr>
        <p:spPr>
          <a:xfrm flipV="1">
            <a:off x="3287764" y="2465930"/>
            <a:ext cx="294968" cy="112087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FFAB85F-0772-4D03-8FB0-23647E44054C}"/>
              </a:ext>
            </a:extLst>
          </p:cNvPr>
          <p:cNvCxnSpPr>
            <a:cxnSpLocks/>
          </p:cNvCxnSpPr>
          <p:nvPr/>
        </p:nvCxnSpPr>
        <p:spPr>
          <a:xfrm>
            <a:off x="3934870" y="2170963"/>
            <a:ext cx="6058637" cy="60173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2148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A742D-1B93-4351-9522-5F2B39F3D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OOP</a:t>
            </a:r>
            <a:r>
              <a:rPr lang="en-US" b="1" dirty="0"/>
              <a:t> Recap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D260FB-378E-4CB6-A747-2BE22D45EF92}"/>
              </a:ext>
            </a:extLst>
          </p:cNvPr>
          <p:cNvSpPr txBox="1"/>
          <p:nvPr/>
        </p:nvSpPr>
        <p:spPr>
          <a:xfrm>
            <a:off x="1071430" y="1966369"/>
            <a:ext cx="44326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seb = Turtle</a:t>
            </a:r>
            <a:r>
              <a:rPr lang="en-US" sz="2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9EC711-40AD-4D3F-A730-9F08C181D70F}"/>
              </a:ext>
            </a:extLst>
          </p:cNvPr>
          <p:cNvSpPr txBox="1"/>
          <p:nvPr/>
        </p:nvSpPr>
        <p:spPr>
          <a:xfrm>
            <a:off x="6610145" y="1966369"/>
            <a:ext cx="474611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Turtle: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__init__</a:t>
            </a:r>
            <a:r>
              <a:rPr lang="en-US" sz="2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self.x = x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self.y = y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up(self):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self.y += 1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goto(self, x, y):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self.x = x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self.y = y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get_position(self):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self.x, self.y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052B14-23FA-48AC-891F-115D07488F44}"/>
              </a:ext>
            </a:extLst>
          </p:cNvPr>
          <p:cNvSpPr txBox="1"/>
          <p:nvPr/>
        </p:nvSpPr>
        <p:spPr>
          <a:xfrm>
            <a:off x="2102137" y="3586808"/>
            <a:ext cx="369889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FFFF"/>
                </a:solidFill>
              </a:rPr>
              <a:t>Curved brackets are required to create an object</a:t>
            </a:r>
            <a:r>
              <a:rPr lang="en-US" sz="2800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A5D5C628-DF69-4564-8829-7B2B5FFB4186}"/>
              </a:ext>
            </a:extLst>
          </p:cNvPr>
          <p:cNvSpPr/>
          <p:nvPr/>
        </p:nvSpPr>
        <p:spPr>
          <a:xfrm flipV="1">
            <a:off x="2992796" y="2465930"/>
            <a:ext cx="294968" cy="112087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81336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118C3C-13F5-4EA8-9EA9-3448AC353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Review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Point</a:t>
            </a:r>
            <a:r>
              <a:rPr lang="en-US" b="1" dirty="0"/>
              <a:t> Class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EF1E632-EB44-4712-B35B-CF93D4F2C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6681537" cy="4835479"/>
          </a:xfrm>
        </p:spPr>
        <p:txBody>
          <a:bodyPr>
            <a:normAutofit/>
          </a:bodyPr>
          <a:lstStyle/>
          <a:p>
            <a:r>
              <a:rPr lang="en-US" sz="3200" dirty="0"/>
              <a:t>Our Point class from last lecture</a:t>
            </a:r>
            <a:r>
              <a:rPr lang="en-US" sz="3200" dirty="0">
                <a:solidFill>
                  <a:schemeClr val="accent6"/>
                </a:solidFill>
              </a:rPr>
              <a:t>:</a:t>
            </a:r>
          </a:p>
          <a:p>
            <a:pPr lvl="1"/>
            <a:r>
              <a:rPr lang="en-US" sz="2800" dirty="0"/>
              <a:t>Contain data about the location of a Point instance</a:t>
            </a:r>
            <a:r>
              <a:rPr lang="en-US" sz="2800" dirty="0">
                <a:solidFill>
                  <a:schemeClr val="accent2"/>
                </a:solidFill>
              </a:rPr>
              <a:t>.</a:t>
            </a:r>
          </a:p>
          <a:p>
            <a:pPr lvl="1"/>
            <a:r>
              <a:rPr lang="en-US" sz="2800" dirty="0"/>
              <a:t>Be able to calculate the distance between the Point instance and another point</a:t>
            </a:r>
            <a:r>
              <a:rPr lang="en-US" sz="2800" dirty="0">
                <a:solidFill>
                  <a:schemeClr val="accent2"/>
                </a:solidFill>
              </a:rPr>
              <a:t>.</a:t>
            </a:r>
          </a:p>
          <a:p>
            <a:pPr lvl="1"/>
            <a:r>
              <a:rPr lang="en-US" sz="2800" dirty="0">
                <a:solidFill>
                  <a:srgbClr val="FFC000"/>
                </a:solidFill>
              </a:rPr>
              <a:t>Be able to calculate distance between the Point and the origin</a:t>
            </a:r>
            <a:r>
              <a:rPr lang="en-US" sz="2800" dirty="0">
                <a:solidFill>
                  <a:schemeClr val="accent3"/>
                </a:solidFill>
              </a:rPr>
              <a:t>.</a:t>
            </a:r>
          </a:p>
          <a:p>
            <a:pPr lvl="1"/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03D003C-E002-4C71-9930-DC1989AF1D0E}"/>
              </a:ext>
            </a:extLst>
          </p:cNvPr>
          <p:cNvSpPr/>
          <p:nvPr/>
        </p:nvSpPr>
        <p:spPr>
          <a:xfrm>
            <a:off x="8568559" y="803077"/>
            <a:ext cx="3153103" cy="770036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Point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B54FD5F-E26A-4D2C-A66A-00CB704B6365}"/>
              </a:ext>
            </a:extLst>
          </p:cNvPr>
          <p:cNvSpPr/>
          <p:nvPr/>
        </p:nvSpPr>
        <p:spPr>
          <a:xfrm>
            <a:off x="8568558" y="1861993"/>
            <a:ext cx="3153103" cy="2039971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x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y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4CD5C47-8B8B-44F6-8DD3-6484ED263A64}"/>
              </a:ext>
            </a:extLst>
          </p:cNvPr>
          <p:cNvSpPr/>
          <p:nvPr/>
        </p:nvSpPr>
        <p:spPr>
          <a:xfrm>
            <a:off x="8568558" y="4190844"/>
            <a:ext cx="3153103" cy="2260255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</a:rPr>
              <a:t>distance between points</a:t>
            </a:r>
          </a:p>
          <a:p>
            <a:pPr algn="ctr"/>
            <a:r>
              <a:rPr lang="en-US" b="1" dirty="0">
                <a:solidFill>
                  <a:srgbClr val="FFC000"/>
                </a:solidFill>
              </a:rPr>
              <a:t>distance from the origin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A0D2CC-69AA-4796-BD77-BC2B17162369}"/>
              </a:ext>
            </a:extLst>
          </p:cNvPr>
          <p:cNvSpPr txBox="1"/>
          <p:nvPr/>
        </p:nvSpPr>
        <p:spPr>
          <a:xfrm>
            <a:off x="4049485" y="6081767"/>
            <a:ext cx="25394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FFFF"/>
                </a:solidFill>
              </a:rPr>
              <a:t>Add new method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F3DEEC0-F292-4978-9082-A595D9F67472}"/>
              </a:ext>
            </a:extLst>
          </p:cNvPr>
          <p:cNvCxnSpPr>
            <a:stCxn id="2" idx="0"/>
          </p:cNvCxnSpPr>
          <p:nvPr/>
        </p:nvCxnSpPr>
        <p:spPr>
          <a:xfrm flipH="1" flipV="1">
            <a:off x="4690755" y="5320971"/>
            <a:ext cx="628469" cy="76079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B276177-53D3-4D73-B2DD-EDAFB3E19A48}"/>
              </a:ext>
            </a:extLst>
          </p:cNvPr>
          <p:cNvCxnSpPr>
            <a:cxnSpLocks/>
            <a:stCxn id="2" idx="0"/>
          </p:cNvCxnSpPr>
          <p:nvPr/>
        </p:nvCxnSpPr>
        <p:spPr>
          <a:xfrm flipV="1">
            <a:off x="5319224" y="5510151"/>
            <a:ext cx="3421015" cy="57161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69500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118C3C-13F5-4EA8-9EA9-3448AC353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Review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Point</a:t>
            </a:r>
            <a:r>
              <a:rPr lang="en-US" b="1" dirty="0"/>
              <a:t> Class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EF1E632-EB44-4712-B35B-CF93D4F2C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6681537" cy="4835479"/>
          </a:xfrm>
        </p:spPr>
        <p:txBody>
          <a:bodyPr>
            <a:normAutofit/>
          </a:bodyPr>
          <a:lstStyle/>
          <a:p>
            <a:r>
              <a:rPr lang="en-US" sz="3200" dirty="0"/>
              <a:t>Our Point class from last lecture</a:t>
            </a:r>
            <a:r>
              <a:rPr lang="en-US" sz="3200" dirty="0">
                <a:solidFill>
                  <a:schemeClr val="accent6"/>
                </a:solidFill>
              </a:rPr>
              <a:t>:</a:t>
            </a:r>
          </a:p>
          <a:p>
            <a:pPr lvl="1"/>
            <a:r>
              <a:rPr lang="en-US" sz="2800" dirty="0"/>
              <a:t>Contain data about the location of a Point instance</a:t>
            </a:r>
            <a:r>
              <a:rPr lang="en-US" sz="2800" dirty="0">
                <a:solidFill>
                  <a:schemeClr val="accent2"/>
                </a:solidFill>
              </a:rPr>
              <a:t>.</a:t>
            </a:r>
          </a:p>
          <a:p>
            <a:pPr lvl="1"/>
            <a:r>
              <a:rPr lang="en-US" sz="2800" dirty="0"/>
              <a:t>Be able to calculate the distance between the Point instance and another point</a:t>
            </a:r>
            <a:r>
              <a:rPr lang="en-US" sz="2800" dirty="0">
                <a:solidFill>
                  <a:schemeClr val="accent2"/>
                </a:solidFill>
              </a:rPr>
              <a:t>.</a:t>
            </a:r>
          </a:p>
          <a:p>
            <a:pPr lvl="1"/>
            <a:r>
              <a:rPr lang="en-US" sz="2800" dirty="0">
                <a:solidFill>
                  <a:srgbClr val="FFC000"/>
                </a:solidFill>
              </a:rPr>
              <a:t>Be able to calculate distance between the Point and the origin</a:t>
            </a:r>
            <a:r>
              <a:rPr lang="en-US" sz="2800" dirty="0">
                <a:solidFill>
                  <a:schemeClr val="accent3"/>
                </a:solidFill>
              </a:rPr>
              <a:t>.</a:t>
            </a:r>
          </a:p>
          <a:p>
            <a:pPr lvl="1"/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B10F649-9131-48C3-BD83-DA9D2F071CAE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1. </a:t>
            </a:r>
            <a:r>
              <a:rPr lang="en-US" sz="2600" b="1" dirty="0">
                <a:solidFill>
                  <a:schemeClr val="accent6"/>
                </a:solidFill>
              </a:rPr>
              <a:t>Point Class</a:t>
            </a:r>
          </a:p>
        </p:txBody>
      </p:sp>
    </p:spTree>
    <p:extLst>
      <p:ext uri="{BB962C8B-B14F-4D97-AF65-F5344CB8AC3E}">
        <p14:creationId xmlns:p14="http://schemas.microsoft.com/office/powerpoint/2010/main" val="31362610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9D7A5-2615-487B-A824-0AFB5BD17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Methods </a:t>
            </a:r>
            <a:r>
              <a:rPr lang="en-US" b="1" dirty="0">
                <a:solidFill>
                  <a:schemeClr val="accent6"/>
                </a:solidFill>
              </a:rPr>
              <a:t>and</a:t>
            </a:r>
            <a:r>
              <a:rPr lang="en-US" b="1" dirty="0"/>
              <a:t>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C87298-20C0-4380-9C2F-A3CE16E86A5C}"/>
              </a:ext>
            </a:extLst>
          </p:cNvPr>
          <p:cNvSpPr txBox="1"/>
          <p:nvPr/>
        </p:nvSpPr>
        <p:spPr>
          <a:xfrm>
            <a:off x="307032" y="2734443"/>
            <a:ext cx="645389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Turtle: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__init__(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x, y):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.x = x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.y = y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goto(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x, y):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.print_location()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print_location(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print(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.x,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.y)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CD198E-83F7-48F0-842C-E433CD1A948E}"/>
              </a:ext>
            </a:extLst>
          </p:cNvPr>
          <p:cNvSpPr txBox="1"/>
          <p:nvPr/>
        </p:nvSpPr>
        <p:spPr>
          <a:xfrm>
            <a:off x="7675415" y="2734442"/>
            <a:ext cx="370114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 = Turtle(10, 12)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alex.print_location()</a:t>
            </a:r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FDB0C0-2566-4051-9A4E-DBFDDEF4F45F}"/>
              </a:ext>
            </a:extLst>
          </p:cNvPr>
          <p:cNvSpPr txBox="1"/>
          <p:nvPr/>
        </p:nvSpPr>
        <p:spPr>
          <a:xfrm>
            <a:off x="307032" y="2006930"/>
            <a:ext cx="3930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Inside Class Definition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8912A1-88B3-478B-817E-1B17FE8A1D10}"/>
              </a:ext>
            </a:extLst>
          </p:cNvPr>
          <p:cNvSpPr txBox="1"/>
          <p:nvPr/>
        </p:nvSpPr>
        <p:spPr>
          <a:xfrm>
            <a:off x="7675415" y="2006930"/>
            <a:ext cx="42290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Outside Class Definition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0A97EE-D277-45B9-A3F3-301F3D15CA38}"/>
              </a:ext>
            </a:extLst>
          </p:cNvPr>
          <p:cNvSpPr txBox="1"/>
          <p:nvPr/>
        </p:nvSpPr>
        <p:spPr>
          <a:xfrm>
            <a:off x="5863897" y="5504432"/>
            <a:ext cx="386199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400" dirty="0">
                <a:solidFill>
                  <a:srgbClr val="FFFFFF"/>
                </a:solidFill>
              </a:rPr>
              <a:t> refers to the instance inside the class definition</a:t>
            </a:r>
            <a:r>
              <a:rPr lang="en-US" sz="2400" dirty="0">
                <a:solidFill>
                  <a:schemeClr val="accent3"/>
                </a:solidFill>
              </a:rPr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E36768-EF96-4019-A1D5-BD39B0413766}"/>
              </a:ext>
            </a:extLst>
          </p:cNvPr>
          <p:cNvSpPr txBox="1"/>
          <p:nvPr/>
        </p:nvSpPr>
        <p:spPr>
          <a:xfrm>
            <a:off x="8413705" y="3864932"/>
            <a:ext cx="327161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FFFF"/>
                </a:solidFill>
              </a:rPr>
              <a:t>The instance variable name refers to the instance outside the class definition</a:t>
            </a:r>
            <a:r>
              <a:rPr lang="en-US" sz="2400" dirty="0">
                <a:solidFill>
                  <a:schemeClr val="accent3"/>
                </a:solidFill>
              </a:rPr>
              <a:t>.</a:t>
            </a:r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FD2033E6-C1DC-4249-8A3C-DCDA7BAAE076}"/>
              </a:ext>
            </a:extLst>
          </p:cNvPr>
          <p:cNvSpPr/>
          <p:nvPr/>
        </p:nvSpPr>
        <p:spPr>
          <a:xfrm flipH="1">
            <a:off x="1531915" y="5484134"/>
            <a:ext cx="4298867" cy="328074"/>
          </a:xfrm>
          <a:prstGeom prst="bent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Bent-Up 19">
            <a:extLst>
              <a:ext uri="{FF2B5EF4-FFF2-40B4-BE49-F238E27FC236}">
                <a16:creationId xmlns:a16="http://schemas.microsoft.com/office/drawing/2014/main" id="{678A18E9-8F9F-47B7-863B-51EE2E58F317}"/>
              </a:ext>
            </a:extLst>
          </p:cNvPr>
          <p:cNvSpPr/>
          <p:nvPr/>
        </p:nvSpPr>
        <p:spPr>
          <a:xfrm flipH="1">
            <a:off x="7992180" y="3713470"/>
            <a:ext cx="415550" cy="487681"/>
          </a:xfrm>
          <a:prstGeom prst="bent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9844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9D7A5-2615-487B-A824-0AFB5BD17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Methods </a:t>
            </a:r>
            <a:r>
              <a:rPr lang="en-US" b="1" dirty="0">
                <a:solidFill>
                  <a:schemeClr val="accent6"/>
                </a:solidFill>
              </a:rPr>
              <a:t>and</a:t>
            </a:r>
            <a:r>
              <a:rPr lang="en-US" b="1" dirty="0"/>
              <a:t>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C87298-20C0-4380-9C2F-A3CE16E86A5C}"/>
              </a:ext>
            </a:extLst>
          </p:cNvPr>
          <p:cNvSpPr txBox="1"/>
          <p:nvPr/>
        </p:nvSpPr>
        <p:spPr>
          <a:xfrm>
            <a:off x="307032" y="2734443"/>
            <a:ext cx="645389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Turtle: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__init__(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x, y):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.x = x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.y = y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goto(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x, y):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body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.print_location()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print_location(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print(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.x,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.y)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FDB0C0-2566-4051-9A4E-DBFDDEF4F45F}"/>
              </a:ext>
            </a:extLst>
          </p:cNvPr>
          <p:cNvSpPr txBox="1"/>
          <p:nvPr/>
        </p:nvSpPr>
        <p:spPr>
          <a:xfrm>
            <a:off x="307032" y="2006930"/>
            <a:ext cx="3930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Inside Class Definition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228819-FF67-4559-A355-3B29EFA79DBE}"/>
              </a:ext>
            </a:extLst>
          </p:cNvPr>
          <p:cNvSpPr txBox="1"/>
          <p:nvPr/>
        </p:nvSpPr>
        <p:spPr>
          <a:xfrm>
            <a:off x="7675415" y="2734442"/>
            <a:ext cx="370114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 = Turtle(10, 12)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alex.print_location()</a:t>
            </a:r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E37282-697B-4A9E-887E-389A062682D3}"/>
              </a:ext>
            </a:extLst>
          </p:cNvPr>
          <p:cNvSpPr txBox="1"/>
          <p:nvPr/>
        </p:nvSpPr>
        <p:spPr>
          <a:xfrm>
            <a:off x="7675415" y="2006930"/>
            <a:ext cx="42290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Outside Class Definition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4EE469-D981-4C85-8386-231CFE0E3916}"/>
              </a:ext>
            </a:extLst>
          </p:cNvPr>
          <p:cNvSpPr txBox="1"/>
          <p:nvPr/>
        </p:nvSpPr>
        <p:spPr>
          <a:xfrm>
            <a:off x="5044892" y="4135420"/>
            <a:ext cx="313720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FFFF"/>
                </a:solidFill>
                <a:cs typeface="Courier New" panose="02070309020205020404" pitchFamily="49" charset="0"/>
              </a:rPr>
              <a:t>When defining a method</a:t>
            </a:r>
            <a:r>
              <a:rPr lang="en-US" sz="2400" dirty="0">
                <a:solidFill>
                  <a:schemeClr val="accent1"/>
                </a:solidFill>
                <a:cs typeface="Courier New" panose="02070309020205020404" pitchFamily="49" charset="0"/>
              </a:rPr>
              <a:t>, </a:t>
            </a:r>
            <a:r>
              <a:rPr lang="en-US" sz="2400" dirty="0">
                <a:solidFill>
                  <a:srgbClr val="FFFFFF"/>
                </a:solidFill>
                <a:cs typeface="Courier New" panose="02070309020205020404" pitchFamily="49" charset="0"/>
              </a:rPr>
              <a:t>the first parameter refers to the instance being manipulated (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400" dirty="0">
                <a:solidFill>
                  <a:srgbClr val="FFFFFF"/>
                </a:solidFill>
                <a:cs typeface="Courier New" panose="02070309020205020404" pitchFamily="49" charset="0"/>
              </a:rPr>
              <a:t>)</a:t>
            </a:r>
            <a:r>
              <a:rPr lang="en-US" sz="2400" dirty="0">
                <a:solidFill>
                  <a:schemeClr val="accent1"/>
                </a:solidFill>
              </a:rPr>
              <a:t>.</a:t>
            </a:r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AFDEA425-DB6A-4649-9A6C-AA7091A41752}"/>
              </a:ext>
            </a:extLst>
          </p:cNvPr>
          <p:cNvSpPr/>
          <p:nvPr/>
        </p:nvSpPr>
        <p:spPr>
          <a:xfrm flipH="1" flipV="1">
            <a:off x="2378933" y="4379475"/>
            <a:ext cx="2644419" cy="299402"/>
          </a:xfrm>
          <a:prstGeom prst="bent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921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9D7A5-2615-487B-A824-0AFB5BD17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Methods </a:t>
            </a:r>
            <a:r>
              <a:rPr lang="en-US" b="1" dirty="0">
                <a:solidFill>
                  <a:schemeClr val="accent6"/>
                </a:solidFill>
              </a:rPr>
              <a:t>and</a:t>
            </a:r>
            <a:r>
              <a:rPr lang="en-US" b="1" dirty="0"/>
              <a:t>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C87298-20C0-4380-9C2F-A3CE16E86A5C}"/>
              </a:ext>
            </a:extLst>
          </p:cNvPr>
          <p:cNvSpPr txBox="1"/>
          <p:nvPr/>
        </p:nvSpPr>
        <p:spPr>
          <a:xfrm>
            <a:off x="307032" y="2734443"/>
            <a:ext cx="645389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Turtle: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__init__(x, y):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.x = x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.y = y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goto(x, y):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.print_location()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print_location():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print(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.x,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.y)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FDB0C0-2566-4051-9A4E-DBFDDEF4F45F}"/>
              </a:ext>
            </a:extLst>
          </p:cNvPr>
          <p:cNvSpPr txBox="1"/>
          <p:nvPr/>
        </p:nvSpPr>
        <p:spPr>
          <a:xfrm>
            <a:off x="307032" y="2006930"/>
            <a:ext cx="3930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Inside Class Definition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228819-FF67-4559-A355-3B29EFA79DBE}"/>
              </a:ext>
            </a:extLst>
          </p:cNvPr>
          <p:cNvSpPr txBox="1"/>
          <p:nvPr/>
        </p:nvSpPr>
        <p:spPr>
          <a:xfrm>
            <a:off x="7675415" y="2734442"/>
            <a:ext cx="370114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 = Turtle(10, 12)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alex.print_location()</a:t>
            </a:r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E37282-697B-4A9E-887E-389A062682D3}"/>
              </a:ext>
            </a:extLst>
          </p:cNvPr>
          <p:cNvSpPr txBox="1"/>
          <p:nvPr/>
        </p:nvSpPr>
        <p:spPr>
          <a:xfrm>
            <a:off x="7675415" y="2006930"/>
            <a:ext cx="42290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Outside Class Definition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4EE469-D981-4C85-8386-231CFE0E3916}"/>
              </a:ext>
            </a:extLst>
          </p:cNvPr>
          <p:cNvSpPr txBox="1"/>
          <p:nvPr/>
        </p:nvSpPr>
        <p:spPr>
          <a:xfrm>
            <a:off x="4844314" y="3577392"/>
            <a:ext cx="3137207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FFFF"/>
                </a:solidFill>
                <a:cs typeface="Courier New" panose="02070309020205020404" pitchFamily="49" charset="0"/>
              </a:rPr>
              <a:t>Why do we always need to pass in self as the first parameter of a method</a:t>
            </a:r>
            <a:r>
              <a:rPr lang="en-US" sz="2400" dirty="0">
                <a:solidFill>
                  <a:schemeClr val="accent6"/>
                </a:solidFill>
                <a:cs typeface="Courier New" panose="02070309020205020404" pitchFamily="49" charset="0"/>
              </a:rPr>
              <a:t>?</a:t>
            </a:r>
          </a:p>
          <a:p>
            <a:r>
              <a:rPr lang="en-US" sz="2400" b="1" dirty="0">
                <a:solidFill>
                  <a:srgbClr val="FFFFFF"/>
                </a:solidFill>
                <a:cs typeface="Courier New" panose="02070309020205020404" pitchFamily="49" charset="0"/>
              </a:rPr>
              <a:t>Python assumes you need to access </a:t>
            </a:r>
            <a:r>
              <a:rPr lang="en-US" sz="2400" b="1" dirty="0">
                <a:solidFill>
                  <a:schemeClr val="accent6"/>
                </a:solidFill>
                <a:cs typeface="Courier New" panose="02070309020205020404" pitchFamily="49" charset="0"/>
              </a:rPr>
              <a:t>data</a:t>
            </a:r>
            <a:r>
              <a:rPr lang="en-US" sz="2400" b="1" dirty="0">
                <a:solidFill>
                  <a:srgbClr val="FFFFFF"/>
                </a:solidFill>
                <a:cs typeface="Courier New" panose="02070309020205020404" pitchFamily="49" charset="0"/>
              </a:rPr>
              <a:t> and</a:t>
            </a:r>
            <a:r>
              <a:rPr lang="en-US" sz="2400" b="1" dirty="0">
                <a:solidFill>
                  <a:schemeClr val="accent6"/>
                </a:solidFill>
                <a:cs typeface="Courier New" panose="02070309020205020404" pitchFamily="49" charset="0"/>
              </a:rPr>
              <a:t>/</a:t>
            </a:r>
            <a:r>
              <a:rPr lang="en-US" sz="2400" b="1" dirty="0">
                <a:solidFill>
                  <a:srgbClr val="FFFFFF"/>
                </a:solidFill>
                <a:cs typeface="Courier New" panose="02070309020205020404" pitchFamily="49" charset="0"/>
              </a:rPr>
              <a:t>or </a:t>
            </a:r>
            <a:r>
              <a:rPr lang="en-US" sz="2400" b="1" dirty="0">
                <a:solidFill>
                  <a:schemeClr val="accent6"/>
                </a:solidFill>
                <a:cs typeface="Courier New" panose="02070309020205020404" pitchFamily="49" charset="0"/>
              </a:rPr>
              <a:t>functions</a:t>
            </a:r>
            <a:r>
              <a:rPr lang="en-US" sz="2400" b="1" dirty="0">
                <a:solidFill>
                  <a:srgbClr val="FFFFFF"/>
                </a:solidFill>
                <a:cs typeface="Courier New" panose="02070309020205020404" pitchFamily="49" charset="0"/>
              </a:rPr>
              <a:t> of the object</a:t>
            </a:r>
            <a:r>
              <a:rPr lang="en-US" sz="2400" b="1" dirty="0">
                <a:solidFill>
                  <a:schemeClr val="accent6"/>
                </a:solidFill>
                <a:cs typeface="Courier New" panose="02070309020205020404" pitchFamily="49" charset="0"/>
              </a:rPr>
              <a:t>.</a:t>
            </a:r>
            <a:endParaRPr lang="en-US" sz="2400" b="1" dirty="0">
              <a:solidFill>
                <a:schemeClr val="accent6"/>
              </a:solidFill>
            </a:endParaRPr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AFDEA425-DB6A-4649-9A6C-AA7091A41752}"/>
              </a:ext>
            </a:extLst>
          </p:cNvPr>
          <p:cNvSpPr/>
          <p:nvPr/>
        </p:nvSpPr>
        <p:spPr>
          <a:xfrm flipH="1" flipV="1">
            <a:off x="3192980" y="3776645"/>
            <a:ext cx="1651334" cy="1428979"/>
          </a:xfrm>
          <a:prstGeom prst="bentUpArrow">
            <a:avLst>
              <a:gd name="adj1" fmla="val 9312"/>
              <a:gd name="adj2" fmla="val 10757"/>
              <a:gd name="adj3" fmla="val 134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23F92886-9EA9-594B-93CB-01320B321B8E}"/>
              </a:ext>
            </a:extLst>
          </p:cNvPr>
          <p:cNvSpPr/>
          <p:nvPr/>
        </p:nvSpPr>
        <p:spPr>
          <a:xfrm>
            <a:off x="3868995" y="3880931"/>
            <a:ext cx="253672" cy="224955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83463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9D7A5-2615-487B-A824-0AFB5BD17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Methods </a:t>
            </a:r>
            <a:r>
              <a:rPr lang="en-US" b="1" dirty="0">
                <a:solidFill>
                  <a:schemeClr val="accent6"/>
                </a:solidFill>
              </a:rPr>
              <a:t>and</a:t>
            </a:r>
            <a:r>
              <a:rPr lang="en-US" b="1" dirty="0"/>
              <a:t>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C87298-20C0-4380-9C2F-A3CE16E86A5C}"/>
              </a:ext>
            </a:extLst>
          </p:cNvPr>
          <p:cNvSpPr txBox="1"/>
          <p:nvPr/>
        </p:nvSpPr>
        <p:spPr>
          <a:xfrm>
            <a:off x="307032" y="2734443"/>
            <a:ext cx="645389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Turtle: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__init__(x, y):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.x = x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.y = y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goto(x, y):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.print_location()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print_location():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print(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.x,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.y)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FDB0C0-2566-4051-9A4E-DBFDDEF4F45F}"/>
              </a:ext>
            </a:extLst>
          </p:cNvPr>
          <p:cNvSpPr txBox="1"/>
          <p:nvPr/>
        </p:nvSpPr>
        <p:spPr>
          <a:xfrm>
            <a:off x="307032" y="2006930"/>
            <a:ext cx="3930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Inside Class Definition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228819-FF67-4559-A355-3B29EFA79DBE}"/>
              </a:ext>
            </a:extLst>
          </p:cNvPr>
          <p:cNvSpPr txBox="1"/>
          <p:nvPr/>
        </p:nvSpPr>
        <p:spPr>
          <a:xfrm>
            <a:off x="7675415" y="2734442"/>
            <a:ext cx="370114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 = Turtle(10, 12)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alex.print_location()</a:t>
            </a:r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E37282-697B-4A9E-887E-389A062682D3}"/>
              </a:ext>
            </a:extLst>
          </p:cNvPr>
          <p:cNvSpPr txBox="1"/>
          <p:nvPr/>
        </p:nvSpPr>
        <p:spPr>
          <a:xfrm>
            <a:off x="7675415" y="2006930"/>
            <a:ext cx="42290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Outside Class Definition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4EE469-D981-4C85-8386-231CFE0E3916}"/>
              </a:ext>
            </a:extLst>
          </p:cNvPr>
          <p:cNvSpPr txBox="1"/>
          <p:nvPr/>
        </p:nvSpPr>
        <p:spPr>
          <a:xfrm>
            <a:off x="5044892" y="4135420"/>
            <a:ext cx="313720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FFFF"/>
                </a:solidFill>
                <a:cs typeface="Courier New" panose="02070309020205020404" pitchFamily="49" charset="0"/>
              </a:rPr>
              <a:t>A common error is to omit the 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400" dirty="0">
                <a:solidFill>
                  <a:srgbClr val="FFFFFF"/>
                </a:solidFill>
                <a:cs typeface="Courier New" panose="02070309020205020404" pitchFamily="49" charset="0"/>
              </a:rPr>
              <a:t> argument as the first parameter of a method definition</a:t>
            </a:r>
            <a:r>
              <a:rPr lang="en-US" sz="2400" dirty="0">
                <a:solidFill>
                  <a:schemeClr val="accent1"/>
                </a:solidFill>
                <a:cs typeface="Courier New" panose="02070309020205020404" pitchFamily="49" charset="0"/>
              </a:rPr>
              <a:t>.</a:t>
            </a:r>
            <a:endParaRPr lang="en-US" sz="2400" dirty="0">
              <a:solidFill>
                <a:schemeClr val="accent1"/>
              </a:solidFill>
            </a:endParaRPr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AFDEA425-DB6A-4649-9A6C-AA7091A41752}"/>
              </a:ext>
            </a:extLst>
          </p:cNvPr>
          <p:cNvSpPr/>
          <p:nvPr/>
        </p:nvSpPr>
        <p:spPr>
          <a:xfrm flipH="1" flipV="1">
            <a:off x="2149434" y="4379475"/>
            <a:ext cx="2873918" cy="299402"/>
          </a:xfrm>
          <a:prstGeom prst="bent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0786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9D7A5-2615-487B-A824-0AFB5BD17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Methods </a:t>
            </a:r>
            <a:r>
              <a:rPr lang="en-US" b="1" dirty="0">
                <a:solidFill>
                  <a:schemeClr val="accent6"/>
                </a:solidFill>
              </a:rPr>
              <a:t>and</a:t>
            </a:r>
            <a:r>
              <a:rPr lang="en-US" b="1" dirty="0"/>
              <a:t>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C87298-20C0-4380-9C2F-A3CE16E86A5C}"/>
              </a:ext>
            </a:extLst>
          </p:cNvPr>
          <p:cNvSpPr txBox="1"/>
          <p:nvPr/>
        </p:nvSpPr>
        <p:spPr>
          <a:xfrm>
            <a:off x="307032" y="2734443"/>
            <a:ext cx="645389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Turtle: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__init__(x, y):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.x = x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.y = y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goto(x, y):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.print_location()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print_location():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print(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.x,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.y)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FDB0C0-2566-4051-9A4E-DBFDDEF4F45F}"/>
              </a:ext>
            </a:extLst>
          </p:cNvPr>
          <p:cNvSpPr txBox="1"/>
          <p:nvPr/>
        </p:nvSpPr>
        <p:spPr>
          <a:xfrm>
            <a:off x="307032" y="2006930"/>
            <a:ext cx="3930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Inside Class Definition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228819-FF67-4559-A355-3B29EFA79DBE}"/>
              </a:ext>
            </a:extLst>
          </p:cNvPr>
          <p:cNvSpPr txBox="1"/>
          <p:nvPr/>
        </p:nvSpPr>
        <p:spPr>
          <a:xfrm>
            <a:off x="7675415" y="2734442"/>
            <a:ext cx="370114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 = Turtle(10, 12)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alex.print_location()</a:t>
            </a:r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E37282-697B-4A9E-887E-389A062682D3}"/>
              </a:ext>
            </a:extLst>
          </p:cNvPr>
          <p:cNvSpPr txBox="1"/>
          <p:nvPr/>
        </p:nvSpPr>
        <p:spPr>
          <a:xfrm>
            <a:off x="7675415" y="2006930"/>
            <a:ext cx="42290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Outside Class Definition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30AC32-C539-4C61-9767-1EC21B9BD904}"/>
              </a:ext>
            </a:extLst>
          </p:cNvPr>
          <p:cNvSpPr txBox="1"/>
          <p:nvPr/>
        </p:nvSpPr>
        <p:spPr>
          <a:xfrm>
            <a:off x="4813501" y="2006930"/>
            <a:ext cx="2855939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TypeError: </a:t>
            </a:r>
          </a:p>
          <a:p>
            <a:r>
              <a:rPr lang="en-US" sz="2400" dirty="0">
                <a:solidFill>
                  <a:srgbClr val="00FF00"/>
                </a:solidFill>
              </a:rPr>
              <a:t>print_location() </a:t>
            </a:r>
            <a:r>
              <a:rPr lang="en-US" sz="2400" dirty="0">
                <a:solidFill>
                  <a:srgbClr val="FFFFFF"/>
                </a:solidFill>
              </a:rPr>
              <a:t>takes 0 positional arguments but 1 was given</a:t>
            </a:r>
            <a:r>
              <a:rPr lang="en-US" sz="2400" dirty="0">
                <a:solidFill>
                  <a:schemeClr val="accent2"/>
                </a:solidFill>
              </a:rPr>
              <a:t>.</a:t>
            </a: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rgbClr val="FFFFFF"/>
                </a:solidFill>
              </a:rPr>
              <a:t>A method call automatically inserts an instance reference as the first argument</a:t>
            </a:r>
            <a:r>
              <a:rPr lang="en-US" sz="2400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378CD8-8F4C-40C2-819F-587C016BB3C7}"/>
              </a:ext>
            </a:extLst>
          </p:cNvPr>
          <p:cNvSpPr txBox="1"/>
          <p:nvPr/>
        </p:nvSpPr>
        <p:spPr>
          <a:xfrm>
            <a:off x="8413705" y="3876807"/>
            <a:ext cx="327161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FFFF"/>
                </a:solidFill>
              </a:rPr>
              <a:t>The error only occurs when you call the function</a:t>
            </a:r>
            <a:r>
              <a:rPr lang="en-US" sz="2400" dirty="0">
                <a:solidFill>
                  <a:schemeClr val="accent3"/>
                </a:solidFill>
              </a:rPr>
              <a:t>.</a:t>
            </a:r>
          </a:p>
          <a:p>
            <a:endParaRPr lang="en-US" sz="2400" dirty="0">
              <a:solidFill>
                <a:schemeClr val="accent3"/>
              </a:solidFill>
            </a:endParaRPr>
          </a:p>
          <a:p>
            <a:r>
              <a:rPr lang="en-US" sz="2400" dirty="0">
                <a:solidFill>
                  <a:srgbClr val="FFFFFF"/>
                </a:solidFill>
              </a:rPr>
              <a:t>Defining the methods without 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400" b="1" dirty="0">
                <a:solidFill>
                  <a:srgbClr val="00FF00"/>
                </a:solidFill>
              </a:rPr>
              <a:t> </a:t>
            </a:r>
            <a:r>
              <a:rPr lang="en-US" sz="2400" dirty="0">
                <a:solidFill>
                  <a:srgbClr val="FFFFFF"/>
                </a:solidFill>
              </a:rPr>
              <a:t>will not cause an error</a:t>
            </a:r>
            <a:r>
              <a:rPr lang="en-US" sz="2400" dirty="0">
                <a:solidFill>
                  <a:schemeClr val="accent3"/>
                </a:solidFill>
              </a:rPr>
              <a:t>.</a:t>
            </a:r>
          </a:p>
        </p:txBody>
      </p:sp>
      <p:sp>
        <p:nvSpPr>
          <p:cNvPr id="13" name="Arrow: Bent-Up 12">
            <a:extLst>
              <a:ext uri="{FF2B5EF4-FFF2-40B4-BE49-F238E27FC236}">
                <a16:creationId xmlns:a16="http://schemas.microsoft.com/office/drawing/2014/main" id="{D352B2C3-C8F5-4E06-A6B3-B662E7CA2798}"/>
              </a:ext>
            </a:extLst>
          </p:cNvPr>
          <p:cNvSpPr/>
          <p:nvPr/>
        </p:nvSpPr>
        <p:spPr>
          <a:xfrm flipH="1">
            <a:off x="7992180" y="3713470"/>
            <a:ext cx="415550" cy="487681"/>
          </a:xfrm>
          <a:prstGeom prst="bent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1639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9D7A5-2615-487B-A824-0AFB5BD17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Methods </a:t>
            </a:r>
            <a:r>
              <a:rPr lang="en-US" b="1" dirty="0">
                <a:solidFill>
                  <a:schemeClr val="accent6"/>
                </a:solidFill>
              </a:rPr>
              <a:t>and</a:t>
            </a:r>
            <a:r>
              <a:rPr lang="en-US" b="1" dirty="0"/>
              <a:t>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C87298-20C0-4380-9C2F-A3CE16E86A5C}"/>
              </a:ext>
            </a:extLst>
          </p:cNvPr>
          <p:cNvSpPr txBox="1"/>
          <p:nvPr/>
        </p:nvSpPr>
        <p:spPr>
          <a:xfrm>
            <a:off x="307032" y="2734443"/>
            <a:ext cx="645389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Turtle: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__init__(x, y):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.x = x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.y = y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goto(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 y):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.print_location()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print_location(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print(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.x,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.y)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FDB0C0-2566-4051-9A4E-DBFDDEF4F45F}"/>
              </a:ext>
            </a:extLst>
          </p:cNvPr>
          <p:cNvSpPr txBox="1"/>
          <p:nvPr/>
        </p:nvSpPr>
        <p:spPr>
          <a:xfrm>
            <a:off x="307032" y="2006930"/>
            <a:ext cx="3930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Inside Class Definition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228819-FF67-4559-A355-3B29EFA79DBE}"/>
              </a:ext>
            </a:extLst>
          </p:cNvPr>
          <p:cNvSpPr txBox="1"/>
          <p:nvPr/>
        </p:nvSpPr>
        <p:spPr>
          <a:xfrm>
            <a:off x="7675415" y="2734442"/>
            <a:ext cx="370114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 = Turtle(10, 12)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alex.print_location()</a:t>
            </a:r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E37282-697B-4A9E-887E-389A062682D3}"/>
              </a:ext>
            </a:extLst>
          </p:cNvPr>
          <p:cNvSpPr txBox="1"/>
          <p:nvPr/>
        </p:nvSpPr>
        <p:spPr>
          <a:xfrm>
            <a:off x="7675415" y="2006930"/>
            <a:ext cx="42290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Outside Class Definition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30AC32-C539-4C61-9767-1EC21B9BD904}"/>
              </a:ext>
            </a:extLst>
          </p:cNvPr>
          <p:cNvSpPr txBox="1"/>
          <p:nvPr/>
        </p:nvSpPr>
        <p:spPr>
          <a:xfrm>
            <a:off x="4813501" y="2006930"/>
            <a:ext cx="2855939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2D2D2D"/>
                </a:solidFill>
              </a:rPr>
              <a:t>TypeError: </a:t>
            </a:r>
          </a:p>
          <a:p>
            <a:r>
              <a:rPr lang="en-US" sz="2400" dirty="0">
                <a:solidFill>
                  <a:srgbClr val="2D2D2D"/>
                </a:solidFill>
              </a:rPr>
              <a:t>print_location() takes 0 positional arguments but 1 was given.</a:t>
            </a: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b="1" dirty="0">
                <a:solidFill>
                  <a:srgbClr val="FFFFFF"/>
                </a:solidFill>
              </a:rPr>
              <a:t>A method call automatically inserts an instance reference as the first argument</a:t>
            </a:r>
            <a:r>
              <a:rPr lang="en-US" sz="2400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378CD8-8F4C-40C2-819F-587C016BB3C7}"/>
              </a:ext>
            </a:extLst>
          </p:cNvPr>
          <p:cNvSpPr txBox="1"/>
          <p:nvPr/>
        </p:nvSpPr>
        <p:spPr>
          <a:xfrm>
            <a:off x="8413705" y="3876807"/>
            <a:ext cx="327161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FFFF"/>
                </a:solidFill>
              </a:rPr>
              <a:t>The error only occurs when you call the function</a:t>
            </a:r>
            <a:r>
              <a:rPr lang="en-US" sz="2400" dirty="0">
                <a:solidFill>
                  <a:schemeClr val="accent3"/>
                </a:solidFill>
              </a:rPr>
              <a:t>.</a:t>
            </a:r>
          </a:p>
          <a:p>
            <a:endParaRPr lang="en-US" sz="2400" dirty="0">
              <a:solidFill>
                <a:schemeClr val="accent3"/>
              </a:solidFill>
            </a:endParaRPr>
          </a:p>
          <a:p>
            <a:r>
              <a:rPr lang="en-US" sz="2400" dirty="0">
                <a:solidFill>
                  <a:srgbClr val="FFFFFF"/>
                </a:solidFill>
              </a:rPr>
              <a:t>Defining the methods without 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2400" b="1" dirty="0">
                <a:solidFill>
                  <a:srgbClr val="00FF00"/>
                </a:solidFill>
              </a:rPr>
              <a:t> </a:t>
            </a:r>
            <a:r>
              <a:rPr lang="en-US" sz="2400" dirty="0">
                <a:solidFill>
                  <a:srgbClr val="FFFFFF"/>
                </a:solidFill>
              </a:rPr>
              <a:t>will not cause an error</a:t>
            </a:r>
            <a:r>
              <a:rPr lang="en-US" sz="2400" dirty="0">
                <a:solidFill>
                  <a:schemeClr val="accent3"/>
                </a:solidFill>
              </a:rPr>
              <a:t>.</a:t>
            </a:r>
          </a:p>
        </p:txBody>
      </p:sp>
      <p:sp>
        <p:nvSpPr>
          <p:cNvPr id="13" name="Arrow: Bent-Up 12">
            <a:extLst>
              <a:ext uri="{FF2B5EF4-FFF2-40B4-BE49-F238E27FC236}">
                <a16:creationId xmlns:a16="http://schemas.microsoft.com/office/drawing/2014/main" id="{D352B2C3-C8F5-4E06-A6B3-B662E7CA2798}"/>
              </a:ext>
            </a:extLst>
          </p:cNvPr>
          <p:cNvSpPr/>
          <p:nvPr/>
        </p:nvSpPr>
        <p:spPr>
          <a:xfrm flipH="1">
            <a:off x="7992180" y="3713470"/>
            <a:ext cx="415550" cy="487681"/>
          </a:xfrm>
          <a:prstGeom prst="bent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C392A43-2535-4AFE-8AE5-931D76B019F3}"/>
              </a:ext>
            </a:extLst>
          </p:cNvPr>
          <p:cNvSpPr txBox="1"/>
          <p:nvPr/>
        </p:nvSpPr>
        <p:spPr>
          <a:xfrm>
            <a:off x="11041335" y="2874956"/>
            <a:ext cx="10380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6"/>
                </a:solidFill>
              </a:rPr>
              <a:t>Python does this for us</a:t>
            </a:r>
            <a:r>
              <a:rPr lang="en-US" sz="1600" dirty="0">
                <a:solidFill>
                  <a:schemeClr val="accent3"/>
                </a:solidFill>
              </a:rPr>
              <a:t>.</a:t>
            </a:r>
          </a:p>
        </p:txBody>
      </p:sp>
      <p:sp>
        <p:nvSpPr>
          <p:cNvPr id="3" name="Arrow: U-Turn 2">
            <a:extLst>
              <a:ext uri="{FF2B5EF4-FFF2-40B4-BE49-F238E27FC236}">
                <a16:creationId xmlns:a16="http://schemas.microsoft.com/office/drawing/2014/main" id="{AA71F0FF-A459-BADC-8961-7EB6E15811DC}"/>
              </a:ext>
            </a:extLst>
          </p:cNvPr>
          <p:cNvSpPr/>
          <p:nvPr/>
        </p:nvSpPr>
        <p:spPr>
          <a:xfrm>
            <a:off x="8111613" y="3153418"/>
            <a:ext cx="2772697" cy="275582"/>
          </a:xfrm>
          <a:prstGeom prst="uturnArrow">
            <a:avLst>
              <a:gd name="adj1" fmla="val 33563"/>
              <a:gd name="adj2" fmla="val 25000"/>
              <a:gd name="adj3" fmla="val 25000"/>
              <a:gd name="adj4" fmla="val 18062"/>
              <a:gd name="adj5" fmla="val 100000"/>
            </a:avLst>
          </a:prstGeom>
          <a:solidFill>
            <a:srgbClr val="CC99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36325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7DC1AA-2423-447D-A0A1-CF6B73809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Calling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6DA17E-2105-4BD0-8175-AC2B2DD4C3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690756" cy="4835479"/>
          </a:xfrm>
        </p:spPr>
        <p:txBody>
          <a:bodyPr>
            <a:normAutofit/>
          </a:bodyPr>
          <a:lstStyle/>
          <a:p>
            <a:r>
              <a:rPr lang="en-US" dirty="0"/>
              <a:t>There are two ways to call methods</a:t>
            </a:r>
            <a:r>
              <a:rPr lang="en-US" dirty="0">
                <a:solidFill>
                  <a:schemeClr val="accent2"/>
                </a:solidFill>
              </a:rPr>
              <a:t>.</a:t>
            </a:r>
            <a:endParaRPr lang="en-US" dirty="0"/>
          </a:p>
          <a:p>
            <a:r>
              <a:rPr lang="en-US" sz="3200" b="1" dirty="0">
                <a:solidFill>
                  <a:schemeClr val="accent6"/>
                </a:solidFill>
              </a:rPr>
              <a:t>Method 1</a:t>
            </a:r>
          </a:p>
          <a:p>
            <a:r>
              <a:rPr lang="en-US" dirty="0"/>
              <a:t>One way is to access the method through the class name and pass in the object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pPr lvl="1"/>
            <a:r>
              <a:rPr lang="en-US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class.method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(instance_of_class)</a:t>
            </a:r>
          </a:p>
          <a:p>
            <a:r>
              <a:rPr lang="en-US" sz="3200" b="1" dirty="0">
                <a:solidFill>
                  <a:schemeClr val="accent6"/>
                </a:solidFill>
              </a:rPr>
              <a:t>Method 2</a:t>
            </a:r>
          </a:p>
          <a:p>
            <a:r>
              <a:rPr lang="en-US" dirty="0"/>
              <a:t>The other is to use object-oriented syntax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pPr lvl="1"/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instance_of_class.method()</a:t>
            </a:r>
          </a:p>
          <a:p>
            <a:pPr lvl="1"/>
            <a:endParaRPr lang="en-US" dirty="0">
              <a:solidFill>
                <a:schemeClr val="accent2"/>
              </a:solidFill>
            </a:endParaRPr>
          </a:p>
          <a:p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A9BEED2-26D8-4930-ADB3-D646852D78AD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2. </a:t>
            </a:r>
            <a:r>
              <a:rPr lang="en-US" sz="2600" b="1" dirty="0">
                <a:solidFill>
                  <a:schemeClr val="accent6"/>
                </a:solidFill>
              </a:rPr>
              <a:t>Calling Methods</a:t>
            </a:r>
          </a:p>
        </p:txBody>
      </p:sp>
    </p:spTree>
    <p:extLst>
      <p:ext uri="{BB962C8B-B14F-4D97-AF65-F5344CB8AC3E}">
        <p14:creationId xmlns:p14="http://schemas.microsoft.com/office/powerpoint/2010/main" val="33555724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2C441-30E3-45FB-9892-1CB8B4437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Objects </a:t>
            </a:r>
            <a:r>
              <a:rPr lang="en-US" b="1" dirty="0">
                <a:solidFill>
                  <a:schemeClr val="accent6"/>
                </a:solidFill>
              </a:rPr>
              <a:t>and</a:t>
            </a:r>
            <a:r>
              <a:rPr lang="en-US" b="1" dirty="0"/>
              <a:t>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F6CF83-6B73-4387-A67D-66993C4C3E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334496" cy="4835479"/>
          </a:xfrm>
        </p:spPr>
        <p:txBody>
          <a:bodyPr/>
          <a:lstStyle/>
          <a:p>
            <a:r>
              <a:rPr lang="en-US" dirty="0"/>
              <a:t>Functions and methods can return instances. </a:t>
            </a:r>
          </a:p>
          <a:p>
            <a:r>
              <a:rPr lang="en-US" dirty="0"/>
              <a:t>For example</a:t>
            </a:r>
            <a:r>
              <a:rPr lang="en-US" dirty="0">
                <a:solidFill>
                  <a:schemeClr val="accent3"/>
                </a:solidFill>
              </a:rPr>
              <a:t>,</a:t>
            </a:r>
            <a:r>
              <a:rPr lang="en-US" dirty="0"/>
              <a:t> given two Point objects</a:t>
            </a:r>
            <a:r>
              <a:rPr lang="en-US" dirty="0">
                <a:solidFill>
                  <a:schemeClr val="accent3"/>
                </a:solidFill>
              </a:rPr>
              <a:t>,</a:t>
            </a:r>
            <a:r>
              <a:rPr lang="en-US" dirty="0"/>
              <a:t> what if you want to create a point halfway in between</a:t>
            </a:r>
            <a:r>
              <a:rPr lang="en-US" dirty="0">
                <a:solidFill>
                  <a:schemeClr val="accent3"/>
                </a:solidFill>
              </a:rPr>
              <a:t>?</a:t>
            </a:r>
            <a:r>
              <a:rPr lang="en-US" dirty="0"/>
              <a:t>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CB8BC0-03CA-4D23-B96B-8D4984AD507C}"/>
              </a:ext>
            </a:extLst>
          </p:cNvPr>
          <p:cNvSpPr txBox="1"/>
          <p:nvPr/>
        </p:nvSpPr>
        <p:spPr>
          <a:xfrm>
            <a:off x="838200" y="4483301"/>
            <a:ext cx="611183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calc_midpoint(self, point):</a:t>
            </a:r>
            <a:endParaRPr lang="en-US" sz="24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4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body</a:t>
            </a:r>
          </a:p>
          <a:p>
            <a:endParaRPr lang="en-US" sz="24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Point(x, y)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ACBC073-4396-4594-8DFC-CCC87870BCF2}"/>
              </a:ext>
            </a:extLst>
          </p:cNvPr>
          <p:cNvSpPr/>
          <p:nvPr/>
        </p:nvSpPr>
        <p:spPr>
          <a:xfrm>
            <a:off x="8568559" y="803077"/>
            <a:ext cx="3153103" cy="770036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Point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EC6D7A9-3BFB-4CDA-B93C-90AE27A51D75}"/>
              </a:ext>
            </a:extLst>
          </p:cNvPr>
          <p:cNvSpPr/>
          <p:nvPr/>
        </p:nvSpPr>
        <p:spPr>
          <a:xfrm>
            <a:off x="8568558" y="1861993"/>
            <a:ext cx="3153103" cy="2039971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x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57650CC-A51E-429E-B9AA-1425F20CADD4}"/>
              </a:ext>
            </a:extLst>
          </p:cNvPr>
          <p:cNvSpPr/>
          <p:nvPr/>
        </p:nvSpPr>
        <p:spPr>
          <a:xfrm>
            <a:off x="8568558" y="4190844"/>
            <a:ext cx="3153103" cy="2260255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</a:rPr>
              <a:t>distance between points</a:t>
            </a:r>
          </a:p>
          <a:p>
            <a:pPr algn="ctr"/>
            <a:r>
              <a:rPr lang="en-US" b="1" dirty="0">
                <a:solidFill>
                  <a:srgbClr val="FFFFFF"/>
                </a:solidFill>
              </a:rPr>
              <a:t>distance from the origin</a:t>
            </a:r>
          </a:p>
          <a:p>
            <a:pPr algn="ctr"/>
            <a:r>
              <a:rPr lang="en-US" b="1" dirty="0">
                <a:solidFill>
                  <a:srgbClr val="FFC000"/>
                </a:solidFill>
              </a:rPr>
              <a:t>midpoint between points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2EEA0E-5682-4682-BB44-5965B33F0336}"/>
              </a:ext>
            </a:extLst>
          </p:cNvPr>
          <p:cNvSpPr txBox="1"/>
          <p:nvPr/>
        </p:nvSpPr>
        <p:spPr>
          <a:xfrm>
            <a:off x="5608378" y="5816526"/>
            <a:ext cx="25394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FFFF"/>
                </a:solidFill>
              </a:rPr>
              <a:t>Add new method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336B16E-D68C-4B19-9013-4049C90FC408}"/>
              </a:ext>
            </a:extLst>
          </p:cNvPr>
          <p:cNvCxnSpPr>
            <a:cxnSpLocks/>
          </p:cNvCxnSpPr>
          <p:nvPr/>
        </p:nvCxnSpPr>
        <p:spPr>
          <a:xfrm flipV="1">
            <a:off x="8064728" y="5628905"/>
            <a:ext cx="651760" cy="27074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38270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2C441-30E3-45FB-9892-1CB8B4437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Objects </a:t>
            </a:r>
            <a:r>
              <a:rPr lang="en-US" b="1" dirty="0">
                <a:solidFill>
                  <a:schemeClr val="accent6"/>
                </a:solidFill>
              </a:rPr>
              <a:t>and</a:t>
            </a:r>
            <a:r>
              <a:rPr lang="en-US" b="1" dirty="0"/>
              <a:t>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F6CF83-6B73-4387-A67D-66993C4C3E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334496" cy="4835479"/>
          </a:xfrm>
        </p:spPr>
        <p:txBody>
          <a:bodyPr/>
          <a:lstStyle/>
          <a:p>
            <a:r>
              <a:rPr lang="en-US" dirty="0"/>
              <a:t>Functions and methods can return instances. </a:t>
            </a:r>
          </a:p>
          <a:p>
            <a:r>
              <a:rPr lang="en-US" dirty="0"/>
              <a:t>For example</a:t>
            </a:r>
            <a:r>
              <a:rPr lang="en-US" dirty="0">
                <a:solidFill>
                  <a:schemeClr val="accent3"/>
                </a:solidFill>
              </a:rPr>
              <a:t>,</a:t>
            </a:r>
            <a:r>
              <a:rPr lang="en-US" dirty="0"/>
              <a:t> given two Point objects</a:t>
            </a:r>
            <a:r>
              <a:rPr lang="en-US" dirty="0">
                <a:solidFill>
                  <a:schemeClr val="accent3"/>
                </a:solidFill>
              </a:rPr>
              <a:t>,</a:t>
            </a:r>
            <a:r>
              <a:rPr lang="en-US" dirty="0"/>
              <a:t> what if you want to create a point halfway in between</a:t>
            </a:r>
            <a:r>
              <a:rPr lang="en-US" dirty="0">
                <a:solidFill>
                  <a:schemeClr val="accent3"/>
                </a:solidFill>
              </a:rPr>
              <a:t>?</a:t>
            </a:r>
            <a:r>
              <a:rPr lang="en-US" dirty="0"/>
              <a:t>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CB8BC0-03CA-4D23-B96B-8D4984AD507C}"/>
              </a:ext>
            </a:extLst>
          </p:cNvPr>
          <p:cNvSpPr txBox="1"/>
          <p:nvPr/>
        </p:nvSpPr>
        <p:spPr>
          <a:xfrm>
            <a:off x="838200" y="4483301"/>
            <a:ext cx="611183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calc_midpoint(self, point):</a:t>
            </a:r>
            <a:endParaRPr lang="en-US" sz="24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4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body</a:t>
            </a:r>
          </a:p>
          <a:p>
            <a:endParaRPr lang="en-US" sz="24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Point(x, y)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1758404-6781-4B44-8CAD-5E3C28CDB0AE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3. </a:t>
            </a:r>
            <a:r>
              <a:rPr lang="en-US" sz="2600" b="1" dirty="0">
                <a:solidFill>
                  <a:schemeClr val="accent6"/>
                </a:solidFill>
              </a:rPr>
              <a:t>Add Midpoint Method to Point Class</a:t>
            </a:r>
          </a:p>
        </p:txBody>
      </p:sp>
    </p:spTree>
    <p:extLst>
      <p:ext uri="{BB962C8B-B14F-4D97-AF65-F5344CB8AC3E}">
        <p14:creationId xmlns:p14="http://schemas.microsoft.com/office/powerpoint/2010/main" val="6142063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118C3C-13F5-4EA8-9EA9-3448AC353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Variable Declarations Are Optional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EF1E632-EB44-4712-B35B-CF93D4F2C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6880762" cy="4835479"/>
          </a:xfrm>
        </p:spPr>
        <p:txBody>
          <a:bodyPr>
            <a:normAutofit/>
          </a:bodyPr>
          <a:lstStyle/>
          <a:p>
            <a:r>
              <a:rPr lang="en-US" sz="3200" dirty="0"/>
              <a:t>While we can assign each point to a variable</a:t>
            </a:r>
            <a:r>
              <a:rPr lang="en-US" sz="3200" dirty="0">
                <a:solidFill>
                  <a:schemeClr val="accent2"/>
                </a:solidFill>
              </a:rPr>
              <a:t>,</a:t>
            </a:r>
            <a:r>
              <a:rPr lang="en-US" sz="3200" dirty="0"/>
              <a:t> is not necessary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pPr lvl="1"/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p1 = Point(3, 4)</a:t>
            </a:r>
          </a:p>
          <a:p>
            <a:pPr lvl="1"/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p2 = Point(5, 12)</a:t>
            </a:r>
          </a:p>
          <a:p>
            <a:pPr lvl="1"/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p3 = p1.midpoint(p2)</a:t>
            </a:r>
            <a:endParaRPr lang="en-US" sz="3200" dirty="0">
              <a:solidFill>
                <a:schemeClr val="accent2"/>
              </a:solidFill>
            </a:endParaRPr>
          </a:p>
          <a:p>
            <a:r>
              <a:rPr lang="en-US" sz="3200" dirty="0"/>
              <a:t>Here is an alternative that uses no explicit variables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  <a:p>
            <a:pPr lvl="1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p3 = Point(3, 4).midpoint(Point(5, 12))</a:t>
            </a:r>
          </a:p>
          <a:p>
            <a:pPr marL="457200" lvl="1" indent="0">
              <a:buNone/>
            </a:pPr>
            <a:endParaRPr lang="en-US" sz="28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B10F649-9131-48C3-BD83-DA9D2F071CAE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4. </a:t>
            </a:r>
            <a:r>
              <a:rPr lang="en-US" sz="2600" b="1" dirty="0">
                <a:solidFill>
                  <a:schemeClr val="accent6"/>
                </a:solidFill>
              </a:rPr>
              <a:t>Variable Declarations Are Optional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457D9E-FC79-4E7D-A547-EA7EF49AE325}"/>
              </a:ext>
            </a:extLst>
          </p:cNvPr>
          <p:cNvSpPr txBox="1"/>
          <p:nvPr/>
        </p:nvSpPr>
        <p:spPr>
          <a:xfrm>
            <a:off x="2197976" y="5960732"/>
            <a:ext cx="115086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FFFF"/>
                </a:solidFill>
              </a:rPr>
              <a:t>Instance of Point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6D0E62-8616-40A5-ACE5-DC6A7E7E48D2}"/>
              </a:ext>
            </a:extLst>
          </p:cNvPr>
          <p:cNvSpPr txBox="1"/>
          <p:nvPr/>
        </p:nvSpPr>
        <p:spPr>
          <a:xfrm>
            <a:off x="1021865" y="5960732"/>
            <a:ext cx="115086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FFFF"/>
                </a:solidFill>
              </a:rPr>
              <a:t>Instance of Point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C737EA-3CEC-46BA-8181-CA10AEDA0A00}"/>
              </a:ext>
            </a:extLst>
          </p:cNvPr>
          <p:cNvSpPr txBox="1"/>
          <p:nvPr/>
        </p:nvSpPr>
        <p:spPr>
          <a:xfrm>
            <a:off x="5265767" y="5960732"/>
            <a:ext cx="115086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FFFF"/>
                </a:solidFill>
              </a:rPr>
              <a:t>Instance of Point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96B0C847-2DB0-44CC-80D3-2C2DA2773252}"/>
              </a:ext>
            </a:extLst>
          </p:cNvPr>
          <p:cNvSpPr/>
          <p:nvPr/>
        </p:nvSpPr>
        <p:spPr>
          <a:xfrm rot="10800000">
            <a:off x="1654298" y="5474525"/>
            <a:ext cx="226672" cy="48620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3712FB4A-76E1-4A60-9AF3-CB1DAEEBABC3}"/>
              </a:ext>
            </a:extLst>
          </p:cNvPr>
          <p:cNvSpPr/>
          <p:nvPr/>
        </p:nvSpPr>
        <p:spPr>
          <a:xfrm rot="10800000">
            <a:off x="2631987" y="5474525"/>
            <a:ext cx="226672" cy="48620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334DAEF5-FF1E-46B9-8AF8-A134FC5FA1B5}"/>
              </a:ext>
            </a:extLst>
          </p:cNvPr>
          <p:cNvSpPr/>
          <p:nvPr/>
        </p:nvSpPr>
        <p:spPr>
          <a:xfrm rot="10800000">
            <a:off x="5692238" y="5474524"/>
            <a:ext cx="226672" cy="48620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107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84A8C-FDC2-4C92-ACE4-98284692B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Objects as Data Attributes of Classes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4C84AF-B62E-492C-910D-670FD7554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8935193" cy="4835479"/>
          </a:xfrm>
        </p:spPr>
        <p:txBody>
          <a:bodyPr/>
          <a:lstStyle/>
          <a:p>
            <a:r>
              <a:rPr lang="en-US" dirty="0"/>
              <a:t>Objects are programmer</a:t>
            </a:r>
            <a:r>
              <a:rPr lang="en-US" dirty="0">
                <a:solidFill>
                  <a:schemeClr val="accent1"/>
                </a:solidFill>
              </a:rPr>
              <a:t>-</a:t>
            </a:r>
            <a:r>
              <a:rPr lang="en-US" dirty="0"/>
              <a:t>created data types that can be used just like other data types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/>
              <a:t> </a:t>
            </a:r>
          </a:p>
          <a:p>
            <a:r>
              <a:rPr lang="en-US" dirty="0"/>
              <a:t>In particular</a:t>
            </a:r>
            <a:r>
              <a:rPr lang="en-US" dirty="0">
                <a:solidFill>
                  <a:schemeClr val="accent1"/>
                </a:solidFill>
              </a:rPr>
              <a:t>,</a:t>
            </a:r>
            <a:r>
              <a:rPr lang="en-US" dirty="0"/>
              <a:t> the data in an object can be in the form of instances of other classes</a:t>
            </a:r>
            <a:r>
              <a:rPr lang="en-US" dirty="0">
                <a:solidFill>
                  <a:schemeClr val="accent1"/>
                </a:solidFill>
              </a:rPr>
              <a:t>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9C729AC-4643-486D-AE65-27A69A0BEEA5}"/>
              </a:ext>
            </a:extLst>
          </p:cNvPr>
          <p:cNvSpPr/>
          <p:nvPr/>
        </p:nvSpPr>
        <p:spPr>
          <a:xfrm>
            <a:off x="8039594" y="3966359"/>
            <a:ext cx="2268187" cy="2152252"/>
          </a:xfrm>
          <a:prstGeom prst="rect">
            <a:avLst/>
          </a:prstGeom>
          <a:noFill/>
          <a:ln w="762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159C968-8EC8-48E0-8C7C-97787B2A38DB}"/>
              </a:ext>
            </a:extLst>
          </p:cNvPr>
          <p:cNvSpPr/>
          <p:nvPr/>
        </p:nvSpPr>
        <p:spPr>
          <a:xfrm>
            <a:off x="7944591" y="6023607"/>
            <a:ext cx="190005" cy="19000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35FB022-1E69-40FC-A23F-4AA2AF357D02}"/>
              </a:ext>
            </a:extLst>
          </p:cNvPr>
          <p:cNvSpPr/>
          <p:nvPr/>
        </p:nvSpPr>
        <p:spPr>
          <a:xfrm>
            <a:off x="10201225" y="3870068"/>
            <a:ext cx="190005" cy="19000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C4ED48-70C2-4095-A64E-63C6BCCEAFB6}"/>
              </a:ext>
            </a:extLst>
          </p:cNvPr>
          <p:cNvSpPr txBox="1"/>
          <p:nvPr/>
        </p:nvSpPr>
        <p:spPr>
          <a:xfrm>
            <a:off x="8158025" y="4811652"/>
            <a:ext cx="20313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Square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933330-24B1-4EB0-A7E0-6D96108E12AA}"/>
              </a:ext>
            </a:extLst>
          </p:cNvPr>
          <p:cNvSpPr txBox="1"/>
          <p:nvPr/>
        </p:nvSpPr>
        <p:spPr>
          <a:xfrm>
            <a:off x="311087" y="3842156"/>
            <a:ext cx="755994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Square:</a:t>
            </a:r>
          </a:p>
          <a:p>
            <a:r>
              <a:rPr lang="en-US" sz="2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__init__(self, x1, x2, y1, y2):</a:t>
            </a:r>
          </a:p>
          <a:p>
            <a:r>
              <a:rPr lang="en-US" sz="2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self.lower_left = 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Point(x1, y1)</a:t>
            </a:r>
          </a:p>
          <a:p>
            <a:r>
              <a:rPr lang="en-US" sz="2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 self.upper_right = 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Point(x2, y2)</a:t>
            </a:r>
          </a:p>
          <a:p>
            <a:endParaRPr lang="en-US" sz="2400" b="1" dirty="0">
              <a:solidFill>
                <a:srgbClr val="FFD6AD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93786E-908D-4083-ABE4-D0CA2DAF2593}"/>
              </a:ext>
            </a:extLst>
          </p:cNvPr>
          <p:cNvSpPr txBox="1"/>
          <p:nvPr/>
        </p:nvSpPr>
        <p:spPr>
          <a:xfrm>
            <a:off x="6456042" y="6213612"/>
            <a:ext cx="29770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Point(x1, y1)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4DDC10-56BE-4DDD-84EC-CF5D937BFBF1}"/>
              </a:ext>
            </a:extLst>
          </p:cNvPr>
          <p:cNvSpPr txBox="1"/>
          <p:nvPr/>
        </p:nvSpPr>
        <p:spPr>
          <a:xfrm>
            <a:off x="8819232" y="3313108"/>
            <a:ext cx="29770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Point(x2, y2)</a:t>
            </a:r>
          </a:p>
        </p:txBody>
      </p:sp>
    </p:spTree>
    <p:extLst>
      <p:ext uri="{BB962C8B-B14F-4D97-AF65-F5344CB8AC3E}">
        <p14:creationId xmlns:p14="http://schemas.microsoft.com/office/powerpoint/2010/main" val="24917147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84A8C-FDC2-4C92-ACE4-98284692B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Objects as Data Attributes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4C84AF-B62E-492C-910D-670FD7554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5063837" cy="4835479"/>
          </a:xfrm>
        </p:spPr>
        <p:txBody>
          <a:bodyPr/>
          <a:lstStyle/>
          <a:p>
            <a:r>
              <a:rPr lang="en-US" dirty="0"/>
              <a:t>Create a Square class and use Point instances and attributes</a:t>
            </a:r>
            <a:r>
              <a:rPr lang="en-US" dirty="0">
                <a:solidFill>
                  <a:schemeClr val="accent1"/>
                </a:solidFill>
              </a:rPr>
              <a:t>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9C729AC-4643-486D-AE65-27A69A0BEEA5}"/>
              </a:ext>
            </a:extLst>
          </p:cNvPr>
          <p:cNvSpPr/>
          <p:nvPr/>
        </p:nvSpPr>
        <p:spPr>
          <a:xfrm>
            <a:off x="2660083" y="3776359"/>
            <a:ext cx="2268187" cy="2152252"/>
          </a:xfrm>
          <a:prstGeom prst="rect">
            <a:avLst/>
          </a:prstGeom>
          <a:noFill/>
          <a:ln w="762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159C968-8EC8-48E0-8C7C-97787B2A38DB}"/>
              </a:ext>
            </a:extLst>
          </p:cNvPr>
          <p:cNvSpPr/>
          <p:nvPr/>
        </p:nvSpPr>
        <p:spPr>
          <a:xfrm>
            <a:off x="2565080" y="5833607"/>
            <a:ext cx="190005" cy="19000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35FB022-1E69-40FC-A23F-4AA2AF357D02}"/>
              </a:ext>
            </a:extLst>
          </p:cNvPr>
          <p:cNvSpPr/>
          <p:nvPr/>
        </p:nvSpPr>
        <p:spPr>
          <a:xfrm>
            <a:off x="4821714" y="3680068"/>
            <a:ext cx="190005" cy="19000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C4ED48-70C2-4095-A64E-63C6BCCEAFB6}"/>
              </a:ext>
            </a:extLst>
          </p:cNvPr>
          <p:cNvSpPr txBox="1"/>
          <p:nvPr/>
        </p:nvSpPr>
        <p:spPr>
          <a:xfrm>
            <a:off x="2778514" y="4621652"/>
            <a:ext cx="20313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Square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11006D-C580-4BCF-8543-559D82CD9884}"/>
              </a:ext>
            </a:extLst>
          </p:cNvPr>
          <p:cNvSpPr txBox="1"/>
          <p:nvPr/>
        </p:nvSpPr>
        <p:spPr>
          <a:xfrm>
            <a:off x="327395" y="5994689"/>
            <a:ext cx="29770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Point(x1, y1)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525BD7-A445-4734-B672-0F8B9C319D4F}"/>
              </a:ext>
            </a:extLst>
          </p:cNvPr>
          <p:cNvSpPr txBox="1"/>
          <p:nvPr/>
        </p:nvSpPr>
        <p:spPr>
          <a:xfrm>
            <a:off x="4509815" y="3133099"/>
            <a:ext cx="29770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Point(x2, y2)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5530C00-5A20-4976-97EC-61C85EA5C592}"/>
              </a:ext>
            </a:extLst>
          </p:cNvPr>
          <p:cNvSpPr/>
          <p:nvPr/>
        </p:nvSpPr>
        <p:spPr>
          <a:xfrm>
            <a:off x="8568559" y="803077"/>
            <a:ext cx="3153103" cy="770036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Square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1888C33-706E-4715-BC1E-012E53BDCD79}"/>
              </a:ext>
            </a:extLst>
          </p:cNvPr>
          <p:cNvSpPr/>
          <p:nvPr/>
        </p:nvSpPr>
        <p:spPr>
          <a:xfrm>
            <a:off x="8568558" y="1861993"/>
            <a:ext cx="3153103" cy="2039971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lower_left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upper_right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9A3FD34-C055-49F2-9AB4-588C8DDA9362}"/>
              </a:ext>
            </a:extLst>
          </p:cNvPr>
          <p:cNvSpPr/>
          <p:nvPr/>
        </p:nvSpPr>
        <p:spPr>
          <a:xfrm>
            <a:off x="8568558" y="4190844"/>
            <a:ext cx="3153103" cy="2260255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calculate area</a:t>
            </a:r>
          </a:p>
          <a:p>
            <a:pPr algn="ctr"/>
            <a:r>
              <a:rPr lang="en-US" sz="2400" b="1" dirty="0">
                <a:solidFill>
                  <a:srgbClr val="FFFFFF"/>
                </a:solidFill>
              </a:rPr>
              <a:t>calculate centre</a:t>
            </a:r>
            <a:endParaRPr lang="en-US" sz="2400" b="1" dirty="0">
              <a:solidFill>
                <a:srgbClr val="FFC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78245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84A8C-FDC2-4C92-ACE4-98284692B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Objects as Data Attributes of Classes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4C84AF-B62E-492C-910D-670FD7554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5063837" cy="4835479"/>
          </a:xfrm>
        </p:spPr>
        <p:txBody>
          <a:bodyPr/>
          <a:lstStyle/>
          <a:p>
            <a:r>
              <a:rPr lang="en-US" dirty="0"/>
              <a:t>Create a Square class and use Point instances and attributes</a:t>
            </a:r>
            <a:r>
              <a:rPr lang="en-US" dirty="0">
                <a:solidFill>
                  <a:schemeClr val="accent1"/>
                </a:solidFill>
              </a:rPr>
              <a:t>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9C729AC-4643-486D-AE65-27A69A0BEEA5}"/>
              </a:ext>
            </a:extLst>
          </p:cNvPr>
          <p:cNvSpPr/>
          <p:nvPr/>
        </p:nvSpPr>
        <p:spPr>
          <a:xfrm>
            <a:off x="2660083" y="3776359"/>
            <a:ext cx="2268187" cy="2152252"/>
          </a:xfrm>
          <a:prstGeom prst="rect">
            <a:avLst/>
          </a:prstGeom>
          <a:noFill/>
          <a:ln w="762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159C968-8EC8-48E0-8C7C-97787B2A38DB}"/>
              </a:ext>
            </a:extLst>
          </p:cNvPr>
          <p:cNvSpPr/>
          <p:nvPr/>
        </p:nvSpPr>
        <p:spPr>
          <a:xfrm>
            <a:off x="2565080" y="5833607"/>
            <a:ext cx="190005" cy="19000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35FB022-1E69-40FC-A23F-4AA2AF357D02}"/>
              </a:ext>
            </a:extLst>
          </p:cNvPr>
          <p:cNvSpPr/>
          <p:nvPr/>
        </p:nvSpPr>
        <p:spPr>
          <a:xfrm>
            <a:off x="4821714" y="3680068"/>
            <a:ext cx="190005" cy="19000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C4ED48-70C2-4095-A64E-63C6BCCEAFB6}"/>
              </a:ext>
            </a:extLst>
          </p:cNvPr>
          <p:cNvSpPr txBox="1"/>
          <p:nvPr/>
        </p:nvSpPr>
        <p:spPr>
          <a:xfrm>
            <a:off x="2778514" y="4621652"/>
            <a:ext cx="20313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Square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11006D-C580-4BCF-8543-559D82CD9884}"/>
              </a:ext>
            </a:extLst>
          </p:cNvPr>
          <p:cNvSpPr txBox="1"/>
          <p:nvPr/>
        </p:nvSpPr>
        <p:spPr>
          <a:xfrm>
            <a:off x="327395" y="5994689"/>
            <a:ext cx="29770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Point(x1, y1)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525BD7-A445-4734-B672-0F8B9C319D4F}"/>
              </a:ext>
            </a:extLst>
          </p:cNvPr>
          <p:cNvSpPr txBox="1"/>
          <p:nvPr/>
        </p:nvSpPr>
        <p:spPr>
          <a:xfrm>
            <a:off x="4509815" y="3133099"/>
            <a:ext cx="29770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Point(x2, y2)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6D62322-26FA-47AC-ADD1-3F8107D0B466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5. </a:t>
            </a:r>
            <a:r>
              <a:rPr lang="en-US" sz="2600" b="1" dirty="0">
                <a:solidFill>
                  <a:schemeClr val="accent6"/>
                </a:solidFill>
              </a:rPr>
              <a:t>Objects as Data Attributes of Classes</a:t>
            </a:r>
          </a:p>
        </p:txBody>
      </p:sp>
    </p:spTree>
    <p:extLst>
      <p:ext uri="{BB962C8B-B14F-4D97-AF65-F5344CB8AC3E}">
        <p14:creationId xmlns:p14="http://schemas.microsoft.com/office/powerpoint/2010/main" val="420158908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2C661-354C-475E-B7AD-119D53388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Objects In Collections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71D5C4-1F76-4291-8B52-53FB27CFCF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823857" cy="4835479"/>
          </a:xfrm>
        </p:spPr>
        <p:txBody>
          <a:bodyPr/>
          <a:lstStyle/>
          <a:p>
            <a:r>
              <a:rPr lang="en-US" dirty="0"/>
              <a:t>Of course</a:t>
            </a:r>
            <a:r>
              <a:rPr lang="en-US" dirty="0">
                <a:solidFill>
                  <a:schemeClr val="accent2"/>
                </a:solidFill>
              </a:rPr>
              <a:t>,</a:t>
            </a:r>
            <a:r>
              <a:rPr lang="en-US" dirty="0"/>
              <a:t> you can put objects in Python collections like </a:t>
            </a:r>
            <a:r>
              <a:rPr lang="en-US" dirty="0">
                <a:solidFill>
                  <a:schemeClr val="accent6"/>
                </a:solidFill>
              </a:rPr>
              <a:t>lists</a:t>
            </a:r>
            <a:r>
              <a:rPr lang="en-US" dirty="0">
                <a:solidFill>
                  <a:schemeClr val="accent2"/>
                </a:solidFill>
              </a:rPr>
              <a:t>,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tuples</a:t>
            </a:r>
            <a:r>
              <a:rPr lang="en-US" dirty="0">
                <a:solidFill>
                  <a:schemeClr val="accent2"/>
                </a:solidFill>
              </a:rPr>
              <a:t>,</a:t>
            </a:r>
            <a:r>
              <a:rPr lang="en-US" dirty="0"/>
              <a:t> etc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F39D922-EF5F-455E-98CF-F26FEEE9246F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6. </a:t>
            </a:r>
            <a:r>
              <a:rPr lang="en-US" sz="2600" b="1" dirty="0">
                <a:solidFill>
                  <a:schemeClr val="accent6"/>
                </a:solidFill>
              </a:rPr>
              <a:t>Objects In Collections</a:t>
            </a:r>
          </a:p>
        </p:txBody>
      </p:sp>
    </p:spTree>
    <p:extLst>
      <p:ext uri="{BB962C8B-B14F-4D97-AF65-F5344CB8AC3E}">
        <p14:creationId xmlns:p14="http://schemas.microsoft.com/office/powerpoint/2010/main" val="13844096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2C661-354C-475E-B7AD-119D53388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Printing Attribute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71D5C4-1F76-4291-8B52-53FB27CFCF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823857" cy="4835479"/>
          </a:xfrm>
        </p:spPr>
        <p:txBody>
          <a:bodyPr>
            <a:normAutofit/>
          </a:bodyPr>
          <a:lstStyle/>
          <a:p>
            <a:r>
              <a:rPr lang="en-US" dirty="0"/>
              <a:t>It would be nice to not have to write a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dirty="0"/>
              <a:t> statement each time we want to display some attribute information.</a:t>
            </a:r>
          </a:p>
          <a:p>
            <a:pPr lvl="1"/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 = Point(3, 4)</a:t>
            </a:r>
          </a:p>
          <a:p>
            <a:pPr lvl="1"/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print(p.x, p.y)</a:t>
            </a:r>
          </a:p>
          <a:p>
            <a:r>
              <a:rPr lang="en-US" dirty="0">
                <a:cs typeface="Courier New" panose="02070309020205020404" pitchFamily="49" charset="0"/>
              </a:rPr>
              <a:t>Is there some way we could encapsulate this process</a:t>
            </a:r>
            <a:r>
              <a:rPr lang="en-US" dirty="0">
                <a:solidFill>
                  <a:schemeClr val="accent3"/>
                </a:solidFill>
                <a:cs typeface="Courier New" panose="02070309020205020404" pitchFamily="49" charset="0"/>
              </a:rPr>
              <a:t>?</a:t>
            </a:r>
          </a:p>
          <a:p>
            <a:r>
              <a:rPr lang="en-US" dirty="0">
                <a:cs typeface="Courier New" panose="02070309020205020404" pitchFamily="49" charset="0"/>
              </a:rPr>
              <a:t>It would be better if we could have a method take care of it</a:t>
            </a:r>
            <a:r>
              <a:rPr lang="en-US" dirty="0">
                <a:solidFill>
                  <a:schemeClr val="accent3"/>
                </a:solidFill>
                <a:cs typeface="Courier New" panose="02070309020205020404" pitchFamily="49" charset="0"/>
              </a:rPr>
              <a:t>.</a:t>
            </a:r>
            <a:r>
              <a:rPr lang="en-US" dirty="0">
                <a:cs typeface="Courier New" panose="02070309020205020404" pitchFamily="49" charset="0"/>
              </a:rPr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F39D922-EF5F-455E-98CF-F26FEEE9246F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7. </a:t>
            </a:r>
            <a:r>
              <a:rPr lang="en-US" sz="2600" b="1" dirty="0">
                <a:solidFill>
                  <a:schemeClr val="accent6"/>
                </a:solidFill>
              </a:rPr>
              <a:t>Printing Attribute Information</a:t>
            </a:r>
          </a:p>
        </p:txBody>
      </p:sp>
    </p:spTree>
    <p:extLst>
      <p:ext uri="{BB962C8B-B14F-4D97-AF65-F5344CB8AC3E}">
        <p14:creationId xmlns:p14="http://schemas.microsoft.com/office/powerpoint/2010/main" val="7019295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2C661-354C-475E-B7AD-119D53388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Breakout Session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71D5C4-1F76-4291-8B52-53FB27CFCF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823857" cy="4835479"/>
          </a:xfrm>
        </p:spPr>
        <p:txBody>
          <a:bodyPr>
            <a:normAutofit/>
          </a:bodyPr>
          <a:lstStyle/>
          <a:p>
            <a:r>
              <a:rPr lang="en-US" dirty="0"/>
              <a:t>Let</a:t>
            </a:r>
            <a:r>
              <a:rPr lang="en-US" dirty="0">
                <a:solidFill>
                  <a:schemeClr val="accent6"/>
                </a:solidFill>
              </a:rPr>
              <a:t>’</a:t>
            </a:r>
            <a:r>
              <a:rPr lang="en-US" dirty="0"/>
              <a:t>s create a student class</a:t>
            </a:r>
            <a:r>
              <a:rPr lang="en-US" dirty="0">
                <a:solidFill>
                  <a:schemeClr val="accent3"/>
                </a:solidFill>
                <a:cs typeface="Courier New" panose="02070309020205020404" pitchFamily="49" charset="0"/>
              </a:rPr>
              <a:t>.</a:t>
            </a:r>
            <a:r>
              <a:rPr lang="en-US" dirty="0">
                <a:cs typeface="Courier New" panose="02070309020205020404" pitchFamily="49" charset="0"/>
              </a:rPr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F39D922-EF5F-455E-98CF-F26FEEE9246F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8. </a:t>
            </a:r>
            <a:r>
              <a:rPr lang="en-US" sz="2600" b="1" dirty="0">
                <a:solidFill>
                  <a:schemeClr val="accent6"/>
                </a:solidFill>
              </a:rPr>
              <a:t>Printing Attribute Information</a:t>
            </a:r>
          </a:p>
        </p:txBody>
      </p:sp>
    </p:spTree>
    <p:extLst>
      <p:ext uri="{BB962C8B-B14F-4D97-AF65-F5344CB8AC3E}">
        <p14:creationId xmlns:p14="http://schemas.microsoft.com/office/powerpoint/2010/main" val="206792902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311EC-49BF-413D-AD77-50097EF99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Patient Class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EA5CE7-35EA-41E9-B31D-FEE112FA2C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025738" cy="4835479"/>
          </a:xfrm>
        </p:spPr>
        <p:txBody>
          <a:bodyPr/>
          <a:lstStyle/>
          <a:p>
            <a:r>
              <a:rPr lang="en-US" dirty="0"/>
              <a:t>What if you are writing a medical application that needs to keep track of patients and their data. </a:t>
            </a:r>
          </a:p>
          <a:p>
            <a:r>
              <a:rPr lang="en-US" dirty="0"/>
              <a:t>Let’s create a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PatientData </a:t>
            </a:r>
            <a:r>
              <a:rPr lang="en-US" dirty="0"/>
              <a:t>class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endParaRPr lang="en-US" dirty="0"/>
          </a:p>
          <a:p>
            <a:r>
              <a:rPr lang="en-US" b="1" dirty="0">
                <a:solidFill>
                  <a:schemeClr val="accent6"/>
                </a:solidFill>
              </a:rPr>
              <a:t>Attributes</a:t>
            </a:r>
          </a:p>
          <a:p>
            <a:pPr lvl="1"/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height_cm</a:t>
            </a:r>
          </a:p>
          <a:p>
            <a:pPr lvl="1"/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weight_kg</a:t>
            </a:r>
          </a:p>
          <a:p>
            <a:r>
              <a:rPr lang="en-US" b="1" dirty="0">
                <a:solidFill>
                  <a:schemeClr val="accent6"/>
                </a:solidFill>
              </a:rPr>
              <a:t>Methods</a:t>
            </a:r>
          </a:p>
          <a:p>
            <a:pPr lvl="1"/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print_data()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404347B-E017-4F6B-86C0-D474AB6CC8DA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9. </a:t>
            </a:r>
            <a:r>
              <a:rPr lang="en-US" sz="2600" b="1" dirty="0">
                <a:solidFill>
                  <a:schemeClr val="accent6"/>
                </a:solidFill>
              </a:rPr>
              <a:t>Patient Class</a:t>
            </a:r>
          </a:p>
        </p:txBody>
      </p:sp>
    </p:spTree>
    <p:extLst>
      <p:ext uri="{BB962C8B-B14F-4D97-AF65-F5344CB8AC3E}">
        <p14:creationId xmlns:p14="http://schemas.microsoft.com/office/powerpoint/2010/main" val="63156298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F06F2-AC3E-484E-9926-59D4F59092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classes in classes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functions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and collections</a:t>
            </a:r>
            <a:r>
              <a:rPr lang="en-US" dirty="0">
                <a:solidFill>
                  <a:schemeClr val="accent1"/>
                </a:solidFill>
              </a:rPr>
              <a:t>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07687-F068-40FC-84A1-E7860490CA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10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2 </a:t>
            </a:r>
            <a:r>
              <a:rPr lang="en-US">
                <a:solidFill>
                  <a:schemeClr val="accent1"/>
                </a:solidFill>
              </a:rPr>
              <a:t>(</a:t>
            </a:r>
            <a:r>
              <a:rPr lang="en-US">
                <a:solidFill>
                  <a:schemeClr val="accent6"/>
                </a:solidFill>
              </a:rPr>
              <a:t>10</a:t>
            </a:r>
            <a:r>
              <a:rPr lang="en-US"/>
              <a:t>.</a:t>
            </a:r>
            <a:r>
              <a:rPr lang="en-US">
                <a:solidFill>
                  <a:schemeClr val="accent6"/>
                </a:solidFill>
              </a:rPr>
              <a:t>2</a:t>
            </a:r>
            <a:r>
              <a:rPr lang="en-US">
                <a:solidFill>
                  <a:schemeClr val="accent1"/>
                </a:solidFill>
              </a:rPr>
              <a:t>)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4675504"/>
      </p:ext>
    </p:extLst>
  </p:cSld>
  <p:clrMapOvr>
    <a:masterClrMapping/>
  </p:clrMapOvr>
</p:sld>
</file>

<file path=ppt/theme/theme1.xml><?xml version="1.0" encoding="utf-8"?>
<a:theme xmlns:a="http://schemas.openxmlformats.org/drawingml/2006/main" name="APS106_Theme">
  <a:themeElements>
    <a:clrScheme name="Custom 2">
      <a:dk1>
        <a:srgbClr val="444445"/>
      </a:dk1>
      <a:lt1>
        <a:srgbClr val="000000"/>
      </a:lt1>
      <a:dk2>
        <a:srgbClr val="7B8994"/>
      </a:dk2>
      <a:lt2>
        <a:srgbClr val="3D464D"/>
      </a:lt2>
      <a:accent1>
        <a:srgbClr val="0061FF"/>
      </a:accent1>
      <a:accent2>
        <a:srgbClr val="0061FF"/>
      </a:accent2>
      <a:accent3>
        <a:srgbClr val="0061FF"/>
      </a:accent3>
      <a:accent4>
        <a:srgbClr val="7B8994"/>
      </a:accent4>
      <a:accent5>
        <a:srgbClr val="7B8994"/>
      </a:accent5>
      <a:accent6>
        <a:srgbClr val="F7B41A"/>
      </a:accent6>
      <a:hlink>
        <a:srgbClr val="3D464D"/>
      </a:hlink>
      <a:folHlink>
        <a:srgbClr val="3D464D"/>
      </a:folHlink>
    </a:clrScheme>
    <a:fontScheme name="Custom 1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PS106_Theme" id="{3BEEB87C-8A6C-443F-995D-4A4893CCEBD8}" vid="{9B7A7CDB-8752-4A8C-8C1A-92E8A921146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APS106_Theme</Template>
  <TotalTime>38375</TotalTime>
  <Words>2764</Words>
  <Application>Microsoft Office PowerPoint</Application>
  <PresentationFormat>Widescreen</PresentationFormat>
  <Paragraphs>542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Arial</vt:lpstr>
      <vt:lpstr>Courier New</vt:lpstr>
      <vt:lpstr>Segoe UI</vt:lpstr>
      <vt:lpstr>Wingdings</vt:lpstr>
      <vt:lpstr>APS106_Theme</vt:lpstr>
      <vt:lpstr>classes in classes, functions, and collections.</vt:lpstr>
      <vt:lpstr>This Week’s Content</vt:lpstr>
      <vt:lpstr>OOP Recap</vt:lpstr>
      <vt:lpstr>OOP Recap</vt:lpstr>
      <vt:lpstr>OOP Recap</vt:lpstr>
      <vt:lpstr>OOP Recap</vt:lpstr>
      <vt:lpstr>OOP Recap</vt:lpstr>
      <vt:lpstr>OOP Recap</vt:lpstr>
      <vt:lpstr>OOP Recap</vt:lpstr>
      <vt:lpstr>OOP Recap</vt:lpstr>
      <vt:lpstr>OOP Recap</vt:lpstr>
      <vt:lpstr>OOP Recap</vt:lpstr>
      <vt:lpstr>OOP Recap</vt:lpstr>
      <vt:lpstr>OOP Recap</vt:lpstr>
      <vt:lpstr>OOP Recap</vt:lpstr>
      <vt:lpstr>OOP Recap</vt:lpstr>
      <vt:lpstr>OOP Recap</vt:lpstr>
      <vt:lpstr>OOP Recap</vt:lpstr>
      <vt:lpstr>OOP Recap</vt:lpstr>
      <vt:lpstr>Review Point Class</vt:lpstr>
      <vt:lpstr>Review Point Class</vt:lpstr>
      <vt:lpstr>Methods and self</vt:lpstr>
      <vt:lpstr>Methods and self</vt:lpstr>
      <vt:lpstr>Methods and self</vt:lpstr>
      <vt:lpstr>Methods and self</vt:lpstr>
      <vt:lpstr>Methods and self</vt:lpstr>
      <vt:lpstr>Methods and self</vt:lpstr>
      <vt:lpstr>Calling Methods</vt:lpstr>
      <vt:lpstr>Objects and Functions</vt:lpstr>
      <vt:lpstr>Objects and Functions</vt:lpstr>
      <vt:lpstr>Variable Declarations Are Optional</vt:lpstr>
      <vt:lpstr>Objects as Data Attributes of Classes</vt:lpstr>
      <vt:lpstr>Objects as Data Attributes</vt:lpstr>
      <vt:lpstr>Objects as Data Attributes of Classes</vt:lpstr>
      <vt:lpstr>Objects In Collections</vt:lpstr>
      <vt:lpstr>Printing Attribute Information</vt:lpstr>
      <vt:lpstr>Breakout Session 1</vt:lpstr>
      <vt:lpstr>Patient Class</vt:lpstr>
      <vt:lpstr>classes in classes, functions, and collections.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Sebastian Goodfellow</dc:creator>
  <cp:lastModifiedBy>Sebastian Goodfellow</cp:lastModifiedBy>
  <cp:revision>222</cp:revision>
  <dcterms:created xsi:type="dcterms:W3CDTF">2021-11-03T00:49:37Z</dcterms:created>
  <dcterms:modified xsi:type="dcterms:W3CDTF">2025-12-18T15:18:05Z</dcterms:modified>
</cp:coreProperties>
</file>