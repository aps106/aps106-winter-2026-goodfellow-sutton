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54"/>
  </p:notesMasterIdLst>
  <p:sldIdLst>
    <p:sldId id="256" r:id="rId2"/>
    <p:sldId id="259" r:id="rId3"/>
    <p:sldId id="330" r:id="rId4"/>
    <p:sldId id="326" r:id="rId5"/>
    <p:sldId id="328" r:id="rId6"/>
    <p:sldId id="329" r:id="rId7"/>
    <p:sldId id="331" r:id="rId8"/>
    <p:sldId id="332" r:id="rId9"/>
    <p:sldId id="333" r:id="rId10"/>
    <p:sldId id="334" r:id="rId11"/>
    <p:sldId id="394" r:id="rId12"/>
    <p:sldId id="335" r:id="rId13"/>
    <p:sldId id="337" r:id="rId14"/>
    <p:sldId id="386" r:id="rId15"/>
    <p:sldId id="336" r:id="rId16"/>
    <p:sldId id="387" r:id="rId17"/>
    <p:sldId id="338" r:id="rId18"/>
    <p:sldId id="388" r:id="rId19"/>
    <p:sldId id="361" r:id="rId20"/>
    <p:sldId id="389" r:id="rId21"/>
    <p:sldId id="391" r:id="rId22"/>
    <p:sldId id="392" r:id="rId23"/>
    <p:sldId id="393" r:id="rId24"/>
    <p:sldId id="340" r:id="rId25"/>
    <p:sldId id="324" r:id="rId26"/>
    <p:sldId id="355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62" r:id="rId35"/>
    <p:sldId id="364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95" r:id="rId46"/>
    <p:sldId id="356" r:id="rId47"/>
    <p:sldId id="342" r:id="rId48"/>
    <p:sldId id="344" r:id="rId49"/>
    <p:sldId id="345" r:id="rId50"/>
    <p:sldId id="346" r:id="rId51"/>
    <p:sldId id="359" r:id="rId52"/>
    <p:sldId id="360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2D9F3D-F7CA-43FE-9E2E-5C007936740A}">
          <p14:sldIdLst>
            <p14:sldId id="256"/>
            <p14:sldId id="259"/>
            <p14:sldId id="330"/>
            <p14:sldId id="326"/>
            <p14:sldId id="328"/>
            <p14:sldId id="329"/>
            <p14:sldId id="331"/>
            <p14:sldId id="332"/>
            <p14:sldId id="333"/>
            <p14:sldId id="334"/>
            <p14:sldId id="394"/>
            <p14:sldId id="335"/>
            <p14:sldId id="337"/>
            <p14:sldId id="386"/>
            <p14:sldId id="336"/>
            <p14:sldId id="387"/>
            <p14:sldId id="338"/>
            <p14:sldId id="388"/>
            <p14:sldId id="361"/>
            <p14:sldId id="389"/>
            <p14:sldId id="391"/>
            <p14:sldId id="392"/>
            <p14:sldId id="393"/>
            <p14:sldId id="340"/>
            <p14:sldId id="324"/>
            <p14:sldId id="355"/>
            <p14:sldId id="348"/>
            <p14:sldId id="349"/>
            <p14:sldId id="350"/>
            <p14:sldId id="351"/>
            <p14:sldId id="352"/>
            <p14:sldId id="353"/>
            <p14:sldId id="354"/>
            <p14:sldId id="362"/>
            <p14:sldId id="364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95"/>
            <p14:sldId id="356"/>
            <p14:sldId id="342"/>
            <p14:sldId id="344"/>
            <p14:sldId id="345"/>
            <p14:sldId id="346"/>
            <p14:sldId id="359"/>
            <p14:sldId id="3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C99FF"/>
    <a:srgbClr val="00FF00"/>
    <a:srgbClr val="E00BE5"/>
    <a:srgbClr val="FF5050"/>
    <a:srgbClr val="444445"/>
    <a:srgbClr val="FFD6AD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8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8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D2CCD-74E5-4836-9AA3-73B35EB7134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2D360-4994-4FF6-8A4E-E52C0D1F25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2665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5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7047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487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34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5507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3453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7705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840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classes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and</a:t>
            </a:r>
            <a:r>
              <a:rPr lang="en-US" dirty="0"/>
              <a:t> methods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10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10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10.1</a:t>
            </a:r>
          </a:p>
          <a:p>
            <a:pPr lvl="1"/>
            <a:r>
              <a:rPr lang="en-US" b="1" dirty="0"/>
              <a:t>Objects, Classes, and Methods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10.2</a:t>
            </a:r>
          </a:p>
          <a:p>
            <a:pPr lvl="1"/>
            <a:r>
              <a:rPr lang="en-US" dirty="0"/>
              <a:t>Classes in Functions and Collections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10.3</a:t>
            </a:r>
          </a:p>
          <a:p>
            <a:pPr lvl="1"/>
            <a:r>
              <a:rPr lang="en-US" dirty="0"/>
              <a:t>Design Problem: Wordle Part 2 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6662-8226-4558-9E14-0F2DC749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Procedural </a:t>
            </a:r>
            <a:r>
              <a:rPr lang="en-US" b="1" dirty="0">
                <a:solidFill>
                  <a:schemeClr val="accent2"/>
                </a:solidFill>
              </a:rPr>
              <a:t>vs</a:t>
            </a:r>
            <a:r>
              <a:rPr lang="en-US" b="1" dirty="0"/>
              <a:t> Object</a:t>
            </a:r>
            <a:r>
              <a:rPr lang="en-US" b="1" dirty="0">
                <a:solidFill>
                  <a:schemeClr val="accent2"/>
                </a:solidFill>
              </a:rPr>
              <a:t>-</a:t>
            </a:r>
            <a:r>
              <a:rPr lang="en-US" b="1" dirty="0"/>
              <a:t>Oriented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9A56-A721-4A35-B0F5-BABF32CBF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6"/>
                </a:solidFill>
              </a:rPr>
              <a:t>“</a:t>
            </a:r>
            <a:r>
              <a:rPr lang="en-US" i="1" dirty="0"/>
              <a:t>Object</a:t>
            </a:r>
            <a:r>
              <a:rPr lang="en-US" i="1" dirty="0">
                <a:solidFill>
                  <a:schemeClr val="accent2"/>
                </a:solidFill>
              </a:rPr>
              <a:t>-</a:t>
            </a:r>
            <a:r>
              <a:rPr lang="en-US" i="1" dirty="0"/>
              <a:t>oriented programming </a:t>
            </a:r>
            <a:r>
              <a:rPr lang="en-US" i="1" dirty="0">
                <a:solidFill>
                  <a:schemeClr val="accent2"/>
                </a:solidFill>
              </a:rPr>
              <a:t>(</a:t>
            </a:r>
            <a:r>
              <a:rPr lang="en-US" i="1" dirty="0"/>
              <a:t>OOP</a:t>
            </a:r>
            <a:r>
              <a:rPr lang="en-US" i="1" dirty="0">
                <a:solidFill>
                  <a:schemeClr val="accent2"/>
                </a:solidFill>
              </a:rPr>
              <a:t>)</a:t>
            </a:r>
            <a:r>
              <a:rPr lang="en-US" i="1" dirty="0"/>
              <a:t> is a programming paradigm based on the concept of “objects”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which may contain data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in the form of fields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often known as attributes</a:t>
            </a:r>
            <a:r>
              <a:rPr lang="en-US" i="1" dirty="0">
                <a:solidFill>
                  <a:schemeClr val="accent2"/>
                </a:solidFill>
              </a:rPr>
              <a:t>;</a:t>
            </a:r>
            <a:r>
              <a:rPr lang="en-US" i="1" dirty="0"/>
              <a:t> and code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in the form of procedures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often known as methods</a:t>
            </a:r>
            <a:r>
              <a:rPr lang="en-US" i="1" dirty="0">
                <a:solidFill>
                  <a:schemeClr val="accent2"/>
                </a:solidFill>
              </a:rPr>
              <a:t>.</a:t>
            </a:r>
            <a:r>
              <a:rPr lang="en-US" i="1" dirty="0">
                <a:solidFill>
                  <a:schemeClr val="accent6"/>
                </a:solidFill>
              </a:rPr>
              <a:t>”</a:t>
            </a:r>
            <a:r>
              <a:rPr lang="en-US" i="1" dirty="0"/>
              <a:t>                       </a:t>
            </a:r>
            <a:r>
              <a:rPr lang="en-US" b="1" dirty="0">
                <a:solidFill>
                  <a:schemeClr val="accent6"/>
                </a:solidFill>
              </a:rPr>
              <a:t>— Wikipedia  </a:t>
            </a:r>
            <a:r>
              <a:rPr lang="en-US" dirty="0">
                <a:solidFill>
                  <a:schemeClr val="accent6"/>
                </a:solidFill>
              </a:rPr>
              <a:t> </a:t>
            </a:r>
          </a:p>
          <a:p>
            <a:r>
              <a:rPr lang="en-US" i="1" dirty="0">
                <a:solidFill>
                  <a:schemeClr val="accent6"/>
                </a:solidFill>
              </a:rPr>
              <a:t>“</a:t>
            </a:r>
            <a:r>
              <a:rPr lang="en-US" i="1" dirty="0"/>
              <a:t>Procedural programming is a programming paradigm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derived from structured programming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based upon the concept of the procedure call</a:t>
            </a:r>
            <a:r>
              <a:rPr lang="en-US" i="1" dirty="0">
                <a:solidFill>
                  <a:schemeClr val="accent2"/>
                </a:solidFill>
              </a:rPr>
              <a:t>.</a:t>
            </a:r>
            <a:r>
              <a:rPr lang="en-US" i="1" dirty="0"/>
              <a:t> Procedures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also known as routines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subroutines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or functions</a:t>
            </a:r>
            <a:r>
              <a:rPr lang="en-US" i="1" dirty="0">
                <a:solidFill>
                  <a:schemeClr val="accent2"/>
                </a:solidFill>
              </a:rPr>
              <a:t>,</a:t>
            </a:r>
            <a:r>
              <a:rPr lang="en-US" i="1" dirty="0"/>
              <a:t> simply contain a series of computational steps to be carried out</a:t>
            </a:r>
            <a:r>
              <a:rPr lang="en-US" i="1" dirty="0">
                <a:solidFill>
                  <a:schemeClr val="accent2"/>
                </a:solidFill>
              </a:rPr>
              <a:t>.</a:t>
            </a:r>
            <a:r>
              <a:rPr lang="en-US" i="1" dirty="0">
                <a:solidFill>
                  <a:schemeClr val="accent6"/>
                </a:solidFill>
              </a:rPr>
              <a:t>”</a:t>
            </a:r>
            <a:r>
              <a:rPr lang="en-US" i="1" dirty="0"/>
              <a:t>                                                                                 </a:t>
            </a:r>
            <a:r>
              <a:rPr lang="en-US" b="1" dirty="0">
                <a:solidFill>
                  <a:schemeClr val="accent6"/>
                </a:solidFill>
              </a:rPr>
              <a:t>— Wikipedia</a:t>
            </a:r>
          </a:p>
        </p:txBody>
      </p:sp>
    </p:spTree>
    <p:extLst>
      <p:ext uri="{BB962C8B-B14F-4D97-AF65-F5344CB8AC3E}">
        <p14:creationId xmlns:p14="http://schemas.microsoft.com/office/powerpoint/2010/main" val="366707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16DF-EAC1-4B93-BDD5-12068793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75" y="727514"/>
            <a:ext cx="5146965" cy="656148"/>
          </a:xfrm>
        </p:spPr>
        <p:txBody>
          <a:bodyPr>
            <a:normAutofit/>
          </a:bodyPr>
          <a:lstStyle/>
          <a:p>
            <a:pPr algn="ctr"/>
            <a:r>
              <a:rPr lang="en-US" sz="3100" b="1" dirty="0"/>
              <a:t>Procedural Programming</a:t>
            </a:r>
          </a:p>
        </p:txBody>
      </p:sp>
      <p:pic>
        <p:nvPicPr>
          <p:cNvPr id="1030" name="Picture 6" descr="Mother with children walk at crosswalk Royalty Free Vector">
            <a:extLst>
              <a:ext uri="{FF2B5EF4-FFF2-40B4-BE49-F238E27FC236}">
                <a16:creationId xmlns:a16="http://schemas.microsoft.com/office/drawing/2014/main" id="{0D9FC449-4D6C-4FDD-AAFC-DA28BFB8C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r="12418" b="9223"/>
          <a:stretch/>
        </p:blipFill>
        <p:spPr bwMode="auto">
          <a:xfrm>
            <a:off x="6887688" y="496763"/>
            <a:ext cx="5304312" cy="625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71CB5-17B5-4C9D-AD04-3CDE3C541C40}"/>
              </a:ext>
            </a:extLst>
          </p:cNvPr>
          <p:cNvSpPr/>
          <p:nvPr/>
        </p:nvSpPr>
        <p:spPr>
          <a:xfrm>
            <a:off x="563582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1AD231-67C2-4090-859F-A196D49328A0}"/>
              </a:ext>
            </a:extLst>
          </p:cNvPr>
          <p:cNvSpPr/>
          <p:nvPr/>
        </p:nvSpPr>
        <p:spPr>
          <a:xfrm>
            <a:off x="2580408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2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36016-8C8C-4655-B6A2-989E2E43A3EF}"/>
              </a:ext>
            </a:extLst>
          </p:cNvPr>
          <p:cNvSpPr/>
          <p:nvPr/>
        </p:nvSpPr>
        <p:spPr>
          <a:xfrm>
            <a:off x="4597234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3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603B06-48C1-4427-9A2B-82F9DAF8DE2A}"/>
              </a:ext>
            </a:extLst>
          </p:cNvPr>
          <p:cNvSpPr/>
          <p:nvPr/>
        </p:nvSpPr>
        <p:spPr>
          <a:xfrm>
            <a:off x="1572984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Traffic Light 1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3C60E1-0345-4487-A4D3-A341A6596153}"/>
              </a:ext>
            </a:extLst>
          </p:cNvPr>
          <p:cNvSpPr/>
          <p:nvPr/>
        </p:nvSpPr>
        <p:spPr>
          <a:xfrm>
            <a:off x="3593273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Car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x, y location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66092B-1B9C-43A4-AD04-F12DF72A56FE}"/>
              </a:ext>
            </a:extLst>
          </p:cNvPr>
          <p:cNvSpPr/>
          <p:nvPr/>
        </p:nvSpPr>
        <p:spPr>
          <a:xfrm>
            <a:off x="184696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OK to Cross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9D40AD-0319-4BA0-8601-10F47338F624}"/>
              </a:ext>
            </a:extLst>
          </p:cNvPr>
          <p:cNvSpPr/>
          <p:nvPr/>
        </p:nvSpPr>
        <p:spPr>
          <a:xfrm>
            <a:off x="2534268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Advance Position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472B88-1959-4F32-9595-CC7431CF4877}"/>
              </a:ext>
            </a:extLst>
          </p:cNvPr>
          <p:cNvSpPr/>
          <p:nvPr/>
        </p:nvSpPr>
        <p:spPr>
          <a:xfrm>
            <a:off x="4883840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in Intersection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ACFA74-CDA3-41F2-B352-4ECEC366B2DF}"/>
              </a:ext>
            </a:extLst>
          </p:cNvPr>
          <p:cNvSpPr txBox="1"/>
          <p:nvPr/>
        </p:nvSpPr>
        <p:spPr>
          <a:xfrm>
            <a:off x="8653992" y="593923"/>
            <a:ext cx="177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Real World</a:t>
            </a: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0454D01B-C5E0-4871-B907-0AEC55EF35EE}"/>
              </a:ext>
            </a:extLst>
          </p:cNvPr>
          <p:cNvSpPr/>
          <p:nvPr/>
        </p:nvSpPr>
        <p:spPr>
          <a:xfrm rot="3995189">
            <a:off x="7406304" y="263101"/>
            <a:ext cx="423081" cy="23723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A76CFF-3B57-416A-8503-E7C2A01809E4}"/>
              </a:ext>
            </a:extLst>
          </p:cNvPr>
          <p:cNvSpPr txBox="1"/>
          <p:nvPr/>
        </p:nvSpPr>
        <p:spPr>
          <a:xfrm>
            <a:off x="6986411" y="783811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Data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D53E02-EEE0-40F2-86D1-06EBF1600F75}"/>
              </a:ext>
            </a:extLst>
          </p:cNvPr>
          <p:cNvSpPr txBox="1"/>
          <p:nvPr/>
        </p:nvSpPr>
        <p:spPr>
          <a:xfrm>
            <a:off x="969250" y="4325032"/>
            <a:ext cx="5003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Separation of </a:t>
            </a:r>
            <a:r>
              <a:rPr lang="en-US" sz="2400" b="1" dirty="0">
                <a:solidFill>
                  <a:schemeClr val="accent3"/>
                </a:solidFill>
              </a:rPr>
              <a:t>Data</a:t>
            </a:r>
            <a:r>
              <a:rPr lang="en-US" sz="2400" b="1" dirty="0">
                <a:solidFill>
                  <a:srgbClr val="FFFFFF"/>
                </a:solidFill>
              </a:rPr>
              <a:t> and </a:t>
            </a:r>
            <a:r>
              <a:rPr lang="en-US" sz="2400" b="1" dirty="0">
                <a:solidFill>
                  <a:schemeClr val="accent6"/>
                </a:solidFill>
              </a:rPr>
              <a:t>Functions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FF6E95-7403-4DE0-8948-6E36F2C7EA44}"/>
              </a:ext>
            </a:extLst>
          </p:cNvPr>
          <p:cNvSpPr txBox="1"/>
          <p:nvPr/>
        </p:nvSpPr>
        <p:spPr>
          <a:xfrm>
            <a:off x="54606" y="2557387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x_ped1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y_ped1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63E4B6-9A90-446A-BE18-79B624047611}"/>
              </a:ext>
            </a:extLst>
          </p:cNvPr>
          <p:cNvSpPr txBox="1"/>
          <p:nvPr/>
        </p:nvSpPr>
        <p:spPr>
          <a:xfrm>
            <a:off x="1081014" y="3649866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traffic_light 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‘red’</a:t>
            </a:r>
          </a:p>
        </p:txBody>
      </p:sp>
    </p:spTree>
    <p:extLst>
      <p:ext uri="{BB962C8B-B14F-4D97-AF65-F5344CB8AC3E}">
        <p14:creationId xmlns:p14="http://schemas.microsoft.com/office/powerpoint/2010/main" val="3647383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48D17-47FC-4AFC-A1DF-EE18D74C0681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087220" y="2467047"/>
            <a:ext cx="378886" cy="308510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96ACC4-6344-43D7-A5EF-2CBAA47F501A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087220" y="2467047"/>
            <a:ext cx="4412538" cy="308510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CC06FA-46B2-4234-AD26-9C1A549172A8}"/>
              </a:ext>
            </a:extLst>
          </p:cNvPr>
          <p:cNvCxnSpPr>
            <a:cxnSpLocks/>
            <a:stCxn id="17" idx="0"/>
            <a:endCxn id="8" idx="2"/>
          </p:cNvCxnSpPr>
          <p:nvPr/>
        </p:nvCxnSpPr>
        <p:spPr>
          <a:xfrm flipH="1" flipV="1">
            <a:off x="1466106" y="2467047"/>
            <a:ext cx="1970686" cy="3085106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5028B6-EA06-4E82-8FE0-FD396200BDC0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V="1">
            <a:off x="3436792" y="2467047"/>
            <a:ext cx="46140" cy="3085106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6376EF-0655-41B9-8C69-549DFB7096CE}"/>
              </a:ext>
            </a:extLst>
          </p:cNvPr>
          <p:cNvCxnSpPr>
            <a:cxnSpLocks/>
            <a:stCxn id="17" idx="0"/>
            <a:endCxn id="13" idx="2"/>
          </p:cNvCxnSpPr>
          <p:nvPr/>
        </p:nvCxnSpPr>
        <p:spPr>
          <a:xfrm flipV="1">
            <a:off x="3436792" y="2467047"/>
            <a:ext cx="2062966" cy="3085106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52344C-048E-4BC9-BD01-F51FE6BA8B77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1087220" y="3559577"/>
            <a:ext cx="1388288" cy="199257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A11B7C-8854-4FB8-9DEC-C664443BE76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087220" y="2467047"/>
            <a:ext cx="2395712" cy="308510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E9C16DF-EAC1-4B93-BDD5-12068793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75" y="727514"/>
            <a:ext cx="5146965" cy="656148"/>
          </a:xfrm>
        </p:spPr>
        <p:txBody>
          <a:bodyPr>
            <a:normAutofit/>
          </a:bodyPr>
          <a:lstStyle/>
          <a:p>
            <a:pPr algn="ctr"/>
            <a:r>
              <a:rPr lang="en-US" sz="3100" b="1" dirty="0"/>
              <a:t>Procedural Programming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71CB5-17B5-4C9D-AD04-3CDE3C541C40}"/>
              </a:ext>
            </a:extLst>
          </p:cNvPr>
          <p:cNvSpPr/>
          <p:nvPr/>
        </p:nvSpPr>
        <p:spPr>
          <a:xfrm>
            <a:off x="563582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1AD231-67C2-4090-859F-A196D49328A0}"/>
              </a:ext>
            </a:extLst>
          </p:cNvPr>
          <p:cNvSpPr/>
          <p:nvPr/>
        </p:nvSpPr>
        <p:spPr>
          <a:xfrm>
            <a:off x="2580408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2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36016-8C8C-4655-B6A2-989E2E43A3EF}"/>
              </a:ext>
            </a:extLst>
          </p:cNvPr>
          <p:cNvSpPr/>
          <p:nvPr/>
        </p:nvSpPr>
        <p:spPr>
          <a:xfrm>
            <a:off x="4597234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3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603B06-48C1-4427-9A2B-82F9DAF8DE2A}"/>
              </a:ext>
            </a:extLst>
          </p:cNvPr>
          <p:cNvSpPr/>
          <p:nvPr/>
        </p:nvSpPr>
        <p:spPr>
          <a:xfrm>
            <a:off x="1572984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Traffic Light 1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3C60E1-0345-4487-A4D3-A341A6596153}"/>
              </a:ext>
            </a:extLst>
          </p:cNvPr>
          <p:cNvSpPr/>
          <p:nvPr/>
        </p:nvSpPr>
        <p:spPr>
          <a:xfrm>
            <a:off x="3593273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Car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x, y location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66092B-1B9C-43A4-AD04-F12DF72A56FE}"/>
              </a:ext>
            </a:extLst>
          </p:cNvPr>
          <p:cNvSpPr/>
          <p:nvPr/>
        </p:nvSpPr>
        <p:spPr>
          <a:xfrm>
            <a:off x="184696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OK to Cross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9D40AD-0319-4BA0-8601-10F47338F624}"/>
              </a:ext>
            </a:extLst>
          </p:cNvPr>
          <p:cNvSpPr/>
          <p:nvPr/>
        </p:nvSpPr>
        <p:spPr>
          <a:xfrm>
            <a:off x="2534268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Advance Position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472B88-1959-4F32-9595-CC7431CF4877}"/>
              </a:ext>
            </a:extLst>
          </p:cNvPr>
          <p:cNvSpPr/>
          <p:nvPr/>
        </p:nvSpPr>
        <p:spPr>
          <a:xfrm>
            <a:off x="4883840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in Intersection</a:t>
            </a:r>
          </a:p>
        </p:txBody>
      </p:sp>
      <p:pic>
        <p:nvPicPr>
          <p:cNvPr id="27" name="Picture 6" descr="Mother with children walk at crosswalk Royalty Free Vector">
            <a:extLst>
              <a:ext uri="{FF2B5EF4-FFF2-40B4-BE49-F238E27FC236}">
                <a16:creationId xmlns:a16="http://schemas.microsoft.com/office/drawing/2014/main" id="{169141F7-340D-4C3B-A84D-F3ADE9D49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r="12418" b="9223"/>
          <a:stretch/>
        </p:blipFill>
        <p:spPr bwMode="auto">
          <a:xfrm>
            <a:off x="6887688" y="496763"/>
            <a:ext cx="5304312" cy="625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6ED3751-3474-4DAE-A378-42459C1C7CD1}"/>
              </a:ext>
            </a:extLst>
          </p:cNvPr>
          <p:cNvSpPr txBox="1"/>
          <p:nvPr/>
        </p:nvSpPr>
        <p:spPr>
          <a:xfrm>
            <a:off x="8653992" y="593923"/>
            <a:ext cx="177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Real World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1C0B46A9-832E-4D50-A97C-AC9492805ECB}"/>
              </a:ext>
            </a:extLst>
          </p:cNvPr>
          <p:cNvSpPr/>
          <p:nvPr/>
        </p:nvSpPr>
        <p:spPr>
          <a:xfrm rot="3995189">
            <a:off x="7406304" y="263101"/>
            <a:ext cx="423081" cy="23723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D09675-12CF-4398-A2B3-37A9A2E8F9C2}"/>
              </a:ext>
            </a:extLst>
          </p:cNvPr>
          <p:cNvSpPr txBox="1"/>
          <p:nvPr/>
        </p:nvSpPr>
        <p:spPr>
          <a:xfrm>
            <a:off x="6986411" y="783811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5517AC-8245-40B4-B14B-42C10D65F167}"/>
              </a:ext>
            </a:extLst>
          </p:cNvPr>
          <p:cNvSpPr txBox="1"/>
          <p:nvPr/>
        </p:nvSpPr>
        <p:spPr>
          <a:xfrm>
            <a:off x="489027" y="382493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</a:rPr>
              <a:t>input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441D5E-9EA4-46A5-95D2-FF33F17F9AED}"/>
              </a:ext>
            </a:extLst>
          </p:cNvPr>
          <p:cNvSpPr txBox="1"/>
          <p:nvPr/>
        </p:nvSpPr>
        <p:spPr>
          <a:xfrm>
            <a:off x="4020962" y="4577501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505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3400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71CB5-17B5-4C9D-AD04-3CDE3C541C40}"/>
              </a:ext>
            </a:extLst>
          </p:cNvPr>
          <p:cNvSpPr/>
          <p:nvPr/>
        </p:nvSpPr>
        <p:spPr>
          <a:xfrm>
            <a:off x="426113" y="1662056"/>
            <a:ext cx="2657290" cy="1302443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Car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x, y Location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Pedestrian in Intersection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Advance Position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8E359DE-2859-4B17-8BB2-DEDE363D1550}"/>
              </a:ext>
            </a:extLst>
          </p:cNvPr>
          <p:cNvSpPr txBox="1">
            <a:spLocks/>
          </p:cNvSpPr>
          <p:nvPr/>
        </p:nvSpPr>
        <p:spPr>
          <a:xfrm>
            <a:off x="663351" y="727514"/>
            <a:ext cx="5859844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100" b="1" dirty="0"/>
              <a:t>Object</a:t>
            </a:r>
            <a:r>
              <a:rPr lang="en-US" sz="3100" b="1" dirty="0">
                <a:solidFill>
                  <a:schemeClr val="accent2"/>
                </a:solidFill>
              </a:rPr>
              <a:t>-</a:t>
            </a:r>
            <a:r>
              <a:rPr lang="en-US" sz="3100" b="1" dirty="0"/>
              <a:t>Oriented Programming</a:t>
            </a:r>
          </a:p>
        </p:txBody>
      </p:sp>
      <p:pic>
        <p:nvPicPr>
          <p:cNvPr id="20" name="Picture 6" descr="Mother with children walk at crosswalk Royalty Free Vector">
            <a:extLst>
              <a:ext uri="{FF2B5EF4-FFF2-40B4-BE49-F238E27FC236}">
                <a16:creationId xmlns:a16="http://schemas.microsoft.com/office/drawing/2014/main" id="{AAE781A1-8250-4184-922E-BEB5C75A4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r="12418" b="9223"/>
          <a:stretch/>
        </p:blipFill>
        <p:spPr bwMode="auto">
          <a:xfrm>
            <a:off x="6887688" y="496763"/>
            <a:ext cx="5304312" cy="625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BD596FA-A75B-48B1-8949-0DE7980134E9}"/>
              </a:ext>
            </a:extLst>
          </p:cNvPr>
          <p:cNvSpPr txBox="1"/>
          <p:nvPr/>
        </p:nvSpPr>
        <p:spPr>
          <a:xfrm>
            <a:off x="333192" y="3490943"/>
            <a:ext cx="2461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Encapsulation of </a:t>
            </a:r>
            <a:r>
              <a:rPr lang="en-US" sz="2400" b="1" dirty="0">
                <a:solidFill>
                  <a:schemeClr val="accent3"/>
                </a:solidFill>
              </a:rPr>
              <a:t>Data</a:t>
            </a:r>
            <a:r>
              <a:rPr lang="en-US" sz="2400" b="1" dirty="0">
                <a:solidFill>
                  <a:srgbClr val="FFFFFF"/>
                </a:solidFill>
              </a:rPr>
              <a:t> and </a:t>
            </a:r>
            <a:r>
              <a:rPr lang="en-US" sz="2400" b="1" dirty="0">
                <a:solidFill>
                  <a:schemeClr val="accent6"/>
                </a:solidFill>
              </a:rPr>
              <a:t>Functions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5E9D34-66DD-42AD-99FA-D0981DA6B10F}"/>
              </a:ext>
            </a:extLst>
          </p:cNvPr>
          <p:cNvSpPr/>
          <p:nvPr/>
        </p:nvSpPr>
        <p:spPr>
          <a:xfrm>
            <a:off x="3975668" y="2155493"/>
            <a:ext cx="2657290" cy="115926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Traffic Light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Color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Change Color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8E3EE9-6B01-4F11-A125-91326544DB71}"/>
              </a:ext>
            </a:extLst>
          </p:cNvPr>
          <p:cNvSpPr/>
          <p:nvPr/>
        </p:nvSpPr>
        <p:spPr>
          <a:xfrm>
            <a:off x="243072" y="5217716"/>
            <a:ext cx="2657290" cy="115926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Pedestrian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x, y Location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Ok to Cross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Advance Position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1089FB4-9D1B-49C4-B60E-03A007A53E1B}"/>
              </a:ext>
            </a:extLst>
          </p:cNvPr>
          <p:cNvSpPr/>
          <p:nvPr/>
        </p:nvSpPr>
        <p:spPr>
          <a:xfrm>
            <a:off x="4057574" y="5433811"/>
            <a:ext cx="2657290" cy="115926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Pedestrian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x, y Location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Ok to Cross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Advance Position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254CE6-5376-45E9-A055-7D290E4E73A6}"/>
              </a:ext>
            </a:extLst>
          </p:cNvPr>
          <p:cNvSpPr/>
          <p:nvPr/>
        </p:nvSpPr>
        <p:spPr>
          <a:xfrm>
            <a:off x="3239024" y="3794652"/>
            <a:ext cx="2657290" cy="115926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Pedestrian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x, y Location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Ok to Cross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Advance Position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36FE8F-3C6B-4AF9-BAC5-0EEEE08B94E7}"/>
              </a:ext>
            </a:extLst>
          </p:cNvPr>
          <p:cNvSpPr txBox="1"/>
          <p:nvPr/>
        </p:nvSpPr>
        <p:spPr>
          <a:xfrm>
            <a:off x="8653992" y="593923"/>
            <a:ext cx="177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Real World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27F3CE67-C35B-4958-A00F-146F9AE716B3}"/>
              </a:ext>
            </a:extLst>
          </p:cNvPr>
          <p:cNvSpPr/>
          <p:nvPr/>
        </p:nvSpPr>
        <p:spPr>
          <a:xfrm rot="3371865">
            <a:off x="7549109" y="514339"/>
            <a:ext cx="423081" cy="22954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0B83C-B106-47BF-A47F-1B668E4AABAE}"/>
              </a:ext>
            </a:extLst>
          </p:cNvPr>
          <p:cNvSpPr txBox="1"/>
          <p:nvPr/>
        </p:nvSpPr>
        <p:spPr>
          <a:xfrm>
            <a:off x="7083200" y="1018827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Data</a:t>
            </a: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2383E88F-E4FB-4324-8B2F-201FB593CA02}"/>
              </a:ext>
            </a:extLst>
          </p:cNvPr>
          <p:cNvSpPr/>
          <p:nvPr/>
        </p:nvSpPr>
        <p:spPr>
          <a:xfrm>
            <a:off x="3281837" y="2442951"/>
            <a:ext cx="493149" cy="241741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Left-Right 30">
            <a:extLst>
              <a:ext uri="{FF2B5EF4-FFF2-40B4-BE49-F238E27FC236}">
                <a16:creationId xmlns:a16="http://schemas.microsoft.com/office/drawing/2014/main" id="{E30628B9-44D1-40CE-BC75-4F999A93C364}"/>
              </a:ext>
            </a:extLst>
          </p:cNvPr>
          <p:cNvSpPr/>
          <p:nvPr/>
        </p:nvSpPr>
        <p:spPr>
          <a:xfrm>
            <a:off x="3066601" y="5806402"/>
            <a:ext cx="838783" cy="267209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11CBEC0D-ED24-4B4F-8AD5-CA0D341FC080}"/>
              </a:ext>
            </a:extLst>
          </p:cNvPr>
          <p:cNvSpPr/>
          <p:nvPr/>
        </p:nvSpPr>
        <p:spPr>
          <a:xfrm rot="18885023">
            <a:off x="2876228" y="4971392"/>
            <a:ext cx="421692" cy="245726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1518D4B7-31DA-4C98-AEC4-FC307606A144}"/>
              </a:ext>
            </a:extLst>
          </p:cNvPr>
          <p:cNvSpPr/>
          <p:nvPr/>
        </p:nvSpPr>
        <p:spPr>
          <a:xfrm rot="5400000">
            <a:off x="5025417" y="5065245"/>
            <a:ext cx="316073" cy="241717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1FDF67FD-5C7A-4273-84A1-88A031A5497D}"/>
              </a:ext>
            </a:extLst>
          </p:cNvPr>
          <p:cNvSpPr/>
          <p:nvPr/>
        </p:nvSpPr>
        <p:spPr>
          <a:xfrm rot="5400000">
            <a:off x="4787088" y="3436029"/>
            <a:ext cx="316073" cy="241717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6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6662-8226-4558-9E14-0F2DC749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</a:t>
            </a:r>
            <a:r>
              <a:rPr lang="en-US" b="1" dirty="0">
                <a:solidFill>
                  <a:schemeClr val="accent2"/>
                </a:solidFill>
              </a:rPr>
              <a:t>-</a:t>
            </a:r>
            <a:r>
              <a:rPr lang="en-US" b="1" dirty="0"/>
              <a:t>Oriented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9A56-A721-4A35-B0F5-BABF32CBF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216487" cy="4835479"/>
          </a:xfrm>
        </p:spPr>
        <p:txBody>
          <a:bodyPr>
            <a:normAutofit/>
          </a:bodyPr>
          <a:lstStyle/>
          <a:p>
            <a:r>
              <a:rPr lang="en-US" dirty="0"/>
              <a:t>Often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an object definition corresponds to some object or concept in the real world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The functions that operate on that object correspond to the ways real</a:t>
            </a:r>
            <a:r>
              <a:rPr lang="en-US" dirty="0">
                <a:solidFill>
                  <a:schemeClr val="accent2"/>
                </a:solidFill>
              </a:rPr>
              <a:t>-­</a:t>
            </a:r>
            <a:r>
              <a:rPr lang="en-US" dirty="0"/>
              <a:t>world objects interact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Examples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Oven Object</a:t>
            </a:r>
            <a:r>
              <a:rPr lang="en-US" b="1" dirty="0">
                <a:solidFill>
                  <a:schemeClr val="accent2"/>
                </a:solidFill>
              </a:rPr>
              <a:t>:</a:t>
            </a:r>
            <a:r>
              <a:rPr lang="en-US" b="1" dirty="0"/>
              <a:t> </a:t>
            </a:r>
            <a:r>
              <a:rPr lang="en-US" dirty="0"/>
              <a:t>the oven allows several specific operations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g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set the temperature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set a timer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etc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Cellphone Object</a:t>
            </a:r>
            <a:r>
              <a:rPr lang="en-US" b="1" dirty="0">
                <a:solidFill>
                  <a:schemeClr val="accent1"/>
                </a:solidFill>
              </a:rPr>
              <a:t>:</a:t>
            </a:r>
            <a:r>
              <a:rPr lang="en-US" b="1" dirty="0"/>
              <a:t> </a:t>
            </a:r>
            <a:r>
              <a:rPr lang="en-US" dirty="0"/>
              <a:t>we use a cellphone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own </a:t>
            </a:r>
            <a:r>
              <a:rPr lang="en-US" dirty="0">
                <a:solidFill>
                  <a:schemeClr val="accent2"/>
                </a:solidFill>
              </a:rPr>
              <a:t>“</a:t>
            </a:r>
            <a:r>
              <a:rPr lang="en-US" dirty="0"/>
              <a:t>methods</a:t>
            </a:r>
            <a:r>
              <a:rPr lang="en-US" dirty="0">
                <a:solidFill>
                  <a:schemeClr val="accent2"/>
                </a:solidFill>
              </a:rPr>
              <a:t>”</a:t>
            </a:r>
            <a:r>
              <a:rPr lang="en-US" dirty="0"/>
              <a:t> to send a text message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or to change its state to silent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Turtle Object</a:t>
            </a:r>
            <a:r>
              <a:rPr lang="en-US" b="1" dirty="0">
                <a:solidFill>
                  <a:schemeClr val="accent1"/>
                </a:solidFill>
              </a:rPr>
              <a:t>:</a:t>
            </a:r>
            <a:r>
              <a:rPr lang="en-US" b="1" dirty="0"/>
              <a:t> </a:t>
            </a:r>
            <a:r>
              <a:rPr lang="en-US" dirty="0"/>
              <a:t>we use a turtle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own </a:t>
            </a:r>
            <a:r>
              <a:rPr lang="en-US" dirty="0">
                <a:solidFill>
                  <a:schemeClr val="accent2"/>
                </a:solidFill>
              </a:rPr>
              <a:t>“</a:t>
            </a:r>
            <a:r>
              <a:rPr lang="en-US" dirty="0"/>
              <a:t>methods</a:t>
            </a:r>
            <a:r>
              <a:rPr lang="en-US" dirty="0">
                <a:solidFill>
                  <a:schemeClr val="accent2"/>
                </a:solidFill>
              </a:rPr>
              <a:t>”</a:t>
            </a:r>
            <a:r>
              <a:rPr lang="en-US" dirty="0"/>
              <a:t> to move around a 2D space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7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12C87E-58E9-4624-8985-A62E8C7BA528}"/>
              </a:ext>
            </a:extLst>
          </p:cNvPr>
          <p:cNvSpPr txBox="1"/>
          <p:nvPr/>
        </p:nvSpPr>
        <p:spPr>
          <a:xfrm>
            <a:off x="7313657" y="2250572"/>
            <a:ext cx="2920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Object</a:t>
            </a:r>
            <a:r>
              <a:rPr lang="en-US" sz="2800" b="1" dirty="0">
                <a:solidFill>
                  <a:schemeClr val="accent1"/>
                </a:solidFill>
              </a:rPr>
              <a:t>-</a:t>
            </a:r>
            <a:r>
              <a:rPr lang="en-US" sz="2800" b="1" dirty="0">
                <a:solidFill>
                  <a:srgbClr val="FFFFFF"/>
                </a:solidFill>
              </a:rPr>
              <a:t>Oriented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52E65-141C-4542-8B87-484193F9CEB5}"/>
              </a:ext>
            </a:extLst>
          </p:cNvPr>
          <p:cNvSpPr txBox="1"/>
          <p:nvPr/>
        </p:nvSpPr>
        <p:spPr>
          <a:xfrm>
            <a:off x="343817" y="3041097"/>
            <a:ext cx="4910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-150, 100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right(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26662-8226-4558-9E14-0F2DC749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</a:t>
            </a:r>
            <a:r>
              <a:rPr lang="en-US" b="1" dirty="0">
                <a:solidFill>
                  <a:schemeClr val="accent2"/>
                </a:solidFill>
              </a:rPr>
              <a:t>-</a:t>
            </a:r>
            <a:r>
              <a:rPr lang="en-US" b="1" dirty="0"/>
              <a:t>Oriented Programming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A1C7D-266C-4AA9-9895-3D314D41A9B1}"/>
              </a:ext>
            </a:extLst>
          </p:cNvPr>
          <p:cNvSpPr txBox="1"/>
          <p:nvPr/>
        </p:nvSpPr>
        <p:spPr>
          <a:xfrm>
            <a:off x="7313657" y="3042274"/>
            <a:ext cx="469551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up()        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-150, 100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right()</a:t>
            </a:r>
          </a:p>
          <a:p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A170A-0181-48B6-BBA3-18BA8D6E820E}"/>
              </a:ext>
            </a:extLst>
          </p:cNvPr>
          <p:cNvSpPr txBox="1"/>
          <p:nvPr/>
        </p:nvSpPr>
        <p:spPr>
          <a:xfrm>
            <a:off x="343817" y="2250572"/>
            <a:ext cx="201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Procedural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034C4-4D22-4BD1-BCEB-FDF7F0DB3216}"/>
              </a:ext>
            </a:extLst>
          </p:cNvPr>
          <p:cNvSpPr txBox="1"/>
          <p:nvPr/>
        </p:nvSpPr>
        <p:spPr>
          <a:xfrm>
            <a:off x="9288380" y="822163"/>
            <a:ext cx="2421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2"/>
                </a:solidFill>
              </a:rPr>
              <a:t>Data</a:t>
            </a:r>
          </a:p>
          <a:p>
            <a:pPr algn="r"/>
            <a:r>
              <a:rPr lang="en-US" sz="3600" b="1" dirty="0">
                <a:solidFill>
                  <a:schemeClr val="accent6"/>
                </a:solidFill>
              </a:rPr>
              <a:t>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1E211-BE94-4FBB-8180-A5E4F1ACEE48}"/>
              </a:ext>
            </a:extLst>
          </p:cNvPr>
          <p:cNvSpPr txBox="1"/>
          <p:nvPr/>
        </p:nvSpPr>
        <p:spPr>
          <a:xfrm>
            <a:off x="2656461" y="1965660"/>
            <a:ext cx="33554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+ 1</a:t>
            </a:r>
          </a:p>
          <a:p>
            <a:endParaRPr lang="en-US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x_new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y_new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x_new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y_new</a:t>
            </a:r>
          </a:p>
          <a:p>
            <a:endParaRPr lang="en-US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right(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83134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7CC1-D7F1-42A0-8819-3480C348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6654-C654-4B34-A855-B185C5D63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897573" cy="483547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Everything in Python is an object</a:t>
            </a:r>
            <a:r>
              <a:rPr lang="en-US" sz="3200" b="1" dirty="0">
                <a:solidFill>
                  <a:schemeClr val="accent2"/>
                </a:solidFill>
              </a:rPr>
              <a:t>.</a:t>
            </a:r>
            <a:r>
              <a:rPr lang="en-US" sz="3200" b="1" dirty="0"/>
              <a:t> </a:t>
            </a:r>
          </a:p>
          <a:p>
            <a:r>
              <a:rPr lang="en-US" sz="3200" dirty="0"/>
              <a:t>Every value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variable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function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etc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is an object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Every time we create a variable we are making a new object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CA561-1B0A-403D-89AC-AAC2B8685927}"/>
              </a:ext>
            </a:extLst>
          </p:cNvPr>
          <p:cNvSpPr txBox="1"/>
          <p:nvPr/>
        </p:nvSpPr>
        <p:spPr>
          <a:xfrm>
            <a:off x="4735773" y="1825624"/>
            <a:ext cx="74198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 sz="3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 sz="3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“Hello”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B533A-8E7A-405F-A8D6-FC467895066E}"/>
              </a:ext>
            </a:extLst>
          </p:cNvPr>
          <p:cNvSpPr txBox="1"/>
          <p:nvPr/>
        </p:nvSpPr>
        <p:spPr>
          <a:xfrm>
            <a:off x="7560583" y="472833"/>
            <a:ext cx="38721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Is </a:t>
            </a:r>
            <a:r>
              <a:rPr lang="en-US" sz="3200" b="1" dirty="0">
                <a:solidFill>
                  <a:schemeClr val="accent2"/>
                </a:solidFill>
              </a:rPr>
              <a:t>this</a:t>
            </a:r>
            <a:r>
              <a:rPr lang="en-US" sz="3200" dirty="0">
                <a:solidFill>
                  <a:srgbClr val="FFFFFF"/>
                </a:solidFill>
              </a:rPr>
              <a:t> an instance </a:t>
            </a:r>
          </a:p>
          <a:p>
            <a:r>
              <a:rPr lang="en-US" sz="3200" dirty="0">
                <a:solidFill>
                  <a:srgbClr val="FFFFFF"/>
                </a:solidFill>
              </a:rPr>
              <a:t>             of </a:t>
            </a:r>
            <a:r>
              <a:rPr lang="en-US" sz="3200" b="1" dirty="0">
                <a:solidFill>
                  <a:schemeClr val="accent6"/>
                </a:solidFill>
              </a:rPr>
              <a:t>this </a:t>
            </a:r>
            <a:r>
              <a:rPr lang="en-US" sz="3200" dirty="0">
                <a:solidFill>
                  <a:srgbClr val="FFFFFF"/>
                </a:solidFill>
              </a:rPr>
              <a:t>class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56B3C0E-ED5D-4BCE-9F74-0D095CADE14D}"/>
              </a:ext>
            </a:extLst>
          </p:cNvPr>
          <p:cNvSpPr/>
          <p:nvPr/>
        </p:nvSpPr>
        <p:spPr>
          <a:xfrm>
            <a:off x="8216528" y="1050878"/>
            <a:ext cx="354842" cy="8779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1DB3C0D-9EB1-4FBE-A0A0-BE78B218E2E6}"/>
              </a:ext>
            </a:extLst>
          </p:cNvPr>
          <p:cNvSpPr/>
          <p:nvPr/>
        </p:nvSpPr>
        <p:spPr>
          <a:xfrm>
            <a:off x="9761180" y="1548199"/>
            <a:ext cx="354842" cy="38060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7CC1-D7F1-42A0-8819-3480C348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6654-C654-4B34-A855-B185C5D63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897573" cy="4835479"/>
          </a:xfrm>
        </p:spPr>
        <p:txBody>
          <a:bodyPr>
            <a:normAutofit/>
          </a:bodyPr>
          <a:lstStyle/>
          <a:p>
            <a:r>
              <a:rPr lang="en-US" sz="3200" dirty="0"/>
              <a:t>Each object has a type or </a:t>
            </a:r>
            <a:r>
              <a:rPr lang="en-US" sz="3200" b="1" dirty="0">
                <a:solidFill>
                  <a:schemeClr val="accent6"/>
                </a:solidFill>
              </a:rPr>
              <a:t>class</a:t>
            </a:r>
            <a:r>
              <a:rPr lang="en-US" sz="3200" dirty="0"/>
              <a:t> it is associated with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CA561-1B0A-403D-89AC-AAC2B8685927}"/>
              </a:ext>
            </a:extLst>
          </p:cNvPr>
          <p:cNvSpPr txBox="1"/>
          <p:nvPr/>
        </p:nvSpPr>
        <p:spPr>
          <a:xfrm>
            <a:off x="4772162" y="1839271"/>
            <a:ext cx="741983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“Hello”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str)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en-US" sz="2800" b="1" dirty="0">
              <a:solidFill>
                <a:srgbClr val="E00BE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float)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float)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 2]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list)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D6849-740F-4192-8E60-D6F9CA3D06C4}"/>
              </a:ext>
            </a:extLst>
          </p:cNvPr>
          <p:cNvSpPr txBox="1"/>
          <p:nvPr/>
        </p:nvSpPr>
        <p:spPr>
          <a:xfrm>
            <a:off x="7560583" y="472833"/>
            <a:ext cx="42600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Is </a:t>
            </a:r>
            <a:r>
              <a:rPr lang="en-US" sz="3200" b="1" dirty="0">
                <a:solidFill>
                  <a:schemeClr val="accent2"/>
                </a:solidFill>
              </a:rPr>
              <a:t>this</a:t>
            </a:r>
            <a:r>
              <a:rPr lang="en-US" sz="3200" dirty="0">
                <a:solidFill>
                  <a:srgbClr val="FFFFFF"/>
                </a:solidFill>
              </a:rPr>
              <a:t> an instance </a:t>
            </a:r>
          </a:p>
          <a:p>
            <a:r>
              <a:rPr lang="en-US" sz="3200" dirty="0">
                <a:solidFill>
                  <a:srgbClr val="FFFFFF"/>
                </a:solidFill>
              </a:rPr>
              <a:t>                of </a:t>
            </a:r>
            <a:r>
              <a:rPr lang="en-US" sz="3200" b="1" dirty="0">
                <a:solidFill>
                  <a:schemeClr val="accent6"/>
                </a:solidFill>
              </a:rPr>
              <a:t>this </a:t>
            </a:r>
            <a:r>
              <a:rPr lang="en-US" sz="3200" dirty="0">
                <a:solidFill>
                  <a:srgbClr val="FFFFFF"/>
                </a:solidFill>
              </a:rPr>
              <a:t>class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3843041-E9A2-4384-A1E7-1085B04B8183}"/>
              </a:ext>
            </a:extLst>
          </p:cNvPr>
          <p:cNvSpPr/>
          <p:nvPr/>
        </p:nvSpPr>
        <p:spPr>
          <a:xfrm>
            <a:off x="8407600" y="1050878"/>
            <a:ext cx="354842" cy="8779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04BDB5D-087F-4F6A-A7D1-50A3FF191FF5}"/>
              </a:ext>
            </a:extLst>
          </p:cNvPr>
          <p:cNvSpPr/>
          <p:nvPr/>
        </p:nvSpPr>
        <p:spPr>
          <a:xfrm>
            <a:off x="10075075" y="1548199"/>
            <a:ext cx="354842" cy="38060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3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9E77-B543-A1F2-83BF-89CB9DF52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5FCD7-72D6-689D-C0CB-91A1F703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in Python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6C56B0-A7C3-E6E1-E5C1-1E63F3D18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/>
          </a:bodyPr>
          <a:lstStyle/>
          <a:p>
            <a:r>
              <a:rPr lang="en-US" sz="3200" dirty="0"/>
              <a:t>Really</a:t>
            </a:r>
            <a:r>
              <a:rPr lang="en-US" sz="3200" dirty="0">
                <a:solidFill>
                  <a:schemeClr val="accent3"/>
                </a:solidFill>
              </a:rPr>
              <a:t>?</a:t>
            </a:r>
            <a:r>
              <a:rPr lang="en-US" sz="3200" dirty="0"/>
              <a:t> Everything is an object</a:t>
            </a:r>
            <a:r>
              <a:rPr lang="en-US" sz="3200" dirty="0">
                <a:solidFill>
                  <a:schemeClr val="accent3"/>
                </a:solidFill>
              </a:rPr>
              <a:t>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D2B003-B693-48D5-9B7E-744F8A5A99E8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Objects in Python</a:t>
            </a:r>
          </a:p>
        </p:txBody>
      </p:sp>
    </p:spTree>
    <p:extLst>
      <p:ext uri="{BB962C8B-B14F-4D97-AF65-F5344CB8AC3E}">
        <p14:creationId xmlns:p14="http://schemas.microsoft.com/office/powerpoint/2010/main" val="197802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2230-213B-4739-9CB7-F95D1CD1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53152" cy="4835479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A class can be thought of as a template for the objects that are instances of it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An instance of a class refers to an object whose type is defined as the class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The words 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instance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object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 are used interchangeably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A </a:t>
            </a:r>
            <a:r>
              <a:rPr lang="en-US" sz="3200" dirty="0">
                <a:solidFill>
                  <a:schemeClr val="accent6"/>
                </a:solidFill>
              </a:rPr>
              <a:t>Class</a:t>
            </a:r>
            <a:r>
              <a:rPr lang="en-US" sz="3200" dirty="0"/>
              <a:t> is made up of attributes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b="1" dirty="0">
                <a:solidFill>
                  <a:schemeClr val="accent2"/>
                </a:solidFill>
              </a:rPr>
              <a:t>data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/>
              <a:t>and methods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b="1" dirty="0">
                <a:solidFill>
                  <a:schemeClr val="accent2"/>
                </a:solidFill>
              </a:rPr>
              <a:t>functions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24DF9-86FB-4920-B349-335058981718}"/>
              </a:ext>
            </a:extLst>
          </p:cNvPr>
          <p:cNvSpPr txBox="1"/>
          <p:nvPr/>
        </p:nvSpPr>
        <p:spPr>
          <a:xfrm>
            <a:off x="5701108" y="4997669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</a:rPr>
              <a:t>Functions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3AD253-F30E-41A5-90B8-1F2E58E9169A}"/>
              </a:ext>
            </a:extLst>
          </p:cNvPr>
          <p:cNvCxnSpPr/>
          <p:nvPr/>
        </p:nvCxnSpPr>
        <p:spPr>
          <a:xfrm>
            <a:off x="7630506" y="5352392"/>
            <a:ext cx="7173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7597EA-4B96-4938-8BC8-B2AB2986B68A}"/>
              </a:ext>
            </a:extLst>
          </p:cNvPr>
          <p:cNvCxnSpPr/>
          <p:nvPr/>
        </p:nvCxnSpPr>
        <p:spPr>
          <a:xfrm>
            <a:off x="7630505" y="2927119"/>
            <a:ext cx="7173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C0CD4A-A4AE-405E-9A81-932093C55D33}"/>
              </a:ext>
            </a:extLst>
          </p:cNvPr>
          <p:cNvSpPr txBox="1"/>
          <p:nvPr/>
        </p:nvSpPr>
        <p:spPr>
          <a:xfrm>
            <a:off x="6539651" y="2579798"/>
            <a:ext cx="976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D9A07-5658-446E-8B1E-5EFC2E19E3EF}"/>
              </a:ext>
            </a:extLst>
          </p:cNvPr>
          <p:cNvSpPr txBox="1"/>
          <p:nvPr/>
        </p:nvSpPr>
        <p:spPr>
          <a:xfrm>
            <a:off x="4631854" y="562265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append(list1, list2)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list1.append(list2)</a:t>
            </a:r>
          </a:p>
        </p:txBody>
      </p:sp>
    </p:spTree>
    <p:extLst>
      <p:ext uri="{BB962C8B-B14F-4D97-AF65-F5344CB8AC3E}">
        <p14:creationId xmlns:p14="http://schemas.microsoft.com/office/powerpoint/2010/main" val="339687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Person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age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city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gender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eat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study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sleep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play</a:t>
            </a:r>
          </a:p>
        </p:txBody>
      </p:sp>
      <p:pic>
        <p:nvPicPr>
          <p:cNvPr id="2052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21564951-FDB3-4C85-B75B-8BF4D40158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2" t="1418" r="35563" b="65481"/>
          <a:stretch/>
        </p:blipFill>
        <p:spPr bwMode="auto">
          <a:xfrm>
            <a:off x="320534" y="1476734"/>
            <a:ext cx="2412125" cy="27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95FA9263-A69C-446B-AFD5-AE72A76FD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94" t="66665"/>
          <a:stretch/>
        </p:blipFill>
        <p:spPr bwMode="auto">
          <a:xfrm>
            <a:off x="4968599" y="220439"/>
            <a:ext cx="2721845" cy="279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B4A46116-4CA4-4928-90E5-8FBBA492F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61" b="66899"/>
          <a:stretch/>
        </p:blipFill>
        <p:spPr bwMode="auto">
          <a:xfrm>
            <a:off x="2719533" y="2546992"/>
            <a:ext cx="2840809" cy="277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512358" y="3753534"/>
            <a:ext cx="24860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June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city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Ottawa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gender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she</a:t>
            </a:r>
            <a:r>
              <a:rPr lang="en-US" sz="2400" b="1" dirty="0">
                <a:solidFill>
                  <a:schemeClr val="accent6"/>
                </a:solidFill>
              </a:rPr>
              <a:t>/</a:t>
            </a:r>
            <a:r>
              <a:rPr lang="en-US" sz="2400" b="1" dirty="0">
                <a:solidFill>
                  <a:srgbClr val="FFFFFF"/>
                </a:solidFill>
              </a:rPr>
              <a:t>her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30413-2C42-4459-81FD-A632536C545D}"/>
              </a:ext>
            </a:extLst>
          </p:cNvPr>
          <p:cNvSpPr txBox="1"/>
          <p:nvPr/>
        </p:nvSpPr>
        <p:spPr>
          <a:xfrm>
            <a:off x="3413791" y="4949185"/>
            <a:ext cx="24331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Ted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31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city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Kingston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gender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he</a:t>
            </a:r>
            <a:r>
              <a:rPr lang="en-US" sz="2400" b="1" dirty="0">
                <a:solidFill>
                  <a:schemeClr val="accent6"/>
                </a:solidFill>
              </a:rPr>
              <a:t>/</a:t>
            </a:r>
            <a:r>
              <a:rPr lang="en-US" sz="2400" b="1" dirty="0">
                <a:solidFill>
                  <a:srgbClr val="FFFFFF"/>
                </a:solidFill>
              </a:rPr>
              <a:t>him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1767E2-4D42-44C6-99F0-953B5BD92191}"/>
              </a:ext>
            </a:extLst>
          </p:cNvPr>
          <p:cNvSpPr txBox="1"/>
          <p:nvPr/>
        </p:nvSpPr>
        <p:spPr>
          <a:xfrm>
            <a:off x="5429190" y="2621184"/>
            <a:ext cx="29172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Majid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28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city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Toronto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gender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they</a:t>
            </a:r>
            <a:r>
              <a:rPr lang="en-US" sz="2400" b="1" dirty="0">
                <a:solidFill>
                  <a:schemeClr val="accent6"/>
                </a:solidFill>
              </a:rPr>
              <a:t>/</a:t>
            </a:r>
            <a:r>
              <a:rPr lang="en-US" sz="2400" b="1" dirty="0">
                <a:solidFill>
                  <a:srgbClr val="FFFFFF"/>
                </a:solidFill>
              </a:rPr>
              <a:t>them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Person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201454" y="1847587"/>
            <a:ext cx="701174" cy="3153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148000" cy="5658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769069" y="1939159"/>
            <a:ext cx="891799" cy="30742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63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Person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age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city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gender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eat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study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sleep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play</a:t>
            </a:r>
          </a:p>
        </p:txBody>
      </p:sp>
      <p:pic>
        <p:nvPicPr>
          <p:cNvPr id="2052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21564951-FDB3-4C85-B75B-8BF4D40158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2" t="1418" r="35563" b="65481"/>
          <a:stretch/>
        </p:blipFill>
        <p:spPr bwMode="auto">
          <a:xfrm>
            <a:off x="320534" y="1476734"/>
            <a:ext cx="2412125" cy="27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512358" y="3753534"/>
            <a:ext cx="24860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June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city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Ottawa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gender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she</a:t>
            </a:r>
            <a:r>
              <a:rPr lang="en-US" sz="2400" b="1" dirty="0">
                <a:solidFill>
                  <a:schemeClr val="accent6"/>
                </a:solidFill>
              </a:rPr>
              <a:t>/</a:t>
            </a:r>
            <a:r>
              <a:rPr lang="en-US" sz="2400" b="1" dirty="0">
                <a:solidFill>
                  <a:srgbClr val="FFFFFF"/>
                </a:solidFill>
              </a:rPr>
              <a:t>her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Person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201454" y="1847587"/>
            <a:ext cx="701174" cy="3153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25810D3-D960-B69F-D409-A7ACEC646CAB}"/>
              </a:ext>
            </a:extLst>
          </p:cNvPr>
          <p:cNvSpPr txBox="1"/>
          <p:nvPr/>
        </p:nvSpPr>
        <p:spPr>
          <a:xfrm>
            <a:off x="3557728" y="3889320"/>
            <a:ext cx="41857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Person(‘June’, 34,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‘Ottawa’,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‘she/her’)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Person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87305-F1DA-17FB-79EB-7AA736938053}"/>
              </a:ext>
            </a:extLst>
          </p:cNvPr>
          <p:cNvSpPr txBox="1"/>
          <p:nvPr/>
        </p:nvSpPr>
        <p:spPr>
          <a:xfrm>
            <a:off x="2998423" y="2414635"/>
            <a:ext cx="1954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Object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00FF00"/>
                </a:solidFill>
              </a:rPr>
              <a:t>Instance of the Person 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0E8A9-7842-F7A2-B649-9C509E139C15}"/>
              </a:ext>
            </a:extLst>
          </p:cNvPr>
          <p:cNvSpPr txBox="1"/>
          <p:nvPr/>
        </p:nvSpPr>
        <p:spPr>
          <a:xfrm>
            <a:off x="5884365" y="6143156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457AE-B305-E0EC-7606-BBD72BD0B267}"/>
              </a:ext>
            </a:extLst>
          </p:cNvPr>
          <p:cNvSpPr txBox="1"/>
          <p:nvPr/>
        </p:nvSpPr>
        <p:spPr>
          <a:xfrm>
            <a:off x="5952401" y="2744867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F1612D-A385-2268-FD2A-22ADF7030911}"/>
              </a:ext>
            </a:extLst>
          </p:cNvPr>
          <p:cNvCxnSpPr>
            <a:cxnSpLocks/>
          </p:cNvCxnSpPr>
          <p:nvPr/>
        </p:nvCxnSpPr>
        <p:spPr>
          <a:xfrm flipH="1">
            <a:off x="5344815" y="3135455"/>
            <a:ext cx="648930" cy="810612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3FC8B4-6A54-C7ED-8B38-6DC310C1D930}"/>
              </a:ext>
            </a:extLst>
          </p:cNvPr>
          <p:cNvCxnSpPr>
            <a:cxnSpLocks/>
          </p:cNvCxnSpPr>
          <p:nvPr/>
        </p:nvCxnSpPr>
        <p:spPr>
          <a:xfrm>
            <a:off x="3767959" y="3665483"/>
            <a:ext cx="164877" cy="280584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1BCAF56-1BB4-92FC-8B80-7C1835EEA4AC}"/>
              </a:ext>
            </a:extLst>
          </p:cNvPr>
          <p:cNvCxnSpPr>
            <a:cxnSpLocks/>
          </p:cNvCxnSpPr>
          <p:nvPr/>
        </p:nvCxnSpPr>
        <p:spPr>
          <a:xfrm flipH="1" flipV="1">
            <a:off x="5223566" y="5704629"/>
            <a:ext cx="720952" cy="513291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88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 oil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103128" y="3981449"/>
            <a:ext cx="26500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Corolla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company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Toyota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year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1980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color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Car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2325414" y="2230821"/>
            <a:ext cx="577214" cy="18130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211062" cy="134947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154214" y="1573113"/>
            <a:ext cx="1113599" cy="743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>
            <a:extLst>
              <a:ext uri="{FF2B5EF4-FFF2-40B4-BE49-F238E27FC236}">
                <a16:creationId xmlns:a16="http://schemas.microsoft.com/office/drawing/2014/main" id="{9579396F-B932-4BC6-B6F9-47A2C5CCF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01" y="2355418"/>
            <a:ext cx="2507096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lue Car Clip Art at Clker.com - vector clip art online, royalty free &amp;amp;  public domain">
            <a:extLst>
              <a:ext uri="{FF2B5EF4-FFF2-40B4-BE49-F238E27FC236}">
                <a16:creationId xmlns:a16="http://schemas.microsoft.com/office/drawing/2014/main" id="{7C41D54A-752A-4240-83EB-AD12C1784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189" y="769300"/>
            <a:ext cx="285750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Vw Bulli Camping Bus - Free photo on Pixabay">
            <a:extLst>
              <a:ext uri="{FF2B5EF4-FFF2-40B4-BE49-F238E27FC236}">
                <a16:creationId xmlns:a16="http://schemas.microsoft.com/office/drawing/2014/main" id="{A6B57B64-A693-4C30-9454-2A029217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193" y="3625682"/>
            <a:ext cx="2913341" cy="141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78DFABA-DB9C-4E04-AF4E-E3D21148E276}"/>
              </a:ext>
            </a:extLst>
          </p:cNvPr>
          <p:cNvSpPr txBox="1"/>
          <p:nvPr/>
        </p:nvSpPr>
        <p:spPr>
          <a:xfrm>
            <a:off x="2967193" y="5039865"/>
            <a:ext cx="33949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Bus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company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Volkswagen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year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1976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color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orange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1A1814-97B9-4709-AB10-B7835AB25339}"/>
              </a:ext>
            </a:extLst>
          </p:cNvPr>
          <p:cNvSpPr txBox="1"/>
          <p:nvPr/>
        </p:nvSpPr>
        <p:spPr>
          <a:xfrm>
            <a:off x="5267813" y="1995119"/>
            <a:ext cx="24545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Model S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company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Tesla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year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2017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color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blue</a:t>
            </a:r>
          </a:p>
        </p:txBody>
      </p:sp>
    </p:spTree>
    <p:extLst>
      <p:ext uri="{BB962C8B-B14F-4D97-AF65-F5344CB8AC3E}">
        <p14:creationId xmlns:p14="http://schemas.microsoft.com/office/powerpoint/2010/main" val="2897085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 oil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103128" y="3981449"/>
            <a:ext cx="26500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Corolla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company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Toyota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year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1980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color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Car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2325414" y="2230821"/>
            <a:ext cx="577214" cy="18130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>
            <a:extLst>
              <a:ext uri="{FF2B5EF4-FFF2-40B4-BE49-F238E27FC236}">
                <a16:creationId xmlns:a16="http://schemas.microsoft.com/office/drawing/2014/main" id="{9579396F-B932-4BC6-B6F9-47A2C5CCF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01" y="2355418"/>
            <a:ext cx="2507096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E107E7-1688-3F5D-7946-D34CC4AC95F4}"/>
              </a:ext>
            </a:extLst>
          </p:cNvPr>
          <p:cNvSpPr txBox="1"/>
          <p:nvPr/>
        </p:nvSpPr>
        <p:spPr>
          <a:xfrm>
            <a:off x="3557728" y="3889320"/>
            <a:ext cx="357020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mycar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Car(‘Corolla’,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‘Toyota’,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1980,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‘red’)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mycar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0E5230-2B32-4E8F-41C7-951C2BD92239}"/>
              </a:ext>
            </a:extLst>
          </p:cNvPr>
          <p:cNvSpPr txBox="1"/>
          <p:nvPr/>
        </p:nvSpPr>
        <p:spPr>
          <a:xfrm>
            <a:off x="5884365" y="6143156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4603A6-9F20-331B-7E5E-900469143640}"/>
              </a:ext>
            </a:extLst>
          </p:cNvPr>
          <p:cNvCxnSpPr>
            <a:cxnSpLocks/>
          </p:cNvCxnSpPr>
          <p:nvPr/>
        </p:nvCxnSpPr>
        <p:spPr>
          <a:xfrm flipH="1" flipV="1">
            <a:off x="4807974" y="6005543"/>
            <a:ext cx="1094089" cy="283169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54FFCC9-5718-3F60-453C-0872CAE0C052}"/>
              </a:ext>
            </a:extLst>
          </p:cNvPr>
          <p:cNvSpPr txBox="1"/>
          <p:nvPr/>
        </p:nvSpPr>
        <p:spPr>
          <a:xfrm>
            <a:off x="2998423" y="2651120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Object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00FF00"/>
                </a:solidFill>
              </a:rPr>
              <a:t>Instance of the Car 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7F3F05-1AE0-B88A-2DC3-B02343D63E54}"/>
              </a:ext>
            </a:extLst>
          </p:cNvPr>
          <p:cNvSpPr txBox="1"/>
          <p:nvPr/>
        </p:nvSpPr>
        <p:spPr>
          <a:xfrm>
            <a:off x="5952401" y="2744867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0BC8AA-78EC-9B14-0E8A-CAB768049F99}"/>
              </a:ext>
            </a:extLst>
          </p:cNvPr>
          <p:cNvCxnSpPr>
            <a:cxnSpLocks/>
          </p:cNvCxnSpPr>
          <p:nvPr/>
        </p:nvCxnSpPr>
        <p:spPr>
          <a:xfrm flipH="1">
            <a:off x="5344815" y="3135455"/>
            <a:ext cx="648930" cy="810612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D6F1DC-AF5B-6C71-2C5F-3130110A7120}"/>
              </a:ext>
            </a:extLst>
          </p:cNvPr>
          <p:cNvCxnSpPr>
            <a:cxnSpLocks/>
          </p:cNvCxnSpPr>
          <p:nvPr/>
        </p:nvCxnSpPr>
        <p:spPr>
          <a:xfrm>
            <a:off x="3767959" y="3665483"/>
            <a:ext cx="164877" cy="280584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223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Turtle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x location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 location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up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down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left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right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go 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277546" y="3900731"/>
            <a:ext cx="213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Lucy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Turtle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1907628" y="2246586"/>
            <a:ext cx="995000" cy="4332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357991" cy="128641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784836" y="1900400"/>
            <a:ext cx="567896" cy="9393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 descr="Turtle Icon | Flat Animal Iconset | Martin Berube">
            <a:extLst>
              <a:ext uri="{FF2B5EF4-FFF2-40B4-BE49-F238E27FC236}">
                <a16:creationId xmlns:a16="http://schemas.microsoft.com/office/drawing/2014/main" id="{19A45DBA-CA07-4587-A544-44A07E25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3" y="2139683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17F4A0-7A32-4E9C-BB4C-B5B66B5A7CDC}"/>
              </a:ext>
            </a:extLst>
          </p:cNvPr>
          <p:cNvSpPr txBox="1"/>
          <p:nvPr/>
        </p:nvSpPr>
        <p:spPr>
          <a:xfrm>
            <a:off x="3493860" y="5083237"/>
            <a:ext cx="213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Brian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92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62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35ABC-9113-455C-8FEC-668263C58E33}"/>
              </a:ext>
            </a:extLst>
          </p:cNvPr>
          <p:cNvSpPr txBox="1"/>
          <p:nvPr/>
        </p:nvSpPr>
        <p:spPr>
          <a:xfrm>
            <a:off x="5352732" y="2476743"/>
            <a:ext cx="23070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Susmit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134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45</a:t>
            </a:r>
          </a:p>
        </p:txBody>
      </p:sp>
      <p:pic>
        <p:nvPicPr>
          <p:cNvPr id="24" name="Picture 4" descr="Turtle Icon | Flat Animal Iconset | Martin Berube">
            <a:extLst>
              <a:ext uri="{FF2B5EF4-FFF2-40B4-BE49-F238E27FC236}">
                <a16:creationId xmlns:a16="http://schemas.microsoft.com/office/drawing/2014/main" id="{7423E3E2-12CB-4F83-8A4E-FE9A5CAC6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258" y="3327174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Turtle Icon | Flat Animal Iconset | Martin Berube">
            <a:extLst>
              <a:ext uri="{FF2B5EF4-FFF2-40B4-BE49-F238E27FC236}">
                <a16:creationId xmlns:a16="http://schemas.microsoft.com/office/drawing/2014/main" id="{46407452-9151-421B-9150-A5013E4B5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997" y="719865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856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Turtle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x location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 location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up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down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left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right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go 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277546" y="3900731"/>
            <a:ext cx="213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Lucy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Turtle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1907628" y="2246586"/>
            <a:ext cx="995000" cy="4332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 descr="Turtle Icon | Flat Animal Iconset | Martin Berube">
            <a:extLst>
              <a:ext uri="{FF2B5EF4-FFF2-40B4-BE49-F238E27FC236}">
                <a16:creationId xmlns:a16="http://schemas.microsoft.com/office/drawing/2014/main" id="{19A45DBA-CA07-4587-A544-44A07E25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3" y="2139683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8733B5-8D9B-F0DD-4784-EC2E193BCFB1}"/>
              </a:ext>
            </a:extLst>
          </p:cNvPr>
          <p:cNvSpPr txBox="1"/>
          <p:nvPr/>
        </p:nvSpPr>
        <p:spPr>
          <a:xfrm>
            <a:off x="3557728" y="3889320"/>
            <a:ext cx="38779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 = Turtle(‘Lucy’,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24,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35)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type(turtle)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Turtle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619F3-E707-56B6-B732-E7AD12DB7BA5}"/>
              </a:ext>
            </a:extLst>
          </p:cNvPr>
          <p:cNvSpPr txBox="1"/>
          <p:nvPr/>
        </p:nvSpPr>
        <p:spPr>
          <a:xfrm>
            <a:off x="5884365" y="6143156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778961-161E-6313-C7E5-96EC0D72FB4B}"/>
              </a:ext>
            </a:extLst>
          </p:cNvPr>
          <p:cNvCxnSpPr>
            <a:cxnSpLocks/>
          </p:cNvCxnSpPr>
          <p:nvPr/>
        </p:nvCxnSpPr>
        <p:spPr>
          <a:xfrm flipH="1" flipV="1">
            <a:off x="5223566" y="5704629"/>
            <a:ext cx="720952" cy="513291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2F1313F-96F1-D50A-AEFB-C17218F38D19}"/>
              </a:ext>
            </a:extLst>
          </p:cNvPr>
          <p:cNvSpPr txBox="1"/>
          <p:nvPr/>
        </p:nvSpPr>
        <p:spPr>
          <a:xfrm>
            <a:off x="2998423" y="2414635"/>
            <a:ext cx="1954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Object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00FF00"/>
                </a:solidFill>
              </a:rPr>
              <a:t>Instance of the Turtle 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312820-7D1A-BC32-2B8C-5D12E098B6AC}"/>
              </a:ext>
            </a:extLst>
          </p:cNvPr>
          <p:cNvSpPr txBox="1"/>
          <p:nvPr/>
        </p:nvSpPr>
        <p:spPr>
          <a:xfrm>
            <a:off x="5952401" y="2744867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452398-27B7-6914-2923-37E41DD48527}"/>
              </a:ext>
            </a:extLst>
          </p:cNvPr>
          <p:cNvCxnSpPr>
            <a:cxnSpLocks/>
          </p:cNvCxnSpPr>
          <p:nvPr/>
        </p:nvCxnSpPr>
        <p:spPr>
          <a:xfrm flipH="1">
            <a:off x="5344815" y="3135455"/>
            <a:ext cx="648930" cy="810612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615667-401E-1467-51E2-9CA24F2E577D}"/>
              </a:ext>
            </a:extLst>
          </p:cNvPr>
          <p:cNvCxnSpPr>
            <a:cxnSpLocks/>
          </p:cNvCxnSpPr>
          <p:nvPr/>
        </p:nvCxnSpPr>
        <p:spPr>
          <a:xfrm>
            <a:off x="3767959" y="3665483"/>
            <a:ext cx="164877" cy="280584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53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read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readline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readlines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277546" y="3900731"/>
            <a:ext cx="22701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bills.txt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mode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append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file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1907628" y="2246586"/>
            <a:ext cx="995000" cy="4332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290754" cy="11546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784836" y="1900400"/>
            <a:ext cx="483288" cy="566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17F4A0-7A32-4E9C-BB4C-B5B66B5A7CDC}"/>
              </a:ext>
            </a:extLst>
          </p:cNvPr>
          <p:cNvSpPr txBox="1"/>
          <p:nvPr/>
        </p:nvSpPr>
        <p:spPr>
          <a:xfrm>
            <a:off x="3493860" y="5083237"/>
            <a:ext cx="2620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grades.txt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mode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read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35ABC-9113-455C-8FEC-668263C58E33}"/>
              </a:ext>
            </a:extLst>
          </p:cNvPr>
          <p:cNvSpPr txBox="1"/>
          <p:nvPr/>
        </p:nvSpPr>
        <p:spPr>
          <a:xfrm>
            <a:off x="5352732" y="2476743"/>
            <a:ext cx="28693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itinerary.txt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mode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write</a:t>
            </a:r>
          </a:p>
        </p:txBody>
      </p:sp>
      <p:pic>
        <p:nvPicPr>
          <p:cNvPr id="1026" name="Picture 2" descr="BlueProgramming: PHP: Suma de enteros desde un archivo">
            <a:extLst>
              <a:ext uri="{FF2B5EF4-FFF2-40B4-BE49-F238E27FC236}">
                <a16:creationId xmlns:a16="http://schemas.microsoft.com/office/drawing/2014/main" id="{1273D2BC-B509-4185-86EF-8AC559B2A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2" r="18232"/>
          <a:stretch/>
        </p:blipFill>
        <p:spPr bwMode="auto">
          <a:xfrm>
            <a:off x="277546" y="2418717"/>
            <a:ext cx="1532112" cy="14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BlueProgramming: PHP: Suma de enteros desde un archivo">
            <a:extLst>
              <a:ext uri="{FF2B5EF4-FFF2-40B4-BE49-F238E27FC236}">
                <a16:creationId xmlns:a16="http://schemas.microsoft.com/office/drawing/2014/main" id="{1000E23E-D04E-49B2-932B-16CF67CAF0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2" r="18232"/>
          <a:stretch/>
        </p:blipFill>
        <p:spPr bwMode="auto">
          <a:xfrm>
            <a:off x="5352732" y="994729"/>
            <a:ext cx="1532112" cy="14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BlueProgramming: PHP: Suma de enteros desde un archivo">
            <a:extLst>
              <a:ext uri="{FF2B5EF4-FFF2-40B4-BE49-F238E27FC236}">
                <a16:creationId xmlns:a16="http://schemas.microsoft.com/office/drawing/2014/main" id="{6FCB1D95-B613-465F-8019-D03B14B6E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2" r="18232"/>
          <a:stretch/>
        </p:blipFill>
        <p:spPr bwMode="auto">
          <a:xfrm>
            <a:off x="3493372" y="3596131"/>
            <a:ext cx="1532112" cy="14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228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read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readline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readlines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277546" y="3900731"/>
            <a:ext cx="22701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bills.txt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mode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append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file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1907628" y="2246586"/>
            <a:ext cx="995000" cy="4332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lueProgramming: PHP: Suma de enteros desde un archivo">
            <a:extLst>
              <a:ext uri="{FF2B5EF4-FFF2-40B4-BE49-F238E27FC236}">
                <a16:creationId xmlns:a16="http://schemas.microsoft.com/office/drawing/2014/main" id="{1273D2BC-B509-4185-86EF-8AC559B2A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2" r="18232"/>
          <a:stretch/>
        </p:blipFill>
        <p:spPr bwMode="auto">
          <a:xfrm>
            <a:off x="277546" y="2418717"/>
            <a:ext cx="1532112" cy="14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A3E6E4-5C9A-C8F5-BB76-75042E349388}"/>
              </a:ext>
            </a:extLst>
          </p:cNvPr>
          <p:cNvSpPr txBox="1"/>
          <p:nvPr/>
        </p:nvSpPr>
        <p:spPr>
          <a:xfrm>
            <a:off x="3557728" y="3889320"/>
            <a:ext cx="49552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File(‘bills.txt’, ‘r’)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4F455-9446-D811-B5D2-F6A1FB5D501A}"/>
              </a:ext>
            </a:extLst>
          </p:cNvPr>
          <p:cNvSpPr txBox="1"/>
          <p:nvPr/>
        </p:nvSpPr>
        <p:spPr>
          <a:xfrm>
            <a:off x="5614146" y="5611047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0BB6C8-D738-7526-6CCC-261D5AA30102}"/>
              </a:ext>
            </a:extLst>
          </p:cNvPr>
          <p:cNvCxnSpPr>
            <a:cxnSpLocks/>
          </p:cNvCxnSpPr>
          <p:nvPr/>
        </p:nvCxnSpPr>
        <p:spPr>
          <a:xfrm flipH="1" flipV="1">
            <a:off x="4953347" y="5172520"/>
            <a:ext cx="720952" cy="513291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9F7915-8BC4-6B8F-F8DE-79E558EF4EAE}"/>
              </a:ext>
            </a:extLst>
          </p:cNvPr>
          <p:cNvSpPr txBox="1"/>
          <p:nvPr/>
        </p:nvSpPr>
        <p:spPr>
          <a:xfrm>
            <a:off x="2998423" y="2414635"/>
            <a:ext cx="1954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Object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00FF00"/>
                </a:solidFill>
              </a:rPr>
              <a:t>Instance of the Person 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34D991-B573-9801-42EE-FA3F10700B8C}"/>
              </a:ext>
            </a:extLst>
          </p:cNvPr>
          <p:cNvSpPr txBox="1"/>
          <p:nvPr/>
        </p:nvSpPr>
        <p:spPr>
          <a:xfrm>
            <a:off x="5952401" y="2744867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B86DB8-8B27-3D3F-2529-35718416AFE5}"/>
              </a:ext>
            </a:extLst>
          </p:cNvPr>
          <p:cNvCxnSpPr>
            <a:cxnSpLocks/>
          </p:cNvCxnSpPr>
          <p:nvPr/>
        </p:nvCxnSpPr>
        <p:spPr>
          <a:xfrm flipH="1">
            <a:off x="5344815" y="3135455"/>
            <a:ext cx="648930" cy="810612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8D60D6-2F0C-9173-624C-683589E4A679}"/>
              </a:ext>
            </a:extLst>
          </p:cNvPr>
          <p:cNvCxnSpPr>
            <a:cxnSpLocks/>
          </p:cNvCxnSpPr>
          <p:nvPr/>
        </p:nvCxnSpPr>
        <p:spPr>
          <a:xfrm>
            <a:off x="3767959" y="3665483"/>
            <a:ext cx="164877" cy="280584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294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D751D-A9B1-D02E-9436-7F9D76D5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AB8A5-9DAA-5D88-5248-A127F28F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76E7DE-4910-0509-30B8-13FE103BC330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0022A4-03B5-64CD-D93C-1A1C9A6F8222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age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E73A0E-8A7F-729C-1C09-75FD6682BB18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enroll</a:t>
            </a: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show_courses</a:t>
            </a:r>
            <a:endParaRPr lang="en-US" sz="2800" b="1" dirty="0">
              <a:solidFill>
                <a:srgbClr val="FFFFFF"/>
              </a:solidFill>
            </a:endParaRPr>
          </a:p>
        </p:txBody>
      </p:sp>
      <p:pic>
        <p:nvPicPr>
          <p:cNvPr id="2052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789C8C52-2F29-07FA-9F3E-6E03676D2A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2" t="1418" r="35563" b="65481"/>
          <a:stretch/>
        </p:blipFill>
        <p:spPr bwMode="auto">
          <a:xfrm>
            <a:off x="320534" y="1476734"/>
            <a:ext cx="2412125" cy="27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3EE500AB-648F-9218-9DE0-6B3B28558C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94" t="66665"/>
          <a:stretch/>
        </p:blipFill>
        <p:spPr bwMode="auto">
          <a:xfrm>
            <a:off x="4968599" y="220439"/>
            <a:ext cx="2721845" cy="279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980D8073-D10D-7946-B19F-B9A24803C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61" b="66899"/>
          <a:stretch/>
        </p:blipFill>
        <p:spPr bwMode="auto">
          <a:xfrm>
            <a:off x="2719533" y="2546992"/>
            <a:ext cx="2840809" cy="277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BAC565-49CE-DA78-3030-1A284A7E0C08}"/>
              </a:ext>
            </a:extLst>
          </p:cNvPr>
          <p:cNvSpPr txBox="1"/>
          <p:nvPr/>
        </p:nvSpPr>
        <p:spPr>
          <a:xfrm>
            <a:off x="512358" y="3753534"/>
            <a:ext cx="26246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Sam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courses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APS106</a:t>
            </a:r>
            <a:r>
              <a:rPr lang="en-US" sz="2400" b="1" dirty="0">
                <a:solidFill>
                  <a:schemeClr val="accent1"/>
                </a:solidFill>
              </a:rPr>
              <a:t>,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CIV100</a:t>
            </a:r>
            <a:r>
              <a:rPr lang="en-US" sz="2400" b="1" dirty="0">
                <a:solidFill>
                  <a:schemeClr val="accent1"/>
                </a:solidFill>
              </a:rPr>
              <a:t>,</a:t>
            </a:r>
            <a:r>
              <a:rPr lang="en-US" sz="2400" b="1" dirty="0">
                <a:solidFill>
                  <a:srgbClr val="FFFFFF"/>
                </a:solidFill>
              </a:rPr>
              <a:t> MIE100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4171C3-A74D-DE1F-2EFD-2988A4E6CA48}"/>
              </a:ext>
            </a:extLst>
          </p:cNvPr>
          <p:cNvSpPr txBox="1"/>
          <p:nvPr/>
        </p:nvSpPr>
        <p:spPr>
          <a:xfrm>
            <a:off x="3413791" y="4949185"/>
            <a:ext cx="26967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Ben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25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courses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CME539</a:t>
            </a:r>
            <a:r>
              <a:rPr lang="en-US" sz="2400" b="1" dirty="0">
                <a:solidFill>
                  <a:schemeClr val="accent1"/>
                </a:solidFill>
              </a:rPr>
              <a:t>,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APS1070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07A7B-7CF3-522B-19C3-329A05F3C117}"/>
              </a:ext>
            </a:extLst>
          </p:cNvPr>
          <p:cNvSpPr txBox="1"/>
          <p:nvPr/>
        </p:nvSpPr>
        <p:spPr>
          <a:xfrm>
            <a:off x="5429190" y="2621184"/>
            <a:ext cx="2541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Doug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courses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APS105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102176-70E2-F4F3-706C-CFECEBB7BE82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Student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9BE475-17FE-482D-A93E-0CE2E123861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201454" y="1847587"/>
            <a:ext cx="701174" cy="3153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A8EEFB-5AC6-F1AC-845E-6BB2E7D3BDF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148000" cy="5658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C80093-01B3-4B48-47EE-108428815754}"/>
              </a:ext>
            </a:extLst>
          </p:cNvPr>
          <p:cNvCxnSpPr>
            <a:cxnSpLocks/>
          </p:cNvCxnSpPr>
          <p:nvPr/>
        </p:nvCxnSpPr>
        <p:spPr>
          <a:xfrm>
            <a:off x="4769069" y="1939159"/>
            <a:ext cx="891799" cy="30742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758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6EC81-0B83-F2AD-4796-CEDE1DE5B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75305-2D0D-3E3E-D706-7B78E8DC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7C2331-B3DF-53F8-AF67-79595C3073FE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681BAA-C37A-7596-3B2A-70A520015332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age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390C6C-6060-307A-1DD8-B5C26F746912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enroll</a:t>
            </a: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show_courses</a:t>
            </a:r>
            <a:endParaRPr lang="en-US" sz="2800" b="1" dirty="0">
              <a:solidFill>
                <a:srgbClr val="FFFFFF"/>
              </a:solidFill>
            </a:endParaRPr>
          </a:p>
        </p:txBody>
      </p:sp>
      <p:pic>
        <p:nvPicPr>
          <p:cNvPr id="2052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B43D7990-4B1E-7A4C-BD20-284EC72AFA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2" t="1418" r="35563" b="65481"/>
          <a:stretch/>
        </p:blipFill>
        <p:spPr bwMode="auto">
          <a:xfrm>
            <a:off x="320534" y="1476734"/>
            <a:ext cx="2412125" cy="27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CD5F67-8CE4-CFED-53F0-894364D50317}"/>
              </a:ext>
            </a:extLst>
          </p:cNvPr>
          <p:cNvSpPr txBox="1"/>
          <p:nvPr/>
        </p:nvSpPr>
        <p:spPr>
          <a:xfrm>
            <a:off x="512358" y="3753534"/>
            <a:ext cx="26246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Sam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courses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APS106</a:t>
            </a:r>
            <a:r>
              <a:rPr lang="en-US" sz="2400" b="1" dirty="0">
                <a:solidFill>
                  <a:schemeClr val="accent1"/>
                </a:solidFill>
              </a:rPr>
              <a:t>,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CIV100</a:t>
            </a:r>
            <a:r>
              <a:rPr lang="en-US" sz="2400" b="1" dirty="0">
                <a:solidFill>
                  <a:schemeClr val="accent1"/>
                </a:solidFill>
              </a:rPr>
              <a:t>,</a:t>
            </a:r>
            <a:r>
              <a:rPr lang="en-US" sz="2400" b="1" dirty="0">
                <a:solidFill>
                  <a:srgbClr val="FFFFFF"/>
                </a:solidFill>
              </a:rPr>
              <a:t> MIE100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873BE-644E-098A-B0AA-E8E683F9436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Person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201F10-446F-C646-E6E3-C4A1FB7C9809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201454" y="1847587"/>
            <a:ext cx="701174" cy="3153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7A77F9-3751-CC0F-B223-3C5E621A7438}"/>
              </a:ext>
            </a:extLst>
          </p:cNvPr>
          <p:cNvSpPr txBox="1"/>
          <p:nvPr/>
        </p:nvSpPr>
        <p:spPr>
          <a:xfrm>
            <a:off x="3557728" y="3889320"/>
            <a:ext cx="418576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Person(‘Sam’, 19,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[‘APS106’,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‘CIV100’,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‘MIE100’])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Person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6BA23-346E-4ADE-D355-4F7288365224}"/>
              </a:ext>
            </a:extLst>
          </p:cNvPr>
          <p:cNvSpPr txBox="1"/>
          <p:nvPr/>
        </p:nvSpPr>
        <p:spPr>
          <a:xfrm>
            <a:off x="5884365" y="6143156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D86DBC-CE42-0B07-5F2B-A3574C1A6D95}"/>
              </a:ext>
            </a:extLst>
          </p:cNvPr>
          <p:cNvCxnSpPr>
            <a:cxnSpLocks/>
          </p:cNvCxnSpPr>
          <p:nvPr/>
        </p:nvCxnSpPr>
        <p:spPr>
          <a:xfrm flipH="1" flipV="1">
            <a:off x="5223566" y="5704629"/>
            <a:ext cx="720952" cy="513291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1FF865-680F-9801-7D6E-6B96A926A319}"/>
              </a:ext>
            </a:extLst>
          </p:cNvPr>
          <p:cNvSpPr txBox="1"/>
          <p:nvPr/>
        </p:nvSpPr>
        <p:spPr>
          <a:xfrm>
            <a:off x="2998423" y="2414635"/>
            <a:ext cx="1954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Object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00FF00"/>
                </a:solidFill>
              </a:rPr>
              <a:t>Instance of the Student 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92A76-1C2E-A011-3CAF-D667AE51276F}"/>
              </a:ext>
            </a:extLst>
          </p:cNvPr>
          <p:cNvSpPr txBox="1"/>
          <p:nvPr/>
        </p:nvSpPr>
        <p:spPr>
          <a:xfrm>
            <a:off x="5952401" y="2744867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03D4C9-49A4-D5BD-5CF2-B7046606F284}"/>
              </a:ext>
            </a:extLst>
          </p:cNvPr>
          <p:cNvCxnSpPr>
            <a:cxnSpLocks/>
          </p:cNvCxnSpPr>
          <p:nvPr/>
        </p:nvCxnSpPr>
        <p:spPr>
          <a:xfrm flipH="1">
            <a:off x="5344815" y="3135455"/>
            <a:ext cx="648930" cy="810612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5D2684-A82D-287B-9865-CD36FBFA547D}"/>
              </a:ext>
            </a:extLst>
          </p:cNvPr>
          <p:cNvCxnSpPr>
            <a:cxnSpLocks/>
          </p:cNvCxnSpPr>
          <p:nvPr/>
        </p:nvCxnSpPr>
        <p:spPr>
          <a:xfrm>
            <a:off x="3767959" y="3665483"/>
            <a:ext cx="164877" cy="280584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715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8531-A0FF-567C-7B52-E68B9B0B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BCA575-2AFA-4BAC-1F3C-89DB7C6A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B99E4B-122E-7775-6FD6-4DBD0E1151E3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Write a simple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2FED9-04B4-072B-38C5-026542EC09E1}"/>
              </a:ext>
            </a:extLst>
          </p:cNvPr>
          <p:cNvSpPr txBox="1"/>
          <p:nvPr/>
        </p:nvSpPr>
        <p:spPr>
          <a:xfrm>
            <a:off x="512358" y="3753534"/>
            <a:ext cx="26246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Sam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courses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APS106</a:t>
            </a:r>
            <a:r>
              <a:rPr lang="en-US" sz="2400" b="1" dirty="0">
                <a:solidFill>
                  <a:schemeClr val="accent1"/>
                </a:solidFill>
              </a:rPr>
              <a:t>,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CIV100</a:t>
            </a:r>
            <a:r>
              <a:rPr lang="en-US" sz="2400" b="1" dirty="0">
                <a:solidFill>
                  <a:schemeClr val="accent1"/>
                </a:solidFill>
              </a:rPr>
              <a:t>,</a:t>
            </a:r>
            <a:r>
              <a:rPr lang="en-US" sz="2400" b="1" dirty="0">
                <a:solidFill>
                  <a:srgbClr val="FFFFFF"/>
                </a:solidFill>
              </a:rPr>
              <a:t> MIE100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78BDF-ED53-61AB-9DFA-FBA67E0BB64C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Person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C58667-8DE7-37C2-9B07-A0996C3715A9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201454" y="1847587"/>
            <a:ext cx="701174" cy="3153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29584A-DEC9-8488-7C93-F830471C2697}"/>
              </a:ext>
            </a:extLst>
          </p:cNvPr>
          <p:cNvSpPr txBox="1"/>
          <p:nvPr/>
        </p:nvSpPr>
        <p:spPr>
          <a:xfrm>
            <a:off x="3557728" y="3889320"/>
            <a:ext cx="403187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Person(‘Sam’, 19,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[‘APS106’,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‘CIV100’,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‘MIE100’])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Person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63A661-D0D4-4580-8A1D-968A12D56F66}"/>
              </a:ext>
            </a:extLst>
          </p:cNvPr>
          <p:cNvSpPr txBox="1"/>
          <p:nvPr/>
        </p:nvSpPr>
        <p:spPr>
          <a:xfrm>
            <a:off x="5884365" y="6143156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A55B91-E6C9-3A4E-DAD8-053A7E6ACED9}"/>
              </a:ext>
            </a:extLst>
          </p:cNvPr>
          <p:cNvCxnSpPr>
            <a:cxnSpLocks/>
          </p:cNvCxnSpPr>
          <p:nvPr/>
        </p:nvCxnSpPr>
        <p:spPr>
          <a:xfrm flipH="1" flipV="1">
            <a:off x="5223566" y="5704629"/>
            <a:ext cx="720952" cy="513291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C488B5-D804-B5ED-FCE5-24C463077021}"/>
              </a:ext>
            </a:extLst>
          </p:cNvPr>
          <p:cNvSpPr txBox="1"/>
          <p:nvPr/>
        </p:nvSpPr>
        <p:spPr>
          <a:xfrm>
            <a:off x="2998423" y="2414635"/>
            <a:ext cx="1954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Object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00FF00"/>
                </a:solidFill>
              </a:rPr>
              <a:t>Instance of the Student 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3ED73D-8D5E-3CA0-C571-65400ABF41B2}"/>
              </a:ext>
            </a:extLst>
          </p:cNvPr>
          <p:cNvSpPr txBox="1"/>
          <p:nvPr/>
        </p:nvSpPr>
        <p:spPr>
          <a:xfrm>
            <a:off x="5952401" y="2744867"/>
            <a:ext cx="195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</a:rPr>
              <a:t>Class</a:t>
            </a:r>
            <a:r>
              <a:rPr lang="en-US" sz="2000" b="1" dirty="0">
                <a:solidFill>
                  <a:srgbClr val="CC99FF"/>
                </a:solidFill>
              </a:rPr>
              <a:t>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BF8A08-145B-CCCC-20F5-ADA8EB22D3CC}"/>
              </a:ext>
            </a:extLst>
          </p:cNvPr>
          <p:cNvCxnSpPr>
            <a:cxnSpLocks/>
          </p:cNvCxnSpPr>
          <p:nvPr/>
        </p:nvCxnSpPr>
        <p:spPr>
          <a:xfrm flipH="1">
            <a:off x="5344815" y="3135455"/>
            <a:ext cx="648930" cy="810612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0D1992-906F-41D6-CEB2-57A25208EA3E}"/>
              </a:ext>
            </a:extLst>
          </p:cNvPr>
          <p:cNvCxnSpPr>
            <a:cxnSpLocks/>
          </p:cNvCxnSpPr>
          <p:nvPr/>
        </p:nvCxnSpPr>
        <p:spPr>
          <a:xfrm>
            <a:off x="3767959" y="3665483"/>
            <a:ext cx="164877" cy="280584"/>
          </a:xfrm>
          <a:prstGeom prst="straightConnector1">
            <a:avLst/>
          </a:prstGeom>
          <a:ln w="28575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33C81721-9401-95C7-CDE0-BFB480638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2" t="1418" r="35563" b="65481"/>
          <a:stretch/>
        </p:blipFill>
        <p:spPr bwMode="auto">
          <a:xfrm>
            <a:off x="320534" y="1476734"/>
            <a:ext cx="2412125" cy="27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97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53152" cy="4835479"/>
          </a:xfrm>
        </p:spPr>
        <p:txBody>
          <a:bodyPr>
            <a:normAutofit/>
          </a:bodyPr>
          <a:lstStyle/>
          <a:p>
            <a:r>
              <a:rPr lang="en-US" sz="3200" dirty="0"/>
              <a:t>General form of a Class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  <a:endParaRPr lang="en-US" sz="2400" dirty="0">
              <a:solidFill>
                <a:schemeClr val="accent6"/>
              </a:solidFill>
            </a:endParaRPr>
          </a:p>
          <a:p>
            <a:pPr lvl="1"/>
            <a:r>
              <a:rPr lang="en-US" sz="2800" dirty="0">
                <a:solidFill>
                  <a:srgbClr val="00FF00"/>
                </a:solidFill>
              </a:rPr>
              <a:t>Class Name</a:t>
            </a:r>
          </a:p>
          <a:p>
            <a:pPr lvl="2"/>
            <a:r>
              <a:rPr lang="en-US" sz="2400" b="1" dirty="0">
                <a:solidFill>
                  <a:srgbClr val="00FF00"/>
                </a:solidFill>
              </a:rPr>
              <a:t>CamelCase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CourseGrades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BankAccount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FlightStatus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XRayImage</a:t>
            </a:r>
          </a:p>
          <a:p>
            <a:pPr lvl="1"/>
            <a:r>
              <a:rPr lang="en-US" sz="2800" dirty="0">
                <a:solidFill>
                  <a:srgbClr val="FFD6AD"/>
                </a:solidFill>
              </a:rPr>
              <a:t>Constructor</a:t>
            </a:r>
          </a:p>
          <a:p>
            <a:pPr lvl="1"/>
            <a:r>
              <a:rPr lang="en-US" sz="2800" dirty="0">
                <a:solidFill>
                  <a:srgbClr val="FF5050"/>
                </a:solidFill>
              </a:rPr>
              <a:t>Methods</a:t>
            </a:r>
          </a:p>
          <a:p>
            <a:pPr lvl="1"/>
            <a:endParaRPr lang="en-US" sz="2800" dirty="0">
              <a:solidFill>
                <a:schemeClr val="accent2"/>
              </a:solidFill>
            </a:endParaRPr>
          </a:p>
          <a:p>
            <a:pPr lvl="1"/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66C13-2079-4185-B51B-0879CA12EDCA}"/>
              </a:ext>
            </a:extLst>
          </p:cNvPr>
          <p:cNvSpPr txBox="1"/>
          <p:nvPr/>
        </p:nvSpPr>
        <p:spPr>
          <a:xfrm>
            <a:off x="5439206" y="727514"/>
            <a:ext cx="645389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Name: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param1, param2, …):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self.param1 = param1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self.param2 = param2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method1(self, parameters):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method2(self, parameters):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method3(self, parameters):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</p:spTree>
    <p:extLst>
      <p:ext uri="{BB962C8B-B14F-4D97-AF65-F5344CB8AC3E}">
        <p14:creationId xmlns:p14="http://schemas.microsoft.com/office/powerpoint/2010/main" val="1495993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342F3-76AB-4231-93A5-33157B7514CA}"/>
              </a:ext>
            </a:extLst>
          </p:cNvPr>
          <p:cNvSpPr txBox="1"/>
          <p:nvPr/>
        </p:nvSpPr>
        <p:spPr>
          <a:xfrm>
            <a:off x="263887" y="3042274"/>
            <a:ext cx="469551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up()        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-150, 100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down()</a:t>
            </a:r>
          </a:p>
          <a:p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4D4F8-8898-4119-8855-0C4DDEF2FA56}"/>
              </a:ext>
            </a:extLst>
          </p:cNvPr>
          <p:cNvSpPr txBox="1"/>
          <p:nvPr/>
        </p:nvSpPr>
        <p:spPr>
          <a:xfrm>
            <a:off x="5439206" y="727514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  <p:pic>
        <p:nvPicPr>
          <p:cNvPr id="9" name="Picture 4" descr="Turtle Icon | Flat Animal Iconset | Martin Berube">
            <a:extLst>
              <a:ext uri="{FF2B5EF4-FFF2-40B4-BE49-F238E27FC236}">
                <a16:creationId xmlns:a16="http://schemas.microsoft.com/office/drawing/2014/main" id="{AF327F94-8753-4212-8602-FAA2129C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5" y="1200950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522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06389" cy="4835479"/>
          </a:xfrm>
        </p:spPr>
        <p:txBody>
          <a:bodyPr/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s formally cover some important definitions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/>
              <a:t>self</a:t>
            </a:r>
          </a:p>
        </p:txBody>
      </p:sp>
    </p:spTree>
    <p:extLst>
      <p:ext uri="{BB962C8B-B14F-4D97-AF65-F5344CB8AC3E}">
        <p14:creationId xmlns:p14="http://schemas.microsoft.com/office/powerpoint/2010/main" val="2445947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06389" cy="4835479"/>
          </a:xfrm>
        </p:spPr>
        <p:txBody>
          <a:bodyPr/>
          <a:lstStyle/>
          <a:p>
            <a:r>
              <a:rPr lang="en-US" dirty="0"/>
              <a:t>Template for creating objects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/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777C0-51E3-4D88-BC4B-96E5A6DF01AF}"/>
              </a:ext>
            </a:extLst>
          </p:cNvPr>
          <p:cNvSpPr txBox="1"/>
          <p:nvPr/>
        </p:nvSpPr>
        <p:spPr>
          <a:xfrm>
            <a:off x="1083774" y="2546602"/>
            <a:ext cx="645389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Name:</a:t>
            </a: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16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param1, param2, …):</a:t>
            </a:r>
          </a:p>
          <a:p>
            <a:r>
              <a:rPr lang="en-US" sz="16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self.param1 = param1</a:t>
            </a:r>
          </a:p>
          <a:p>
            <a:r>
              <a:rPr lang="en-US" sz="16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self.param2 = param2</a:t>
            </a:r>
          </a:p>
          <a:p>
            <a:r>
              <a:rPr lang="en-US" sz="16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</a:t>
            </a:r>
          </a:p>
          <a:p>
            <a:r>
              <a:rPr lang="en-US" sz="16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16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method1(self, parameters):</a:t>
            </a:r>
          </a:p>
          <a:p>
            <a:r>
              <a:rPr lang="en-US" sz="16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16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method2(self, parameters):</a:t>
            </a:r>
          </a:p>
          <a:p>
            <a:r>
              <a:rPr lang="en-US" sz="16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16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method3(self, parameters):</a:t>
            </a:r>
          </a:p>
          <a:p>
            <a:r>
              <a:rPr lang="en-US" sz="16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</p:spTree>
    <p:extLst>
      <p:ext uri="{BB962C8B-B14F-4D97-AF65-F5344CB8AC3E}">
        <p14:creationId xmlns:p14="http://schemas.microsoft.com/office/powerpoint/2010/main" val="2216082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191000" cy="4835479"/>
          </a:xfrm>
        </p:spPr>
        <p:txBody>
          <a:bodyPr/>
          <a:lstStyle/>
          <a:p>
            <a:r>
              <a:rPr lang="en-US" dirty="0"/>
              <a:t>An instance of a class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>
                <a:solidFill>
                  <a:schemeClr val="accent6"/>
                </a:solidFill>
              </a:rPr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/>
              <a:t>self</a:t>
            </a:r>
          </a:p>
        </p:txBody>
      </p:sp>
      <p:sp>
        <p:nvSpPr>
          <p:cNvPr id="5" name="Arrow: Bent-Up 4">
            <a:extLst>
              <a:ext uri="{FF2B5EF4-FFF2-40B4-BE49-F238E27FC236}">
                <a16:creationId xmlns:a16="http://schemas.microsoft.com/office/drawing/2014/main" id="{6C81E9B9-35D9-498D-BB52-38410AC9D25E}"/>
              </a:ext>
            </a:extLst>
          </p:cNvPr>
          <p:cNvSpPr/>
          <p:nvPr/>
        </p:nvSpPr>
        <p:spPr>
          <a:xfrm flipH="1">
            <a:off x="493295" y="4740442"/>
            <a:ext cx="1130969" cy="161864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E6CDD-6875-4C1C-A3A4-1B55B4482DD1}"/>
              </a:ext>
            </a:extLst>
          </p:cNvPr>
          <p:cNvSpPr txBox="1"/>
          <p:nvPr/>
        </p:nvSpPr>
        <p:spPr>
          <a:xfrm>
            <a:off x="1732547" y="5981183"/>
            <a:ext cx="6125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alex</a:t>
            </a:r>
            <a:r>
              <a:rPr lang="en-US" sz="2800" dirty="0">
                <a:solidFill>
                  <a:srgbClr val="FFFFFF"/>
                </a:solidFill>
              </a:rPr>
              <a:t> is an instance of the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b="1" dirty="0">
                <a:solidFill>
                  <a:schemeClr val="accent6"/>
                </a:solidFill>
              </a:rPr>
              <a:t>Turtle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class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CA0F1-957C-4F5D-8940-5798437789DB}"/>
              </a:ext>
            </a:extLst>
          </p:cNvPr>
          <p:cNvSpPr txBox="1"/>
          <p:nvPr/>
        </p:nvSpPr>
        <p:spPr>
          <a:xfrm>
            <a:off x="4368393" y="727514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5FBBC-6338-4B3B-883A-18677625505B}"/>
              </a:ext>
            </a:extLst>
          </p:cNvPr>
          <p:cNvSpPr txBox="1"/>
          <p:nvPr/>
        </p:nvSpPr>
        <p:spPr>
          <a:xfrm>
            <a:off x="263887" y="4149178"/>
            <a:ext cx="426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0" name="Picture 4" descr="Turtle Icon | Flat Animal Iconset | Martin Berube">
            <a:extLst>
              <a:ext uri="{FF2B5EF4-FFF2-40B4-BE49-F238E27FC236}">
                <a16:creationId xmlns:a16="http://schemas.microsoft.com/office/drawing/2014/main" id="{A6BE149B-E0E8-4C0A-8B07-F791B0D26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5" y="2307854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383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973932" cy="4835479"/>
          </a:xfrm>
        </p:spPr>
        <p:txBody>
          <a:bodyPr/>
          <a:lstStyle/>
          <a:p>
            <a:r>
              <a:rPr lang="en-US" dirty="0"/>
              <a:t>Creating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constructing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an instance of a class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/>
              <a:t>self</a:t>
            </a:r>
          </a:p>
        </p:txBody>
      </p:sp>
      <p:sp>
        <p:nvSpPr>
          <p:cNvPr id="7" name="Arrow: Bent-Up 6">
            <a:extLst>
              <a:ext uri="{FF2B5EF4-FFF2-40B4-BE49-F238E27FC236}">
                <a16:creationId xmlns:a16="http://schemas.microsoft.com/office/drawing/2014/main" id="{34B24F35-F97A-49C2-ACCA-283EED1A8534}"/>
              </a:ext>
            </a:extLst>
          </p:cNvPr>
          <p:cNvSpPr/>
          <p:nvPr/>
        </p:nvSpPr>
        <p:spPr>
          <a:xfrm flipH="1">
            <a:off x="1239252" y="4740442"/>
            <a:ext cx="1130969" cy="161864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7F5BA-32F4-420B-BB78-40A9CA225ADD}"/>
              </a:ext>
            </a:extLst>
          </p:cNvPr>
          <p:cNvSpPr txBox="1"/>
          <p:nvPr/>
        </p:nvSpPr>
        <p:spPr>
          <a:xfrm>
            <a:off x="2478504" y="5981183"/>
            <a:ext cx="5614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This is the process of instantiating</a:t>
            </a:r>
            <a:r>
              <a:rPr lang="en-US" sz="28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0D512-64A1-4793-B775-1E3CC27653B1}"/>
              </a:ext>
            </a:extLst>
          </p:cNvPr>
          <p:cNvSpPr txBox="1"/>
          <p:nvPr/>
        </p:nvSpPr>
        <p:spPr>
          <a:xfrm>
            <a:off x="263887" y="4149178"/>
            <a:ext cx="426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0" name="Picture 4" descr="Turtle Icon | Flat Animal Iconset | Martin Berube">
            <a:extLst>
              <a:ext uri="{FF2B5EF4-FFF2-40B4-BE49-F238E27FC236}">
                <a16:creationId xmlns:a16="http://schemas.microsoft.com/office/drawing/2014/main" id="{DDF77CF9-24ED-4F01-8D42-B9966DED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5" y="2307854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211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06389" cy="4835479"/>
          </a:xfrm>
        </p:spPr>
        <p:txBody>
          <a:bodyPr/>
          <a:lstStyle/>
          <a:p>
            <a:r>
              <a:rPr lang="en-US" dirty="0"/>
              <a:t>A function defined in a class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/>
              <a:t>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15954-1777-4C44-920A-2D6217BF61BA}"/>
              </a:ext>
            </a:extLst>
          </p:cNvPr>
          <p:cNvSpPr txBox="1"/>
          <p:nvPr/>
        </p:nvSpPr>
        <p:spPr>
          <a:xfrm>
            <a:off x="4091669" y="2663721"/>
            <a:ext cx="44748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C72DF5-ABFE-444A-9955-C15F4975B8A9}"/>
              </a:ext>
            </a:extLst>
          </p:cNvPr>
          <p:cNvSpPr txBox="1"/>
          <p:nvPr/>
        </p:nvSpPr>
        <p:spPr>
          <a:xfrm>
            <a:off x="278950" y="2663721"/>
            <a:ext cx="4474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goto(x,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body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85320-7FED-4100-99E4-A1DA570F0F4E}"/>
              </a:ext>
            </a:extLst>
          </p:cNvPr>
          <p:cNvSpPr txBox="1"/>
          <p:nvPr/>
        </p:nvSpPr>
        <p:spPr>
          <a:xfrm>
            <a:off x="284744" y="5975105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082BA-23A1-476B-B127-7DF3E3EFA700}"/>
              </a:ext>
            </a:extLst>
          </p:cNvPr>
          <p:cNvSpPr txBox="1"/>
          <p:nvPr/>
        </p:nvSpPr>
        <p:spPr>
          <a:xfrm>
            <a:off x="4636173" y="5975105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5780106-D003-4746-8959-5513EBA86092}"/>
              </a:ext>
            </a:extLst>
          </p:cNvPr>
          <p:cNvSpPr/>
          <p:nvPr/>
        </p:nvSpPr>
        <p:spPr>
          <a:xfrm rot="10800000">
            <a:off x="970079" y="3371607"/>
            <a:ext cx="288758" cy="25607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2B8D4EE-E53C-4425-AAD9-DC69CF765751}"/>
              </a:ext>
            </a:extLst>
          </p:cNvPr>
          <p:cNvSpPr/>
          <p:nvPr/>
        </p:nvSpPr>
        <p:spPr>
          <a:xfrm rot="10800000">
            <a:off x="5241760" y="5218265"/>
            <a:ext cx="288758" cy="756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16909-FF8B-C086-11FA-A4469943BFED}"/>
              </a:ext>
            </a:extLst>
          </p:cNvPr>
          <p:cNvSpPr txBox="1"/>
          <p:nvPr/>
        </p:nvSpPr>
        <p:spPr>
          <a:xfrm>
            <a:off x="5257525" y="784280"/>
            <a:ext cx="3393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 is a function</a:t>
            </a: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list.append() is a method</a:t>
            </a:r>
          </a:p>
        </p:txBody>
      </p:sp>
    </p:spTree>
    <p:extLst>
      <p:ext uri="{BB962C8B-B14F-4D97-AF65-F5344CB8AC3E}">
        <p14:creationId xmlns:p14="http://schemas.microsoft.com/office/powerpoint/2010/main" val="256000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3878179" cy="4835479"/>
          </a:xfrm>
        </p:spPr>
        <p:txBody>
          <a:bodyPr/>
          <a:lstStyle/>
          <a:p>
            <a:r>
              <a:rPr lang="en-US" dirty="0"/>
              <a:t>A variable bound to an instance of a class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/>
              <a:t>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41746-9582-4A54-9E8C-81185E2B7A3F}"/>
              </a:ext>
            </a:extLst>
          </p:cNvPr>
          <p:cNvSpPr txBox="1"/>
          <p:nvPr/>
        </p:nvSpPr>
        <p:spPr>
          <a:xfrm>
            <a:off x="263887" y="4474032"/>
            <a:ext cx="42659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4" descr="Turtle Icon | Flat Animal Iconset | Martin Berube">
            <a:extLst>
              <a:ext uri="{FF2B5EF4-FFF2-40B4-BE49-F238E27FC236}">
                <a16:creationId xmlns:a16="http://schemas.microsoft.com/office/drawing/2014/main" id="{540E9AF8-A905-4E88-8AE7-7C44A234C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5" y="2632708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AE448A-1DBB-4445-8F17-DC6BA33C6662}"/>
              </a:ext>
            </a:extLst>
          </p:cNvPr>
          <p:cNvSpPr txBox="1"/>
          <p:nvPr/>
        </p:nvSpPr>
        <p:spPr>
          <a:xfrm>
            <a:off x="4368393" y="727514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B2F9B-DD7E-4E34-AE1E-053E1BAF4FD6}"/>
              </a:ext>
            </a:extLst>
          </p:cNvPr>
          <p:cNvSpPr txBox="1"/>
          <p:nvPr/>
        </p:nvSpPr>
        <p:spPr>
          <a:xfrm>
            <a:off x="6637424" y="5975105"/>
            <a:ext cx="1887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D09A65-643C-46F7-8DC7-08AE77186DE6}"/>
              </a:ext>
            </a:extLst>
          </p:cNvPr>
          <p:cNvSpPr/>
          <p:nvPr/>
        </p:nvSpPr>
        <p:spPr>
          <a:xfrm>
            <a:off x="6211902" y="6053707"/>
            <a:ext cx="345711" cy="3457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CCA912-8248-4E70-B42B-6436369D73CA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1732547" y="5678905"/>
            <a:ext cx="4479355" cy="5476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69155F-7A06-49E0-93E9-D57B33354C44}"/>
              </a:ext>
            </a:extLst>
          </p:cNvPr>
          <p:cNvCxnSpPr>
            <a:cxnSpLocks/>
            <a:stCxn id="10" idx="2"/>
          </p:cNvCxnSpPr>
          <p:nvPr/>
        </p:nvCxnSpPr>
        <p:spPr>
          <a:xfrm flipH="1" flipV="1">
            <a:off x="1732548" y="5244365"/>
            <a:ext cx="4479354" cy="9821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5C9C2F-A729-40DA-8B9E-3E8BF5BAF67E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211902" y="2320063"/>
            <a:ext cx="172856" cy="37336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6770A8-94FC-41B4-CDB7-5281A2769FFD}"/>
              </a:ext>
            </a:extLst>
          </p:cNvPr>
          <p:cNvSpPr txBox="1"/>
          <p:nvPr/>
        </p:nvSpPr>
        <p:spPr>
          <a:xfrm>
            <a:off x="7312873" y="190874"/>
            <a:ext cx="2776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print(x, y)</a:t>
            </a: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print(alex.x, alex.y)</a:t>
            </a:r>
          </a:p>
        </p:txBody>
      </p:sp>
    </p:spTree>
    <p:extLst>
      <p:ext uri="{BB962C8B-B14F-4D97-AF65-F5344CB8AC3E}">
        <p14:creationId xmlns:p14="http://schemas.microsoft.com/office/powerpoint/2010/main" val="2902872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3926304" cy="4835479"/>
          </a:xfrm>
        </p:spPr>
        <p:txBody>
          <a:bodyPr/>
          <a:lstStyle/>
          <a:p>
            <a:r>
              <a:rPr lang="en-US" dirty="0"/>
              <a:t>Responsible for setting up the initial state of a new instance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Constructor</a:t>
            </a:r>
          </a:p>
          <a:p>
            <a:endParaRPr lang="en-US" sz="1400" b="1" dirty="0"/>
          </a:p>
          <a:p>
            <a:r>
              <a:rPr lang="en-US" sz="4000" b="1" dirty="0"/>
              <a:t>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2BE2F-3355-4F18-943D-1D0BA95F7D24}"/>
              </a:ext>
            </a:extLst>
          </p:cNvPr>
          <p:cNvSpPr txBox="1"/>
          <p:nvPr/>
        </p:nvSpPr>
        <p:spPr>
          <a:xfrm>
            <a:off x="4368393" y="727514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F799E-7EED-4DCD-80FA-31BC38B2C8B1}"/>
              </a:ext>
            </a:extLst>
          </p:cNvPr>
          <p:cNvSpPr txBox="1"/>
          <p:nvPr/>
        </p:nvSpPr>
        <p:spPr>
          <a:xfrm>
            <a:off x="263887" y="5147805"/>
            <a:ext cx="42659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4" descr="Turtle Icon | Flat Animal Iconset | Martin Berube">
            <a:extLst>
              <a:ext uri="{FF2B5EF4-FFF2-40B4-BE49-F238E27FC236}">
                <a16:creationId xmlns:a16="http://schemas.microsoft.com/office/drawing/2014/main" id="{B6DE08C4-D16F-49AD-A7D8-B0B8A46A0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5" y="3306481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450BC6-C955-4572-B2CC-063190A1ABF4}"/>
              </a:ext>
            </a:extLst>
          </p:cNvPr>
          <p:cNvSpPr txBox="1"/>
          <p:nvPr/>
        </p:nvSpPr>
        <p:spPr>
          <a:xfrm>
            <a:off x="4893376" y="5432177"/>
            <a:ext cx="34587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</a:rPr>
              <a:t>__init__ </a:t>
            </a:r>
            <a:r>
              <a:rPr lang="en-US" sz="2400" b="1" dirty="0">
                <a:solidFill>
                  <a:srgbClr val="FFFFFF"/>
                </a:solidFill>
              </a:rPr>
              <a:t>method is automatically run during instantiation</a:t>
            </a:r>
            <a:r>
              <a:rPr lang="en-US" sz="2400" b="1" dirty="0">
                <a:solidFill>
                  <a:schemeClr val="accent2"/>
                </a:solidFill>
              </a:rPr>
              <a:t>.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816BB0-62E3-409D-A883-7051B3890E39}"/>
              </a:ext>
            </a:extLst>
          </p:cNvPr>
          <p:cNvSpPr/>
          <p:nvPr/>
        </p:nvSpPr>
        <p:spPr>
          <a:xfrm rot="1286990">
            <a:off x="7613535" y="5731086"/>
            <a:ext cx="345711" cy="3457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C0FA41-164B-4BBA-ADC9-4E8DB33921E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256421" y="1628881"/>
            <a:ext cx="1460905" cy="41166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9603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3854116" cy="483547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Reference to the instance of the class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Although you do not technically need to use the word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dirty="0"/>
              <a:t>, it is widely adopted and is recommended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Understanding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dirty="0"/>
              <a:t> is a challenge for most students so don</a:t>
            </a:r>
            <a:r>
              <a:rPr lang="en-US" dirty="0">
                <a:solidFill>
                  <a:schemeClr val="accent3"/>
                </a:solidFill>
              </a:rPr>
              <a:t>’</a:t>
            </a:r>
            <a:r>
              <a:rPr lang="en-US" dirty="0"/>
              <a:t>t worry if you</a:t>
            </a:r>
            <a:r>
              <a:rPr lang="en-US" dirty="0">
                <a:solidFill>
                  <a:schemeClr val="accent3"/>
                </a:solidFill>
              </a:rPr>
              <a:t>’</a:t>
            </a:r>
            <a:r>
              <a:rPr lang="en-US" dirty="0"/>
              <a:t>re confused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US" dirty="0"/>
          </a:p>
          <a:p>
            <a:r>
              <a:rPr lang="en-US" dirty="0"/>
              <a:t>More on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dirty="0"/>
              <a:t> in the next lecture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727514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</p:spTree>
    <p:extLst>
      <p:ext uri="{BB962C8B-B14F-4D97-AF65-F5344CB8AC3E}">
        <p14:creationId xmlns:p14="http://schemas.microsoft.com/office/powerpoint/2010/main" val="2626673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727514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2C6DE8-BE0C-46B7-8876-6AED5F0B08B2}"/>
              </a:ext>
            </a:extLst>
          </p:cNvPr>
          <p:cNvSpPr txBox="1"/>
          <p:nvPr/>
        </p:nvSpPr>
        <p:spPr>
          <a:xfrm>
            <a:off x="328110" y="3672250"/>
            <a:ext cx="43913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print(katia.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katia.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joseph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-4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print(joseph.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joseph.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083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B204854-6CBD-43C5-9087-75179299D0D0}"/>
              </a:ext>
            </a:extLst>
          </p:cNvPr>
          <p:cNvSpPr/>
          <p:nvPr/>
        </p:nvSpPr>
        <p:spPr>
          <a:xfrm>
            <a:off x="1702662" y="2361038"/>
            <a:ext cx="1365003" cy="543111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8B8A2-8AAC-47CC-A770-2FC6E4610374}"/>
              </a:ext>
            </a:extLst>
          </p:cNvPr>
          <p:cNvSpPr/>
          <p:nvPr/>
        </p:nvSpPr>
        <p:spPr>
          <a:xfrm>
            <a:off x="1315554" y="3997498"/>
            <a:ext cx="808214" cy="359860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E28168-E79D-4501-9DD3-C337948624F0}"/>
              </a:ext>
            </a:extLst>
          </p:cNvPr>
          <p:cNvSpPr/>
          <p:nvPr/>
        </p:nvSpPr>
        <p:spPr>
          <a:xfrm>
            <a:off x="328112" y="3704797"/>
            <a:ext cx="893054" cy="359860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20A396-E817-44FD-81B5-3AED78D1091B}"/>
              </a:ext>
            </a:extLst>
          </p:cNvPr>
          <p:cNvSpPr/>
          <p:nvPr/>
        </p:nvSpPr>
        <p:spPr>
          <a:xfrm>
            <a:off x="328110" y="5228795"/>
            <a:ext cx="1081834" cy="359860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0C374E-F820-43CB-A9E4-0934953A1895}"/>
              </a:ext>
            </a:extLst>
          </p:cNvPr>
          <p:cNvSpPr/>
          <p:nvPr/>
        </p:nvSpPr>
        <p:spPr>
          <a:xfrm>
            <a:off x="2687156" y="3997498"/>
            <a:ext cx="808214" cy="359860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996496-C113-48EA-9E0F-B9B11ED9F818}"/>
              </a:ext>
            </a:extLst>
          </p:cNvPr>
          <p:cNvSpPr/>
          <p:nvPr/>
        </p:nvSpPr>
        <p:spPr>
          <a:xfrm>
            <a:off x="1321453" y="5535867"/>
            <a:ext cx="955698" cy="359860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128330-F64C-42CD-AFD8-8BAACA609119}"/>
              </a:ext>
            </a:extLst>
          </p:cNvPr>
          <p:cNvSpPr/>
          <p:nvPr/>
        </p:nvSpPr>
        <p:spPr>
          <a:xfrm>
            <a:off x="2844645" y="5535867"/>
            <a:ext cx="955698" cy="359860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A85A0-C69D-4B97-983B-F3A759F21CF8}"/>
              </a:ext>
            </a:extLst>
          </p:cNvPr>
          <p:cNvSpPr/>
          <p:nvPr/>
        </p:nvSpPr>
        <p:spPr>
          <a:xfrm>
            <a:off x="6883344" y="1362751"/>
            <a:ext cx="638336" cy="339768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FB642-5895-4718-96BB-40A817557FC4}"/>
              </a:ext>
            </a:extLst>
          </p:cNvPr>
          <p:cNvSpPr/>
          <p:nvPr/>
        </p:nvSpPr>
        <p:spPr>
          <a:xfrm>
            <a:off x="5306701" y="1693617"/>
            <a:ext cx="698842" cy="282667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4B01B3-0950-459A-813D-7A2614B33586}"/>
              </a:ext>
            </a:extLst>
          </p:cNvPr>
          <p:cNvSpPr/>
          <p:nvPr/>
        </p:nvSpPr>
        <p:spPr>
          <a:xfrm>
            <a:off x="5306701" y="2003572"/>
            <a:ext cx="698842" cy="282667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143BC6-4006-4612-A8CB-9DE26C1FA186}"/>
              </a:ext>
            </a:extLst>
          </p:cNvPr>
          <p:cNvSpPr/>
          <p:nvPr/>
        </p:nvSpPr>
        <p:spPr>
          <a:xfrm>
            <a:off x="5978607" y="2603785"/>
            <a:ext cx="619251" cy="282667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B089F2-38B3-4E3D-92D2-EA6061275254}"/>
              </a:ext>
            </a:extLst>
          </p:cNvPr>
          <p:cNvSpPr/>
          <p:nvPr/>
        </p:nvSpPr>
        <p:spPr>
          <a:xfrm>
            <a:off x="6281790" y="3519852"/>
            <a:ext cx="619251" cy="282667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B3439F-B9BB-4420-AF22-EFC4D5157E24}"/>
              </a:ext>
            </a:extLst>
          </p:cNvPr>
          <p:cNvSpPr/>
          <p:nvPr/>
        </p:nvSpPr>
        <p:spPr>
          <a:xfrm>
            <a:off x="6294325" y="4439104"/>
            <a:ext cx="619251" cy="282667"/>
          </a:xfrm>
          <a:prstGeom prst="rect">
            <a:avLst/>
          </a:prstGeom>
          <a:solidFill>
            <a:srgbClr val="E00BE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2D9E7E2-EC02-49F9-90DB-26F6E0046D71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V="1">
            <a:off x="869027" y="2904149"/>
            <a:ext cx="1516137" cy="2324646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EE76E71-1925-4C5B-B434-A8D25F61166E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1719661" y="2904149"/>
            <a:ext cx="665503" cy="1093349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F64FB0-5C94-4C6D-81F9-CA1C37FF3DE6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774639" y="2904149"/>
            <a:ext cx="1610525" cy="800648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3A0265-33F9-4D3C-9D7F-025C2AB8D49D}"/>
              </a:ext>
            </a:extLst>
          </p:cNvPr>
          <p:cNvCxnSpPr>
            <a:cxnSpLocks/>
            <a:stCxn id="32" idx="0"/>
            <a:endCxn id="13" idx="2"/>
          </p:cNvCxnSpPr>
          <p:nvPr/>
        </p:nvCxnSpPr>
        <p:spPr>
          <a:xfrm flipH="1" flipV="1">
            <a:off x="2385164" y="2904149"/>
            <a:ext cx="706099" cy="1093349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D21F7B-0DFA-409D-ADD4-52F6E04944BA}"/>
              </a:ext>
            </a:extLst>
          </p:cNvPr>
          <p:cNvCxnSpPr>
            <a:cxnSpLocks/>
            <a:stCxn id="34" idx="0"/>
            <a:endCxn id="13" idx="2"/>
          </p:cNvCxnSpPr>
          <p:nvPr/>
        </p:nvCxnSpPr>
        <p:spPr>
          <a:xfrm flipV="1">
            <a:off x="1799302" y="2904149"/>
            <a:ext cx="585862" cy="2631718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908FFEB-B7E0-4450-A6B3-2D711E9A28CA}"/>
              </a:ext>
            </a:extLst>
          </p:cNvPr>
          <p:cNvCxnSpPr>
            <a:cxnSpLocks/>
            <a:stCxn id="35" idx="0"/>
            <a:endCxn id="13" idx="2"/>
          </p:cNvCxnSpPr>
          <p:nvPr/>
        </p:nvCxnSpPr>
        <p:spPr>
          <a:xfrm flipH="1" flipV="1">
            <a:off x="2385164" y="2904149"/>
            <a:ext cx="937330" cy="2631718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B3F08B-7991-42F3-808A-307BFBEA16B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067665" y="1542998"/>
            <a:ext cx="3815679" cy="1089596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1EB1D9-FB53-4777-A152-2F331C32E030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3067665" y="1834951"/>
            <a:ext cx="2239036" cy="797643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F88AD5-F187-43A7-B039-C2E960EB6F57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3067665" y="2144906"/>
            <a:ext cx="2239036" cy="487688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27121B1-439D-46D0-8961-8CF0ED2046D7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3067665" y="2632594"/>
            <a:ext cx="2910942" cy="112525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ACE7188-15FA-4A89-B672-927D183068E3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3067665" y="2632594"/>
            <a:ext cx="3214125" cy="1028592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165E2-7593-4A18-9F29-EF20881EEBF5}"/>
              </a:ext>
            </a:extLst>
          </p:cNvPr>
          <p:cNvSpPr txBox="1"/>
          <p:nvPr/>
        </p:nvSpPr>
        <p:spPr>
          <a:xfrm>
            <a:off x="1767553" y="2343341"/>
            <a:ext cx="1258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C3D16E5-0206-4FA0-A5B3-1B5D8ACF4B97}"/>
              </a:ext>
            </a:extLst>
          </p:cNvPr>
          <p:cNvCxnSpPr>
            <a:cxnSpLocks/>
            <a:stCxn id="13" idx="3"/>
            <a:endCxn id="26" idx="1"/>
          </p:cNvCxnSpPr>
          <p:nvPr/>
        </p:nvCxnSpPr>
        <p:spPr>
          <a:xfrm>
            <a:off x="3067665" y="2632594"/>
            <a:ext cx="3226660" cy="1947844"/>
          </a:xfrm>
          <a:prstGeom prst="straightConnector1">
            <a:avLst/>
          </a:prstGeom>
          <a:ln w="9525">
            <a:solidFill>
              <a:srgbClr val="E00B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1BF488D-D708-4F07-B3AA-4D066DF6F353}"/>
              </a:ext>
            </a:extLst>
          </p:cNvPr>
          <p:cNvSpPr txBox="1"/>
          <p:nvPr/>
        </p:nvSpPr>
        <p:spPr>
          <a:xfrm>
            <a:off x="328110" y="3672250"/>
            <a:ext cx="43913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print(katia.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katia.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joseph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-4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print(joseph.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joseph.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727514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</p:spTree>
    <p:extLst>
      <p:ext uri="{BB962C8B-B14F-4D97-AF65-F5344CB8AC3E}">
        <p14:creationId xmlns:p14="http://schemas.microsoft.com/office/powerpoint/2010/main" val="1844512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3C6A2-B4CB-49D3-B2D4-19A334D600D8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DA87E4-3A57-4EDD-BF2C-73D0F7CC793D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58D2B-175F-4CC9-BA4B-C7825FCCA4F0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1392636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1545B-3DEC-418F-96D2-9BBADA7E2DFF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95DEE9-19A5-44FC-9602-1A2614B0CFD2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1E4D2-7F6A-45DE-9611-E9E659B84F9D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3785467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katia.goto(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9B6E3-C67F-442B-BF05-4C2915686D76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76C5C-C44A-403D-B441-EB75B4C6EB9B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042287-CC4F-4FA3-BEB0-74519397C8A5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2010160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katia.goto(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774B1-8249-4FDC-AB71-407555C84448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77628-60B0-47B2-984F-80ACF2AA355A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6802C-0B2E-40D4-BD70-2255FF79F8F2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965954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katia.goto(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katia.get_position()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pint(x, y)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(-1, 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02B6D-A1D0-474D-A53A-D60FC79E088B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654E5-4542-4C9F-8A80-3E0E7FCF65D8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730577-ED51-4245-9811-79DFB2E073C4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3349964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katia.goto(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katia.get_position()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pint(x, y)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(-1, 10)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A6B3A-66F5-4DDE-AFED-DCAF2570ABB9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2B5AD-832F-4990-A4D8-F0C838673D93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2A035-02FD-42F7-A96F-D04844372D98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3873225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katia.goto(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katia.get_position()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pint(x, y)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(-1, 10)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katia.print_position()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-1 10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D5A5-5D7B-4B9B-9D66-31D688754B90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737DD-3B05-4583-9059-40F52C7DC88D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B1C46-E05E-4584-89AB-039F741BADC3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3011951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print(self.x, self.y)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katia.goto(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katia.get_position()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pint(x, y)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(-1, 10)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katia.print_position()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-1 10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9408D-1A2B-4E75-A4D4-442B0FE58669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57D7C-0552-46C9-B4FB-968D3481C970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E48ADE-952D-4C1A-A8D7-6F790506FB3D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20092095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D1472D-DC3F-4634-943B-32AA6BA72181}"/>
              </a:ext>
            </a:extLst>
          </p:cNvPr>
          <p:cNvSpPr txBox="1"/>
          <p:nvPr/>
        </p:nvSpPr>
        <p:spPr>
          <a:xfrm>
            <a:off x="4368393" y="1093267"/>
            <a:ext cx="6453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self.print_position()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self.print_position()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print(self.x, self.y)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08458-4389-4779-9214-B3D27D684AF3}"/>
              </a:ext>
            </a:extLst>
          </p:cNvPr>
          <p:cNvSpPr txBox="1"/>
          <p:nvPr/>
        </p:nvSpPr>
        <p:spPr>
          <a:xfrm>
            <a:off x="8877154" y="727514"/>
            <a:ext cx="303589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444445"/>
                </a:solidFill>
              </a:rPr>
              <a:t>Class</a:t>
            </a:r>
          </a:p>
          <a:p>
            <a:r>
              <a:rPr lang="en-US" sz="1400" b="1" dirty="0"/>
              <a:t>   </a:t>
            </a:r>
          </a:p>
          <a:p>
            <a:r>
              <a:rPr lang="en-US" sz="4000" b="1" dirty="0"/>
              <a:t>Object</a:t>
            </a:r>
          </a:p>
          <a:p>
            <a:endParaRPr lang="en-US" sz="1400" b="1" dirty="0"/>
          </a:p>
          <a:p>
            <a:r>
              <a:rPr lang="en-US" sz="4000" b="1" dirty="0"/>
              <a:t>Instantiate</a:t>
            </a:r>
          </a:p>
          <a:p>
            <a:endParaRPr lang="en-US" sz="1400" b="1" dirty="0"/>
          </a:p>
          <a:p>
            <a:r>
              <a:rPr lang="en-US" sz="4000" b="1" dirty="0"/>
              <a:t>Method</a:t>
            </a:r>
          </a:p>
          <a:p>
            <a:endParaRPr lang="en-US" sz="1400" b="1" dirty="0"/>
          </a:p>
          <a:p>
            <a:r>
              <a:rPr lang="en-US" sz="4000" b="1" dirty="0"/>
              <a:t>Attribute</a:t>
            </a:r>
          </a:p>
          <a:p>
            <a:endParaRPr lang="en-US" sz="1400" b="1" dirty="0"/>
          </a:p>
          <a:p>
            <a:r>
              <a:rPr lang="en-US" sz="4000" b="1" dirty="0"/>
              <a:t>Constructor</a:t>
            </a:r>
          </a:p>
          <a:p>
            <a:endParaRPr lang="en-US" sz="1400" b="1" dirty="0"/>
          </a:p>
          <a:p>
            <a:r>
              <a:rPr lang="en-US" sz="4000" b="1" dirty="0">
                <a:solidFill>
                  <a:schemeClr val="accent6"/>
                </a:solidFill>
              </a:rPr>
              <a:t>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F54-7061-4DE0-A49B-685794CF7619}"/>
              </a:ext>
            </a:extLst>
          </p:cNvPr>
          <p:cNvSpPr txBox="1"/>
          <p:nvPr/>
        </p:nvSpPr>
        <p:spPr>
          <a:xfrm>
            <a:off x="328111" y="3247490"/>
            <a:ext cx="44326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katia.up()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katia.goto(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katia.get_position()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pint(x, y)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(-1, 10)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katia.print_position()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-1 10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E2823-B61B-495D-A6AF-20E73B3C4A05}"/>
              </a:ext>
            </a:extLst>
          </p:cNvPr>
          <p:cNvSpPr txBox="1"/>
          <p:nvPr/>
        </p:nvSpPr>
        <p:spPr>
          <a:xfrm>
            <a:off x="328111" y="1689488"/>
            <a:ext cx="2949846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Outside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5A4AF-E305-45F2-9705-CE4AAA74F388}"/>
              </a:ext>
            </a:extLst>
          </p:cNvPr>
          <p:cNvSpPr txBox="1"/>
          <p:nvPr/>
        </p:nvSpPr>
        <p:spPr>
          <a:xfrm>
            <a:off x="6771533" y="304141"/>
            <a:ext cx="2765501" cy="1200329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Inside Class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self.attribute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0B994B-25DA-4419-A118-32A625FA3AC4}"/>
              </a:ext>
            </a:extLst>
          </p:cNvPr>
          <p:cNvSpPr txBox="1"/>
          <p:nvPr/>
        </p:nvSpPr>
        <p:spPr>
          <a:xfrm>
            <a:off x="3277957" y="269061"/>
            <a:ext cx="2581156" cy="461665"/>
          </a:xfrm>
          <a:prstGeom prst="rect">
            <a:avLst/>
          </a:prstGeom>
          <a:noFill/>
          <a:ln>
            <a:solidFill>
              <a:srgbClr val="E00BE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is self</a:t>
            </a:r>
          </a:p>
        </p:txBody>
      </p:sp>
    </p:spTree>
    <p:extLst>
      <p:ext uri="{BB962C8B-B14F-4D97-AF65-F5344CB8AC3E}">
        <p14:creationId xmlns:p14="http://schemas.microsoft.com/office/powerpoint/2010/main" val="4071423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66390-C098-4FFF-AABB-999C34DD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CAED84-6918-C813-3B65-41E6B7CBF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Self</a:t>
            </a:r>
            <a:r>
              <a:rPr lang="en-US" b="1" dirty="0">
                <a:solidFill>
                  <a:schemeClr val="accent6"/>
                </a:solidFill>
              </a:rPr>
              <a:t>…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F8AA3-50D7-5987-3636-8A62F6907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/>
          </a:bodyPr>
          <a:lstStyle/>
          <a:p>
            <a:r>
              <a:rPr lang="en-US" sz="3200" dirty="0" err="1"/>
              <a:t>Ummm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this self thing is </a:t>
            </a:r>
            <a:r>
              <a:rPr lang="en-US" sz="3200" dirty="0" err="1"/>
              <a:t>kinda</a:t>
            </a:r>
            <a:r>
              <a:rPr lang="en-US" sz="3200" dirty="0"/>
              <a:t> confusing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CB9392-078A-9458-8467-5841982ADD6E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Self</a:t>
            </a:r>
            <a:r>
              <a:rPr lang="en-US" sz="2600" b="1" dirty="0">
                <a:solidFill>
                  <a:srgbClr val="FFFFFF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89453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The core of object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oriented programming is the organization of the program by </a:t>
            </a:r>
            <a:r>
              <a:rPr lang="en-US" b="1" dirty="0">
                <a:solidFill>
                  <a:schemeClr val="accent6"/>
                </a:solidFill>
              </a:rPr>
              <a:t>encapsulating</a:t>
            </a:r>
            <a:r>
              <a:rPr lang="en-US" dirty="0"/>
              <a:t> related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together in an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To encapsulate something means to enclose it in some kind of container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programming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encapsulation means keeping </a:t>
            </a:r>
            <a:r>
              <a:rPr lang="en-US" b="1" dirty="0">
                <a:solidFill>
                  <a:srgbClr val="E00BE5"/>
                </a:solidFill>
              </a:rPr>
              <a:t>data</a:t>
            </a:r>
            <a:r>
              <a:rPr lang="en-US" dirty="0"/>
              <a:t> and the </a:t>
            </a:r>
            <a:r>
              <a:rPr lang="en-US" b="1" dirty="0">
                <a:solidFill>
                  <a:srgbClr val="E00BE5"/>
                </a:solidFill>
              </a:rPr>
              <a:t>code</a:t>
            </a:r>
            <a:r>
              <a:rPr lang="en-US" dirty="0"/>
              <a:t> that uses it in one place and hiding the details of exactly how they work together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815B5-A0F6-4AB7-A3AC-6D77EC275801}"/>
              </a:ext>
            </a:extLst>
          </p:cNvPr>
          <p:cNvSpPr/>
          <p:nvPr/>
        </p:nvSpPr>
        <p:spPr>
          <a:xfrm>
            <a:off x="8688874" y="1801561"/>
            <a:ext cx="2283924" cy="55776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D26D2-32C8-4EC8-B895-03F10F8D9AE4}"/>
              </a:ext>
            </a:extLst>
          </p:cNvPr>
          <p:cNvSpPr/>
          <p:nvPr/>
        </p:nvSpPr>
        <p:spPr>
          <a:xfrm>
            <a:off x="8688874" y="2600779"/>
            <a:ext cx="2283924" cy="14776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0962CE-A6B5-4B3C-85DE-1B9CA7B379B6}"/>
              </a:ext>
            </a:extLst>
          </p:cNvPr>
          <p:cNvSpPr/>
          <p:nvPr/>
        </p:nvSpPr>
        <p:spPr>
          <a:xfrm>
            <a:off x="8688874" y="4319864"/>
            <a:ext cx="2283924" cy="16371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BBE01C-C44B-4EE8-9F05-595BAC0B7A7F}"/>
              </a:ext>
            </a:extLst>
          </p:cNvPr>
          <p:cNvSpPr/>
          <p:nvPr/>
        </p:nvSpPr>
        <p:spPr>
          <a:xfrm>
            <a:off x="7598978" y="1191126"/>
            <a:ext cx="4463716" cy="5378116"/>
          </a:xfrm>
          <a:prstGeom prst="ellipse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DF094-E06A-4842-8081-7F4CC8DF2303}"/>
              </a:ext>
            </a:extLst>
          </p:cNvPr>
          <p:cNvSpPr txBox="1"/>
          <p:nvPr/>
        </p:nvSpPr>
        <p:spPr>
          <a:xfrm>
            <a:off x="8562700" y="578945"/>
            <a:ext cx="2536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</a:rPr>
              <a:t>Encapsulation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784761-52D0-4BA8-B5FB-979E5DAF5640}"/>
              </a:ext>
            </a:extLst>
          </p:cNvPr>
          <p:cNvSpPr txBox="1"/>
          <p:nvPr/>
        </p:nvSpPr>
        <p:spPr>
          <a:xfrm>
            <a:off x="3813066" y="1248846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8C931-5832-4830-8E6E-DC988A727470}"/>
              </a:ext>
            </a:extLst>
          </p:cNvPr>
          <p:cNvSpPr txBox="1"/>
          <p:nvPr/>
        </p:nvSpPr>
        <p:spPr>
          <a:xfrm>
            <a:off x="6234500" y="1248846"/>
            <a:ext cx="2117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up()           </a:t>
            </a:r>
          </a:p>
        </p:txBody>
      </p:sp>
    </p:spTree>
    <p:extLst>
      <p:ext uri="{BB962C8B-B14F-4D97-AF65-F5344CB8AC3E}">
        <p14:creationId xmlns:p14="http://schemas.microsoft.com/office/powerpoint/2010/main" val="43285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Point Class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Constructor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The real strength of object</a:t>
            </a:r>
            <a:r>
              <a:rPr lang="en-US" sz="3200" dirty="0">
                <a:solidFill>
                  <a:schemeClr val="accent6"/>
                </a:solidFill>
              </a:rPr>
              <a:t>-</a:t>
            </a:r>
            <a:r>
              <a:rPr lang="en-US" sz="3200" dirty="0"/>
              <a:t>oriented programming comes from being able to define new classes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endParaRPr lang="en-US" sz="3200" dirty="0"/>
          </a:p>
          <a:p>
            <a:r>
              <a:rPr lang="en-US" sz="3200" dirty="0"/>
              <a:t>In math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in two dimensions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a point is two numbers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coordinates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/>
              <a:t> that are treated collectively as a single object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pPr lvl="1"/>
            <a:r>
              <a:rPr lang="en-US" sz="2800" dirty="0"/>
              <a:t>For example</a:t>
            </a:r>
            <a:r>
              <a:rPr lang="en-US" sz="2800" dirty="0">
                <a:solidFill>
                  <a:schemeClr val="accent2"/>
                </a:solidFill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accent6"/>
                </a:solidFill>
              </a:rPr>
              <a:t>(</a:t>
            </a:r>
            <a:r>
              <a:rPr lang="en-US" sz="2800" dirty="0"/>
              <a:t>0</a:t>
            </a:r>
            <a:r>
              <a:rPr lang="en-US" sz="2800" dirty="0">
                <a:solidFill>
                  <a:schemeClr val="accent2"/>
                </a:solidFill>
              </a:rPr>
              <a:t>,</a:t>
            </a:r>
            <a:r>
              <a:rPr lang="en-US" sz="2800" dirty="0"/>
              <a:t> 0</a:t>
            </a:r>
            <a:r>
              <a:rPr lang="en-US" sz="2800" dirty="0">
                <a:solidFill>
                  <a:schemeClr val="accent6"/>
                </a:solidFill>
              </a:rPr>
              <a:t>)</a:t>
            </a:r>
            <a:r>
              <a:rPr lang="en-US" sz="2800" dirty="0"/>
              <a:t> represents the origin, and</a:t>
            </a:r>
            <a:r>
              <a:rPr lang="en-US" sz="2800" dirty="0">
                <a:solidFill>
                  <a:schemeClr val="accent6"/>
                </a:solidFill>
              </a:rPr>
              <a:t> (</a:t>
            </a:r>
            <a:r>
              <a:rPr lang="en-US" sz="2800" dirty="0"/>
              <a:t>x</a:t>
            </a:r>
            <a:r>
              <a:rPr lang="en-US" sz="2800" dirty="0">
                <a:solidFill>
                  <a:schemeClr val="accent2"/>
                </a:solidFill>
              </a:rPr>
              <a:t>,</a:t>
            </a:r>
            <a:r>
              <a:rPr lang="en-US" sz="2800" dirty="0"/>
              <a:t> y</a:t>
            </a:r>
            <a:r>
              <a:rPr lang="en-US" sz="2800" dirty="0">
                <a:solidFill>
                  <a:schemeClr val="accent6"/>
                </a:solidFill>
              </a:rPr>
              <a:t>)</a:t>
            </a:r>
            <a:r>
              <a:rPr lang="en-US" sz="2800" dirty="0"/>
              <a:t> represents the point </a:t>
            </a:r>
            <a:r>
              <a:rPr lang="en-US" sz="2800" b="1" dirty="0">
                <a:solidFill>
                  <a:schemeClr val="accent6"/>
                </a:solidFill>
              </a:rPr>
              <a:t>x</a:t>
            </a:r>
            <a:r>
              <a:rPr lang="en-US" sz="2800" dirty="0"/>
              <a:t> units to the right and </a:t>
            </a:r>
            <a:r>
              <a:rPr lang="en-US" sz="2800" b="1" dirty="0">
                <a:solidFill>
                  <a:schemeClr val="accent6"/>
                </a:solidFill>
              </a:rPr>
              <a:t>y</a:t>
            </a:r>
            <a:r>
              <a:rPr lang="en-US" sz="2800" dirty="0"/>
              <a:t> units up from the origin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Its also common to want to calculate the distance between two points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2B386C-6F99-4DB7-BE5F-3FE40343E5D6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06AFA0-BE20-43A2-8117-51C6360BB2AD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41992E-20E0-4856-9738-99A0B9319AFC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35024746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Point Class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Constructor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/>
          </a:bodyPr>
          <a:lstStyle/>
          <a:p>
            <a:r>
              <a:rPr lang="en-US" sz="3200" dirty="0"/>
              <a:t>Create a Point class to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</a:p>
          <a:p>
            <a:pPr lvl="1"/>
            <a:r>
              <a:rPr lang="en-US" sz="2800" dirty="0"/>
              <a:t>Contain data about the location of a Point instance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/>
              <a:t>Be able to calculate the distance between the Point instance and another point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3D003C-E002-4C71-9930-DC1989AF1D0E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Point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54FD5F-E26A-4D2C-A66A-00CB704B6365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x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CD5C47-8B8B-44F6-8DD3-6484ED263A64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distance between points</a:t>
            </a:r>
          </a:p>
        </p:txBody>
      </p:sp>
    </p:spTree>
    <p:extLst>
      <p:ext uri="{BB962C8B-B14F-4D97-AF65-F5344CB8AC3E}">
        <p14:creationId xmlns:p14="http://schemas.microsoft.com/office/powerpoint/2010/main" val="30169500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Point Class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Constructor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/>
          </a:bodyPr>
          <a:lstStyle/>
          <a:p>
            <a:r>
              <a:rPr lang="en-US" sz="3200" dirty="0"/>
              <a:t>Create a Point class to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</a:p>
          <a:p>
            <a:pPr lvl="1"/>
            <a:r>
              <a:rPr lang="en-US" sz="2800" dirty="0"/>
              <a:t>Contain data about the location of a Point instance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Let</a:t>
            </a:r>
            <a:r>
              <a:rPr lang="en-US" sz="3200" dirty="0">
                <a:solidFill>
                  <a:schemeClr val="accent2"/>
                </a:solidFill>
              </a:rPr>
              <a:t>’</a:t>
            </a:r>
            <a:r>
              <a:rPr lang="en-US" sz="3200" dirty="0"/>
              <a:t>s start with the </a:t>
            </a:r>
            <a:r>
              <a:rPr lang="en-US" sz="3200" dirty="0">
                <a:solidFill>
                  <a:schemeClr val="accent6"/>
                </a:solidFill>
              </a:rPr>
              <a:t>attributes</a:t>
            </a:r>
            <a:r>
              <a:rPr lang="en-US" sz="3200" dirty="0"/>
              <a:t> and the </a:t>
            </a:r>
            <a:r>
              <a:rPr lang="en-US" sz="3200" dirty="0">
                <a:solidFill>
                  <a:schemeClr val="accent6"/>
                </a:solidFill>
              </a:rPr>
              <a:t>constructor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4495BB-4318-49FC-B82D-CB18F3B3140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Write a Point Class: Constructor</a:t>
            </a:r>
          </a:p>
        </p:txBody>
      </p:sp>
    </p:spTree>
    <p:extLst>
      <p:ext uri="{BB962C8B-B14F-4D97-AF65-F5344CB8AC3E}">
        <p14:creationId xmlns:p14="http://schemas.microsoft.com/office/powerpoint/2010/main" val="64672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Point Class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Methods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/>
          </a:bodyPr>
          <a:lstStyle/>
          <a:p>
            <a:r>
              <a:rPr lang="en-US" sz="3200" dirty="0"/>
              <a:t>Our Point class needs to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</a:p>
          <a:p>
            <a:pPr lvl="1"/>
            <a:r>
              <a:rPr lang="en-US" sz="2800" dirty="0"/>
              <a:t>Be able to calculate the distance between the Point instance and another point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Let</a:t>
            </a:r>
            <a:r>
              <a:rPr lang="en-US" sz="3200" dirty="0">
                <a:solidFill>
                  <a:schemeClr val="accent2"/>
                </a:solidFill>
              </a:rPr>
              <a:t>’</a:t>
            </a:r>
            <a:r>
              <a:rPr lang="en-US" sz="3200" dirty="0"/>
              <a:t>s now write the </a:t>
            </a:r>
            <a:r>
              <a:rPr lang="en-US" sz="3200" dirty="0">
                <a:solidFill>
                  <a:schemeClr val="accent6"/>
                </a:solidFill>
              </a:rPr>
              <a:t>method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4495BB-4318-49FC-B82D-CB18F3B3140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Write a Point Class: Methods</a:t>
            </a:r>
          </a:p>
        </p:txBody>
      </p:sp>
    </p:spTree>
    <p:extLst>
      <p:ext uri="{BB962C8B-B14F-4D97-AF65-F5344CB8AC3E}">
        <p14:creationId xmlns:p14="http://schemas.microsoft.com/office/powerpoint/2010/main" val="4268381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highlight the value of encapsulation with a bank </a:t>
            </a:r>
            <a:r>
              <a:rPr lang="en-US" b="1" dirty="0">
                <a:solidFill>
                  <a:schemeClr val="accent6"/>
                </a:solidFill>
              </a:rPr>
              <a:t>Account </a:t>
            </a:r>
            <a:r>
              <a:rPr lang="en-US" dirty="0"/>
              <a:t>class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Attributes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dirty="0"/>
              <a:t>Account owner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name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dirty="0"/>
              <a:t>Current account balance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Methods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dirty="0"/>
              <a:t>Deposit money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dirty="0"/>
              <a:t>Withdraw money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dirty="0"/>
              <a:t>Print account balance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923EF2-9582-4193-875D-585C41741E6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Bank Account Class</a:t>
            </a:r>
          </a:p>
        </p:txBody>
      </p:sp>
      <p:pic>
        <p:nvPicPr>
          <p:cNvPr id="1026" name="Picture 2" descr="RBC Mobile App - RBC Royal Bank">
            <a:extLst>
              <a:ext uri="{FF2B5EF4-FFF2-40B4-BE49-F238E27FC236}">
                <a16:creationId xmlns:a16="http://schemas.microsoft.com/office/drawing/2014/main" id="{F43C3A75-EA07-4F83-979A-0837F12F9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335" y="2890107"/>
            <a:ext cx="1642477" cy="331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0332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classes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and</a:t>
            </a:r>
            <a:r>
              <a:rPr lang="en-US" dirty="0"/>
              <a:t> methods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10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10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9329627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52384</TotalTime>
  <Words>4163</Words>
  <Application>Microsoft Office PowerPoint</Application>
  <PresentationFormat>Widescreen</PresentationFormat>
  <Paragraphs>1227</Paragraphs>
  <Slides>52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Arial</vt:lpstr>
      <vt:lpstr>Courier New</vt:lpstr>
      <vt:lpstr>Segoe UI</vt:lpstr>
      <vt:lpstr>Wingdings</vt:lpstr>
      <vt:lpstr>APS106_Theme</vt:lpstr>
      <vt:lpstr>objects, classes, and methods.</vt:lpstr>
      <vt:lpstr>This Week’s Content</vt:lpstr>
      <vt:lpstr>Procedural vs Object-Oriented</vt:lpstr>
      <vt:lpstr>Procedural Programming</vt:lpstr>
      <vt:lpstr>Procedural Programming</vt:lpstr>
      <vt:lpstr>PowerPoint Presentation</vt:lpstr>
      <vt:lpstr>Object-Oriented Programming</vt:lpstr>
      <vt:lpstr>Object-Oriented Programming</vt:lpstr>
      <vt:lpstr>Objects in Python</vt:lpstr>
      <vt:lpstr>Objects in Python</vt:lpstr>
      <vt:lpstr>Objects in Python</vt:lpstr>
      <vt:lpstr>Classes</vt:lpstr>
      <vt:lpstr>Classes</vt:lpstr>
      <vt:lpstr>Classes</vt:lpstr>
      <vt:lpstr>Classes</vt:lpstr>
      <vt:lpstr>Classes</vt:lpstr>
      <vt:lpstr>Classes</vt:lpstr>
      <vt:lpstr>Classes</vt:lpstr>
      <vt:lpstr>Classes</vt:lpstr>
      <vt:lpstr>Classes</vt:lpstr>
      <vt:lpstr>Classes</vt:lpstr>
      <vt:lpstr>Classes</vt:lpstr>
      <vt:lpstr>Classes</vt:lpstr>
      <vt:lpstr>Classes</vt:lpstr>
      <vt:lpstr>Classes</vt:lpstr>
      <vt:lpstr>Definition Recap</vt:lpstr>
      <vt:lpstr>Definition Recap</vt:lpstr>
      <vt:lpstr>Definitions</vt:lpstr>
      <vt:lpstr>Definition Recap</vt:lpstr>
      <vt:lpstr>Definition Recap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Definitions</vt:lpstr>
      <vt:lpstr>Self…</vt:lpstr>
      <vt:lpstr>Encapsulation</vt:lpstr>
      <vt:lpstr>Point Class: Constructor</vt:lpstr>
      <vt:lpstr>Point Class: Constructor</vt:lpstr>
      <vt:lpstr>Point Class: Constructor</vt:lpstr>
      <vt:lpstr>Point Class: Methods</vt:lpstr>
      <vt:lpstr>Encapsulation</vt:lpstr>
      <vt:lpstr>objects, classes, and methods.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269</cp:revision>
  <dcterms:created xsi:type="dcterms:W3CDTF">2021-11-03T00:49:37Z</dcterms:created>
  <dcterms:modified xsi:type="dcterms:W3CDTF">2026-03-16T13:12:49Z</dcterms:modified>
</cp:coreProperties>
</file>