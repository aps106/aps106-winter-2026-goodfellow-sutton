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5" r:id="rId1"/>
  </p:sldMasterIdLst>
  <p:notesMasterIdLst>
    <p:notesMasterId r:id="rId20"/>
  </p:notesMasterIdLst>
  <p:sldIdLst>
    <p:sldId id="256" r:id="rId2"/>
    <p:sldId id="259" r:id="rId3"/>
    <p:sldId id="415" r:id="rId4"/>
    <p:sldId id="420" r:id="rId5"/>
    <p:sldId id="421" r:id="rId6"/>
    <p:sldId id="691" r:id="rId7"/>
    <p:sldId id="699" r:id="rId8"/>
    <p:sldId id="356" r:id="rId9"/>
    <p:sldId id="411" r:id="rId10"/>
    <p:sldId id="695" r:id="rId11"/>
    <p:sldId id="693" r:id="rId12"/>
    <p:sldId id="696" r:id="rId13"/>
    <p:sldId id="412" r:id="rId14"/>
    <p:sldId id="697" r:id="rId15"/>
    <p:sldId id="698" r:id="rId16"/>
    <p:sldId id="428" r:id="rId17"/>
    <p:sldId id="429" r:id="rId18"/>
    <p:sldId id="690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00FCFF"/>
    <a:srgbClr val="00FF00"/>
    <a:srgbClr val="FF00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8521" autoAdjust="0"/>
    <p:restoredTop sz="94660"/>
  </p:normalViewPr>
  <p:slideViewPr>
    <p:cSldViewPr snapToGrid="0">
      <p:cViewPr varScale="1">
        <p:scale>
          <a:sx n="76" d="100"/>
          <a:sy n="76" d="100"/>
        </p:scale>
        <p:origin x="208" y="11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5D7D83-D401-9A49-861D-A02E2788C764}" type="datetimeFigureOut">
              <a:rPr lang="en-US" smtClean="0"/>
              <a:t>3/24/25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36AFEF-5B50-AD45-8E89-F62EC9932D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5229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3D110-B33C-3E49-B5DC-7F1369944E6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94779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3D110-B33C-3E49-B5DC-7F1369944E6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94779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3D110-B33C-3E49-B5DC-7F1369944E6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3064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3D110-B33C-3E49-B5DC-7F1369944E63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5963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3D110-B33C-3E49-B5DC-7F1369944E63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7817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70E9A4-6E61-4AF5-9711-A3D3136113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5947" y="2409479"/>
            <a:ext cx="11391065" cy="893580"/>
          </a:xfrm>
        </p:spPr>
        <p:txBody>
          <a:bodyPr anchor="b">
            <a:normAutofit/>
          </a:bodyPr>
          <a:lstStyle>
            <a:lvl1pPr algn="l">
              <a:defRPr sz="48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9B255B-D275-45F6-ACB5-BBD491BB4A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5947" y="3848999"/>
            <a:ext cx="11391065" cy="165576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rgbClr val="FFFFFF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989347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BFABF-0FF7-46A7-A3E7-B6C1EFC20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444445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D1B3E0-28C0-49B4-B789-CFB199546E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3547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444445"/>
                </a:solidFill>
              </a:defRPr>
            </a:lvl1pPr>
            <a:lvl2pPr>
              <a:defRPr>
                <a:solidFill>
                  <a:srgbClr val="444445"/>
                </a:solidFill>
              </a:defRPr>
            </a:lvl2pPr>
            <a:lvl3pPr>
              <a:defRPr>
                <a:solidFill>
                  <a:srgbClr val="444445"/>
                </a:solidFill>
              </a:defRPr>
            </a:lvl3pPr>
            <a:lvl4pPr>
              <a:defRPr>
                <a:solidFill>
                  <a:srgbClr val="444445"/>
                </a:solidFill>
              </a:defRPr>
            </a:lvl4pPr>
            <a:lvl5pPr>
              <a:defRPr>
                <a:solidFill>
                  <a:srgbClr val="444445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79519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BFABF-0FF7-46A7-A3E7-B6C1EFC20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D1B3E0-28C0-49B4-B789-CFB199546E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3547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lvl2pPr>
              <a:defRPr>
                <a:solidFill>
                  <a:srgbClr val="FFFFFF"/>
                </a:solidFill>
              </a:defRPr>
            </a:lvl2pPr>
            <a:lvl3pPr>
              <a:defRPr>
                <a:solidFill>
                  <a:srgbClr val="FFFFFF"/>
                </a:solidFill>
              </a:defRPr>
            </a:lvl3pPr>
            <a:lvl4pPr>
              <a:defRPr>
                <a:solidFill>
                  <a:srgbClr val="FFFFFF"/>
                </a:solidFill>
              </a:defRPr>
            </a:lvl4pPr>
            <a:lvl5pPr>
              <a:defRPr>
                <a:solidFill>
                  <a:srgbClr val="FFFFFF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95697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BFABF-0FF7-46A7-A3E7-B6C1EFC20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D1B3E0-28C0-49B4-B789-CFB199546E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35479"/>
          </a:xfrm>
          <a:prstGeom prst="rect">
            <a:avLst/>
          </a:prstGeom>
        </p:spPr>
        <p:txBody>
          <a:bodyPr/>
          <a:lstStyle>
            <a:lvl1pPr>
              <a:buClr>
                <a:schemeClr val="tx1"/>
              </a:buClr>
              <a:defRPr>
                <a:solidFill>
                  <a:srgbClr val="FFFFFF"/>
                </a:solidFill>
              </a:defRPr>
            </a:lvl1pPr>
            <a:lvl2pPr>
              <a:buClr>
                <a:schemeClr val="tx1"/>
              </a:buClr>
              <a:defRPr>
                <a:solidFill>
                  <a:srgbClr val="FFFFFF"/>
                </a:solidFill>
              </a:defRPr>
            </a:lvl2pPr>
            <a:lvl3pPr>
              <a:buClr>
                <a:schemeClr val="tx1"/>
              </a:buClr>
              <a:defRPr>
                <a:solidFill>
                  <a:srgbClr val="FFFFFF"/>
                </a:solidFill>
              </a:defRPr>
            </a:lvl3pPr>
            <a:lvl4pPr>
              <a:buClr>
                <a:schemeClr val="tx1"/>
              </a:buClr>
              <a:defRPr>
                <a:solidFill>
                  <a:srgbClr val="FFFFFF"/>
                </a:solidFill>
              </a:defRPr>
            </a:lvl4pPr>
            <a:lvl5pPr>
              <a:buClr>
                <a:schemeClr val="tx1"/>
              </a:buClr>
              <a:defRPr>
                <a:solidFill>
                  <a:srgbClr val="FFFFFF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0172345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6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D40C5A8-72D0-4B08-8FDA-49B8D1F97D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27514"/>
            <a:ext cx="10515600" cy="6561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E5D9C3-E281-4B14-8306-28D6CE33EC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4"/>
            <a:ext cx="10515600" cy="48421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3256857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007EE5"/>
        </a:buClr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7EE5"/>
        </a:buClr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7EE5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7EE5"/>
        </a:buClr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7EE5"/>
        </a:buClr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jp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7.jp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6.jpg"/><Relationship Id="rId5" Type="http://schemas.openxmlformats.org/officeDocument/2006/relationships/image" Target="../media/image25.jpeg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7F06F2-AC3E-484E-9926-59D4F59092C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More OOP! </a:t>
            </a:r>
            <a:r>
              <a:rPr lang="en-US" dirty="0"/>
              <a:t>Encapsulation and Examples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07687-F068-40FC-84A1-E7860490CAC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/>
              <a:t>Week </a:t>
            </a:r>
            <a:r>
              <a:rPr lang="en-US" b="1" dirty="0">
                <a:solidFill>
                  <a:schemeClr val="accent6"/>
                </a:solidFill>
              </a:rPr>
              <a:t>11</a:t>
            </a:r>
            <a:r>
              <a:rPr lang="en-US" b="1" dirty="0"/>
              <a:t> </a:t>
            </a:r>
            <a:r>
              <a:rPr lang="en-US" dirty="0">
                <a:solidFill>
                  <a:schemeClr val="accent2"/>
                </a:solidFill>
              </a:rPr>
              <a:t>|</a:t>
            </a:r>
            <a:r>
              <a:rPr lang="en-US" dirty="0"/>
              <a:t> Lecture </a:t>
            </a:r>
            <a:r>
              <a:rPr lang="en-US" dirty="0">
                <a:solidFill>
                  <a:schemeClr val="accent6"/>
                </a:solidFill>
              </a:rPr>
              <a:t>1 </a:t>
            </a:r>
            <a:r>
              <a:rPr lang="en-US" dirty="0">
                <a:solidFill>
                  <a:schemeClr val="accent1"/>
                </a:solidFill>
              </a:rPr>
              <a:t>(</a:t>
            </a:r>
            <a:r>
              <a:rPr lang="en-US" dirty="0">
                <a:solidFill>
                  <a:schemeClr val="accent6"/>
                </a:solidFill>
              </a:rPr>
              <a:t>11</a:t>
            </a:r>
            <a:r>
              <a:rPr lang="en-US" dirty="0"/>
              <a:t>.</a:t>
            </a:r>
            <a:r>
              <a:rPr lang="en-US" dirty="0">
                <a:solidFill>
                  <a:schemeClr val="accent6"/>
                </a:solidFill>
              </a:rPr>
              <a:t>1</a:t>
            </a:r>
            <a:r>
              <a:rPr lang="en-US" dirty="0">
                <a:solidFill>
                  <a:schemeClr val="accent1"/>
                </a:solidFill>
              </a:rPr>
              <a:t>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BCA1B7-FA9F-C160-DCB4-F1B031F9D0DE}"/>
              </a:ext>
            </a:extLst>
          </p:cNvPr>
          <p:cNvSpPr txBox="1"/>
          <p:nvPr/>
        </p:nvSpPr>
        <p:spPr>
          <a:xfrm>
            <a:off x="335947" y="4442932"/>
            <a:ext cx="7580601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CC99FF"/>
                </a:solidFill>
              </a:rPr>
              <a:t>While waiting, open the </a:t>
            </a:r>
            <a:r>
              <a:rPr lang="en-US" sz="2000" b="1" dirty="0" err="1">
                <a:solidFill>
                  <a:srgbClr val="CC99FF"/>
                </a:solidFill>
              </a:rPr>
              <a:t>Jupyter</a:t>
            </a:r>
            <a:r>
              <a:rPr lang="en-US" sz="2000" b="1" dirty="0">
                <a:solidFill>
                  <a:srgbClr val="CC99FF"/>
                </a:solidFill>
              </a:rPr>
              <a:t> Notebook for today’s lecture.</a:t>
            </a:r>
          </a:p>
          <a:p>
            <a:endParaRPr lang="en-US" sz="1600" b="1" dirty="0">
              <a:solidFill>
                <a:srgbClr val="CC99FF"/>
              </a:solidFill>
            </a:endParaRPr>
          </a:p>
          <a:p>
            <a:r>
              <a:rPr lang="en-US" sz="1600" b="1" dirty="0">
                <a:solidFill>
                  <a:srgbClr val="CC99FF"/>
                </a:solidFill>
              </a:rPr>
              <a:t>Upcoming</a:t>
            </a:r>
          </a:p>
          <a:p>
            <a:pPr marL="285750" indent="-285750">
              <a:buClr>
                <a:srgbClr val="CC99FF"/>
              </a:buClr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rgbClr val="66FF99"/>
                </a:solidFill>
              </a:rPr>
              <a:t>Lab 7 due this Friday 11:59 pm</a:t>
            </a:r>
            <a:r>
              <a:rPr lang="en-US" sz="1600" dirty="0">
                <a:solidFill>
                  <a:srgbClr val="CC99FF"/>
                </a:solidFill>
              </a:rPr>
              <a:t>.</a:t>
            </a:r>
            <a:endParaRPr lang="en-US" sz="1600" dirty="0">
              <a:solidFill>
                <a:srgbClr val="66FF99"/>
              </a:solidFill>
            </a:endParaRPr>
          </a:p>
          <a:p>
            <a:pPr marL="285750" indent="-285750">
              <a:buClr>
                <a:srgbClr val="CC99FF"/>
              </a:buClr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rgbClr val="66FF99"/>
                </a:solidFill>
              </a:rPr>
              <a:t>Reflection 11 Released Friday 6:00 pm</a:t>
            </a:r>
            <a:r>
              <a:rPr lang="en-US" sz="1600" dirty="0">
                <a:solidFill>
                  <a:srgbClr val="CC99FF"/>
                </a:solidFill>
              </a:rPr>
              <a:t>.</a:t>
            </a:r>
            <a:endParaRPr lang="en-US" sz="1600" dirty="0">
              <a:solidFill>
                <a:srgbClr val="66FF99"/>
              </a:solidFill>
            </a:endParaRPr>
          </a:p>
          <a:p>
            <a:pPr marL="285750" indent="-285750">
              <a:buClr>
                <a:srgbClr val="CC99FF"/>
              </a:buClr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rgbClr val="66FF99"/>
                </a:solidFill>
              </a:rPr>
              <a:t>Tutorial (in-person </a:t>
            </a:r>
            <a:r>
              <a:rPr lang="en-US" sz="1600" b="1" dirty="0">
                <a:solidFill>
                  <a:srgbClr val="66FF99"/>
                </a:solidFill>
              </a:rPr>
              <a:t>AND</a:t>
            </a:r>
            <a:r>
              <a:rPr lang="en-US" sz="1600" dirty="0">
                <a:solidFill>
                  <a:srgbClr val="66FF99"/>
                </a:solidFill>
              </a:rPr>
              <a:t> online) running all week</a:t>
            </a:r>
            <a:r>
              <a:rPr lang="en-US" sz="1600" dirty="0">
                <a:solidFill>
                  <a:srgbClr val="CC99FF"/>
                </a:solidFill>
              </a:rPr>
              <a:t>.</a:t>
            </a:r>
          </a:p>
          <a:p>
            <a:pPr marL="285750" indent="-285750">
              <a:buClr>
                <a:srgbClr val="CC99FF"/>
              </a:buClr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rgbClr val="66FF99"/>
                </a:solidFill>
              </a:rPr>
              <a:t>Practical sessions running all week</a:t>
            </a:r>
            <a:r>
              <a:rPr lang="en-US" sz="1600" dirty="0">
                <a:solidFill>
                  <a:srgbClr val="CC99FF"/>
                </a:solidFill>
              </a:rPr>
              <a:t>.</a:t>
            </a:r>
          </a:p>
          <a:p>
            <a:pPr marL="285750" indent="-285750">
              <a:buClr>
                <a:srgbClr val="CC99FF"/>
              </a:buClr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rgbClr val="66FF99"/>
                </a:solidFill>
              </a:rPr>
              <a:t>Office Hours (in-person </a:t>
            </a:r>
            <a:r>
              <a:rPr lang="en-US" sz="1600" b="1" dirty="0">
                <a:solidFill>
                  <a:srgbClr val="66FF99"/>
                </a:solidFill>
              </a:rPr>
              <a:t>AND</a:t>
            </a:r>
            <a:r>
              <a:rPr lang="en-US" sz="1600" dirty="0">
                <a:solidFill>
                  <a:srgbClr val="66FF99"/>
                </a:solidFill>
              </a:rPr>
              <a:t> online) running all week</a:t>
            </a:r>
            <a:endParaRPr lang="en-US" sz="1600" dirty="0">
              <a:solidFill>
                <a:srgbClr val="CC99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06432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69A57B-21DC-4557-9D2E-36BBF1E923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This Week</a:t>
            </a:r>
            <a:r>
              <a:rPr lang="en-US" b="1" dirty="0">
                <a:solidFill>
                  <a:schemeClr val="accent1"/>
                </a:solidFill>
              </a:rPr>
              <a:t>’</a:t>
            </a:r>
            <a:r>
              <a:rPr lang="en-US" b="1" dirty="0"/>
              <a:t>s 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B50049-8F6C-4DF3-BA59-31343B218C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5105" y="1903610"/>
            <a:ext cx="6993835" cy="3766793"/>
          </a:xfrm>
        </p:spPr>
        <p:txBody>
          <a:bodyPr>
            <a:normAutofit/>
          </a:bodyPr>
          <a:lstStyle/>
          <a:p>
            <a:r>
              <a:rPr lang="en-US" b="1" dirty="0"/>
              <a:t>Lecture </a:t>
            </a:r>
            <a:r>
              <a:rPr lang="en-US" b="1" dirty="0">
                <a:solidFill>
                  <a:schemeClr val="accent1"/>
                </a:solidFill>
              </a:rPr>
              <a:t>11.1</a:t>
            </a:r>
          </a:p>
          <a:p>
            <a:pPr lvl="1"/>
            <a:r>
              <a:rPr lang="en-US" b="1" dirty="0"/>
              <a:t>More OOP! Encapsulation and Examples</a:t>
            </a:r>
          </a:p>
          <a:p>
            <a:r>
              <a:rPr lang="en-US" b="1" dirty="0"/>
              <a:t>Lecture </a:t>
            </a:r>
            <a:r>
              <a:rPr lang="en-US" b="1" dirty="0">
                <a:solidFill>
                  <a:schemeClr val="accent1"/>
                </a:solidFill>
              </a:rPr>
              <a:t>11.2</a:t>
            </a:r>
          </a:p>
          <a:p>
            <a:pPr lvl="1"/>
            <a:r>
              <a:rPr lang="en-US" dirty="0"/>
              <a:t>Advanced Files, CSVs, and Modules</a:t>
            </a:r>
          </a:p>
          <a:p>
            <a:r>
              <a:rPr lang="en-US" b="1" dirty="0"/>
              <a:t>Lecture </a:t>
            </a:r>
            <a:r>
              <a:rPr lang="en-US" b="1" dirty="0">
                <a:solidFill>
                  <a:schemeClr val="accent1"/>
                </a:solidFill>
              </a:rPr>
              <a:t>11.3 </a:t>
            </a:r>
          </a:p>
          <a:p>
            <a:pPr lvl="1"/>
            <a:r>
              <a:rPr lang="en-US" dirty="0"/>
              <a:t>Design Problem</a:t>
            </a:r>
          </a:p>
        </p:txBody>
      </p:sp>
      <p:pic>
        <p:nvPicPr>
          <p:cNvPr id="4" name="Picture 4" descr="Your meme-fied ode to midterms | The Daily Californian">
            <a:extLst>
              <a:ext uri="{FF2B5EF4-FFF2-40B4-BE49-F238E27FC236}">
                <a16:creationId xmlns:a16="http://schemas.microsoft.com/office/drawing/2014/main" id="{A0C4808E-DEA7-2C30-4E63-7D94A24601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29460" y="1383662"/>
            <a:ext cx="4035898" cy="40358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324639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A7ECA-E2FE-C443-935A-9744B83685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42666"/>
            <a:ext cx="10515600" cy="1000434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FFFF00"/>
                </a:solidFill>
              </a:rPr>
              <a:t>Exam: April 15, 2:00 PM </a:t>
            </a:r>
            <a:br>
              <a:rPr lang="en-US" dirty="0"/>
            </a:br>
            <a:r>
              <a:rPr lang="en-US" dirty="0"/>
              <a:t>Bahen (1), Myhal (1), Wallberg (2)</a:t>
            </a:r>
          </a:p>
        </p:txBody>
      </p:sp>
      <p:pic>
        <p:nvPicPr>
          <p:cNvPr id="7170" name="Picture 2" descr="10 Final Exam Memes By People Wasting More Time Than You">
            <a:extLst>
              <a:ext uri="{FF2B5EF4-FFF2-40B4-BE49-F238E27FC236}">
                <a16:creationId xmlns:a16="http://schemas.microsoft.com/office/drawing/2014/main" id="{5C61C0AB-213A-E640-B9A0-1D0BDC710B8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744" r="6659" b="8821"/>
          <a:stretch/>
        </p:blipFill>
        <p:spPr bwMode="auto">
          <a:xfrm>
            <a:off x="1203774" y="2464494"/>
            <a:ext cx="5721503" cy="39919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Meme Creator - Funny studying 1 day before exam Meme Generator at  MemeCreator.org!">
            <a:extLst>
              <a:ext uri="{FF2B5EF4-FFF2-40B4-BE49-F238E27FC236}">
                <a16:creationId xmlns:a16="http://schemas.microsoft.com/office/drawing/2014/main" id="{C0D9B1FB-8B02-7741-BADE-CE14E3515C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1720" y="2950192"/>
            <a:ext cx="3686506" cy="27895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393623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C6F16E-A41C-FF43-B7FB-848C939BF2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Online Tutorial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3480E74-8034-EF44-BDEE-9AE91F32828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243059" y="4276377"/>
          <a:ext cx="7540282" cy="807720"/>
        </p:xfrm>
        <a:graphic>
          <a:graphicData uri="http://schemas.openxmlformats.org/drawingml/2006/table">
            <a:tbl>
              <a:tblPr>
                <a:tableStyleId>{638B1855-1B75-4FBE-930C-398BA8C253C6}</a:tableStyleId>
              </a:tblPr>
              <a:tblGrid>
                <a:gridCol w="2686831">
                  <a:extLst>
                    <a:ext uri="{9D8B030D-6E8A-4147-A177-3AD203B41FA5}">
                      <a16:colId xmlns:a16="http://schemas.microsoft.com/office/drawing/2014/main" val="1777798719"/>
                    </a:ext>
                  </a:extLst>
                </a:gridCol>
                <a:gridCol w="4853451">
                  <a:extLst>
                    <a:ext uri="{9D8B030D-6E8A-4147-A177-3AD203B41FA5}">
                      <a16:colId xmlns:a16="http://schemas.microsoft.com/office/drawing/2014/main" val="1920957893"/>
                    </a:ext>
                  </a:extLst>
                </a:gridCol>
              </a:tblGrid>
              <a:tr h="266700">
                <a:tc>
                  <a:txBody>
                    <a:bodyPr/>
                    <a:lstStyle/>
                    <a:p>
                      <a:pPr algn="ctr"/>
                      <a:endParaRPr lang="en-CA" sz="2400" dirty="0">
                        <a:effectLst/>
                      </a:endParaRPr>
                    </a:p>
                  </a:txBody>
                  <a:tcPr marL="19050" marR="19050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2400" b="1" dirty="0">
                          <a:effectLst/>
                        </a:rPr>
                        <a:t>Time</a:t>
                      </a:r>
                      <a:endParaRPr lang="en-CA" sz="2400" dirty="0">
                        <a:effectLst/>
                      </a:endParaRPr>
                    </a:p>
                  </a:txBody>
                  <a:tcPr marL="19050" marR="19050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6890843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lang="en-CA" sz="2400" dirty="0">
                          <a:effectLst/>
                        </a:rPr>
                        <a:t>Tutorial</a:t>
                      </a:r>
                    </a:p>
                  </a:txBody>
                  <a:tcPr marL="19050" marR="19050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2400" dirty="0">
                          <a:effectLst/>
                        </a:rPr>
                        <a:t>Wednesday 7 – 8 PM</a:t>
                      </a:r>
                    </a:p>
                  </a:txBody>
                  <a:tcPr marL="19050" marR="19050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1774030"/>
                  </a:ext>
                </a:extLst>
              </a:tr>
            </a:tbl>
          </a:graphicData>
        </a:graphic>
      </p:graphicFrame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B9245E3-752D-1D4D-9D33-21C8A2B686B7}"/>
              </a:ext>
            </a:extLst>
          </p:cNvPr>
          <p:cNvSpPr txBox="1">
            <a:spLocks/>
          </p:cNvSpPr>
          <p:nvPr/>
        </p:nvSpPr>
        <p:spPr>
          <a:xfrm>
            <a:off x="78836" y="1566885"/>
            <a:ext cx="11274963" cy="25443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2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24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20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dirty="0"/>
              <a:t>These times worked best for you! </a:t>
            </a:r>
          </a:p>
          <a:p>
            <a:pPr lvl="1"/>
            <a:r>
              <a:rPr lang="en-CA" dirty="0">
                <a:solidFill>
                  <a:srgbClr val="00B050"/>
                </a:solidFill>
              </a:rPr>
              <a:t>TIP FOR SUCCESS</a:t>
            </a:r>
            <a:r>
              <a:rPr lang="en-CA" dirty="0"/>
              <a:t>: Put these in your calendar!   Labs are due Friday night! </a:t>
            </a:r>
          </a:p>
          <a:p>
            <a:r>
              <a:rPr lang="en-CA" dirty="0"/>
              <a:t>Schedule and Zoom Links are on Quercus</a:t>
            </a:r>
          </a:p>
          <a:p>
            <a:pPr lvl="1"/>
            <a:r>
              <a:rPr lang="en-CA" dirty="0"/>
              <a:t>“Tutorial Homepage”</a:t>
            </a:r>
          </a:p>
        </p:txBody>
      </p:sp>
      <p:pic>
        <p:nvPicPr>
          <p:cNvPr id="1029" name="Picture 5" descr="Drake Hotline Bling Meme Generator - Imgflip">
            <a:extLst>
              <a:ext uri="{FF2B5EF4-FFF2-40B4-BE49-F238E27FC236}">
                <a16:creationId xmlns:a16="http://schemas.microsoft.com/office/drawing/2014/main" id="{2804BB82-9DB1-0142-875A-473DC8894D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8801" y="2623381"/>
            <a:ext cx="3934362" cy="39343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5175649-4AED-AE4C-96D2-D435897609F1}"/>
              </a:ext>
            </a:extLst>
          </p:cNvPr>
          <p:cNvSpPr txBox="1"/>
          <p:nvPr/>
        </p:nvSpPr>
        <p:spPr>
          <a:xfrm>
            <a:off x="10160093" y="3391178"/>
            <a:ext cx="198101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Commuting</a:t>
            </a:r>
            <a:br>
              <a:rPr lang="en-US" sz="2400" b="1" dirty="0">
                <a:solidFill>
                  <a:schemeClr val="bg1"/>
                </a:solidFill>
              </a:rPr>
            </a:b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2AE69D3-E6B7-FB43-927D-DCC75C187041}"/>
              </a:ext>
            </a:extLst>
          </p:cNvPr>
          <p:cNvSpPr txBox="1"/>
          <p:nvPr/>
        </p:nvSpPr>
        <p:spPr>
          <a:xfrm>
            <a:off x="10210986" y="5084097"/>
            <a:ext cx="187922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Online</a:t>
            </a:r>
            <a:br>
              <a:rPr lang="en-US" sz="3200" b="1" dirty="0">
                <a:solidFill>
                  <a:schemeClr val="bg1"/>
                </a:solidFill>
              </a:rPr>
            </a:br>
            <a:r>
              <a:rPr lang="en-US" sz="3200" b="1" dirty="0">
                <a:solidFill>
                  <a:schemeClr val="bg1"/>
                </a:solidFill>
              </a:rPr>
              <a:t>Tutorials</a:t>
            </a:r>
          </a:p>
        </p:txBody>
      </p:sp>
    </p:spTree>
    <p:extLst>
      <p:ext uri="{BB962C8B-B14F-4D97-AF65-F5344CB8AC3E}">
        <p14:creationId xmlns:p14="http://schemas.microsoft.com/office/powerpoint/2010/main" val="11036425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C6F16E-A41C-FF43-B7FB-848C939BF2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Coffee Break with a TA!</a:t>
            </a:r>
          </a:p>
        </p:txBody>
      </p:sp>
      <p:pic>
        <p:nvPicPr>
          <p:cNvPr id="1026" name="Picture 2" descr="Break time Memes">
            <a:extLst>
              <a:ext uri="{FF2B5EF4-FFF2-40B4-BE49-F238E27FC236}">
                <a16:creationId xmlns:a16="http://schemas.microsoft.com/office/drawing/2014/main" id="{98148F9B-6B16-8340-B346-C606A44D8E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57889" y="653851"/>
            <a:ext cx="2472787" cy="16424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B9245E3-752D-1D4D-9D33-21C8A2B686B7}"/>
              </a:ext>
            </a:extLst>
          </p:cNvPr>
          <p:cNvSpPr txBox="1">
            <a:spLocks/>
          </p:cNvSpPr>
          <p:nvPr/>
        </p:nvSpPr>
        <p:spPr>
          <a:xfrm>
            <a:off x="78836" y="1566885"/>
            <a:ext cx="9160667" cy="45636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2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24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20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EE5"/>
              </a:buClr>
              <a:buFont typeface="Wingdings" panose="05000000000000000000" pitchFamily="2" charset="2"/>
              <a:buChar char="§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dirty="0"/>
              <a:t>Extra help hours! </a:t>
            </a:r>
          </a:p>
          <a:p>
            <a:pPr lvl="1"/>
            <a:r>
              <a:rPr lang="en-CA" dirty="0">
                <a:solidFill>
                  <a:srgbClr val="00B050"/>
                </a:solidFill>
              </a:rPr>
              <a:t>TIP FOR SUCCESS</a:t>
            </a:r>
            <a:r>
              <a:rPr lang="en-CA" dirty="0"/>
              <a:t>: Put in calendar, treat as a scheduled class</a:t>
            </a:r>
          </a:p>
          <a:p>
            <a:r>
              <a:rPr lang="en-CA" dirty="0"/>
              <a:t>Schedule and Zoom Links are on Quercus</a:t>
            </a:r>
          </a:p>
          <a:p>
            <a:pPr lvl="1"/>
            <a:r>
              <a:rPr lang="en-CA" dirty="0"/>
              <a:t>”Coffee Break (Office Hours)”</a:t>
            </a:r>
          </a:p>
          <a:p>
            <a:pPr marL="0" indent="0">
              <a:buNone/>
            </a:pPr>
            <a:endParaRPr lang="en-CA" dirty="0"/>
          </a:p>
        </p:txBody>
      </p:sp>
      <p:graphicFrame>
        <p:nvGraphicFramePr>
          <p:cNvPr id="3" name="Content Placeholder 3">
            <a:extLst>
              <a:ext uri="{FF2B5EF4-FFF2-40B4-BE49-F238E27FC236}">
                <a16:creationId xmlns:a16="http://schemas.microsoft.com/office/drawing/2014/main" id="{3518B242-4036-E5CD-4828-41B98F2B7FE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220299" y="3907301"/>
          <a:ext cx="8269627" cy="2278380"/>
        </p:xfrm>
        <a:graphic>
          <a:graphicData uri="http://schemas.openxmlformats.org/drawingml/2006/table">
            <a:tbl>
              <a:tblPr>
                <a:tableStyleId>{638B1855-1B75-4FBE-930C-398BA8C253C6}</a:tableStyleId>
              </a:tblPr>
              <a:tblGrid>
                <a:gridCol w="3112702">
                  <a:extLst>
                    <a:ext uri="{9D8B030D-6E8A-4147-A177-3AD203B41FA5}">
                      <a16:colId xmlns:a16="http://schemas.microsoft.com/office/drawing/2014/main" val="1777798719"/>
                    </a:ext>
                  </a:extLst>
                </a:gridCol>
                <a:gridCol w="2938944">
                  <a:extLst>
                    <a:ext uri="{9D8B030D-6E8A-4147-A177-3AD203B41FA5}">
                      <a16:colId xmlns:a16="http://schemas.microsoft.com/office/drawing/2014/main" val="1920957893"/>
                    </a:ext>
                  </a:extLst>
                </a:gridCol>
                <a:gridCol w="2217981">
                  <a:extLst>
                    <a:ext uri="{9D8B030D-6E8A-4147-A177-3AD203B41FA5}">
                      <a16:colId xmlns:a16="http://schemas.microsoft.com/office/drawing/2014/main" val="3231986606"/>
                    </a:ext>
                  </a:extLst>
                </a:gridCol>
              </a:tblGrid>
              <a:tr h="266700">
                <a:tc>
                  <a:txBody>
                    <a:bodyPr/>
                    <a:lstStyle/>
                    <a:p>
                      <a:pPr algn="ctr"/>
                      <a:r>
                        <a:rPr lang="en-CA" sz="2400" b="1" dirty="0">
                          <a:effectLst/>
                        </a:rPr>
                        <a:t>Teaching Team</a:t>
                      </a:r>
                    </a:p>
                  </a:txBody>
                  <a:tcPr marL="19050" marR="19050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2400" b="1" dirty="0">
                          <a:effectLst/>
                        </a:rPr>
                        <a:t>Time</a:t>
                      </a:r>
                      <a:endParaRPr lang="en-CA" sz="2400" dirty="0">
                        <a:effectLst/>
                      </a:endParaRPr>
                    </a:p>
                  </a:txBody>
                  <a:tcPr marL="19050" marR="19050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2400" b="1" dirty="0">
                          <a:effectLst/>
                        </a:rPr>
                        <a:t>Mode</a:t>
                      </a:r>
                    </a:p>
                  </a:txBody>
                  <a:tcPr marL="19050" marR="19050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6890843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effectLst/>
                        </a:rPr>
                        <a:t>Ben &amp; Seb</a:t>
                      </a:r>
                    </a:p>
                  </a:txBody>
                  <a:tcPr marL="19050" marR="19050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effectLst/>
                        </a:rPr>
                        <a:t>Fridays 2 - 3 PM</a:t>
                      </a:r>
                    </a:p>
                  </a:txBody>
                  <a:tcPr marL="19050" marR="19050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effectLst/>
                        </a:rPr>
                        <a:t>MY765</a:t>
                      </a:r>
                    </a:p>
                  </a:txBody>
                  <a:tcPr marL="19050" marR="19050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78743435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effectLst/>
                        </a:rPr>
                        <a:t>Michael </a:t>
                      </a:r>
                      <a:r>
                        <a:rPr lang="en-GB" dirty="0" err="1">
                          <a:effectLst/>
                        </a:rPr>
                        <a:t>Tisi</a:t>
                      </a:r>
                      <a:endParaRPr lang="en-GB" dirty="0">
                        <a:effectLst/>
                      </a:endParaRPr>
                    </a:p>
                  </a:txBody>
                  <a:tcPr marL="19050" marR="19050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effectLst/>
                        </a:rPr>
                        <a:t>Fridays 10 - 11 AM</a:t>
                      </a:r>
                    </a:p>
                  </a:txBody>
                  <a:tcPr marL="19050" marR="19050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effectLst/>
                        </a:rPr>
                        <a:t>Online</a:t>
                      </a:r>
                    </a:p>
                  </a:txBody>
                  <a:tcPr marL="19050" marR="19050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80024727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lang="en-GB">
                          <a:effectLst/>
                        </a:rPr>
                        <a:t>Thomas Pruyn</a:t>
                      </a:r>
                    </a:p>
                  </a:txBody>
                  <a:tcPr marL="19050" marR="19050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effectLst/>
                        </a:rPr>
                        <a:t>Mondays 3-4 PM</a:t>
                      </a:r>
                    </a:p>
                  </a:txBody>
                  <a:tcPr marL="19050" marR="19050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effectLst/>
                        </a:rPr>
                        <a:t>WB255 and Online</a:t>
                      </a:r>
                    </a:p>
                  </a:txBody>
                  <a:tcPr marL="19050" marR="19050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1774030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lang="en-GB">
                          <a:effectLst/>
                        </a:rPr>
                        <a:t>Mo Saneii</a:t>
                      </a:r>
                    </a:p>
                  </a:txBody>
                  <a:tcPr marL="19050" marR="19050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900"/>
                        </a:spcBef>
                        <a:spcAft>
                          <a:spcPts val="900"/>
                        </a:spcAft>
                      </a:pPr>
                      <a:r>
                        <a:rPr lang="en-GB" dirty="0">
                          <a:effectLst/>
                        </a:rPr>
                        <a:t>Tuesdays 3 - 4 PM</a:t>
                      </a:r>
                    </a:p>
                  </a:txBody>
                  <a:tcPr marL="19050" marR="19050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900"/>
                        </a:spcBef>
                        <a:spcAft>
                          <a:spcPts val="900"/>
                        </a:spcAft>
                      </a:pPr>
                      <a:r>
                        <a:rPr lang="en-GB" dirty="0">
                          <a:effectLst/>
                        </a:rPr>
                        <a:t>Online</a:t>
                      </a:r>
                    </a:p>
                  </a:txBody>
                  <a:tcPr marL="19050" marR="19050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0093945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lang="en-GB">
                          <a:effectLst/>
                        </a:rPr>
                        <a:t>Rachel Leung</a:t>
                      </a:r>
                    </a:p>
                  </a:txBody>
                  <a:tcPr marL="19050" marR="19050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900"/>
                        </a:spcBef>
                        <a:spcAft>
                          <a:spcPts val="900"/>
                        </a:spcAft>
                      </a:pPr>
                      <a:r>
                        <a:rPr lang="en-GB" dirty="0">
                          <a:effectLst/>
                        </a:rPr>
                        <a:t>Wednesdays 2-3PM</a:t>
                      </a:r>
                    </a:p>
                  </a:txBody>
                  <a:tcPr marL="19050" marR="19050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900"/>
                        </a:spcBef>
                        <a:spcAft>
                          <a:spcPts val="900"/>
                        </a:spcAft>
                      </a:pPr>
                      <a:r>
                        <a:rPr lang="en-GB" dirty="0">
                          <a:effectLst/>
                        </a:rPr>
                        <a:t>GB144 and Online</a:t>
                      </a:r>
                    </a:p>
                  </a:txBody>
                  <a:tcPr marL="19050" marR="19050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82340312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effectLst/>
                        </a:rPr>
                        <a:t>Hosein Seyed </a:t>
                      </a:r>
                      <a:r>
                        <a:rPr lang="en-GB" dirty="0" err="1">
                          <a:effectLst/>
                        </a:rPr>
                        <a:t>Ghafouri</a:t>
                      </a:r>
                      <a:endParaRPr lang="en-GB" dirty="0">
                        <a:effectLst/>
                      </a:endParaRPr>
                    </a:p>
                  </a:txBody>
                  <a:tcPr marL="19050" marR="19050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900"/>
                        </a:spcBef>
                        <a:spcAft>
                          <a:spcPts val="900"/>
                        </a:spcAft>
                      </a:pPr>
                      <a:r>
                        <a:rPr lang="en-GB" dirty="0">
                          <a:effectLst/>
                        </a:rPr>
                        <a:t>Mondays 5 - 6 PM</a:t>
                      </a:r>
                    </a:p>
                  </a:txBody>
                  <a:tcPr marL="19050" marR="19050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900"/>
                        </a:spcBef>
                        <a:spcAft>
                          <a:spcPts val="900"/>
                        </a:spcAft>
                      </a:pPr>
                      <a:r>
                        <a:rPr lang="en-GB" dirty="0">
                          <a:effectLst/>
                        </a:rPr>
                        <a:t>Online</a:t>
                      </a:r>
                    </a:p>
                  </a:txBody>
                  <a:tcPr marL="19050" marR="19050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5011976"/>
                  </a:ext>
                </a:extLst>
              </a:tr>
            </a:tbl>
          </a:graphicData>
        </a:graphic>
      </p:graphicFrame>
      <p:pic>
        <p:nvPicPr>
          <p:cNvPr id="4" name="Picture 3" descr="A collage of a person&#10;&#10;Description automatically generated">
            <a:extLst>
              <a:ext uri="{FF2B5EF4-FFF2-40B4-BE49-F238E27FC236}">
                <a16:creationId xmlns:a16="http://schemas.microsoft.com/office/drawing/2014/main" id="{FC1B2542-8CCE-BDD4-072B-2E72D99251E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753" y="3324431"/>
            <a:ext cx="3044923" cy="299417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AF5B371-7DD2-2E71-0140-E1D245F301CE}"/>
              </a:ext>
            </a:extLst>
          </p:cNvPr>
          <p:cNvSpPr txBox="1"/>
          <p:nvPr/>
        </p:nvSpPr>
        <p:spPr>
          <a:xfrm>
            <a:off x="8794509" y="2605965"/>
            <a:ext cx="3227409" cy="769441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sz="2200" dirty="0">
                <a:latin typeface="Impact" panose="020B0806030902050204" pitchFamily="34" charset="0"/>
              </a:rPr>
              <a:t>WAITING FOR STUDENTS </a:t>
            </a:r>
            <a:br>
              <a:rPr lang="en-CA" sz="2200" dirty="0">
                <a:latin typeface="Impact" panose="020B0806030902050204" pitchFamily="34" charset="0"/>
              </a:rPr>
            </a:br>
            <a:r>
              <a:rPr lang="en-CA" sz="2200" dirty="0">
                <a:latin typeface="Impact" panose="020B0806030902050204" pitchFamily="34" charset="0"/>
              </a:rPr>
              <a:t>TO COME TO OFFICE HOURS</a:t>
            </a:r>
          </a:p>
        </p:txBody>
      </p:sp>
    </p:spTree>
    <p:extLst>
      <p:ext uri="{BB962C8B-B14F-4D97-AF65-F5344CB8AC3E}">
        <p14:creationId xmlns:p14="http://schemas.microsoft.com/office/powerpoint/2010/main" val="23564640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FE9CA-3CBC-5841-8561-1BC587C9E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Why OOP?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D14B4A-8438-D54A-B041-EC96B896D4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1673" y="2121458"/>
            <a:ext cx="8298872" cy="4385419"/>
          </a:xfrm>
        </p:spPr>
        <p:txBody>
          <a:bodyPr>
            <a:normAutofit/>
          </a:bodyPr>
          <a:lstStyle/>
          <a:p>
            <a:r>
              <a:rPr lang="en-US" sz="2400" dirty="0"/>
              <a:t>Models </a:t>
            </a:r>
            <a:r>
              <a:rPr lang="en-CA" sz="2400" dirty="0"/>
              <a:t>our real-life thinking </a:t>
            </a:r>
          </a:p>
          <a:p>
            <a:pPr lvl="1"/>
            <a:r>
              <a:rPr lang="en-CA" dirty="0"/>
              <a:t>Sandwich – </a:t>
            </a:r>
            <a:r>
              <a:rPr lang="en-CA" dirty="0">
                <a:solidFill>
                  <a:srgbClr val="00B0F0"/>
                </a:solidFill>
              </a:rPr>
              <a:t>ingredients,  freshness, </a:t>
            </a:r>
            <a:r>
              <a:rPr lang="en-CA" dirty="0"/>
              <a:t>etc. </a:t>
            </a:r>
          </a:p>
          <a:p>
            <a:pPr lvl="1"/>
            <a:r>
              <a:rPr lang="en-CA" dirty="0"/>
              <a:t>Car – </a:t>
            </a:r>
            <a:r>
              <a:rPr lang="en-CA" dirty="0">
                <a:solidFill>
                  <a:srgbClr val="00B0F0"/>
                </a:solidFill>
              </a:rPr>
              <a:t>model, year, fuel level, </a:t>
            </a:r>
            <a:r>
              <a:rPr lang="en-CA" dirty="0">
                <a:solidFill>
                  <a:schemeClr val="accent6"/>
                </a:solidFill>
              </a:rPr>
              <a:t>forward, reverse </a:t>
            </a:r>
            <a:r>
              <a:rPr lang="en-CA" dirty="0"/>
              <a:t>etc. </a:t>
            </a:r>
          </a:p>
          <a:p>
            <a:pPr lvl="1"/>
            <a:r>
              <a:rPr lang="en-CA" dirty="0"/>
              <a:t>Movie – </a:t>
            </a:r>
            <a:r>
              <a:rPr lang="en-CA" dirty="0">
                <a:solidFill>
                  <a:srgbClr val="00B0F0"/>
                </a:solidFill>
              </a:rPr>
              <a:t>actors, director, genre, rating, </a:t>
            </a:r>
            <a:r>
              <a:rPr lang="en-CA" dirty="0"/>
              <a:t>etc. </a:t>
            </a:r>
          </a:p>
          <a:p>
            <a:pPr lvl="1"/>
            <a:r>
              <a:rPr lang="en-CA" dirty="0"/>
              <a:t>Cat – </a:t>
            </a:r>
            <a:r>
              <a:rPr lang="en-CA" dirty="0">
                <a:solidFill>
                  <a:srgbClr val="00B0F0"/>
                </a:solidFill>
              </a:rPr>
              <a:t>weight, name, colour, </a:t>
            </a:r>
            <a:r>
              <a:rPr lang="en-CA" dirty="0">
                <a:solidFill>
                  <a:schemeClr val="accent6"/>
                </a:solidFill>
              </a:rPr>
              <a:t>scratch, meow, sleep,</a:t>
            </a:r>
            <a:r>
              <a:rPr lang="en-CA" dirty="0"/>
              <a:t> etc.</a:t>
            </a:r>
          </a:p>
          <a:p>
            <a:endParaRPr lang="en-CA" sz="2400" dirty="0"/>
          </a:p>
          <a:p>
            <a:r>
              <a:rPr lang="en-CA" sz="2400" dirty="0"/>
              <a:t>Why do we use it in programming?</a:t>
            </a:r>
          </a:p>
          <a:p>
            <a:pPr lvl="1"/>
            <a:r>
              <a:rPr lang="en-CA" dirty="0"/>
              <a:t>Default values for a new object (initialization)</a:t>
            </a:r>
          </a:p>
          <a:p>
            <a:pPr lvl="1"/>
            <a:r>
              <a:rPr lang="en-CA" dirty="0"/>
              <a:t>Properly set-up, predictable behaviours of different objects within the same class</a:t>
            </a:r>
          </a:p>
          <a:p>
            <a:pPr lvl="1"/>
            <a:endParaRPr lang="en-US" sz="2000" dirty="0"/>
          </a:p>
          <a:p>
            <a:endParaRPr lang="en-US" sz="2400" dirty="0"/>
          </a:p>
        </p:txBody>
      </p:sp>
      <p:pic>
        <p:nvPicPr>
          <p:cNvPr id="5124" name="Picture 4" descr="I should learn object oriented programming - newspaper cat realization |  Meme Generator">
            <a:extLst>
              <a:ext uri="{FF2B5EF4-FFF2-40B4-BE49-F238E27FC236}">
                <a16:creationId xmlns:a16="http://schemas.microsoft.com/office/drawing/2014/main" id="{A71F287F-A183-5A4C-9783-9C3FF8BADF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67833" y="558943"/>
            <a:ext cx="3927186" cy="28891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821578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F9C873-7BFB-8245-9776-04B4EB90F7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Why OOP?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E9930D-4DE9-004E-92D6-C8E514882C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9857" y="1652162"/>
            <a:ext cx="6063343" cy="4835479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The</a:t>
            </a:r>
            <a:r>
              <a:rPr lang="en-CA" dirty="0"/>
              <a:t> reason for this dot operator convention is an implicit metaphor:</a:t>
            </a:r>
          </a:p>
          <a:p>
            <a:r>
              <a:rPr lang="en-CA" dirty="0"/>
              <a:t>The syntax for a function call, </a:t>
            </a:r>
            <a:r>
              <a:rPr lang="en-CA" dirty="0" err="1">
                <a:solidFill>
                  <a:srgbClr val="FF0000"/>
                </a:solidFill>
              </a:rPr>
              <a:t>Cat.meow</a:t>
            </a:r>
            <a:r>
              <a:rPr lang="en-CA" dirty="0">
                <a:solidFill>
                  <a:srgbClr val="FF0000"/>
                </a:solidFill>
              </a:rPr>
              <a:t>(kitty) </a:t>
            </a:r>
            <a:r>
              <a:rPr lang="en-CA" dirty="0"/>
              <a:t>suggests that the function is the active agent. It says something like, </a:t>
            </a:r>
            <a:r>
              <a:rPr lang="en-CA" i="1" dirty="0">
                <a:solidFill>
                  <a:srgbClr val="00FCFF"/>
                </a:solidFill>
              </a:rPr>
              <a:t>“Hey meow method from the Cat class! Here’s a Cat object (named kitty) for you to meow with.”</a:t>
            </a:r>
            <a:endParaRPr lang="en-CA" dirty="0">
              <a:solidFill>
                <a:srgbClr val="00FCFF"/>
              </a:solidFill>
            </a:endParaRPr>
          </a:p>
          <a:p>
            <a:r>
              <a:rPr lang="en-CA" dirty="0"/>
              <a:t>In OOP, the objects are the active agents. A method invocation like </a:t>
            </a:r>
            <a:r>
              <a:rPr lang="en-CA" dirty="0" err="1">
                <a:solidFill>
                  <a:srgbClr val="00FF00"/>
                </a:solidFill>
              </a:rPr>
              <a:t>kitty.meow</a:t>
            </a:r>
            <a:r>
              <a:rPr lang="en-CA" dirty="0">
                <a:solidFill>
                  <a:srgbClr val="00FF00"/>
                </a:solidFill>
              </a:rPr>
              <a:t>() </a:t>
            </a:r>
            <a:r>
              <a:rPr lang="en-CA" dirty="0"/>
              <a:t>says </a:t>
            </a:r>
            <a:r>
              <a:rPr lang="en-CA" i="1" dirty="0">
                <a:solidFill>
                  <a:srgbClr val="00FCFF"/>
                </a:solidFill>
              </a:rPr>
              <a:t>“Hey kitty! Please meow.”</a:t>
            </a:r>
          </a:p>
          <a:p>
            <a:endParaRPr lang="en-US" dirty="0"/>
          </a:p>
        </p:txBody>
      </p:sp>
      <p:pic>
        <p:nvPicPr>
          <p:cNvPr id="7" name="Picture 6" descr="Graphical user interface, text&#10;&#10;Description automatically generated">
            <a:extLst>
              <a:ext uri="{FF2B5EF4-FFF2-40B4-BE49-F238E27FC236}">
                <a16:creationId xmlns:a16="http://schemas.microsoft.com/office/drawing/2014/main" id="{E1105F92-6621-6640-8AC8-91ECBC6FDA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8771" y="740042"/>
            <a:ext cx="3441700" cy="2565400"/>
          </a:xfrm>
          <a:prstGeom prst="rect">
            <a:avLst/>
          </a:prstGeom>
        </p:spPr>
      </p:pic>
      <p:pic>
        <p:nvPicPr>
          <p:cNvPr id="9" name="Picture 8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D2F9324D-4EAF-594F-A477-F1460DE28B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9860" y="2915341"/>
            <a:ext cx="2603500" cy="1981200"/>
          </a:xfrm>
          <a:prstGeom prst="rect">
            <a:avLst/>
          </a:prstGeom>
        </p:spPr>
      </p:pic>
      <p:sp>
        <p:nvSpPr>
          <p:cNvPr id="10" name="Frame 9">
            <a:extLst>
              <a:ext uri="{FF2B5EF4-FFF2-40B4-BE49-F238E27FC236}">
                <a16:creationId xmlns:a16="http://schemas.microsoft.com/office/drawing/2014/main" id="{C5C92E26-6E25-ED46-9BD2-F2C923CC283D}"/>
              </a:ext>
            </a:extLst>
          </p:cNvPr>
          <p:cNvSpPr/>
          <p:nvPr/>
        </p:nvSpPr>
        <p:spPr>
          <a:xfrm>
            <a:off x="6455229" y="1493696"/>
            <a:ext cx="3507013" cy="466909"/>
          </a:xfrm>
          <a:prstGeom prst="fram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tx1"/>
              </a:solidFill>
            </a:endParaRPr>
          </a:p>
        </p:txBody>
      </p:sp>
      <p:sp>
        <p:nvSpPr>
          <p:cNvPr id="11" name="Frame 10">
            <a:extLst>
              <a:ext uri="{FF2B5EF4-FFF2-40B4-BE49-F238E27FC236}">
                <a16:creationId xmlns:a16="http://schemas.microsoft.com/office/drawing/2014/main" id="{2E96A342-3B83-B443-AC5E-E2EE516B5DC0}"/>
              </a:ext>
            </a:extLst>
          </p:cNvPr>
          <p:cNvSpPr/>
          <p:nvPr/>
        </p:nvSpPr>
        <p:spPr>
          <a:xfrm>
            <a:off x="9314548" y="3672486"/>
            <a:ext cx="2112734" cy="466909"/>
          </a:xfrm>
          <a:prstGeom prst="fram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tx1"/>
              </a:solidFill>
            </a:endParaRPr>
          </a:p>
        </p:txBody>
      </p:sp>
      <p:sp>
        <p:nvSpPr>
          <p:cNvPr id="12" name="Frame 11">
            <a:extLst>
              <a:ext uri="{FF2B5EF4-FFF2-40B4-BE49-F238E27FC236}">
                <a16:creationId xmlns:a16="http://schemas.microsoft.com/office/drawing/2014/main" id="{BBF9969B-2F43-7745-8A15-92A1490FE9D2}"/>
              </a:ext>
            </a:extLst>
          </p:cNvPr>
          <p:cNvSpPr/>
          <p:nvPr/>
        </p:nvSpPr>
        <p:spPr>
          <a:xfrm>
            <a:off x="9314548" y="4172614"/>
            <a:ext cx="2112734" cy="466909"/>
          </a:xfrm>
          <a:prstGeom prst="frame">
            <a:avLst/>
          </a:prstGeom>
          <a:solidFill>
            <a:srgbClr val="00FF00"/>
          </a:solidFill>
          <a:ln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tx1"/>
              </a:solidFill>
            </a:endParaRPr>
          </a:p>
        </p:txBody>
      </p:sp>
      <p:sp>
        <p:nvSpPr>
          <p:cNvPr id="13" name="Frame 12">
            <a:extLst>
              <a:ext uri="{FF2B5EF4-FFF2-40B4-BE49-F238E27FC236}">
                <a16:creationId xmlns:a16="http://schemas.microsoft.com/office/drawing/2014/main" id="{87376828-7E05-D24B-8B12-F732A626ED97}"/>
              </a:ext>
            </a:extLst>
          </p:cNvPr>
          <p:cNvSpPr/>
          <p:nvPr/>
        </p:nvSpPr>
        <p:spPr>
          <a:xfrm>
            <a:off x="6466114" y="2010440"/>
            <a:ext cx="3507013" cy="466909"/>
          </a:xfrm>
          <a:prstGeom prst="frame">
            <a:avLst/>
          </a:prstGeom>
          <a:solidFill>
            <a:srgbClr val="00FF00"/>
          </a:solidFill>
          <a:ln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tx1"/>
              </a:solidFill>
            </a:endParaRPr>
          </a:p>
        </p:txBody>
      </p:sp>
      <p:pic>
        <p:nvPicPr>
          <p:cNvPr id="3074" name="Picture 2" descr="25+ Best Captain Meow Memes | Tumblr Com Memes, a Href Memes, Â–¡ Memes">
            <a:extLst>
              <a:ext uri="{FF2B5EF4-FFF2-40B4-BE49-F238E27FC236}">
                <a16:creationId xmlns:a16="http://schemas.microsoft.com/office/drawing/2014/main" id="{0AD0F804-834D-FD46-86BA-331F95256F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3874" y="3452341"/>
            <a:ext cx="2540000" cy="3035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248395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DA742D-1B93-4351-9522-5F2B39F3DE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Encapsulation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0BCDD1-56E6-4389-AFFE-26A42FD638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6789821" cy="4835479"/>
          </a:xfrm>
        </p:spPr>
        <p:txBody>
          <a:bodyPr>
            <a:normAutofit/>
          </a:bodyPr>
          <a:lstStyle/>
          <a:p>
            <a:r>
              <a:rPr lang="en-US" dirty="0"/>
              <a:t>The core of object</a:t>
            </a:r>
            <a:r>
              <a:rPr lang="en-US" dirty="0">
                <a:solidFill>
                  <a:schemeClr val="accent1"/>
                </a:solidFill>
              </a:rPr>
              <a:t>-</a:t>
            </a:r>
            <a:r>
              <a:rPr lang="en-US" dirty="0"/>
              <a:t>oriented programming is the organization of the program by </a:t>
            </a:r>
            <a:r>
              <a:rPr lang="en-US" b="1" dirty="0">
                <a:solidFill>
                  <a:schemeClr val="accent6"/>
                </a:solidFill>
              </a:rPr>
              <a:t>encapsulating</a:t>
            </a:r>
            <a:r>
              <a:rPr lang="en-US" dirty="0"/>
              <a:t> related </a:t>
            </a:r>
            <a:r>
              <a:rPr lang="en-US" dirty="0">
                <a:solidFill>
                  <a:schemeClr val="accent6"/>
                </a:solidFill>
              </a:rPr>
              <a:t>data</a:t>
            </a:r>
            <a:r>
              <a:rPr lang="en-US" dirty="0"/>
              <a:t> and </a:t>
            </a:r>
            <a:r>
              <a:rPr lang="en-US" dirty="0">
                <a:solidFill>
                  <a:schemeClr val="accent6"/>
                </a:solidFill>
              </a:rPr>
              <a:t>functions</a:t>
            </a:r>
            <a:r>
              <a:rPr lang="en-US" dirty="0"/>
              <a:t> together in an object</a:t>
            </a:r>
            <a:r>
              <a:rPr lang="en-US" dirty="0">
                <a:solidFill>
                  <a:schemeClr val="accent1"/>
                </a:solidFill>
              </a:rPr>
              <a:t>.</a:t>
            </a:r>
          </a:p>
          <a:p>
            <a:r>
              <a:rPr lang="en-US" dirty="0"/>
              <a:t>To encapsulate something means to enclose it in some kind of container</a:t>
            </a:r>
            <a:r>
              <a:rPr lang="en-US" dirty="0">
                <a:solidFill>
                  <a:schemeClr val="accent2"/>
                </a:solidFill>
              </a:rPr>
              <a:t>.</a:t>
            </a:r>
            <a:r>
              <a:rPr lang="en-US" dirty="0"/>
              <a:t> </a:t>
            </a:r>
          </a:p>
          <a:p>
            <a:r>
              <a:rPr lang="en-US" dirty="0"/>
              <a:t>In programming</a:t>
            </a:r>
            <a:r>
              <a:rPr lang="en-US" dirty="0">
                <a:solidFill>
                  <a:schemeClr val="accent2"/>
                </a:solidFill>
              </a:rPr>
              <a:t>,</a:t>
            </a:r>
            <a:r>
              <a:rPr lang="en-US" dirty="0"/>
              <a:t> encapsulation means keeping </a:t>
            </a:r>
            <a:r>
              <a:rPr lang="en-US" b="1" dirty="0">
                <a:solidFill>
                  <a:srgbClr val="E00BE5"/>
                </a:solidFill>
              </a:rPr>
              <a:t>data</a:t>
            </a:r>
            <a:r>
              <a:rPr lang="en-US" dirty="0"/>
              <a:t> and the </a:t>
            </a:r>
            <a:r>
              <a:rPr lang="en-US" b="1" dirty="0">
                <a:solidFill>
                  <a:srgbClr val="E00BE5"/>
                </a:solidFill>
              </a:rPr>
              <a:t>code</a:t>
            </a:r>
            <a:r>
              <a:rPr lang="en-US" dirty="0"/>
              <a:t> that uses it in one place and hiding the details of exactly how they work together</a:t>
            </a:r>
            <a:r>
              <a:rPr lang="en-US" dirty="0">
                <a:solidFill>
                  <a:schemeClr val="accent2"/>
                </a:solidFill>
              </a:rPr>
              <a:t>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6E815B5-A0F6-4AB7-A3AC-6D77EC275801}"/>
              </a:ext>
            </a:extLst>
          </p:cNvPr>
          <p:cNvSpPr/>
          <p:nvPr/>
        </p:nvSpPr>
        <p:spPr>
          <a:xfrm>
            <a:off x="8688874" y="1801561"/>
            <a:ext cx="2283924" cy="557769"/>
          </a:xfrm>
          <a:prstGeom prst="roundRect">
            <a:avLst/>
          </a:prstGeom>
          <a:noFill/>
          <a:ln w="571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Class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D7D26D2-32C8-4EC8-B895-03F10F8D9AE4}"/>
              </a:ext>
            </a:extLst>
          </p:cNvPr>
          <p:cNvSpPr/>
          <p:nvPr/>
        </p:nvSpPr>
        <p:spPr>
          <a:xfrm>
            <a:off x="8688874" y="2600779"/>
            <a:ext cx="2283924" cy="1477636"/>
          </a:xfrm>
          <a:prstGeom prst="roundRect">
            <a:avLst/>
          </a:prstGeom>
          <a:noFill/>
          <a:ln w="571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Attributes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10962CE-A6B5-4B3C-85DE-1B9CA7B379B6}"/>
              </a:ext>
            </a:extLst>
          </p:cNvPr>
          <p:cNvSpPr/>
          <p:nvPr/>
        </p:nvSpPr>
        <p:spPr>
          <a:xfrm>
            <a:off x="8688874" y="4319864"/>
            <a:ext cx="2283924" cy="1637197"/>
          </a:xfrm>
          <a:prstGeom prst="round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Methods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EBBE01C-C44B-4EE8-9F05-595BAC0B7A7F}"/>
              </a:ext>
            </a:extLst>
          </p:cNvPr>
          <p:cNvSpPr/>
          <p:nvPr/>
        </p:nvSpPr>
        <p:spPr>
          <a:xfrm>
            <a:off x="7598978" y="1191126"/>
            <a:ext cx="4463716" cy="5378116"/>
          </a:xfrm>
          <a:prstGeom prst="ellipse">
            <a:avLst/>
          </a:prstGeom>
          <a:noFill/>
          <a:ln w="38100">
            <a:solidFill>
              <a:srgbClr val="E00B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8EDF094-E06A-4842-8081-7F4CC8DF2303}"/>
              </a:ext>
            </a:extLst>
          </p:cNvPr>
          <p:cNvSpPr txBox="1"/>
          <p:nvPr/>
        </p:nvSpPr>
        <p:spPr>
          <a:xfrm>
            <a:off x="8562700" y="578945"/>
            <a:ext cx="25362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E00BE5"/>
                </a:solidFill>
              </a:rPr>
              <a:t>Encapsulation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B18C931-5832-4830-8E6E-DC988A727470}"/>
              </a:ext>
            </a:extLst>
          </p:cNvPr>
          <p:cNvSpPr txBox="1"/>
          <p:nvPr/>
        </p:nvSpPr>
        <p:spPr>
          <a:xfrm>
            <a:off x="4942733" y="727514"/>
            <a:ext cx="446371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err="1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seb.</a:t>
            </a:r>
            <a:r>
              <a:rPr lang="en-US" sz="2800" b="1" dirty="0" err="1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forward</a:t>
            </a:r>
            <a:r>
              <a:rPr lang="en-US" sz="28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(50)</a:t>
            </a:r>
          </a:p>
          <a:p>
            <a:r>
              <a:rPr lang="en-US" sz="2800" b="1" dirty="0" err="1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kitty.</a:t>
            </a:r>
            <a:r>
              <a:rPr lang="en-US" sz="2800" b="1" dirty="0" err="1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scratch</a:t>
            </a:r>
            <a:r>
              <a:rPr lang="en-US" sz="28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      </a:t>
            </a:r>
          </a:p>
        </p:txBody>
      </p:sp>
    </p:spTree>
    <p:extLst>
      <p:ext uri="{BB962C8B-B14F-4D97-AF65-F5344CB8AC3E}">
        <p14:creationId xmlns:p14="http://schemas.microsoft.com/office/powerpoint/2010/main" val="43285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FE9CA-3CBC-5841-8561-1BC587C9E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Encapsulate it!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D14B4A-8438-D54A-B041-EC96B896D4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1605" y="1848718"/>
            <a:ext cx="5494225" cy="4835479"/>
          </a:xfrm>
        </p:spPr>
        <p:txBody>
          <a:bodyPr>
            <a:normAutofit/>
          </a:bodyPr>
          <a:lstStyle/>
          <a:p>
            <a:r>
              <a:rPr lang="en-US" dirty="0"/>
              <a:t>For example, each instance of class</a:t>
            </a:r>
            <a:r>
              <a:rPr lang="en-US" dirty="0">
                <a:solidFill>
                  <a:srgbClr val="00FF00"/>
                </a:solidFill>
                <a:latin typeface="Courier" pitchFamily="2" charset="0"/>
              </a:rPr>
              <a:t> file </a:t>
            </a:r>
            <a:r>
              <a:rPr lang="en-US" dirty="0"/>
              <a:t>keeps track of which file on the disk it is reading/writing and where it currently is on that file.</a:t>
            </a:r>
          </a:p>
          <a:p>
            <a:r>
              <a:rPr lang="en-US" dirty="0"/>
              <a:t>The class hides the details of how it is done, so we (as programmers) can use it without needing to know how it is implemented</a:t>
            </a: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6E8C905-178B-CA41-8B19-EA10E84501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9787" y="1890282"/>
            <a:ext cx="3215081" cy="987874"/>
          </a:xfrm>
          <a:prstGeom prst="rect">
            <a:avLst/>
          </a:prstGeom>
        </p:spPr>
      </p:pic>
      <p:pic>
        <p:nvPicPr>
          <p:cNvPr id="10" name="Picture 9" descr="Text&#10;&#10;Description automatically generated">
            <a:extLst>
              <a:ext uri="{FF2B5EF4-FFF2-40B4-BE49-F238E27FC236}">
                <a16:creationId xmlns:a16="http://schemas.microsoft.com/office/drawing/2014/main" id="{3F3FD835-FD46-F34C-BF61-7E7B64F803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3074" y="2236567"/>
            <a:ext cx="3608926" cy="2927007"/>
          </a:xfrm>
          <a:prstGeom prst="rect">
            <a:avLst/>
          </a:prstGeom>
        </p:spPr>
      </p:pic>
      <p:pic>
        <p:nvPicPr>
          <p:cNvPr id="12" name="Picture 11" descr="A black screen with white text&#10;&#10;Description automatically generated with low confidence">
            <a:extLst>
              <a:ext uri="{FF2B5EF4-FFF2-40B4-BE49-F238E27FC236}">
                <a16:creationId xmlns:a16="http://schemas.microsoft.com/office/drawing/2014/main" id="{8356DD0C-A1C9-5E48-9D39-547659B49C3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9787" y="4521984"/>
            <a:ext cx="3215078" cy="98787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8C792F3-70FB-1A4E-BBF6-02951E6411F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9786" y="5459295"/>
            <a:ext cx="6144519" cy="261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0156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D3E942-D48A-CF4F-BAD4-22FE8605A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Let’s Code!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A3DF1E-F240-BC41-B313-3625DDE1D9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050" y="1532292"/>
            <a:ext cx="7025986" cy="4835479"/>
          </a:xfrm>
        </p:spPr>
        <p:txBody>
          <a:bodyPr>
            <a:normAutofit/>
          </a:bodyPr>
          <a:lstStyle/>
          <a:p>
            <a:r>
              <a:rPr lang="en-CA" dirty="0"/>
              <a:t>Let’s look at how this works in Python!</a:t>
            </a:r>
          </a:p>
          <a:p>
            <a:pPr lvl="1"/>
            <a:r>
              <a:rPr lang="en-CA" dirty="0"/>
              <a:t>Point Class Recap</a:t>
            </a:r>
          </a:p>
          <a:p>
            <a:pPr lvl="1"/>
            <a:r>
              <a:rPr lang="en-CA" dirty="0"/>
              <a:t>Rectangle Class</a:t>
            </a:r>
          </a:p>
          <a:p>
            <a:endParaRPr lang="en-CA" dirty="0"/>
          </a:p>
        </p:txBody>
      </p:sp>
      <p:sp>
        <p:nvSpPr>
          <p:cNvPr id="4" name="Rectangle: Rounded Corners 5">
            <a:extLst>
              <a:ext uri="{FF2B5EF4-FFF2-40B4-BE49-F238E27FC236}">
                <a16:creationId xmlns:a16="http://schemas.microsoft.com/office/drawing/2014/main" id="{9BD5FBCF-8C94-E44C-BBC9-C128207E6FA0}"/>
              </a:ext>
            </a:extLst>
          </p:cNvPr>
          <p:cNvSpPr/>
          <p:nvPr/>
        </p:nvSpPr>
        <p:spPr>
          <a:xfrm>
            <a:off x="7664115" y="1949006"/>
            <a:ext cx="3958389" cy="4418765"/>
          </a:xfrm>
          <a:prstGeom prst="roundRect">
            <a:avLst/>
          </a:prstGeom>
          <a:noFill/>
          <a:ln w="762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400" b="1" dirty="0">
                <a:solidFill>
                  <a:srgbClr val="FFFFFF"/>
                </a:solidFill>
              </a:rPr>
              <a:t>Open your notebook</a:t>
            </a:r>
          </a:p>
          <a:p>
            <a:endParaRPr lang="en-US" sz="4400" b="1" dirty="0">
              <a:solidFill>
                <a:srgbClr val="FFFFFF"/>
              </a:solidFill>
            </a:endParaRPr>
          </a:p>
          <a:p>
            <a:r>
              <a:rPr lang="en-US" sz="2800" b="1" dirty="0">
                <a:solidFill>
                  <a:srgbClr val="FFFFFF"/>
                </a:solidFill>
              </a:rPr>
              <a:t>Click Link</a:t>
            </a:r>
            <a:r>
              <a:rPr lang="en-US" sz="2800" b="1" dirty="0">
                <a:solidFill>
                  <a:schemeClr val="accent6"/>
                </a:solidFill>
              </a:rPr>
              <a:t>:</a:t>
            </a:r>
          </a:p>
          <a:p>
            <a:r>
              <a:rPr lang="en-US" sz="2800" b="1" dirty="0">
                <a:solidFill>
                  <a:schemeClr val="accent6"/>
                </a:solidFill>
              </a:rPr>
              <a:t>1. Encapsulation</a:t>
            </a:r>
          </a:p>
        </p:txBody>
      </p:sp>
      <p:pic>
        <p:nvPicPr>
          <p:cNvPr id="5" name="Picture 2" descr="Pretty layers of encapsulation : r/ProgrammerHumor">
            <a:extLst>
              <a:ext uri="{FF2B5EF4-FFF2-40B4-BE49-F238E27FC236}">
                <a16:creationId xmlns:a16="http://schemas.microsoft.com/office/drawing/2014/main" id="{50471478-DAE1-3341-B655-F3D05BDDFA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1" y="3028181"/>
            <a:ext cx="4786745" cy="33395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448847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7B8662-D2F9-454D-8182-0E3A3A7F69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Printing Information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6DE886-4A89-AD42-9138-CE102F1D6C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 would be nice to not have to write a print statement when we want to display attribute information: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Is there a better way to encapsulate this? How about a method?</a:t>
            </a:r>
          </a:p>
        </p:txBody>
      </p:sp>
      <p:sp>
        <p:nvSpPr>
          <p:cNvPr id="4" name="object 5">
            <a:extLst>
              <a:ext uri="{FF2B5EF4-FFF2-40B4-BE49-F238E27FC236}">
                <a16:creationId xmlns:a16="http://schemas.microsoft.com/office/drawing/2014/main" id="{DD78018B-EE42-7446-A316-AC67025A187A}"/>
              </a:ext>
            </a:extLst>
          </p:cNvPr>
          <p:cNvSpPr txBox="1"/>
          <p:nvPr/>
        </p:nvSpPr>
        <p:spPr>
          <a:xfrm>
            <a:off x="4064635" y="2778242"/>
            <a:ext cx="8127365" cy="35394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65300" marR="0" lvl="0" indent="0" algn="l" defTabSz="914400" rtl="0" eaLnBrk="1" fontAlgn="auto" latinLnBrk="0" hangingPunct="1">
              <a:lnSpc>
                <a:spcPct val="100000"/>
              </a:lnSpc>
              <a:spcBef>
                <a:spcPts val="186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&gt;&gt;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&gt;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p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=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 Point(3,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4)</a:t>
            </a:r>
          </a:p>
          <a:p>
            <a:pPr marL="17653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&gt;&gt;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&gt;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 print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(</a:t>
            </a:r>
            <a:r>
              <a:rPr lang="en-US" sz="2000" spc="-5" dirty="0">
                <a:solidFill>
                  <a:srgbClr val="00FF00"/>
                </a:solidFill>
                <a:latin typeface="Courier New"/>
                <a:cs typeface="Courier New"/>
              </a:rPr>
              <a:t>p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.x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,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 </a:t>
            </a:r>
            <a:r>
              <a:rPr kumimoji="0" lang="en-US" sz="2000" b="0" i="0" u="none" strike="noStrike" kern="1200" cap="none" spc="-5" normalizeH="0" baseline="0" noProof="0" dirty="0" err="1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p</a:t>
            </a:r>
            <a:r>
              <a:rPr kumimoji="0" sz="2000" b="0" i="0" u="none" strike="noStrike" kern="1200" cap="none" spc="-5" normalizeH="0" baseline="0" noProof="0" dirty="0" err="1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.y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)</a:t>
            </a:r>
          </a:p>
          <a:p>
            <a:pPr marL="17653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1" i="0" u="none" strike="noStrike" kern="1200" cap="none" spc="0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3</a:t>
            </a:r>
            <a:r>
              <a:rPr kumimoji="0" sz="2000" b="1" i="0" u="none" strike="noStrike" kern="1200" cap="none" spc="-5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 </a:t>
            </a:r>
            <a:r>
              <a:rPr kumimoji="0" sz="2000" b="1" i="0" u="none" strike="noStrike" kern="1200" cap="none" spc="0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4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00FF00"/>
              </a:solidFill>
              <a:effectLst/>
              <a:uLnTx/>
              <a:uFillTx/>
              <a:latin typeface="Courier New"/>
              <a:ea typeface="+mn-ea"/>
              <a:cs typeface="Courier New"/>
            </a:endParaRPr>
          </a:p>
          <a:p>
            <a:pPr marL="17653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FF00"/>
              </a:solidFill>
              <a:effectLst/>
              <a:uLnTx/>
              <a:uFillTx/>
              <a:latin typeface="Courier New"/>
              <a:ea typeface="+mn-ea"/>
              <a:cs typeface="Courier New"/>
            </a:endParaRPr>
          </a:p>
          <a:p>
            <a:pPr marL="17653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FF00"/>
              </a:solidFill>
              <a:effectLst/>
              <a:uLnTx/>
              <a:uFillTx/>
              <a:latin typeface="Courier New"/>
              <a:ea typeface="+mn-ea"/>
              <a:cs typeface="Courier New"/>
            </a:endParaRPr>
          </a:p>
          <a:p>
            <a:pPr marL="1765300" marR="0" lvl="0" indent="0" algn="l" defTabSz="914400" rtl="0" eaLnBrk="1" fontAlgn="auto" latinLnBrk="0" hangingPunct="1">
              <a:lnSpc>
                <a:spcPct val="100000"/>
              </a:lnSpc>
              <a:spcBef>
                <a:spcPts val="12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&gt;&gt;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&gt;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p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=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 Point(3,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4)</a:t>
            </a:r>
          </a:p>
          <a:p>
            <a:pPr marL="17653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&gt;&gt;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&gt; 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p.</a:t>
            </a:r>
            <a:r>
              <a:rPr lang="en-US" sz="2000" spc="-5" dirty="0" err="1">
                <a:solidFill>
                  <a:srgbClr val="00FF00"/>
                </a:solidFill>
                <a:latin typeface="Courier New"/>
                <a:cs typeface="Courier New"/>
              </a:rPr>
              <a:t>to_string</a:t>
            </a:r>
            <a:r>
              <a:rPr kumimoji="0" lang="en-US" sz="2000" b="0" i="0" u="none" strike="noStrike" kern="1200" cap="none" spc="-5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()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rgbClr val="00FF00"/>
              </a:solidFill>
              <a:effectLst/>
              <a:uLnTx/>
              <a:uFillTx/>
              <a:latin typeface="Courier New"/>
              <a:ea typeface="+mn-ea"/>
              <a:cs typeface="Courier New"/>
            </a:endParaRPr>
          </a:p>
          <a:p>
            <a:pPr marL="17653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1" i="0" u="none" strike="noStrike" kern="1200" cap="none" spc="-5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'(3,4)'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rgbClr val="00FF00"/>
              </a:solidFill>
              <a:effectLst/>
              <a:uLnTx/>
              <a:uFillTx/>
              <a:latin typeface="Courier New"/>
              <a:ea typeface="+mn-ea"/>
              <a:cs typeface="Courier New"/>
            </a:endParaRPr>
          </a:p>
          <a:p>
            <a:pPr marL="17653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&gt;&gt;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&gt;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r =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 p.halfway(Point(5,12))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rgbClr val="00FF00"/>
              </a:solidFill>
              <a:effectLst/>
              <a:uLnTx/>
              <a:uFillTx/>
              <a:latin typeface="Courier New"/>
              <a:ea typeface="+mn-ea"/>
              <a:cs typeface="Courier New"/>
            </a:endParaRPr>
          </a:p>
          <a:p>
            <a:pPr marL="17653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&gt;&gt;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&gt; 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r.</a:t>
            </a:r>
            <a:r>
              <a:rPr lang="en-US" sz="2000" spc="-5" dirty="0" err="1">
                <a:solidFill>
                  <a:srgbClr val="00FF00"/>
                </a:solidFill>
                <a:latin typeface="Courier New"/>
                <a:cs typeface="Courier New"/>
              </a:rPr>
              <a:t>to_string</a:t>
            </a:r>
            <a:r>
              <a:rPr lang="en-US" sz="2000" spc="-5" dirty="0">
                <a:solidFill>
                  <a:srgbClr val="00FF00"/>
                </a:solidFill>
                <a:latin typeface="Courier New"/>
                <a:cs typeface="Courier New"/>
              </a:rPr>
              <a:t>()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rgbClr val="00FF00"/>
              </a:solidFill>
              <a:effectLst/>
              <a:uLnTx/>
              <a:uFillTx/>
              <a:latin typeface="Courier New"/>
              <a:ea typeface="+mn-ea"/>
              <a:cs typeface="Courier New"/>
            </a:endParaRPr>
          </a:p>
          <a:p>
            <a:pPr marL="17653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1" i="0" u="none" strike="noStrike" kern="1200" cap="none" spc="-5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'(4,8)'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rgbClr val="00FF00"/>
              </a:solidFill>
              <a:effectLst/>
              <a:uLnTx/>
              <a:uFillTx/>
              <a:latin typeface="Courier New"/>
              <a:ea typeface="+mn-ea"/>
              <a:cs typeface="Courier New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20E1DC6-BC1E-1849-9678-E19549819074}"/>
              </a:ext>
            </a:extLst>
          </p:cNvPr>
          <p:cNvSpPr txBox="1"/>
          <p:nvPr/>
        </p:nvSpPr>
        <p:spPr>
          <a:xfrm>
            <a:off x="-1407320" y="2778242"/>
            <a:ext cx="750332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65300" marR="0" lvl="0" indent="0" algn="l" defTabSz="914400" rtl="0" eaLnBrk="1" fontAlgn="auto" latinLnBrk="0" hangingPunct="1">
              <a:lnSpc>
                <a:spcPct val="100000"/>
              </a:lnSpc>
              <a:spcBef>
                <a:spcPts val="186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800" b="0" i="0" u="none" strike="noStrike" kern="1200" cap="none" spc="-5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&gt;&gt;</a:t>
            </a:r>
            <a:r>
              <a:rPr kumimoji="0" lang="en-CA" sz="1800" b="0" i="0" u="none" strike="noStrike" kern="1200" cap="none" spc="0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&gt;</a:t>
            </a:r>
            <a:r>
              <a:rPr kumimoji="0" lang="en-CA" sz="1800" b="0" i="0" u="none" strike="noStrike" kern="1200" cap="none" spc="-5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 </a:t>
            </a:r>
            <a:r>
              <a:rPr kumimoji="0" lang="en-CA" sz="1800" b="0" i="0" u="none" strike="noStrike" kern="1200" cap="none" spc="0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p</a:t>
            </a:r>
            <a:r>
              <a:rPr kumimoji="0" lang="en-CA" sz="1800" b="0" i="0" u="none" strike="noStrike" kern="1200" cap="none" spc="-5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 </a:t>
            </a:r>
            <a:r>
              <a:rPr kumimoji="0" lang="en-CA" sz="1800" b="0" i="0" u="none" strike="noStrike" kern="1200" cap="none" spc="0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=</a:t>
            </a:r>
            <a:r>
              <a:rPr kumimoji="0" lang="en-CA" sz="1800" b="0" i="0" u="none" strike="noStrike" kern="1200" cap="none" spc="-5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 Point(3,</a:t>
            </a:r>
            <a:r>
              <a:rPr kumimoji="0" lang="en-CA" sz="1800" b="0" i="0" u="none" strike="noStrike" kern="1200" cap="none" spc="0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4)</a:t>
            </a:r>
          </a:p>
          <a:p>
            <a:pPr marL="17653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800" b="0" i="0" u="none" strike="noStrike" kern="1200" cap="none" spc="-5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&gt;&gt;</a:t>
            </a:r>
            <a:r>
              <a:rPr kumimoji="0" lang="en-CA" sz="1800" b="0" i="0" u="none" strike="noStrike" kern="1200" cap="none" spc="0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&gt;</a:t>
            </a:r>
            <a:r>
              <a:rPr kumimoji="0" lang="en-CA" sz="1800" b="0" i="0" u="none" strike="noStrike" kern="1200" cap="none" spc="-5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 print</a:t>
            </a:r>
            <a:r>
              <a:rPr kumimoji="0" lang="en-CA" sz="1800" b="0" i="0" u="none" strike="noStrike" kern="1200" cap="none" spc="0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(</a:t>
            </a:r>
            <a:r>
              <a:rPr kumimoji="0" lang="en-CA" sz="1800" b="0" i="0" u="none" strike="noStrike" kern="1200" cap="none" spc="-5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p</a:t>
            </a:r>
            <a:r>
              <a:rPr kumimoji="0" lang="en-CA" sz="1800" b="0" i="0" u="none" strike="noStrike" kern="1200" cap="none" spc="0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)</a:t>
            </a:r>
          </a:p>
          <a:p>
            <a:pPr marL="1765300" lvl="0">
              <a:defRPr/>
            </a:pPr>
            <a:r>
              <a:rPr lang="en-CA" dirty="0">
                <a:solidFill>
                  <a:srgbClr val="00FF00"/>
                </a:solidFill>
              </a:rPr>
              <a:t>&lt;__</a:t>
            </a:r>
            <a:r>
              <a:rPr lang="en-CA" dirty="0" err="1">
                <a:solidFill>
                  <a:srgbClr val="00FF00"/>
                </a:solidFill>
              </a:rPr>
              <a:t>main__.Point</a:t>
            </a:r>
            <a:r>
              <a:rPr lang="en-CA" dirty="0">
                <a:solidFill>
                  <a:srgbClr val="00FF00"/>
                </a:solidFill>
              </a:rPr>
              <a:t> object at 0x7fd8100778b0&gt;</a:t>
            </a:r>
            <a:endParaRPr kumimoji="0" lang="en-CA" sz="1800" b="1" i="0" u="none" strike="noStrike" kern="1200" cap="none" spc="0" normalizeH="0" baseline="0" noProof="0" dirty="0">
              <a:ln>
                <a:noFill/>
              </a:ln>
              <a:solidFill>
                <a:srgbClr val="00FF00"/>
              </a:solidFill>
              <a:effectLst/>
              <a:uLnTx/>
              <a:uFillTx/>
              <a:latin typeface="Courier New"/>
              <a:ea typeface="+mn-ea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31015851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7B8662-D2F9-454D-8182-0E3A3A7F69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Printing Information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6DE886-4A89-AD42-9138-CE102F1D6C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we had a method, we just need to format the attributes into a string: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We could make a similar method for any class (ex: Square)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20E1DC6-BC1E-1849-9678-E19549819074}"/>
              </a:ext>
            </a:extLst>
          </p:cNvPr>
          <p:cNvSpPr txBox="1"/>
          <p:nvPr/>
        </p:nvSpPr>
        <p:spPr>
          <a:xfrm>
            <a:off x="178590" y="2812201"/>
            <a:ext cx="8422485" cy="29456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CA" spc="-5" dirty="0">
                <a:solidFill>
                  <a:schemeClr val="accent6"/>
                </a:solidFill>
                <a:latin typeface="Courier New"/>
                <a:cs typeface="Courier New"/>
              </a:rPr>
              <a:t>class Point:</a:t>
            </a:r>
          </a:p>
          <a:p>
            <a:pPr lvl="0">
              <a:defRPr/>
            </a:pPr>
            <a:r>
              <a:rPr lang="en-CA" spc="-5" dirty="0">
                <a:solidFill>
                  <a:schemeClr val="accent6"/>
                </a:solidFill>
                <a:latin typeface="Courier New"/>
                <a:cs typeface="Courier New"/>
              </a:rPr>
              <a:t>    </a:t>
            </a:r>
          </a:p>
          <a:p>
            <a:pPr lvl="0">
              <a:defRPr/>
            </a:pPr>
            <a:r>
              <a:rPr lang="en-CA" spc="-5" dirty="0">
                <a:solidFill>
                  <a:schemeClr val="accent6"/>
                </a:solidFill>
                <a:latin typeface="Courier New"/>
                <a:cs typeface="Courier New"/>
              </a:rPr>
              <a:t>"""A class that represents and manipulates 2D points"""</a:t>
            </a:r>
          </a:p>
          <a:p>
            <a:pPr lvl="0">
              <a:defRPr/>
            </a:pPr>
            <a:r>
              <a:rPr lang="en-CA" spc="-5" dirty="0">
                <a:solidFill>
                  <a:srgbClr val="00FF00"/>
                </a:solidFill>
                <a:latin typeface="Courier New"/>
                <a:cs typeface="Courier New"/>
              </a:rPr>
              <a:t>    </a:t>
            </a:r>
          </a:p>
          <a:p>
            <a:pPr lvl="0">
              <a:defRPr/>
            </a:pPr>
            <a:r>
              <a:rPr lang="en-CA" spc="-5" dirty="0">
                <a:solidFill>
                  <a:srgbClr val="00FF00"/>
                </a:solidFill>
                <a:latin typeface="Courier New"/>
                <a:cs typeface="Courier New"/>
              </a:rPr>
              <a:t>    def </a:t>
            </a:r>
            <a:r>
              <a:rPr lang="en-CA" spc="-5" dirty="0" err="1">
                <a:solidFill>
                  <a:srgbClr val="00FF00"/>
                </a:solidFill>
                <a:latin typeface="Courier New"/>
                <a:cs typeface="Courier New"/>
              </a:rPr>
              <a:t>to_string</a:t>
            </a:r>
            <a:r>
              <a:rPr lang="en-CA" spc="-5" dirty="0">
                <a:solidFill>
                  <a:srgbClr val="00FF00"/>
                </a:solidFill>
                <a:latin typeface="Courier New"/>
                <a:cs typeface="Courier New"/>
              </a:rPr>
              <a:t>(self):</a:t>
            </a:r>
          </a:p>
          <a:p>
            <a:pPr lvl="0">
              <a:defRPr/>
            </a:pPr>
            <a:r>
              <a:rPr lang="en-CA" spc="-5" dirty="0">
                <a:solidFill>
                  <a:srgbClr val="00FF00"/>
                </a:solidFill>
                <a:latin typeface="Courier New"/>
                <a:cs typeface="Courier New"/>
              </a:rPr>
              <a:t>        """</a:t>
            </a:r>
          </a:p>
          <a:p>
            <a:pPr lvl="0">
              <a:defRPr/>
            </a:pPr>
            <a:r>
              <a:rPr lang="en-CA" spc="-5" dirty="0">
                <a:solidFill>
                  <a:srgbClr val="00FF00"/>
                </a:solidFill>
                <a:latin typeface="Courier New"/>
                <a:cs typeface="Courier New"/>
              </a:rPr>
              <a:t>        (self) -&gt; None</a:t>
            </a:r>
          </a:p>
          <a:p>
            <a:pPr lvl="0">
              <a:defRPr/>
            </a:pPr>
            <a:r>
              <a:rPr lang="en-CA" spc="-5" dirty="0">
                <a:solidFill>
                  <a:srgbClr val="00FF00"/>
                </a:solidFill>
                <a:latin typeface="Courier New"/>
                <a:cs typeface="Courier New"/>
              </a:rPr>
              <a:t>        Prints the (x, y) coordinate for the point.</a:t>
            </a:r>
          </a:p>
          <a:p>
            <a:pPr lvl="0">
              <a:defRPr/>
            </a:pPr>
            <a:r>
              <a:rPr lang="en-CA" spc="-5" dirty="0">
                <a:solidFill>
                  <a:srgbClr val="00FF00"/>
                </a:solidFill>
                <a:latin typeface="Courier New"/>
                <a:cs typeface="Courier New"/>
              </a:rPr>
              <a:t>        """</a:t>
            </a:r>
          </a:p>
          <a:p>
            <a:pPr lvl="0">
              <a:defRPr/>
            </a:pPr>
            <a:r>
              <a:rPr lang="en-CA" spc="-5" dirty="0">
                <a:solidFill>
                  <a:srgbClr val="00FF00"/>
                </a:solidFill>
                <a:latin typeface="Courier New"/>
                <a:cs typeface="Courier New"/>
              </a:rPr>
              <a:t>        print('(' + str(</a:t>
            </a:r>
            <a:r>
              <a:rPr lang="en-CA" spc="-5" dirty="0" err="1">
                <a:solidFill>
                  <a:srgbClr val="00FF00"/>
                </a:solidFill>
                <a:latin typeface="Courier New"/>
                <a:cs typeface="Courier New"/>
              </a:rPr>
              <a:t>self.x</a:t>
            </a:r>
            <a:r>
              <a:rPr lang="en-CA" spc="-5" dirty="0">
                <a:solidFill>
                  <a:srgbClr val="00FF00"/>
                </a:solidFill>
                <a:latin typeface="Courier New"/>
                <a:cs typeface="Courier New"/>
              </a:rPr>
              <a:t>) + ', ' + str(</a:t>
            </a:r>
            <a:r>
              <a:rPr lang="en-CA" spc="-5" dirty="0" err="1">
                <a:solidFill>
                  <a:srgbClr val="00FF00"/>
                </a:solidFill>
                <a:latin typeface="Courier New"/>
                <a:cs typeface="Courier New"/>
              </a:rPr>
              <a:t>self.y</a:t>
            </a:r>
            <a:r>
              <a:rPr lang="en-CA" spc="-5" dirty="0">
                <a:solidFill>
                  <a:srgbClr val="00FF00"/>
                </a:solidFill>
                <a:latin typeface="Courier New"/>
                <a:cs typeface="Courier New"/>
              </a:rPr>
              <a:t>) + ')')</a:t>
            </a:r>
            <a:endParaRPr kumimoji="0" lang="en-CA" sz="1800" b="1" i="0" u="none" strike="noStrike" kern="1200" cap="none" spc="0" normalizeH="0" baseline="0" noProof="0" dirty="0">
              <a:ln>
                <a:noFill/>
              </a:ln>
              <a:solidFill>
                <a:srgbClr val="00FF00"/>
              </a:solidFill>
              <a:effectLst/>
              <a:uLnTx/>
              <a:uFillTx/>
              <a:latin typeface="Courier New"/>
              <a:ea typeface="+mn-ea"/>
              <a:cs typeface="Courier New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93F6282-2CF2-3A45-AD92-A60375377CB9}"/>
              </a:ext>
            </a:extLst>
          </p:cNvPr>
          <p:cNvSpPr txBox="1"/>
          <p:nvPr/>
        </p:nvSpPr>
        <p:spPr>
          <a:xfrm>
            <a:off x="6096000" y="2812201"/>
            <a:ext cx="6165057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65300" marR="0" lvl="0" indent="0" algn="l" defTabSz="914400" rtl="0" eaLnBrk="1" fontAlgn="auto" latinLnBrk="0" hangingPunct="1">
              <a:lnSpc>
                <a:spcPct val="100000"/>
              </a:lnSpc>
              <a:spcBef>
                <a:spcPts val="12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800" b="0" i="0" u="none" strike="noStrike" kern="1200" cap="none" spc="-5" normalizeH="0" baseline="0" noProof="0" dirty="0">
                <a:ln>
                  <a:noFill/>
                </a:ln>
                <a:solidFill>
                  <a:srgbClr val="00FCFF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&gt;&gt;</a:t>
            </a:r>
            <a:r>
              <a:rPr kumimoji="0" lang="en-CA" sz="1800" b="0" i="0" u="none" strike="noStrike" kern="1200" cap="none" spc="0" normalizeH="0" baseline="0" noProof="0" dirty="0">
                <a:ln>
                  <a:noFill/>
                </a:ln>
                <a:solidFill>
                  <a:srgbClr val="00FCFF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&gt;</a:t>
            </a:r>
            <a:r>
              <a:rPr kumimoji="0" lang="en-CA" sz="1800" b="0" i="0" u="none" strike="noStrike" kern="1200" cap="none" spc="-5" normalizeH="0" baseline="0" noProof="0" dirty="0">
                <a:ln>
                  <a:noFill/>
                </a:ln>
                <a:solidFill>
                  <a:srgbClr val="00FCFF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 </a:t>
            </a:r>
            <a:r>
              <a:rPr kumimoji="0" lang="en-CA" sz="1800" b="0" i="0" u="none" strike="noStrike" kern="1200" cap="none" spc="0" normalizeH="0" baseline="0" noProof="0" dirty="0">
                <a:ln>
                  <a:noFill/>
                </a:ln>
                <a:solidFill>
                  <a:srgbClr val="00FCFF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p</a:t>
            </a:r>
            <a:r>
              <a:rPr kumimoji="0" lang="en-CA" sz="1800" b="0" i="0" u="none" strike="noStrike" kern="1200" cap="none" spc="-5" normalizeH="0" baseline="0" noProof="0" dirty="0">
                <a:ln>
                  <a:noFill/>
                </a:ln>
                <a:solidFill>
                  <a:srgbClr val="00FCFF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 </a:t>
            </a:r>
            <a:r>
              <a:rPr kumimoji="0" lang="en-CA" sz="1800" b="0" i="0" u="none" strike="noStrike" kern="1200" cap="none" spc="0" normalizeH="0" baseline="0" noProof="0" dirty="0">
                <a:ln>
                  <a:noFill/>
                </a:ln>
                <a:solidFill>
                  <a:srgbClr val="00FCFF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=</a:t>
            </a:r>
            <a:r>
              <a:rPr kumimoji="0" lang="en-CA" sz="1800" b="0" i="0" u="none" strike="noStrike" kern="1200" cap="none" spc="-5" normalizeH="0" baseline="0" noProof="0" dirty="0">
                <a:ln>
                  <a:noFill/>
                </a:ln>
                <a:solidFill>
                  <a:srgbClr val="00FCFF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 Point(3,</a:t>
            </a:r>
            <a:r>
              <a:rPr kumimoji="0" lang="en-CA" sz="1800" b="0" i="0" u="none" strike="noStrike" kern="1200" cap="none" spc="0" normalizeH="0" baseline="0" noProof="0" dirty="0">
                <a:ln>
                  <a:noFill/>
                </a:ln>
                <a:solidFill>
                  <a:srgbClr val="00FCFF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4)</a:t>
            </a:r>
          </a:p>
          <a:p>
            <a:pPr marL="17653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800" b="0" i="0" u="none" strike="noStrike" kern="1200" cap="none" spc="-5" normalizeH="0" baseline="0" noProof="0" dirty="0">
                <a:ln>
                  <a:noFill/>
                </a:ln>
                <a:solidFill>
                  <a:srgbClr val="00FCFF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&gt;&gt;</a:t>
            </a:r>
            <a:r>
              <a:rPr kumimoji="0" lang="en-CA" sz="1800" b="0" i="0" u="none" strike="noStrike" kern="1200" cap="none" spc="0" normalizeH="0" baseline="0" noProof="0" dirty="0">
                <a:ln>
                  <a:noFill/>
                </a:ln>
                <a:solidFill>
                  <a:srgbClr val="00FCFF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&gt; </a:t>
            </a:r>
            <a:r>
              <a:rPr kumimoji="0" lang="en-CA" sz="1800" b="0" i="0" u="none" strike="noStrike" kern="1200" cap="none" spc="-5" normalizeH="0" baseline="0" noProof="0" dirty="0">
                <a:ln>
                  <a:noFill/>
                </a:ln>
                <a:solidFill>
                  <a:srgbClr val="00FCFF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p.</a:t>
            </a:r>
            <a:r>
              <a:rPr lang="en-CA" spc="-5" dirty="0" err="1">
                <a:solidFill>
                  <a:srgbClr val="00FCFF"/>
                </a:solidFill>
                <a:latin typeface="Courier New"/>
                <a:cs typeface="Courier New"/>
              </a:rPr>
              <a:t>to_string</a:t>
            </a:r>
            <a:r>
              <a:rPr kumimoji="0" lang="en-CA" sz="1800" b="0" i="0" u="none" strike="noStrike" kern="1200" cap="none" spc="-5" normalizeH="0" baseline="0" noProof="0" dirty="0">
                <a:ln>
                  <a:noFill/>
                </a:ln>
                <a:solidFill>
                  <a:srgbClr val="00FCFF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()</a:t>
            </a:r>
            <a:endParaRPr kumimoji="0" lang="en-CA" sz="1800" b="0" i="0" u="none" strike="noStrike" kern="1200" cap="none" spc="0" normalizeH="0" baseline="0" noProof="0" dirty="0">
              <a:ln>
                <a:noFill/>
              </a:ln>
              <a:solidFill>
                <a:srgbClr val="00FCFF"/>
              </a:solidFill>
              <a:effectLst/>
              <a:uLnTx/>
              <a:uFillTx/>
              <a:latin typeface="Courier New"/>
              <a:ea typeface="+mn-ea"/>
              <a:cs typeface="Courier New"/>
            </a:endParaRPr>
          </a:p>
          <a:p>
            <a:pPr marL="17653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800" b="1" i="0" u="none" strike="noStrike" kern="1200" cap="none" spc="-5" normalizeH="0" baseline="0" noProof="0" dirty="0">
                <a:ln>
                  <a:noFill/>
                </a:ln>
                <a:solidFill>
                  <a:srgbClr val="00FCFF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'(3,4)'</a:t>
            </a:r>
            <a:endParaRPr kumimoji="0" lang="en-CA" sz="1800" b="0" i="0" u="none" strike="noStrike" kern="1200" cap="none" spc="0" normalizeH="0" baseline="0" noProof="0" dirty="0">
              <a:ln>
                <a:noFill/>
              </a:ln>
              <a:solidFill>
                <a:srgbClr val="00FCFF"/>
              </a:solidFill>
              <a:effectLst/>
              <a:uLnTx/>
              <a:uFillTx/>
              <a:latin typeface="Courier New"/>
              <a:ea typeface="+mn-ea"/>
              <a:cs typeface="Courier New"/>
            </a:endParaRPr>
          </a:p>
          <a:p>
            <a:pPr marL="17653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800" b="0" i="0" u="none" strike="noStrike" kern="1200" cap="none" spc="-5" normalizeH="0" baseline="0" noProof="0" dirty="0">
                <a:ln>
                  <a:noFill/>
                </a:ln>
                <a:solidFill>
                  <a:srgbClr val="00FCFF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&gt;&gt;</a:t>
            </a:r>
            <a:r>
              <a:rPr kumimoji="0" lang="en-CA" sz="1800" b="0" i="0" u="none" strike="noStrike" kern="1200" cap="none" spc="0" normalizeH="0" baseline="0" noProof="0" dirty="0">
                <a:ln>
                  <a:noFill/>
                </a:ln>
                <a:solidFill>
                  <a:srgbClr val="00FCFF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&gt;</a:t>
            </a:r>
            <a:r>
              <a:rPr kumimoji="0" lang="en-CA" sz="1800" b="0" i="0" u="none" strike="noStrike" kern="1200" cap="none" spc="-5" normalizeH="0" baseline="0" noProof="0" dirty="0">
                <a:ln>
                  <a:noFill/>
                </a:ln>
                <a:solidFill>
                  <a:srgbClr val="00FCFF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 </a:t>
            </a:r>
            <a:r>
              <a:rPr kumimoji="0" lang="en-CA" sz="1800" b="0" i="0" u="none" strike="noStrike" kern="1200" cap="none" spc="0" normalizeH="0" baseline="0" noProof="0" dirty="0">
                <a:ln>
                  <a:noFill/>
                </a:ln>
                <a:solidFill>
                  <a:srgbClr val="00FCFF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r =</a:t>
            </a:r>
            <a:r>
              <a:rPr kumimoji="0" lang="en-CA" sz="1800" b="0" i="0" u="none" strike="noStrike" kern="1200" cap="none" spc="-5" normalizeH="0" baseline="0" noProof="0" dirty="0">
                <a:ln>
                  <a:noFill/>
                </a:ln>
                <a:solidFill>
                  <a:srgbClr val="00FCFF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 </a:t>
            </a:r>
            <a:r>
              <a:rPr kumimoji="0" lang="en-CA" sz="1800" b="0" i="0" u="none" strike="noStrike" kern="1200" cap="none" spc="-5" normalizeH="0" baseline="0" noProof="0" dirty="0" err="1">
                <a:ln>
                  <a:noFill/>
                </a:ln>
                <a:solidFill>
                  <a:srgbClr val="00FCFF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p.halfway</a:t>
            </a:r>
            <a:r>
              <a:rPr kumimoji="0" lang="en-CA" sz="1800" b="0" i="0" u="none" strike="noStrike" kern="1200" cap="none" spc="-5" normalizeH="0" baseline="0" noProof="0" dirty="0">
                <a:ln>
                  <a:noFill/>
                </a:ln>
                <a:solidFill>
                  <a:srgbClr val="00FCFF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(Point(5,12))</a:t>
            </a:r>
            <a:endParaRPr kumimoji="0" lang="en-CA" sz="1800" b="0" i="0" u="none" strike="noStrike" kern="1200" cap="none" spc="0" normalizeH="0" baseline="0" noProof="0" dirty="0">
              <a:ln>
                <a:noFill/>
              </a:ln>
              <a:solidFill>
                <a:srgbClr val="00FCFF"/>
              </a:solidFill>
              <a:effectLst/>
              <a:uLnTx/>
              <a:uFillTx/>
              <a:latin typeface="Courier New"/>
              <a:ea typeface="+mn-ea"/>
              <a:cs typeface="Courier New"/>
            </a:endParaRPr>
          </a:p>
          <a:p>
            <a:pPr marL="17653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800" b="0" i="0" u="none" strike="noStrike" kern="1200" cap="none" spc="-5" normalizeH="0" baseline="0" noProof="0" dirty="0">
                <a:ln>
                  <a:noFill/>
                </a:ln>
                <a:solidFill>
                  <a:srgbClr val="00FCFF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&gt;&gt;</a:t>
            </a:r>
            <a:r>
              <a:rPr kumimoji="0" lang="en-CA" sz="1800" b="0" i="0" u="none" strike="noStrike" kern="1200" cap="none" spc="0" normalizeH="0" baseline="0" noProof="0" dirty="0">
                <a:ln>
                  <a:noFill/>
                </a:ln>
                <a:solidFill>
                  <a:srgbClr val="00FCFF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&gt; </a:t>
            </a:r>
            <a:r>
              <a:rPr kumimoji="0" lang="en-CA" sz="1800" b="0" i="0" u="none" strike="noStrike" kern="1200" cap="none" spc="-5" normalizeH="0" baseline="0" noProof="0" dirty="0" err="1">
                <a:ln>
                  <a:noFill/>
                </a:ln>
                <a:solidFill>
                  <a:srgbClr val="00FCFF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r.to_string</a:t>
            </a:r>
            <a:r>
              <a:rPr lang="en-CA" sz="1800" spc="-5" dirty="0">
                <a:solidFill>
                  <a:srgbClr val="00FCFF"/>
                </a:solidFill>
                <a:latin typeface="Courier New"/>
                <a:cs typeface="Courier New"/>
              </a:rPr>
              <a:t>()</a:t>
            </a:r>
            <a:endParaRPr kumimoji="0" lang="en-CA" sz="1800" b="0" i="0" u="none" strike="noStrike" kern="1200" cap="none" spc="0" normalizeH="0" baseline="0" noProof="0" dirty="0">
              <a:ln>
                <a:noFill/>
              </a:ln>
              <a:solidFill>
                <a:srgbClr val="00FCFF"/>
              </a:solidFill>
              <a:effectLst/>
              <a:uLnTx/>
              <a:uFillTx/>
              <a:latin typeface="Courier New"/>
              <a:ea typeface="+mn-ea"/>
              <a:cs typeface="Courier New"/>
            </a:endParaRPr>
          </a:p>
          <a:p>
            <a:pPr marL="17653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800" b="1" i="0" u="none" strike="noStrike" kern="1200" cap="none" spc="-5" normalizeH="0" baseline="0" noProof="0" dirty="0">
                <a:ln>
                  <a:noFill/>
                </a:ln>
                <a:solidFill>
                  <a:srgbClr val="00FCFF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'(4,8)'</a:t>
            </a:r>
            <a:endParaRPr kumimoji="0" lang="en-CA" sz="1800" b="0" i="0" u="none" strike="noStrike" kern="1200" cap="none" spc="0" normalizeH="0" baseline="0" noProof="0" dirty="0">
              <a:ln>
                <a:noFill/>
              </a:ln>
              <a:solidFill>
                <a:srgbClr val="00FCFF"/>
              </a:solidFill>
              <a:effectLst/>
              <a:uLnTx/>
              <a:uFillTx/>
              <a:latin typeface="Courier New"/>
              <a:ea typeface="+mn-ea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959801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FE9CA-3CBC-5841-8561-1BC587C9E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Printing Information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D14B4A-8438-D54A-B041-EC96B896D4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9436" y="1714788"/>
            <a:ext cx="10674928" cy="4835479"/>
          </a:xfrm>
        </p:spPr>
        <p:txBody>
          <a:bodyPr>
            <a:normAutofit/>
          </a:bodyPr>
          <a:lstStyle/>
          <a:p>
            <a:r>
              <a:rPr lang="en-US" sz="2400" dirty="0"/>
              <a:t>If every class we made had a </a:t>
            </a:r>
            <a:r>
              <a:rPr lang="en-US" sz="2400" dirty="0" err="1"/>
              <a:t>to_string</a:t>
            </a:r>
            <a:r>
              <a:rPr lang="en-US" sz="2400" dirty="0"/>
              <a:t>() method, great!</a:t>
            </a:r>
          </a:p>
          <a:p>
            <a:pPr lvl="1"/>
            <a:r>
              <a:rPr lang="en-US" sz="2000" dirty="0"/>
              <a:t>Easy to remember</a:t>
            </a:r>
          </a:p>
          <a:p>
            <a:pPr lvl="1"/>
            <a:r>
              <a:rPr lang="en-US" sz="2000" dirty="0"/>
              <a:t>All formatting specific to printing an object would be encapsulated</a:t>
            </a:r>
          </a:p>
          <a:p>
            <a:pPr lvl="1"/>
            <a:r>
              <a:rPr lang="en-US" sz="2000" dirty="0"/>
              <a:t>But they won’t all have one…</a:t>
            </a:r>
          </a:p>
          <a:p>
            <a:pPr lvl="1"/>
            <a:endParaRPr lang="en-US" sz="2000" dirty="0">
              <a:solidFill>
                <a:schemeClr val="accent6"/>
              </a:solidFill>
            </a:endParaRPr>
          </a:p>
          <a:p>
            <a:pPr marL="457200" lvl="1" indent="0">
              <a:buNone/>
            </a:pPr>
            <a:endParaRPr lang="en-US" sz="2000" dirty="0"/>
          </a:p>
          <a:p>
            <a:r>
              <a:rPr lang="en-US" sz="2400" dirty="0"/>
              <a:t>What if other people made their own method for printing and called it something else?</a:t>
            </a:r>
          </a:p>
          <a:p>
            <a:pPr lvl="1"/>
            <a:r>
              <a:rPr lang="en-US" sz="2000" dirty="0"/>
              <a:t>Then it would no longer be obvious how to quickly display information</a:t>
            </a:r>
          </a:p>
          <a:p>
            <a:pPr lvl="1"/>
            <a:r>
              <a:rPr lang="en-US" sz="2000" dirty="0"/>
              <a:t>Is it called </a:t>
            </a:r>
            <a:r>
              <a:rPr lang="en-US" sz="2000" dirty="0" err="1">
                <a:solidFill>
                  <a:srgbClr val="FF00E9"/>
                </a:solidFill>
              </a:rPr>
              <a:t>to_string</a:t>
            </a:r>
            <a:r>
              <a:rPr lang="en-US" sz="2000" dirty="0"/>
              <a:t>? </a:t>
            </a:r>
            <a:r>
              <a:rPr lang="en-US" sz="2000" dirty="0" err="1">
                <a:solidFill>
                  <a:srgbClr val="00FF00"/>
                </a:solidFill>
              </a:rPr>
              <a:t>tostring</a:t>
            </a:r>
            <a:r>
              <a:rPr lang="en-US" sz="2000" dirty="0"/>
              <a:t>? </a:t>
            </a:r>
            <a:r>
              <a:rPr lang="en-US" sz="2000" dirty="0">
                <a:solidFill>
                  <a:srgbClr val="FF0000"/>
                </a:solidFill>
              </a:rPr>
              <a:t>2stringz</a:t>
            </a:r>
            <a:r>
              <a:rPr lang="en-US" sz="2000" dirty="0"/>
              <a:t>? </a:t>
            </a:r>
            <a:r>
              <a:rPr lang="en-US" sz="2000" dirty="0" err="1">
                <a:solidFill>
                  <a:srgbClr val="00FCFF"/>
                </a:solidFill>
              </a:rPr>
              <a:t>print_point</a:t>
            </a:r>
            <a:r>
              <a:rPr lang="en-US" sz="2000" dirty="0"/>
              <a:t>? </a:t>
            </a:r>
            <a:r>
              <a:rPr lang="en-US" sz="2000" dirty="0" err="1">
                <a:solidFill>
                  <a:schemeClr val="accent6"/>
                </a:solidFill>
              </a:rPr>
              <a:t>plz_print_me</a:t>
            </a:r>
            <a:r>
              <a:rPr lang="en-US" sz="2000" dirty="0"/>
              <a:t>?</a:t>
            </a:r>
          </a:p>
          <a:p>
            <a:endParaRPr lang="en-US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DD8F186-4E7A-3B4F-A108-57DE31D51590}"/>
              </a:ext>
            </a:extLst>
          </p:cNvPr>
          <p:cNvSpPr txBox="1"/>
          <p:nvPr/>
        </p:nvSpPr>
        <p:spPr>
          <a:xfrm>
            <a:off x="838200" y="5668821"/>
            <a:ext cx="46016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FF00"/>
                </a:solidFill>
              </a:rPr>
              <a:t>Python has a clever trick for this!</a:t>
            </a:r>
          </a:p>
        </p:txBody>
      </p:sp>
      <p:pic>
        <p:nvPicPr>
          <p:cNvPr id="8194" name="Picture 2" descr="how it really feels like : r/ProgrammerHumor">
            <a:extLst>
              <a:ext uri="{FF2B5EF4-FFF2-40B4-BE49-F238E27FC236}">
                <a16:creationId xmlns:a16="http://schemas.microsoft.com/office/drawing/2014/main" id="{CEA5A02B-FEDA-464B-B0D2-F007E79FFE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47726" y="602822"/>
            <a:ext cx="3161146" cy="19409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006312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FE9CA-3CBC-5841-8561-1BC587C9E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Printing Information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D14B4A-8438-D54A-B041-EC96B896D4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9436" y="1714788"/>
            <a:ext cx="10674928" cy="4835479"/>
          </a:xfrm>
        </p:spPr>
        <p:txBody>
          <a:bodyPr>
            <a:normAutofit/>
          </a:bodyPr>
          <a:lstStyle/>
          <a:p>
            <a:r>
              <a:rPr lang="en-US" sz="2400" dirty="0"/>
              <a:t>If we call our new method __str__ instead of </a:t>
            </a:r>
            <a:r>
              <a:rPr lang="en-US" sz="2400" dirty="0" err="1"/>
              <a:t>to_string</a:t>
            </a:r>
            <a:r>
              <a:rPr lang="en-US" sz="2400" dirty="0"/>
              <a:t>, Python will use our code whenever it needs to convert Point to a string</a:t>
            </a:r>
          </a:p>
          <a:p>
            <a:endParaRPr 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FE7499-C0F9-F547-ABC0-4E4BBDCDA094}"/>
              </a:ext>
            </a:extLst>
          </p:cNvPr>
          <p:cNvSpPr txBox="1"/>
          <p:nvPr/>
        </p:nvSpPr>
        <p:spPr>
          <a:xfrm>
            <a:off x="339436" y="2557597"/>
            <a:ext cx="931891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CA" spc="-5" dirty="0">
                <a:solidFill>
                  <a:schemeClr val="accent6"/>
                </a:solidFill>
                <a:latin typeface="Courier New"/>
                <a:cs typeface="Courier New"/>
              </a:rPr>
              <a:t>class Point:</a:t>
            </a:r>
          </a:p>
          <a:p>
            <a:pPr lvl="0">
              <a:defRPr/>
            </a:pPr>
            <a:r>
              <a:rPr lang="en-CA" spc="-5" dirty="0">
                <a:solidFill>
                  <a:schemeClr val="accent6"/>
                </a:solidFill>
                <a:latin typeface="Courier New"/>
                <a:cs typeface="Courier New"/>
              </a:rPr>
              <a:t>    </a:t>
            </a:r>
          </a:p>
          <a:p>
            <a:pPr lvl="0">
              <a:defRPr/>
            </a:pPr>
            <a:r>
              <a:rPr lang="en-CA" spc="-5" dirty="0">
                <a:solidFill>
                  <a:schemeClr val="accent6"/>
                </a:solidFill>
                <a:latin typeface="Courier New"/>
                <a:cs typeface="Courier New"/>
              </a:rPr>
              <a:t>"""A class that represents and manipulates 2D points"""</a:t>
            </a:r>
          </a:p>
          <a:p>
            <a:pPr lvl="0">
              <a:defRPr/>
            </a:pPr>
            <a:r>
              <a:rPr lang="en-CA" spc="-5" dirty="0">
                <a:solidFill>
                  <a:srgbClr val="00FF00"/>
                </a:solidFill>
                <a:latin typeface="Courier New"/>
                <a:cs typeface="Courier New"/>
              </a:rPr>
              <a:t>    def __</a:t>
            </a:r>
            <a:r>
              <a:rPr lang="en-CA" spc="-5" dirty="0" err="1">
                <a:solidFill>
                  <a:srgbClr val="00FF00"/>
                </a:solidFill>
                <a:latin typeface="Courier New"/>
                <a:cs typeface="Courier New"/>
              </a:rPr>
              <a:t>init</a:t>
            </a:r>
            <a:r>
              <a:rPr lang="en-CA" spc="-5" dirty="0">
                <a:solidFill>
                  <a:srgbClr val="00FF00"/>
                </a:solidFill>
                <a:latin typeface="Courier New"/>
                <a:cs typeface="Courier New"/>
              </a:rPr>
              <a:t>__(self, x=0 , y=0):</a:t>
            </a:r>
          </a:p>
          <a:p>
            <a:pPr lvl="0">
              <a:defRPr/>
            </a:pPr>
            <a:r>
              <a:rPr lang="en-CA" spc="-5" dirty="0">
                <a:solidFill>
                  <a:srgbClr val="00FF00"/>
                </a:solidFill>
                <a:latin typeface="Courier New"/>
                <a:cs typeface="Courier New"/>
              </a:rPr>
              <a:t>	 ...</a:t>
            </a:r>
          </a:p>
          <a:p>
            <a:pPr lvl="0">
              <a:defRPr/>
            </a:pPr>
            <a:r>
              <a:rPr lang="en-CA" spc="-5" dirty="0">
                <a:solidFill>
                  <a:srgbClr val="00FF00"/>
                </a:solidFill>
                <a:latin typeface="Courier New"/>
                <a:cs typeface="Courier New"/>
              </a:rPr>
              <a:t>    </a:t>
            </a:r>
          </a:p>
          <a:p>
            <a:pPr lvl="0">
              <a:defRPr/>
            </a:pPr>
            <a:r>
              <a:rPr lang="en-CA" spc="-5" dirty="0">
                <a:solidFill>
                  <a:srgbClr val="00FF00"/>
                </a:solidFill>
                <a:latin typeface="Courier New"/>
                <a:cs typeface="Courier New"/>
              </a:rPr>
              <a:t>    def __str__(self):</a:t>
            </a:r>
            <a:endParaRPr lang="en-CA" dirty="0">
              <a:solidFill>
                <a:srgbClr val="00FF00"/>
              </a:solidFill>
              <a:latin typeface="Courier New"/>
              <a:cs typeface="Courier New"/>
            </a:endParaRPr>
          </a:p>
          <a:p>
            <a:pPr lvl="0">
              <a:defRPr/>
            </a:pPr>
            <a:r>
              <a:rPr lang="en-CA" spc="-5" dirty="0">
                <a:solidFill>
                  <a:srgbClr val="00FF00"/>
                </a:solidFill>
                <a:latin typeface="Courier New"/>
                <a:cs typeface="Courier New"/>
              </a:rPr>
              <a:t>        return (‘(’ + str(</a:t>
            </a:r>
            <a:r>
              <a:rPr lang="en-CA" spc="-5" dirty="0" err="1">
                <a:solidFill>
                  <a:srgbClr val="00FF00"/>
                </a:solidFill>
                <a:latin typeface="Courier New"/>
                <a:cs typeface="Courier New"/>
              </a:rPr>
              <a:t>self.x</a:t>
            </a:r>
            <a:r>
              <a:rPr lang="en-CA" spc="-5" dirty="0">
                <a:solidFill>
                  <a:srgbClr val="00FF00"/>
                </a:solidFill>
                <a:latin typeface="Courier New"/>
                <a:cs typeface="Courier New"/>
              </a:rPr>
              <a:t>) + ‘,’ + str(</a:t>
            </a:r>
            <a:r>
              <a:rPr lang="en-CA" spc="-5" dirty="0" err="1">
                <a:solidFill>
                  <a:srgbClr val="00FF00"/>
                </a:solidFill>
                <a:latin typeface="Courier New"/>
                <a:cs typeface="Courier New"/>
              </a:rPr>
              <a:t>self.y</a:t>
            </a:r>
            <a:r>
              <a:rPr lang="en-CA" spc="-5" dirty="0">
                <a:solidFill>
                  <a:srgbClr val="00FF00"/>
                </a:solidFill>
                <a:latin typeface="Courier New"/>
                <a:cs typeface="Courier New"/>
              </a:rPr>
              <a:t>) + ‘)’)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6EECCCE-23F1-CB4C-BA91-2EA82025E5D0}"/>
              </a:ext>
            </a:extLst>
          </p:cNvPr>
          <p:cNvSpPr txBox="1"/>
          <p:nvPr/>
        </p:nvSpPr>
        <p:spPr>
          <a:xfrm>
            <a:off x="0" y="5351200"/>
            <a:ext cx="462915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65300" marR="0" lvl="0" indent="0" algn="l" defTabSz="914400" rtl="0" eaLnBrk="1" fontAlgn="auto" latinLnBrk="0" hangingPunct="1">
              <a:lnSpc>
                <a:spcPct val="100000"/>
              </a:lnSpc>
              <a:spcBef>
                <a:spcPts val="12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800" b="0" i="0" u="none" strike="noStrike" kern="1200" cap="none" spc="-5" normalizeH="0" baseline="0" noProof="0" dirty="0">
                <a:ln>
                  <a:noFill/>
                </a:ln>
                <a:solidFill>
                  <a:srgbClr val="00FCFF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&gt;&gt;</a:t>
            </a:r>
            <a:r>
              <a:rPr kumimoji="0" lang="en-CA" sz="1800" b="0" i="0" u="none" strike="noStrike" kern="1200" cap="none" spc="0" normalizeH="0" baseline="0" noProof="0" dirty="0">
                <a:ln>
                  <a:noFill/>
                </a:ln>
                <a:solidFill>
                  <a:srgbClr val="00FCFF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&gt;</a:t>
            </a:r>
            <a:r>
              <a:rPr kumimoji="0" lang="en-CA" sz="1800" b="0" i="0" u="none" strike="noStrike" kern="1200" cap="none" spc="-5" normalizeH="0" baseline="0" noProof="0" dirty="0">
                <a:ln>
                  <a:noFill/>
                </a:ln>
                <a:solidFill>
                  <a:srgbClr val="00FCFF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 </a:t>
            </a:r>
            <a:r>
              <a:rPr kumimoji="0" lang="en-CA" sz="1800" b="0" i="0" u="none" strike="noStrike" kern="1200" cap="none" spc="0" normalizeH="0" baseline="0" noProof="0" dirty="0">
                <a:ln>
                  <a:noFill/>
                </a:ln>
                <a:solidFill>
                  <a:srgbClr val="00FCFF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p</a:t>
            </a:r>
            <a:r>
              <a:rPr kumimoji="0" lang="en-CA" sz="1800" b="0" i="0" u="none" strike="noStrike" kern="1200" cap="none" spc="-5" normalizeH="0" baseline="0" noProof="0" dirty="0">
                <a:ln>
                  <a:noFill/>
                </a:ln>
                <a:solidFill>
                  <a:srgbClr val="00FCFF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 </a:t>
            </a:r>
            <a:r>
              <a:rPr kumimoji="0" lang="en-CA" sz="1800" b="0" i="0" u="none" strike="noStrike" kern="1200" cap="none" spc="0" normalizeH="0" baseline="0" noProof="0" dirty="0">
                <a:ln>
                  <a:noFill/>
                </a:ln>
                <a:solidFill>
                  <a:srgbClr val="00FCFF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=</a:t>
            </a:r>
            <a:r>
              <a:rPr kumimoji="0" lang="en-CA" sz="1800" b="0" i="0" u="none" strike="noStrike" kern="1200" cap="none" spc="-5" normalizeH="0" baseline="0" noProof="0" dirty="0">
                <a:ln>
                  <a:noFill/>
                </a:ln>
                <a:solidFill>
                  <a:srgbClr val="00FCFF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 Point(3,</a:t>
            </a:r>
            <a:r>
              <a:rPr kumimoji="0" lang="en-CA" sz="1800" b="0" i="0" u="none" strike="noStrike" kern="1200" cap="none" spc="0" normalizeH="0" baseline="0" noProof="0" dirty="0">
                <a:ln>
                  <a:noFill/>
                </a:ln>
                <a:solidFill>
                  <a:srgbClr val="00FCFF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4)</a:t>
            </a:r>
          </a:p>
          <a:p>
            <a:pPr marL="17653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800" b="0" i="0" u="none" strike="noStrike" kern="1200" cap="none" spc="-5" normalizeH="0" baseline="0" noProof="0" dirty="0">
                <a:ln>
                  <a:noFill/>
                </a:ln>
                <a:solidFill>
                  <a:srgbClr val="00FCFF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&gt;&gt;</a:t>
            </a:r>
            <a:r>
              <a:rPr kumimoji="0" lang="en-CA" sz="1800" b="0" i="0" u="none" strike="noStrike" kern="1200" cap="none" spc="0" normalizeH="0" baseline="0" noProof="0" dirty="0">
                <a:ln>
                  <a:noFill/>
                </a:ln>
                <a:solidFill>
                  <a:srgbClr val="00FCFF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&gt; </a:t>
            </a:r>
            <a:r>
              <a:rPr kumimoji="0" lang="en-CA" sz="1800" b="0" i="0" u="none" strike="noStrike" kern="1200" cap="none" spc="-5" normalizeH="0" baseline="0" noProof="0" dirty="0">
                <a:ln>
                  <a:noFill/>
                </a:ln>
                <a:solidFill>
                  <a:srgbClr val="00FCFF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print(p)</a:t>
            </a:r>
            <a:endParaRPr kumimoji="0" lang="en-CA" sz="1800" b="0" i="0" u="none" strike="noStrike" kern="1200" cap="none" spc="0" normalizeH="0" baseline="0" noProof="0" dirty="0">
              <a:ln>
                <a:noFill/>
              </a:ln>
              <a:solidFill>
                <a:srgbClr val="00FCFF"/>
              </a:solidFill>
              <a:effectLst/>
              <a:uLnTx/>
              <a:uFillTx/>
              <a:latin typeface="Courier New"/>
              <a:ea typeface="+mn-ea"/>
              <a:cs typeface="Courier New"/>
            </a:endParaRPr>
          </a:p>
          <a:p>
            <a:pPr marL="17653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800" b="1" i="0" u="none" strike="noStrike" kern="1200" cap="none" spc="-5" normalizeH="0" baseline="0" noProof="0" dirty="0">
                <a:ln>
                  <a:noFill/>
                </a:ln>
                <a:solidFill>
                  <a:srgbClr val="00FCFF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'(3,4)'</a:t>
            </a:r>
            <a:endParaRPr kumimoji="0" lang="en-CA" sz="1800" b="0" i="0" u="none" strike="noStrike" kern="1200" cap="none" spc="0" normalizeH="0" baseline="0" noProof="0" dirty="0">
              <a:ln>
                <a:noFill/>
              </a:ln>
              <a:solidFill>
                <a:srgbClr val="00FCFF"/>
              </a:solidFill>
              <a:effectLst/>
              <a:uLnTx/>
              <a:uFillTx/>
              <a:latin typeface="Courier New"/>
              <a:ea typeface="+mn-ea"/>
              <a:cs typeface="Courier New"/>
            </a:endParaRPr>
          </a:p>
        </p:txBody>
      </p:sp>
      <p:sp>
        <p:nvSpPr>
          <p:cNvPr id="7" name="object 6">
            <a:extLst>
              <a:ext uri="{FF2B5EF4-FFF2-40B4-BE49-F238E27FC236}">
                <a16:creationId xmlns:a16="http://schemas.microsoft.com/office/drawing/2014/main" id="{37488CEE-3FC7-3E4F-860A-A1036F9CAB76}"/>
              </a:ext>
            </a:extLst>
          </p:cNvPr>
          <p:cNvSpPr txBox="1"/>
          <p:nvPr/>
        </p:nvSpPr>
        <p:spPr>
          <a:xfrm>
            <a:off x="5676900" y="5329429"/>
            <a:ext cx="5337464" cy="8369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lvl="0" algn="just" defTabSz="914400" rtl="0" eaLnBrk="1" fontAlgn="auto" latinLnBrk="0" hangingPunct="1">
              <a:lnSpc>
                <a:spcPct val="1028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>
                <a:tab pos="299720" algn="l"/>
              </a:tabLst>
              <a:defRPr/>
            </a:pPr>
            <a:r>
              <a:rPr kumimoji="0" lang="en-CA" sz="1800" b="1" i="0" u="none" strike="noStrike" kern="1200" cap="none" spc="1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T</a:t>
            </a:r>
            <a:r>
              <a:rPr kumimoji="0" lang="en-CA" sz="1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h</a:t>
            </a:r>
            <a:r>
              <a:rPr kumimoji="0" lang="en-CA" sz="1800" b="1" i="0" u="none" strike="noStrike" kern="1200" cap="none" spc="-1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a</a:t>
            </a:r>
            <a:r>
              <a:rPr kumimoji="0" lang="en-CA" sz="1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t</a:t>
            </a:r>
            <a:r>
              <a:rPr kumimoji="0" lang="en-CA" sz="1800" b="1" i="0" u="none" strike="noStrike" kern="1200" cap="none" spc="-4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’</a:t>
            </a:r>
            <a:r>
              <a:rPr kumimoji="0" lang="en-CA" sz="1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s</a:t>
            </a:r>
            <a:r>
              <a:rPr kumimoji="0" lang="en-CA" sz="1800" b="1" i="0" u="none" strike="noStrike" kern="1200" cap="none" spc="-1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kumimoji="0" lang="en-CA" sz="1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b</a:t>
            </a:r>
            <a:r>
              <a:rPr kumimoji="0" lang="en-CA" sz="1800" b="1" i="0" u="none" strike="noStrike" kern="1200" cap="none" spc="-1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e</a:t>
            </a:r>
            <a:r>
              <a:rPr kumimoji="0" lang="en-CA" sz="1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t</a:t>
            </a:r>
            <a:r>
              <a:rPr kumimoji="0" lang="en-CA" sz="1800" b="1" i="0" u="none" strike="noStrike" kern="1200" cap="none" spc="5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t</a:t>
            </a:r>
            <a:r>
              <a:rPr kumimoji="0" lang="en-CA" sz="1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er!</a:t>
            </a:r>
            <a:r>
              <a:rPr kumimoji="0" lang="en-CA" sz="1800" b="1" i="0" u="none" strike="noStrike" kern="1200" cap="none" spc="5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endParaRPr lang="en-CA" spc="5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12700" marR="5080" lvl="0" algn="just" defTabSz="914400" rtl="0" eaLnBrk="1" fontAlgn="auto" latinLnBrk="0" hangingPunct="1">
              <a:lnSpc>
                <a:spcPct val="1028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>
                <a:tab pos="299720" algn="l"/>
              </a:tabLst>
              <a:defRPr/>
            </a:pPr>
            <a:r>
              <a:rPr kumimoji="0" sz="1800" b="0" i="0" u="none" strike="noStrike" kern="1200" cap="none" spc="5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W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hen</a:t>
            </a: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kumimoji="0" sz="1800" b="0" i="0" u="none" strike="noStrike" kern="1200" cap="none" spc="-4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w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e</a:t>
            </a:r>
            <a:r>
              <a:rPr kumimoji="0" sz="1800" b="0" i="0" u="none" strike="noStrike" kern="1200" cap="none" spc="45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ca</a:t>
            </a: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l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l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ourier" pitchFamily="2" charset="0"/>
                <a:cs typeface="Segoe UI" panose="020B0502040204020203" pitchFamily="34" charset="0"/>
              </a:rPr>
              <a:t>print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ourier" pitchFamily="2" charset="0"/>
                <a:cs typeface="Segoe UI" panose="020B0502040204020203" pitchFamily="34" charset="0"/>
              </a:rPr>
              <a:t>(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ourier" pitchFamily="2" charset="0"/>
                <a:cs typeface="Segoe UI" panose="020B0502040204020203" pitchFamily="34" charset="0"/>
              </a:rPr>
              <a:t>obj</a:t>
            </a:r>
            <a:r>
              <a:rPr kumimoji="0" sz="1800" b="0" i="0" u="none" strike="noStrike" kern="1200" cap="none" spc="-15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ourier" pitchFamily="2" charset="0"/>
                <a:cs typeface="Segoe UI" panose="020B0502040204020203" pitchFamily="34" charset="0"/>
              </a:rPr>
              <a:t>)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, th</a:t>
            </a: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e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n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kumimoji="0" sz="1800" b="0" i="0" strike="noStrike" kern="1200" cap="none" spc="-5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ourier" pitchFamily="2" charset="0"/>
                <a:cs typeface="Segoe UI" panose="020B0502040204020203" pitchFamily="34" charset="0"/>
              </a:rPr>
              <a:t>obj.</a:t>
            </a:r>
            <a:r>
              <a:rPr kumimoji="0" lang="en-US" sz="1800" b="0" i="0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ourier" pitchFamily="2" charset="0"/>
                <a:cs typeface="Segoe UI" panose="020B0502040204020203" pitchFamily="34" charset="0"/>
              </a:rPr>
              <a:t>__</a:t>
            </a:r>
            <a:r>
              <a:rPr kumimoji="0" sz="1800" b="0" i="0" strike="noStrike" kern="1200" cap="none" spc="-5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ourier" pitchFamily="2" charset="0"/>
                <a:cs typeface="Segoe UI" panose="020B0502040204020203" pitchFamily="34" charset="0"/>
              </a:rPr>
              <a:t>st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ourier" pitchFamily="2" charset="0"/>
                <a:cs typeface="Segoe UI" panose="020B0502040204020203" pitchFamily="34" charset="0"/>
              </a:rPr>
              <a:t>r</a:t>
            </a:r>
            <a:r>
              <a:rPr kumimoji="0" sz="1800" b="0" i="0" u="none" strike="noStrike" kern="1200" cap="none" spc="-15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ourier" pitchFamily="2" charset="0"/>
                <a:cs typeface="Segoe UI" panose="020B0502040204020203" pitchFamily="34" charset="0"/>
              </a:rPr>
              <a:t>_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ourier" pitchFamily="2" charset="0"/>
                <a:cs typeface="Segoe UI" panose="020B0502040204020203" pitchFamily="34" charset="0"/>
              </a:rPr>
              <a:t>_</a:t>
            </a:r>
            <a:r>
              <a:rPr kumimoji="0" sz="1800" b="0" i="0" u="none" strike="noStrike" kern="1200" cap="none" spc="-15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ourier" pitchFamily="2" charset="0"/>
                <a:cs typeface="Segoe UI" panose="020B0502040204020203" pitchFamily="34" charset="0"/>
              </a:rPr>
              <a:t>(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ourier" pitchFamily="2" charset="0"/>
                <a:cs typeface="Segoe UI" panose="020B0502040204020203" pitchFamily="34" charset="0"/>
              </a:rPr>
              <a:t>)</a:t>
            </a:r>
            <a:r>
              <a:rPr kumimoji="0" sz="1800" b="0" i="0" u="none" strike="noStrike" kern="1200" cap="none" spc="-4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ourier" pitchFamily="2" charset="0"/>
                <a:cs typeface="Segoe UI" panose="020B0502040204020203" pitchFamily="34" charset="0"/>
              </a:rPr>
              <a:t> 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is c</a:t>
            </a: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a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l</a:t>
            </a: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le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d</a:t>
            </a:r>
            <a:r>
              <a:rPr kumimoji="0" sz="1800" b="0" i="0" u="none" strike="noStrike" kern="1200" cap="none" spc="5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to fi</a:t>
            </a: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n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d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o</a:t>
            </a: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u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t </a:t>
            </a:r>
            <a:r>
              <a:rPr kumimoji="0" sz="1800" b="0" i="0" u="none" strike="noStrike" kern="1200" cap="none" spc="-4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w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h</a:t>
            </a: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a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t</a:t>
            </a:r>
            <a:r>
              <a:rPr kumimoji="0" sz="1800" b="0" i="0" u="none" strike="noStrike" kern="1200" cap="none" spc="4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string</a:t>
            </a:r>
            <a:r>
              <a:rPr kumimoji="0" sz="1800" b="0" i="0" u="none" strike="noStrike" kern="1200" cap="none" spc="5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to</a:t>
            </a: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pr</a:t>
            </a: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i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nt</a:t>
            </a:r>
          </a:p>
        </p:txBody>
      </p:sp>
      <p:sp>
        <p:nvSpPr>
          <p:cNvPr id="8" name="Frame 7">
            <a:extLst>
              <a:ext uri="{FF2B5EF4-FFF2-40B4-BE49-F238E27FC236}">
                <a16:creationId xmlns:a16="http://schemas.microsoft.com/office/drawing/2014/main" id="{DD1F613A-4624-5E46-8FB6-37635B42749C}"/>
              </a:ext>
            </a:extLst>
          </p:cNvPr>
          <p:cNvSpPr/>
          <p:nvPr/>
        </p:nvSpPr>
        <p:spPr>
          <a:xfrm>
            <a:off x="522514" y="4049484"/>
            <a:ext cx="8730343" cy="970590"/>
          </a:xfrm>
          <a:prstGeom prst="fra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84629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D3E942-D48A-CF4F-BAD4-22FE8605A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Let’s Code!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A3DF1E-F240-BC41-B313-3625DDE1D9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050" y="1532292"/>
            <a:ext cx="7025986" cy="4835479"/>
          </a:xfrm>
        </p:spPr>
        <p:txBody>
          <a:bodyPr>
            <a:normAutofit/>
          </a:bodyPr>
          <a:lstStyle/>
          <a:p>
            <a:r>
              <a:rPr lang="en-CA" dirty="0"/>
              <a:t>Let’s look at how this works in Python!</a:t>
            </a:r>
          </a:p>
          <a:p>
            <a:pPr lvl="1"/>
            <a:r>
              <a:rPr lang="en-US" dirty="0"/>
              <a:t>__str__ method</a:t>
            </a:r>
          </a:p>
          <a:p>
            <a:pPr lvl="1"/>
            <a:endParaRPr lang="en-US" dirty="0"/>
          </a:p>
          <a:p>
            <a:endParaRPr lang="en-CA" dirty="0"/>
          </a:p>
        </p:txBody>
      </p:sp>
      <p:sp>
        <p:nvSpPr>
          <p:cNvPr id="4" name="Rectangle: Rounded Corners 5">
            <a:extLst>
              <a:ext uri="{FF2B5EF4-FFF2-40B4-BE49-F238E27FC236}">
                <a16:creationId xmlns:a16="http://schemas.microsoft.com/office/drawing/2014/main" id="{9BD5FBCF-8C94-E44C-BBC9-C128207E6FA0}"/>
              </a:ext>
            </a:extLst>
          </p:cNvPr>
          <p:cNvSpPr/>
          <p:nvPr/>
        </p:nvSpPr>
        <p:spPr>
          <a:xfrm>
            <a:off x="7664115" y="1949006"/>
            <a:ext cx="3958389" cy="4418765"/>
          </a:xfrm>
          <a:prstGeom prst="roundRect">
            <a:avLst/>
          </a:prstGeom>
          <a:noFill/>
          <a:ln w="762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400" b="1" dirty="0">
                <a:solidFill>
                  <a:srgbClr val="FFFFFF"/>
                </a:solidFill>
              </a:rPr>
              <a:t>Open your notebook</a:t>
            </a:r>
          </a:p>
          <a:p>
            <a:endParaRPr lang="en-US" sz="4400" b="1" dirty="0">
              <a:solidFill>
                <a:srgbClr val="FFFFFF"/>
              </a:solidFill>
            </a:endParaRPr>
          </a:p>
          <a:p>
            <a:r>
              <a:rPr lang="en-US" sz="2800" b="1" dirty="0">
                <a:solidFill>
                  <a:srgbClr val="FFFFFF"/>
                </a:solidFill>
              </a:rPr>
              <a:t>Click Link</a:t>
            </a:r>
            <a:r>
              <a:rPr lang="en-US" sz="2800" b="1" dirty="0">
                <a:solidFill>
                  <a:schemeClr val="accent6"/>
                </a:solidFill>
              </a:rPr>
              <a:t>:</a:t>
            </a:r>
          </a:p>
          <a:p>
            <a:r>
              <a:rPr lang="en-US" sz="2800" b="1" dirty="0">
                <a:solidFill>
                  <a:schemeClr val="accent6"/>
                </a:solidFill>
              </a:rPr>
              <a:t>2. Printing Objects</a:t>
            </a:r>
          </a:p>
        </p:txBody>
      </p:sp>
      <p:pic>
        <p:nvPicPr>
          <p:cNvPr id="5" name="Picture 2" descr="OOPS : r/ProgrammerHumor">
            <a:extLst>
              <a:ext uri="{FF2B5EF4-FFF2-40B4-BE49-F238E27FC236}">
                <a16:creationId xmlns:a16="http://schemas.microsoft.com/office/drawing/2014/main" id="{0327627B-26F9-CD45-BBC5-A1A0ECFF78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803146"/>
            <a:ext cx="5570393" cy="34814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351941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FEF1F2-87C7-DA47-91C7-1F3842EBA8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Let’s Build a Cash Register!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25F3C4-C09D-BB4F-98E3-9D50BB19CD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7034213" cy="4835479"/>
          </a:xfrm>
        </p:spPr>
        <p:txBody>
          <a:bodyPr/>
          <a:lstStyle/>
          <a:p>
            <a:r>
              <a:rPr lang="en-US" dirty="0"/>
              <a:t>We want to build a cash register program.  What features do we want?</a:t>
            </a:r>
          </a:p>
          <a:p>
            <a:pPr lvl="1"/>
            <a:r>
              <a:rPr lang="en-US" dirty="0">
                <a:solidFill>
                  <a:srgbClr val="00FCFF"/>
                </a:solidFill>
              </a:rPr>
              <a:t>Track number of:</a:t>
            </a:r>
          </a:p>
          <a:p>
            <a:pPr lvl="2"/>
            <a:r>
              <a:rPr lang="en-CA" dirty="0"/>
              <a:t>Loonies</a:t>
            </a:r>
          </a:p>
          <a:p>
            <a:pPr lvl="2"/>
            <a:r>
              <a:rPr lang="en-CA" dirty="0"/>
              <a:t>Toonies</a:t>
            </a:r>
          </a:p>
          <a:p>
            <a:pPr lvl="2"/>
            <a:r>
              <a:rPr lang="en-CA" dirty="0"/>
              <a:t>$5 bills </a:t>
            </a:r>
          </a:p>
          <a:p>
            <a:pPr lvl="2"/>
            <a:r>
              <a:rPr lang="en-CA" dirty="0"/>
              <a:t>$10 bills</a:t>
            </a:r>
          </a:p>
          <a:p>
            <a:pPr lvl="2"/>
            <a:r>
              <a:rPr lang="en-CA" dirty="0"/>
              <a:t>$20 bills</a:t>
            </a:r>
          </a:p>
          <a:p>
            <a:pPr lvl="1"/>
            <a:r>
              <a:rPr lang="en-US" dirty="0">
                <a:solidFill>
                  <a:schemeClr val="accent6"/>
                </a:solidFill>
              </a:rPr>
              <a:t>Accepts cash</a:t>
            </a:r>
          </a:p>
          <a:p>
            <a:pPr lvl="1"/>
            <a:r>
              <a:rPr lang="en-US" dirty="0">
                <a:solidFill>
                  <a:schemeClr val="accent6"/>
                </a:solidFill>
              </a:rPr>
              <a:t>Removes cash</a:t>
            </a:r>
          </a:p>
          <a:p>
            <a:pPr lvl="1"/>
            <a:r>
              <a:rPr lang="en-US" dirty="0">
                <a:solidFill>
                  <a:schemeClr val="accent6"/>
                </a:solidFill>
              </a:rPr>
              <a:t>Calculates value of contents</a:t>
            </a:r>
          </a:p>
          <a:p>
            <a:pPr lvl="1"/>
            <a:r>
              <a:rPr lang="en-US" dirty="0">
                <a:solidFill>
                  <a:schemeClr val="accent6"/>
                </a:solidFill>
              </a:rPr>
              <a:t>Print the entire contents</a:t>
            </a:r>
          </a:p>
          <a:p>
            <a:pPr lvl="1"/>
            <a:endParaRPr lang="en-US" dirty="0"/>
          </a:p>
        </p:txBody>
      </p:sp>
      <p:pic>
        <p:nvPicPr>
          <p:cNvPr id="1026" name="Picture 2" descr="I so smart - Imgflip">
            <a:extLst>
              <a:ext uri="{FF2B5EF4-FFF2-40B4-BE49-F238E27FC236}">
                <a16:creationId xmlns:a16="http://schemas.microsoft.com/office/drawing/2014/main" id="{4A275BF4-E18C-9147-ADA3-6E09740A93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58942" y="3717036"/>
            <a:ext cx="3680282" cy="2762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F0641F1D-ACF1-894C-AC25-E7FFC86245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11867" y="774699"/>
            <a:ext cx="808736" cy="8061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D8EEEF0D-2F8F-F24F-8AE1-F47A8A54B7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4202" y="756170"/>
            <a:ext cx="821632" cy="8061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$5 Polymer Note - Bank of Canada">
            <a:extLst>
              <a:ext uri="{FF2B5EF4-FFF2-40B4-BE49-F238E27FC236}">
                <a16:creationId xmlns:a16="http://schemas.microsoft.com/office/drawing/2014/main" id="{22DD17E8-4505-7542-9D48-FE0BD89AE6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512" y="1707309"/>
            <a:ext cx="1760434" cy="8061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A close-up of some money&#10;&#10;Description automatically generated with low confidence">
            <a:extLst>
              <a:ext uri="{FF2B5EF4-FFF2-40B4-BE49-F238E27FC236}">
                <a16:creationId xmlns:a16="http://schemas.microsoft.com/office/drawing/2014/main" id="{B9125843-BC27-C74C-8A68-770FC38984A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8790" y="2153190"/>
            <a:ext cx="1760434" cy="790435"/>
          </a:xfrm>
          <a:prstGeom prst="rect">
            <a:avLst/>
          </a:prstGeom>
        </p:spPr>
      </p:pic>
      <p:pic>
        <p:nvPicPr>
          <p:cNvPr id="7" name="Picture 6" descr="A close-up of some money&#10;&#10;Description automatically generated with medium confidence">
            <a:extLst>
              <a:ext uri="{FF2B5EF4-FFF2-40B4-BE49-F238E27FC236}">
                <a16:creationId xmlns:a16="http://schemas.microsoft.com/office/drawing/2014/main" id="{3F03A9A5-3507-EA49-AF51-BACFC127271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8942" y="2656722"/>
            <a:ext cx="1807574" cy="806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07071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D3E942-D48A-CF4F-BAD4-22FE8605A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Breakout Session!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A3DF1E-F240-BC41-B313-3625DDE1D9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050" y="1532292"/>
            <a:ext cx="7025986" cy="4835479"/>
          </a:xfrm>
        </p:spPr>
        <p:txBody>
          <a:bodyPr>
            <a:normAutofit/>
          </a:bodyPr>
          <a:lstStyle/>
          <a:p>
            <a:r>
              <a:rPr lang="en-CA" dirty="0"/>
              <a:t>Let’s look at how this works in Python!</a:t>
            </a:r>
          </a:p>
          <a:p>
            <a:pPr lvl="1"/>
            <a:r>
              <a:rPr lang="en-US" dirty="0"/>
              <a:t>Building a cash register</a:t>
            </a:r>
          </a:p>
          <a:p>
            <a:pPr lvl="2"/>
            <a:r>
              <a:rPr lang="en-US" dirty="0"/>
              <a:t>Attributes</a:t>
            </a:r>
          </a:p>
          <a:p>
            <a:pPr lvl="2"/>
            <a:r>
              <a:rPr lang="en-US" dirty="0"/>
              <a:t>Methods</a:t>
            </a:r>
          </a:p>
          <a:p>
            <a:pPr lvl="3"/>
            <a:r>
              <a:rPr lang="en-US" dirty="0"/>
              <a:t>Including __str__ method</a:t>
            </a:r>
          </a:p>
          <a:p>
            <a:pPr lvl="1"/>
            <a:endParaRPr lang="en-US" dirty="0"/>
          </a:p>
          <a:p>
            <a:endParaRPr lang="en-CA" dirty="0"/>
          </a:p>
        </p:txBody>
      </p:sp>
      <p:sp>
        <p:nvSpPr>
          <p:cNvPr id="4" name="Rectangle: Rounded Corners 5">
            <a:extLst>
              <a:ext uri="{FF2B5EF4-FFF2-40B4-BE49-F238E27FC236}">
                <a16:creationId xmlns:a16="http://schemas.microsoft.com/office/drawing/2014/main" id="{9BD5FBCF-8C94-E44C-BBC9-C128207E6FA0}"/>
              </a:ext>
            </a:extLst>
          </p:cNvPr>
          <p:cNvSpPr/>
          <p:nvPr/>
        </p:nvSpPr>
        <p:spPr>
          <a:xfrm>
            <a:off x="7664115" y="1949006"/>
            <a:ext cx="3958389" cy="4418765"/>
          </a:xfrm>
          <a:prstGeom prst="roundRect">
            <a:avLst/>
          </a:prstGeom>
          <a:noFill/>
          <a:ln w="762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400" b="1" dirty="0">
                <a:solidFill>
                  <a:srgbClr val="FFFFFF"/>
                </a:solidFill>
              </a:rPr>
              <a:t>Open your notebook</a:t>
            </a:r>
          </a:p>
          <a:p>
            <a:endParaRPr lang="en-US" sz="4400" b="1" dirty="0">
              <a:solidFill>
                <a:srgbClr val="FFFFFF"/>
              </a:solidFill>
            </a:endParaRPr>
          </a:p>
          <a:p>
            <a:r>
              <a:rPr lang="en-US" sz="2800" b="1" dirty="0">
                <a:solidFill>
                  <a:srgbClr val="FFFFFF"/>
                </a:solidFill>
              </a:rPr>
              <a:t>Click Link</a:t>
            </a:r>
            <a:r>
              <a:rPr lang="en-US" sz="2800" b="1" dirty="0">
                <a:solidFill>
                  <a:schemeClr val="accent6"/>
                </a:solidFill>
              </a:rPr>
              <a:t>:</a:t>
            </a:r>
          </a:p>
          <a:p>
            <a:r>
              <a:rPr lang="en-US" sz="2800" b="1" dirty="0">
                <a:solidFill>
                  <a:schemeClr val="accent6"/>
                </a:solidFill>
              </a:rPr>
              <a:t>3. Building a Cash Register</a:t>
            </a:r>
          </a:p>
        </p:txBody>
      </p:sp>
      <p:pic>
        <p:nvPicPr>
          <p:cNvPr id="2050" name="Picture 2" descr="do you work here?&quot; No, i just like standing behind a cash register - The  Friendly Cashier - quickmeme">
            <a:extLst>
              <a:ext uri="{FF2B5EF4-FFF2-40B4-BE49-F238E27FC236}">
                <a16:creationId xmlns:a16="http://schemas.microsoft.com/office/drawing/2014/main" id="{88125863-9285-684F-BDA1-A147CA341B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5925" y="3787720"/>
            <a:ext cx="3276600" cy="248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585558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7F06F2-AC3E-484E-9926-59D4F59092C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More OOP! </a:t>
            </a:r>
            <a:r>
              <a:rPr lang="en-US" dirty="0"/>
              <a:t>Encapsulation and Examples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07687-F068-40FC-84A1-E7860490CAC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/>
              <a:t>Week </a:t>
            </a:r>
            <a:r>
              <a:rPr lang="en-US" b="1" dirty="0">
                <a:solidFill>
                  <a:schemeClr val="accent6"/>
                </a:solidFill>
              </a:rPr>
              <a:t>11</a:t>
            </a:r>
            <a:r>
              <a:rPr lang="en-US" b="1" dirty="0"/>
              <a:t> </a:t>
            </a:r>
            <a:r>
              <a:rPr lang="en-US" dirty="0">
                <a:solidFill>
                  <a:schemeClr val="accent2"/>
                </a:solidFill>
              </a:rPr>
              <a:t>|</a:t>
            </a:r>
            <a:r>
              <a:rPr lang="en-US" dirty="0"/>
              <a:t> Lecture </a:t>
            </a:r>
            <a:r>
              <a:rPr lang="en-US" dirty="0">
                <a:solidFill>
                  <a:schemeClr val="accent6"/>
                </a:solidFill>
              </a:rPr>
              <a:t>1 </a:t>
            </a:r>
            <a:r>
              <a:rPr lang="en-US" dirty="0">
                <a:solidFill>
                  <a:schemeClr val="accent1"/>
                </a:solidFill>
              </a:rPr>
              <a:t>(</a:t>
            </a:r>
            <a:r>
              <a:rPr lang="en-US" dirty="0">
                <a:solidFill>
                  <a:schemeClr val="accent6"/>
                </a:solidFill>
              </a:rPr>
              <a:t>11</a:t>
            </a:r>
            <a:r>
              <a:rPr lang="en-US" dirty="0"/>
              <a:t>.</a:t>
            </a:r>
            <a:r>
              <a:rPr lang="en-US" dirty="0">
                <a:solidFill>
                  <a:schemeClr val="accent6"/>
                </a:solidFill>
              </a:rPr>
              <a:t>1</a:t>
            </a:r>
            <a:r>
              <a:rPr lang="en-US" dirty="0">
                <a:solidFill>
                  <a:schemeClr val="accent1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845966729"/>
      </p:ext>
    </p:extLst>
  </p:cSld>
  <p:clrMapOvr>
    <a:masterClrMapping/>
  </p:clrMapOvr>
</p:sld>
</file>

<file path=ppt/theme/theme1.xml><?xml version="1.0" encoding="utf-8"?>
<a:theme xmlns:a="http://schemas.openxmlformats.org/drawingml/2006/main" name="APS106_PPTX_Theme">
  <a:themeElements>
    <a:clrScheme name="Custom 5">
      <a:dk1>
        <a:srgbClr val="444445"/>
      </a:dk1>
      <a:lt1>
        <a:srgbClr val="000000"/>
      </a:lt1>
      <a:dk2>
        <a:srgbClr val="7B8994"/>
      </a:dk2>
      <a:lt2>
        <a:srgbClr val="3D464D"/>
      </a:lt2>
      <a:accent1>
        <a:srgbClr val="017EE5"/>
      </a:accent1>
      <a:accent2>
        <a:srgbClr val="017EE5"/>
      </a:accent2>
      <a:accent3>
        <a:srgbClr val="017EE5"/>
      </a:accent3>
      <a:accent4>
        <a:srgbClr val="7B8994"/>
      </a:accent4>
      <a:accent5>
        <a:srgbClr val="7B8994"/>
      </a:accent5>
      <a:accent6>
        <a:srgbClr val="FF9933"/>
      </a:accent6>
      <a:hlink>
        <a:srgbClr val="3D464D"/>
      </a:hlink>
      <a:folHlink>
        <a:srgbClr val="3D464D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PS106_PPTX_Theme" id="{D71ABBE9-7E6D-4E30-BD8F-2EB61EB32A2D}" vid="{056030BA-02C6-4208-ACCE-F1B550CC0AA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APS106_PPTX_Theme</Template>
  <TotalTime>33157</TotalTime>
  <Words>1206</Words>
  <Application>Microsoft Macintosh PowerPoint</Application>
  <PresentationFormat>Widescreen</PresentationFormat>
  <Paragraphs>196</Paragraphs>
  <Slides>18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Arial</vt:lpstr>
      <vt:lpstr>Calibri</vt:lpstr>
      <vt:lpstr>Courier</vt:lpstr>
      <vt:lpstr>Courier New</vt:lpstr>
      <vt:lpstr>Impact</vt:lpstr>
      <vt:lpstr>Segoe UI</vt:lpstr>
      <vt:lpstr>Wingdings</vt:lpstr>
      <vt:lpstr>APS106_PPTX_Theme</vt:lpstr>
      <vt:lpstr>More OOP! Encapsulation and Examples</vt:lpstr>
      <vt:lpstr>This Week’s Content</vt:lpstr>
      <vt:lpstr>Exam: April 15, 2:00 PM  Bahen (1), Myhal (1), Wallberg (2)</vt:lpstr>
      <vt:lpstr>Online Tutorial</vt:lpstr>
      <vt:lpstr>Coffee Break with a TA!</vt:lpstr>
      <vt:lpstr>Why OOP?</vt:lpstr>
      <vt:lpstr>Why OOP?</vt:lpstr>
      <vt:lpstr>Encapsulation</vt:lpstr>
      <vt:lpstr>Encapsulate it!</vt:lpstr>
      <vt:lpstr>Let’s Code!</vt:lpstr>
      <vt:lpstr>Printing Information</vt:lpstr>
      <vt:lpstr>Printing Information</vt:lpstr>
      <vt:lpstr>Printing Information</vt:lpstr>
      <vt:lpstr>Printing Information</vt:lpstr>
      <vt:lpstr>Let’s Code!</vt:lpstr>
      <vt:lpstr>Let’s Build a Cash Register!</vt:lpstr>
      <vt:lpstr>Breakout Session!</vt:lpstr>
      <vt:lpstr>More OOP! Encapsulation and Examples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Sebastian Goodfellow</dc:creator>
  <cp:lastModifiedBy>Ben Kinsella</cp:lastModifiedBy>
  <cp:revision>245</cp:revision>
  <dcterms:created xsi:type="dcterms:W3CDTF">2021-11-03T00:49:37Z</dcterms:created>
  <dcterms:modified xsi:type="dcterms:W3CDTF">2025-03-24T14:13:37Z</dcterms:modified>
</cp:coreProperties>
</file>